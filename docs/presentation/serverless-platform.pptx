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promise: a developer gives us code or an image and gets a running, addressable service in both regions without ever seeing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Foundations is the vocabulary. The API is the contract. Functions and builds is where most of the engineering went. Portal and future is what the platform becomes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first, before any properties, and deliberately only two sentences. Serverless does not mean there is no server; it means the team shipping the code does not own the machine, the capacity, or the scaling. The unit you hand over is code or an image, not a host. The platform places it, starts it on demand and stops it when idle, and the bill follows the work rather than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consequences of the definition. Scale to zero is the defining property: an idle workload costs nothing and needs nobody. Scaling out is automatic. Patching the base and the runtime is the platform's job, so nobody plans capacity for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trade-offs before the architecture, one row per click. Cost: nothing when idle, but a hot loop of requests is billed per request. Ops: no patching, but you cannot tune the kernel or the runtime. Scale: automatic in both directions, but the first request after idle pays a cold start. Speed: a function ships in minutes, but the deployment model is the platform's. Fit: request-driven and bursty workloads win; long-running or stateful jobs do not belong here. Deploy: a few clicks to ship, at the cost of control over how it is built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Knative was opened up by Google in 2018 and became a CNCF incubating project in 2022, so it is not a vendor-only technology. It is not a platform in itself: it is a set of Kubernetes building blocks. Serving covers request-driven workloads, Eventing covers event routing with brokers and triggers. We run Serving; Eventing exists but we do not expose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objects the team writes every day, then bring the table up a row at a time after the points. A Deployment runs the code, a Service plus an Ingress reaches it, an HPA scales it but never below one, a rolling update replaces it. Knative Serving covers the same needs with one object and adds what plain Kubernetes lacks: immutable revisions you can route between, and scaling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lands with the line that explains it. A Service owns a Configuration and a Route. Every change to the Configuration stamps a new immutable Revision; old ones stay addressable. The Route decides which revisions receive traffic and in what split. A DomainMapping attaches a hostname of your choosing, which is how we give one workload the same address in both regions. In the web deck, click any block to see the YAML for that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object on one slide, so nobody has to imagine it. Two lines of apiVersion and kind, a name and a namespace, and then a pod template with autoscaling annotations. The annotations are the only Knative-specific part: which metric drives scaling, the target per pod, and the floor and ceiling. min-scale zero is what makes it scale to zero. Everything below spec.template.spec is an ordinary pod spec. The API generates exactly this, with the image pinned by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vocabulary before showing the flow. Every pod runs a queue proxy sidecar that reports how many requests are in flight. The Knative Pod Autoscaler reads that and decides the replica count. The Activator is the component that sits in the request path when a revision is at zero, so a request is never dropped while pods start. minScale keeps pods warm for latency-sensitive workloads; maxScale is the ceiling the API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flow, one box per line, and watch the bottom box: it is the same revision the whole way through, only its state changes. An idle revision holds zero pods. A request arrives and the Activator, which stands in the data path at zero, buffers it rather than dropping it. It asks the KPA for capacity, pods start, and the request is served. Once the revision reports healthy the Activator steps out and traffic goes straight to the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is Red Hat's packaging of Knative. One KnativeServing CR, reconciled by the operator, upgraded through OLM. Kourier is the ingress; Routes are created for us. The catalog mirrors with oc-mirror, which is what makes it viable in an airgap.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about ownership, one row per click. Upstream would mean maintaining the install, the ingress, the Routes and the mirror ourselves, with community support. The chart assumes the operator's conventions and the API holds no routes RBAC. Recorded in docs/DEPLOYING.md and the locked decisions in docs/ARCHITECTURE.md.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API in five sentences. It is a FastAPI control plane that speaks HTTP and writes Knative, so nobody outside the platform team touches a cluster. Two offerings share one body shape: a function is source we build, a container is an image you bring. Every write validates synchronously, then returns 202 with a statusUrl. One call fans out to both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path /api/serverless/v1. The SSO group is a path segment, so authorization is a path check against the groups claim. Both offerings carry the same ten endpoints; the only difference is that a function has /build where a container has /pull. Two public info endpoints and one ticket mint sit outside the group. The Authorization header carries either a Keycloak JWT or the static admin key. EventSource cannot send headers, hence the 60-second HMAC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body shape for both offerings, one band per line. Sizes map to CPU request-only and memory request equals limit. Concurrency and rps use the KPA and can scale to zero; cpu and memory switch to HPA. PUT is a full replace but keeps redacted secrets when omitted, so a read-modify-write never strips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vocabulary is closed and published on /info so no client hardcodes it. Walk the happy path one chip at a time, then the failure path. Building only appears for functions, because only a function has a build. Terminating follows a delete. Failed always carries a machine-readable reason next to the human message, and every region reports its own status which the API rolls up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of the interaction. A real create: a name, where the source lives, which runtime, which regions, and how it should scale. Note what the caller does not send: no namespace, no image, no Knative object, no cluster credentials. The token in the Authorization header carries the groups claim, and team-a in the path must be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The answer comes back before anything is running, and that is the point: validation is synchronous, so a 400 means nothing was written anywhere, while a 202 means the request was accepted and the work has started. What you get is the hostname the workload will answer on, a statusUrl to poll, and one row per region. Secrets sent in env or files are redacted in every response, never echoed.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and the loop closes. The statusUrl is an ordinary GET on the workload, and it answers with the same shape whatever the state: Pending, Building, Deploying or Ready, and Failed with a reason. Once it is Ready you get the URL to call, the image digest that was actually deployed, and the revision each region is serving. The portal polls exactly this and turns it into the tracker toast.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loop, in order: cert-manager issues an ACME client certificate, the API pod mounts it, the API server authenticates the certificate as a Kubernetes user, RBAC authorizes that user inside the tenant namespace, and the workload is applied. The CN is a DNS name because ACME only issues to DNS identities. The API server address is derived from the region's cluster name. Every write is a server-side apply with force, so retries heal partial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points first, then bring the whole picture up at once. Two OpenShift clusters trusting the same CA. The API runs in both; DNS fronts the active one. A deploy fans out to both concurrently and rolls up per-region results. No leader election: specs contain no timestamps, UUIDs or counters, so two writers converge. Each region builds into its own registry. The Knative Service and its annotations are the replicated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 separation is the reason: namespace and RBAC creation is cluster-scoped power the internet-facing API must not hold. Namespace per SSO group, identical in both clusters, rendered from region-neutral templates. Provision is called before every deploy and fails closed. Reconcile is local-cluster only so the regions never fight. The stamp protocol makes a converge crash-safe.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only about why the step exists. A cluster cannot run a git repository; a pod starts a container image and nothing else. So between source and a running workload there is always a step that produces an image. That step is the build. The container offering simply means the user has already done it and hands us the result; the function offering means we do it for them. How we do it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Native Buildpacks are a CNCF specification, not something we invented. Instead of a Dockerfile per repository, a detection phase inspects the source: requirements.txt or pyproject means Python, go.mod means Go, package.json means Node. Every image comes off the same curated base, and because that base is a separate layer it can be swapped by rebase without rerunning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Buildpacks are a specification; Paketo is the open-source family that implements it, and it is what our ClusterStore holds. Detection runs them in order and keeps the group that matches, so a repository with a go.mod gets the Go buildpack and nothing else. The ca-certificates buildpack is the one that matters most for us: it is how the internal CA ends up in the image. The mirror scripts pull the buildpackages and the runtimes they fetch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kpack is the Kubernetes controller that runs buildpacks. It is declarative in the way the rest of Kubernetes is: you do not trigger a pipeline, you declare that an image should exist for a repository and a builder, and the controller keeps that true. It rebuilds when the commit changes, when the base image is patched, or when a buildpack is updated. What it produces is a digest in a registry, and nothing else. The objects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 kpack has, and how they relate. The top row is cluster-scoped and shared: a ClusterStack is the base image pair, a ClusterStore is the buildpack catalogue, and a ClusterBuilder bakes the two together into the image builds actually run. Below that is the namespaced part, and the Image is the only object we ever write. It creates a SourceResolver to turn a branch into a commit, and a Build per attempt, and each Build is a pod running the lifecycle. In the web deck, click any resource for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Cloud Native Buildpacks lifecycle, the same everywhere kpack runs, with nothing of ours in it. Make the five points first, then bring the phases up one per click. It executes as ordered init containers on a single pod, which is why each phase has its own log stream and you can point at exactly where a build failed. Detect chooses the buildpack group, restore pulls cached layers so a rerun is fast, and export is the phase that assembles the OCI layers and pushes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kpack repository is not a fork of upstream; it is a Helm chart that packages upstream kpack 0.18 and adds what an airgap needs. The CRDs ship as templates rather than an untouched crds/ directory because the conversion webhook's clientConfig has to be templated to the release namespace. The clusterBuild block creates the ClusterStack and ClusterStore plus the credentials that pull them. The mirror scripts pull three classes of artifact, including the runtimes that buildpacks fetch at build time, which nothing else mirrors.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side. The API is pure declaration: it emits a kpack Image, a git Secret and a build ServiceAccount into the workload's own tenant namespace, in the same pass as the Knative Service, and stamps them with the Knative Service's ownerReference so deleting the function garbage-collects the build objects. Everything is per region, and the image is pushed to that region's registry under the group and name. A Kyverno policy injects the internal CA into the build pod, initContainers included, because prepare is where the clone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declares a build and walks away. The build controller watches kpack Images in its own region and, when latestImage changes, server-side applies the live Knative Service with the digest. Exactly one writer per phase, and the controller only ever writes digests. It ships without a web stack, and CI proves it by importing the service out of the image and failing if fastapi or jwt are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16 with server components and server actions in front of the API. The user's Keycloak token stays in the encrypted session and is forwarded server-side. The SSO group is the project. Forms are built from /info; the create flow turns 202 into a tracker toast. Live logs and stats stream over SSE using re-minted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already names ten future offerings; Serverless is live, and Compute and Dev Tools are the two we expect next. Adding an offering is data, not code: a JSON entry or one environment variable lights up a card, a route segment and the nav. The shell is generic; the serverless tree is the only product-specific part. Next: a shared resource layer and a generated TypeScript client so the contract stops being copied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cloudlet-apis is the shared Python library extracted from the Serverless API: core, web and auth as install extras, with layering enforced by tests. A new API wires it in five steps and inherits the security review. Two APIs normalizing groups differently is an authorization bug. Next extraction candidates: the mTLS multi-cluster client and the region fan-out.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takeaways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auto:0:fade"/>
          <p:cNvSpPr txBox="1"/>
          <p:nvPr/>
        </p:nvSpPr>
        <p:spPr>
          <a:xfrm>
            <a:off x="640080" y="1828800"/>
            <a:ext cx="7315200" cy="320040"/>
          </a:xfrm>
          <a:prstGeom prst="rect">
            <a:avLst/>
          </a:prstGeom>
          <a:noFill/>
          <a:ln/>
        </p:spPr>
        <p:txBody>
          <a:bodyPr wrap="square" lIns="0" tIns="0" rIns="0" bIns="0" rtlCol="0" anchor="ctr"/>
          <a:lstStyle/>
          <a:p>
            <a:pPr indent="0" marL="0">
              <a:buNone/>
            </a:pPr>
            <a:r>
              <a:rPr lang="en-US" sz="1200" b="1" spc="400" kern="0" dirty="0">
                <a:solidFill>
                  <a:srgbClr val="E4572E"/>
                </a:solidFill>
                <a:latin typeface="Courier New" pitchFamily="34" charset="0"/>
                <a:ea typeface="Courier New" pitchFamily="34" charset="-122"/>
                <a:cs typeface="Courier New" pitchFamily="34" charset="-120"/>
              </a:rPr>
              <a:t>CLOUDLET'S SERVERLESS</a:t>
            </a:r>
            <a:endParaRPr lang="en-US" sz="1200" dirty="0"/>
          </a:p>
        </p:txBody>
      </p:sp>
      <p:sp>
        <p:nvSpPr>
          <p:cNvPr id="4" name="auto:1:zoom"/>
          <p:cNvSpPr txBox="1"/>
          <p:nvPr/>
        </p:nvSpPr>
        <p:spPr>
          <a:xfrm>
            <a:off x="640080" y="2194560"/>
            <a:ext cx="7680960" cy="1828800"/>
          </a:xfrm>
          <a:prstGeom prst="rect">
            <a:avLst/>
          </a:prstGeom>
          <a:noFill/>
          <a:ln/>
        </p:spPr>
        <p:txBody>
          <a:bodyPr wrap="square" lIns="0" tIns="0" rIns="0" bIns="0" rtlCol="0" anchor="ctr"/>
          <a:lstStyle/>
          <a:p>
            <a:pPr indent="0" marL="0">
              <a:lnSpc>
                <a:spcPct val="95000"/>
              </a:lnSpc>
              <a:buNone/>
            </a:pPr>
            <a:r>
              <a:rPr lang="en-US" sz="6600" b="1" dirty="0">
                <a:solidFill>
                  <a:srgbClr val="1B1F2A"/>
                </a:solidFill>
                <a:latin typeface="Century Schoolbook" pitchFamily="34" charset="0"/>
                <a:ea typeface="Century Schoolbook" pitchFamily="34" charset="-122"/>
                <a:cs typeface="Century Schoolbook" pitchFamily="34" charset="-120"/>
              </a:rPr>
              <a:t>From Knative to the Portal</a:t>
            </a:r>
            <a:endParaRPr lang="en-US" sz="6600" dirty="0"/>
          </a:p>
        </p:txBody>
      </p:sp>
      <p:sp>
        <p:nvSpPr>
          <p:cNvPr id="5" name="auto:2:fade"/>
          <p:cNvSpPr txBox="1"/>
          <p:nvPr/>
        </p:nvSpPr>
        <p:spPr>
          <a:xfrm>
            <a:off x="640080" y="4114800"/>
            <a:ext cx="7315200" cy="548640"/>
          </a:xfrm>
          <a:prstGeom prst="rect">
            <a:avLst/>
          </a:prstGeom>
          <a:noFill/>
          <a:ln/>
        </p:spPr>
        <p:txBody>
          <a:bodyPr wrap="square" lIns="0" tIns="0" rIns="0" bIns="0" rtlCol="0" anchor="ctr"/>
          <a:lstStyle/>
          <a:p>
            <a:pPr indent="0" marL="0">
              <a:buNone/>
            </a:pPr>
            <a:r>
              <a:rPr lang="en-US" sz="2400" i="1" dirty="0">
                <a:solidFill>
                  <a:srgbClr val="667085"/>
                </a:solidFill>
                <a:latin typeface="Century Schoolbook" pitchFamily="34" charset="0"/>
                <a:ea typeface="Century Schoolbook" pitchFamily="34" charset="-122"/>
                <a:cs typeface="Century Schoolbook" pitchFamily="34" charset="-120"/>
              </a:rPr>
              <a:t>What we built, and why.</a:t>
            </a:r>
            <a:endParaRPr lang="en-US" sz="2400" dirty="0"/>
          </a:p>
        </p:txBody>
      </p:sp>
      <p:sp>
        <p:nvSpPr>
          <p:cNvPr id="6" name="auto:3:fade"/>
          <p:cNvSpPr txBox="1"/>
          <p:nvPr/>
        </p:nvSpPr>
        <p:spPr>
          <a:xfrm>
            <a:off x="640080" y="4937760"/>
            <a:ext cx="5486400" cy="320040"/>
          </a:xfrm>
          <a:prstGeom prst="rect">
            <a:avLst/>
          </a:prstGeom>
          <a:noFill/>
          <a:ln/>
        </p:spPr>
        <p:txBody>
          <a:bodyPr wrap="square" lIns="0" tIns="0" rIns="0" bIns="0" rtlCol="0" anchor="ctr"/>
          <a:lstStyle/>
          <a:p>
            <a:pPr indent="0" marL="0">
              <a:buNone/>
            </a:pPr>
            <a:r>
              <a:rPr lang="en-US" sz="1100" dirty="0">
                <a:solidFill>
                  <a:srgbClr val="667085"/>
                </a:solidFill>
                <a:latin typeface="Courier New" pitchFamily="34" charset="0"/>
                <a:ea typeface="Courier New" pitchFamily="34" charset="-122"/>
                <a:cs typeface="Courier New" pitchFamily="34" charset="-120"/>
              </a:rPr>
              <a:t>Team review · September 2026</a:t>
            </a:r>
            <a:endParaRPr lang="en-US" sz="1100" dirty="0"/>
          </a:p>
        </p:txBody>
      </p:sp>
      <p:sp>
        <p:nvSpPr>
          <p:cNvPr id="7" name="auto:4:wipeD"/>
          <p:cNvSpPr/>
          <p:nvPr/>
        </p:nvSpPr>
        <p:spPr>
          <a:xfrm>
            <a:off x="9601200" y="2971800"/>
            <a:ext cx="914400" cy="914400"/>
          </a:xfrm>
          <a:prstGeom prst="ellipse">
            <a:avLst/>
          </a:prstGeom>
          <a:solidFill>
            <a:srgbClr val="FFFFFF">
              <a:alpha val="0"/>
            </a:srgbClr>
          </a:solidFill>
          <a:ln w="19050">
            <a:solidFill>
              <a:srgbClr val="E4572E">
                <a:alpha val="20000"/>
              </a:srgbClr>
            </a:solidFill>
            <a:prstDash val="solid"/>
          </a:ln>
        </p:spPr>
      </p:sp>
      <p:sp>
        <p:nvSpPr>
          <p:cNvPr id="8" name="auto:5:wipeD"/>
          <p:cNvSpPr/>
          <p:nvPr/>
        </p:nvSpPr>
        <p:spPr>
          <a:xfrm>
            <a:off x="9281160" y="2651760"/>
            <a:ext cx="1554480" cy="1554480"/>
          </a:xfrm>
          <a:prstGeom prst="ellipse">
            <a:avLst/>
          </a:prstGeom>
          <a:solidFill>
            <a:srgbClr val="FFFFFF">
              <a:alpha val="0"/>
            </a:srgbClr>
          </a:solidFill>
          <a:ln w="19050">
            <a:solidFill>
              <a:srgbClr val="E4572E">
                <a:alpha val="45000"/>
              </a:srgbClr>
            </a:solidFill>
            <a:prstDash val="solid"/>
          </a:ln>
        </p:spPr>
      </p:sp>
      <p:sp>
        <p:nvSpPr>
          <p:cNvPr id="9" name="auto:6:wipeD"/>
          <p:cNvSpPr/>
          <p:nvPr/>
        </p:nvSpPr>
        <p:spPr>
          <a:xfrm>
            <a:off x="8961120" y="2331720"/>
            <a:ext cx="2194560" cy="2194560"/>
          </a:xfrm>
          <a:prstGeom prst="ellipse">
            <a:avLst/>
          </a:prstGeom>
          <a:solidFill>
            <a:srgbClr val="FFFFFF">
              <a:alpha val="0"/>
            </a:srgbClr>
          </a:solidFill>
          <a:ln w="19050">
            <a:solidFill>
              <a:srgbClr val="E4572E">
                <a:alpha val="70000"/>
              </a:srgbClr>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2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400"/>
                                        <p:tgtEl>
                                          <p:spTgt spid="3"/>
                                        </p:tgtEl>
                                      </p:cBhvr>
                                    </p:animEffect>
                                  </p:childTnLst>
                                </p:cTn>
                              </p:par>
                              <p:par>
                                <p:cTn id="9" presetID="53" presetClass="entr" presetSubtype="0" fill="hold" grpId="0" nodeType="withEffect">
                                  <p:stCondLst>
                                    <p:cond delay="8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Scale>
                                      <p:cBhvr>
                                        <p:cTn id="8" dur="450" fill="hold"/>
                                        <p:tgtEl>
                                          <p:spTgt spid="4"/>
                                        </p:tgtEl>
                                      </p:cBhvr>
                                      <p:from x="60000" y="60000"/>
                                      <p:to x="100000" y="100000"/>
                                    </p:animScale>
                                  </p:childTnLst>
                                </p:cTn>
                              </p:par>
                              <p:par>
                                <p:cTn id="12" presetID="10" presetClass="entr" presetSubtype="0" fill="hold" grpId="0" nodeType="withEffect">
                                  <p:stCondLst>
                                    <p:cond delay="16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par>
                                <p:cTn id="15" presetID="10" presetClass="entr" presetSubtype="0" fill="hold" grpId="0" nodeType="withEffect">
                                  <p:stCondLst>
                                    <p:cond delay="24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par>
                                <p:cTn id="18" presetID="22" presetClass="entr" presetSubtype="4" fill="hold" grpId="0" nodeType="withEffect">
                                  <p:stCondLst>
                                    <p:cond delay="32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350"/>
                                        <p:tgtEl>
                                          <p:spTgt spid="7"/>
                                        </p:tgtEl>
                                      </p:cBhvr>
                                    </p:animEffect>
                                  </p:childTnLst>
                                </p:cTn>
                              </p:par>
                              <p:par>
                                <p:cTn id="21" presetID="22" presetClass="entr" presetSubtype="4" fill="hold" grpId="0" nodeType="withEffect">
                                  <p:stCondLst>
                                    <p:cond delay="40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350"/>
                                        <p:tgtEl>
                                          <p:spTgt spid="8"/>
                                        </p:tgtEl>
                                      </p:cBhvr>
                                    </p:animEffect>
                                  </p:childTnLst>
                                </p:cTn>
                              </p:par>
                              <p:par>
                                <p:cTn id="24" presetID="22" presetClass="entr" presetSubtype="4" fill="hold" grpId="0" nodeType="withEffect">
                                  <p:stCondLst>
                                    <p:cond delay="48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TODAY</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What we'll talk about</a:t>
            </a:r>
            <a:endParaRPr lang="en-US" sz="3800" dirty="0"/>
          </a:p>
        </p:txBody>
      </p:sp>
      <p:sp>
        <p:nvSpPr>
          <p:cNvPr id="5" name="step:1:wipeL"/>
          <p:cNvSpPr/>
          <p:nvPr/>
        </p:nvSpPr>
        <p:spPr>
          <a:xfrm>
            <a:off x="640080" y="2366772"/>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What is serverless computing</a:t>
            </a:r>
            <a:endParaRPr lang="en-US" sz="1700" dirty="0"/>
          </a:p>
        </p:txBody>
      </p:sp>
      <p:sp>
        <p:nvSpPr>
          <p:cNvPr id="7" name="step:2:wipeL"/>
          <p:cNvSpPr/>
          <p:nvPr/>
        </p:nvSpPr>
        <p:spPr>
          <a:xfrm>
            <a:off x="640080" y="3022092"/>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5844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What is Knative and OpenShift Serverless Operator</a:t>
            </a:r>
            <a:endParaRPr lang="en-US" sz="1700" dirty="0"/>
          </a:p>
        </p:txBody>
      </p:sp>
      <p:sp>
        <p:nvSpPr>
          <p:cNvPr id="9" name="step:3:wipeL"/>
          <p:cNvSpPr/>
          <p:nvPr/>
        </p:nvSpPr>
        <p:spPr>
          <a:xfrm>
            <a:off x="640080" y="367741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376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API: active-active Knative wrapper</a:t>
            </a:r>
            <a:endParaRPr lang="en-US" sz="1700" dirty="0"/>
          </a:p>
        </p:txBody>
      </p:sp>
      <p:sp>
        <p:nvSpPr>
          <p:cNvPr id="11" name="step:4:wipeL"/>
          <p:cNvSpPr/>
          <p:nvPr/>
        </p:nvSpPr>
        <p:spPr>
          <a:xfrm>
            <a:off x="640080" y="4332732"/>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6908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Functions: buildpacks, kpack, build controller</a:t>
            </a:r>
            <a:endParaRPr lang="en-US" sz="1700" dirty="0"/>
          </a:p>
        </p:txBody>
      </p:sp>
      <p:sp>
        <p:nvSpPr>
          <p:cNvPr id="13" name="step:5:wipeL"/>
          <p:cNvSpPr/>
          <p:nvPr/>
        </p:nvSpPr>
        <p:spPr>
          <a:xfrm>
            <a:off x="640080" y="4988052"/>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2440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portal and cloudlet-apis</a:t>
            </a:r>
            <a:endParaRPr lang="en-US" sz="1700" dirty="0"/>
          </a:p>
        </p:txBody>
      </p:sp>
      <p:sp>
        <p:nvSpPr>
          <p:cNvPr id="15" name="step:6:wipeL"/>
          <p:cNvSpPr/>
          <p:nvPr/>
        </p:nvSpPr>
        <p:spPr>
          <a:xfrm>
            <a:off x="640080" y="5643372"/>
            <a:ext cx="118872" cy="118872"/>
          </a:xfrm>
          <a:prstGeom prst="rect">
            <a:avLst/>
          </a:prstGeom>
          <a:solidFill>
            <a:srgbClr val="E4572E"/>
          </a:solidFill>
          <a:ln w="12700">
            <a:solidFill>
              <a:srgbClr val="E4572E"/>
            </a:solidFill>
            <a:prstDash val="solid"/>
          </a:ln>
        </p:spPr>
      </p:sp>
      <p:sp>
        <p:nvSpPr>
          <p:cNvPr id="16" name="step:6:wipeL"/>
          <p:cNvSpPr txBox="1"/>
          <p:nvPr/>
        </p:nvSpPr>
        <p:spPr>
          <a:xfrm>
            <a:off x="960120" y="53797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Where we go next</a:t>
            </a:r>
            <a:endParaRPr lang="en-US" sz="1700" dirty="0"/>
          </a:p>
        </p:txBody>
      </p:sp>
      <p:sp>
        <p:nvSpPr>
          <p:cNvPr id="17" name="auto:0:zoom"/>
          <p:cNvSpPr txBox="1"/>
          <p:nvPr/>
        </p:nvSpPr>
        <p:spPr>
          <a:xfrm>
            <a:off x="6172200" y="2834640"/>
            <a:ext cx="5394960" cy="1280160"/>
          </a:xfrm>
          <a:prstGeom prst="rect">
            <a:avLst/>
          </a:prstGeom>
          <a:noFill/>
          <a:ln/>
        </p:spPr>
        <p:txBody>
          <a:bodyPr wrap="square" lIns="0" tIns="0" rIns="0" bIns="0" rtlCol="0" anchor="ctr"/>
          <a:lstStyle/>
          <a:p>
            <a:pPr algn="ctr" indent="0" marL="0">
              <a:buNone/>
            </a:pPr>
            <a:r>
              <a:rPr lang="en-US" sz="4400" b="1" dirty="0">
                <a:solidFill>
                  <a:srgbClr val="0B7A75"/>
                </a:solidFill>
                <a:latin typeface="Century Schoolbook" pitchFamily="34" charset="0"/>
                <a:ea typeface="Century Schoolbook" pitchFamily="34" charset="-122"/>
                <a:cs typeface="Century Schoolbook" pitchFamily="34" charset="-120"/>
              </a:rPr>
              <a:t>39</a:t>
            </a:r>
            <a:endParaRPr lang="en-US" sz="4400" dirty="0"/>
          </a:p>
        </p:txBody>
      </p:sp>
      <p:sp>
        <p:nvSpPr>
          <p:cNvPr id="18" name="auto:1:fade"/>
          <p:cNvSpPr txBox="1"/>
          <p:nvPr/>
        </p:nvSpPr>
        <p:spPr>
          <a:xfrm>
            <a:off x="6172200" y="4114800"/>
            <a:ext cx="5394960" cy="365760"/>
          </a:xfrm>
          <a:prstGeom prst="rect">
            <a:avLst/>
          </a:prstGeom>
          <a:noFill/>
          <a:ln/>
        </p:spPr>
        <p:txBody>
          <a:bodyPr wrap="square" lIns="0" tIns="0" rIns="0" bIns="0" rtlCol="0" anchor="ctr"/>
          <a:lstStyle/>
          <a:p>
            <a:pPr algn="ctr" indent="0" marL="0">
              <a:buNone/>
            </a:pPr>
            <a:r>
              <a:rPr lang="en-US" sz="1100" dirty="0">
                <a:solidFill>
                  <a:srgbClr val="667085"/>
                </a:solidFill>
                <a:latin typeface="Courier New" pitchFamily="34" charset="0"/>
                <a:ea typeface="Courier New" pitchFamily="34" charset="-122"/>
                <a:cs typeface="Courier New" pitchFamily="34" charset="-120"/>
              </a:rPr>
              <a:t>slides · six topics · one platform</a:t>
            </a:r>
            <a:endParaRPr lang="en-US" sz="1100" dirty="0"/>
          </a:p>
        </p:txBody>
      </p:sp>
      <p:sp>
        <p:nvSpPr>
          <p:cNvPr id="19" name="Text 1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02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cond evt="onBegin" delay="0">
                          <p:tn val="2"/>
                        </p:cond>
                      </p:stCondLst>
                      <p:childTnLst>
                        <p:par>
                          <p:cTn id="11" fill="hold">
                            <p:stCondLst>
                              <p:cond delay="0"/>
                            </p:stCondLst>
                            <p:childTnLst>
                              <p:par>
                                <p:cTn id="6" presetID="53" presetClass="entr" presetSubtype="0" fill="hold" grpId="0" nodeType="after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50"/>
                                        <p:tgtEl>
                                          <p:spTgt spid="17"/>
                                        </p:tgtEl>
                                      </p:cBhvr>
                                    </p:animEffect>
                                    <p:animScale>
                                      <p:cBhvr>
                                        <p:cTn id="5" dur="450" fill="hold"/>
                                        <p:tgtEl>
                                          <p:spTgt spid="17"/>
                                        </p:tgtEl>
                                      </p:cBhvr>
                                      <p:from x="60000" y="60000"/>
                                      <p:to x="100000" y="100000"/>
                                    </p:animScale>
                                  </p:childTnLst>
                                </p:cTn>
                              </p:par>
                              <p:par>
                                <p:cTn id="9" presetID="10" presetClass="entr" presetSubtype="0" fill="hold" grpId="0" nodeType="withEffect">
                                  <p:stCondLst>
                                    <p:cond delay="8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14"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350"/>
                                        <p:tgtEl>
                                          <p:spTgt spid="5"/>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350"/>
                                        <p:tgtEl>
                                          <p:spTgt spid="6"/>
                                        </p:tgtEl>
                                      </p:cBhvr>
                                    </p:animEffect>
                                  </p:childTnLst>
                                </p:cTn>
                              </p:par>
                            </p:childTnLst>
                          </p:cTn>
                        </p:par>
                      </p:childTnLst>
                    </p:cTn>
                  </p:par>
                  <p:par>
                    <p:cTn id="26" fill="hold">
                      <p:stCondLst>
                        <p:cond delay="indefinite"/>
                      </p:stCondLst>
                      <p:childTnLst>
                        <p:par>
                          <p:cTn id="27"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childTnLst>
                          </p:cTn>
                        </p:par>
                      </p:childTnLst>
                    </p:cTn>
                  </p:par>
                  <p:par>
                    <p:cTn id="34" fill="hold">
                      <p:stCondLst>
                        <p:cond delay="indefinite"/>
                      </p:stCondLst>
                      <p:childTnLst>
                        <p:par>
                          <p:cTn id="35"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350"/>
                                        <p:tgtEl>
                                          <p:spTgt spid="9"/>
                                        </p:tgtEl>
                                      </p:cBhvr>
                                    </p:animEffect>
                                  </p:childTnLst>
                                </p:cTn>
                              </p:par>
                              <p:par>
                                <p:cTn id="33"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350"/>
                                        <p:tgtEl>
                                          <p:spTgt spid="10"/>
                                        </p:tgtEl>
                                      </p:cBhvr>
                                    </p:animEffect>
                                  </p:childTnLst>
                                </p:cTn>
                              </p:par>
                            </p:childTnLst>
                          </p:cTn>
                        </p:par>
                      </p:childTnLst>
                    </p:cTn>
                  </p:par>
                  <p:par>
                    <p:cTn id="42" fill="hold">
                      <p:stCondLst>
                        <p:cond delay="indefinite"/>
                      </p:stCondLst>
                      <p:childTnLst>
                        <p:par>
                          <p:cTn id="43" fill="hold">
                            <p:stCondLst>
                              <p:cond delay="0"/>
                            </p:stCondLst>
                            <p:childTnLst>
                              <p:par>
                                <p:cTn id="38"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350"/>
                                        <p:tgtEl>
                                          <p:spTgt spid="11"/>
                                        </p:tgtEl>
                                      </p:cBhvr>
                                    </p:animEffect>
                                  </p:childTnLst>
                                </p:cTn>
                              </p:par>
                              <p:par>
                                <p:cTn id="41" presetID="22" presetClass="entr" presetSubtype="8"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350"/>
                                        <p:tgtEl>
                                          <p:spTgt spid="12"/>
                                        </p:tgtEl>
                                      </p:cBhvr>
                                    </p:animEffect>
                                  </p:childTnLst>
                                </p:cTn>
                              </p:par>
                            </p:childTnLst>
                          </p:cTn>
                        </p:par>
                      </p:childTnLst>
                    </p:cTn>
                  </p:par>
                  <p:par>
                    <p:cTn id="50" fill="hold">
                      <p:stCondLst>
                        <p:cond delay="indefinite"/>
                      </p:stCondLst>
                      <p:childTnLst>
                        <p:par>
                          <p:cTn id="51" fill="hold">
                            <p:stCondLst>
                              <p:cond delay="0"/>
                            </p:stCondLst>
                            <p:childTnLst>
                              <p:par>
                                <p:cTn id="46" presetID="22" presetClass="entr" presetSubtype="8"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350"/>
                                        <p:tgtEl>
                                          <p:spTgt spid="13"/>
                                        </p:tgtEl>
                                      </p:cBhvr>
                                    </p:animEffect>
                                  </p:childTnLst>
                                </p:cTn>
                              </p:par>
                              <p:par>
                                <p:cTn id="49" presetID="22" presetClass="entr" presetSubtype="8"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350"/>
                                        <p:tgtEl>
                                          <p:spTgt spid="14"/>
                                        </p:tgtEl>
                                      </p:cBhvr>
                                    </p:animEffect>
                                  </p:childTnLst>
                                </p:cTn>
                              </p:par>
                            </p:childTnLst>
                          </p:cTn>
                        </p:par>
                      </p:childTnLst>
                    </p:cTn>
                  </p:par>
                  <p:par>
                    <p:cTn id="58" fill="hold">
                      <p:stCondLst>
                        <p:cond delay="indefinite"/>
                      </p:stCondLst>
                      <p:childTnLst>
                        <p:par>
                          <p:cTn id="59" fill="hold">
                            <p:stCondLst>
                              <p:cond delay="0"/>
                            </p:stCondLst>
                            <p:childTnLst>
                              <p:par>
                                <p:cTn id="54"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350"/>
                                        <p:tgtEl>
                                          <p:spTgt spid="15"/>
                                        </p:tgtEl>
                                      </p:cBhvr>
                                    </p:animEffect>
                                  </p:childTnLst>
                                </p:cTn>
                              </p:par>
                              <p:par>
                                <p:cTn id="57" presetID="22" presetClass="entr" presetSubtype="8"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Serverless, defined</a:t>
            </a:r>
            <a:endParaRPr lang="en-US" sz="3800" dirty="0"/>
          </a:p>
        </p:txBody>
      </p:sp>
      <p:sp>
        <p:nvSpPr>
          <p:cNvPr id="5" name="step:1:wipeL"/>
          <p:cNvSpPr/>
          <p:nvPr/>
        </p:nvSpPr>
        <p:spPr>
          <a:xfrm>
            <a:off x="640080" y="2304288"/>
            <a:ext cx="146304" cy="146304"/>
          </a:xfrm>
          <a:prstGeom prst="rect">
            <a:avLst/>
          </a:prstGeom>
          <a:solidFill>
            <a:srgbClr val="E4572E"/>
          </a:solidFill>
          <a:ln w="12700">
            <a:solidFill>
              <a:srgbClr val="E4572E"/>
            </a:solidFill>
            <a:prstDash val="solid"/>
          </a:ln>
        </p:spPr>
      </p:sp>
      <p:sp>
        <p:nvSpPr>
          <p:cNvPr id="6" name="step:1:wipeL"/>
          <p:cNvSpPr txBox="1"/>
          <p:nvPr/>
        </p:nvSpPr>
        <p:spPr>
          <a:xfrm>
            <a:off x="1051560" y="2103120"/>
            <a:ext cx="4892040" cy="1234440"/>
          </a:xfrm>
          <a:prstGeom prst="rect">
            <a:avLst/>
          </a:prstGeom>
          <a:noFill/>
          <a:ln/>
        </p:spPr>
        <p:txBody>
          <a:bodyPr wrap="square" lIns="0" tIns="0" rIns="0" bIns="0" rtlCol="0" anchor="t"/>
          <a:lstStyle/>
          <a:p>
            <a:pPr indent="0" marL="0">
              <a:lnSpc>
                <a:spcPct val="112000"/>
              </a:lnSpc>
              <a:buNone/>
            </a:pPr>
            <a:r>
              <a:rPr lang="en-US" sz="2400" dirty="0">
                <a:solidFill>
                  <a:srgbClr val="1B1F2A"/>
                </a:solidFill>
                <a:latin typeface="Calibri" pitchFamily="34" charset="0"/>
                <a:ea typeface="Calibri" pitchFamily="34" charset="-122"/>
                <a:cs typeface="Calibri" pitchFamily="34" charset="-120"/>
              </a:rPr>
              <a:t>The servers are still there — you stop owning them.</a:t>
            </a:r>
            <a:endParaRPr lang="en-US" sz="2400" dirty="0"/>
          </a:p>
        </p:txBody>
      </p:sp>
      <p:sp>
        <p:nvSpPr>
          <p:cNvPr id="7" name="step:2:wipeL"/>
          <p:cNvSpPr/>
          <p:nvPr/>
        </p:nvSpPr>
        <p:spPr>
          <a:xfrm>
            <a:off x="640080" y="3538728"/>
            <a:ext cx="146304" cy="146304"/>
          </a:xfrm>
          <a:prstGeom prst="rect">
            <a:avLst/>
          </a:prstGeom>
          <a:solidFill>
            <a:srgbClr val="E4572E"/>
          </a:solidFill>
          <a:ln w="12700">
            <a:solidFill>
              <a:srgbClr val="E4572E"/>
            </a:solidFill>
            <a:prstDash val="solid"/>
          </a:ln>
        </p:spPr>
      </p:sp>
      <p:sp>
        <p:nvSpPr>
          <p:cNvPr id="8" name="step:2:wipeL"/>
          <p:cNvSpPr txBox="1"/>
          <p:nvPr/>
        </p:nvSpPr>
        <p:spPr>
          <a:xfrm>
            <a:off x="1051560" y="3337560"/>
            <a:ext cx="4892040" cy="1234440"/>
          </a:xfrm>
          <a:prstGeom prst="rect">
            <a:avLst/>
          </a:prstGeom>
          <a:noFill/>
          <a:ln/>
        </p:spPr>
        <p:txBody>
          <a:bodyPr wrap="square" lIns="0" tIns="0" rIns="0" bIns="0" rtlCol="0" anchor="t"/>
          <a:lstStyle/>
          <a:p>
            <a:pPr indent="0" marL="0">
              <a:lnSpc>
                <a:spcPct val="112000"/>
              </a:lnSpc>
              <a:buNone/>
            </a:pPr>
            <a:r>
              <a:rPr lang="en-US" sz="2400" dirty="0">
                <a:solidFill>
                  <a:srgbClr val="1B1F2A"/>
                </a:solidFill>
                <a:latin typeface="Calibri" pitchFamily="34" charset="0"/>
                <a:ea typeface="Calibri" pitchFamily="34" charset="-122"/>
                <a:cs typeface="Calibri" pitchFamily="34" charset="-120"/>
              </a:rPr>
              <a:t>You hand over code. The platform runs it only while work arrives.</a:t>
            </a:r>
            <a:endParaRPr lang="en-US" sz="2400" dirty="0"/>
          </a:p>
        </p:txBody>
      </p:sp>
      <p:sp>
        <p:nvSpPr>
          <p:cNvPr id="9" name="auto:0:zoom"/>
          <p:cNvSpPr txBox="1"/>
          <p:nvPr/>
        </p:nvSpPr>
        <p:spPr>
          <a:xfrm>
            <a:off x="6172200" y="2834640"/>
            <a:ext cx="5394960" cy="1280160"/>
          </a:xfrm>
          <a:prstGeom prst="rect">
            <a:avLst/>
          </a:prstGeom>
          <a:noFill/>
          <a:ln/>
        </p:spPr>
        <p:txBody>
          <a:bodyPr wrap="square" lIns="0" tIns="0" rIns="0" bIns="0" rtlCol="0" anchor="ctr"/>
          <a:lstStyle/>
          <a:p>
            <a:pPr algn="ctr" indent="0" marL="0">
              <a:buNone/>
            </a:pPr>
            <a:r>
              <a:rPr lang="en-US" sz="3000" b="1" dirty="0">
                <a:solidFill>
                  <a:srgbClr val="0B7A75"/>
                </a:solidFill>
                <a:latin typeface="Century Schoolbook" pitchFamily="34" charset="0"/>
                <a:ea typeface="Century Schoolbook" pitchFamily="34" charset="-122"/>
                <a:cs typeface="Century Schoolbook" pitchFamily="34" charset="-120"/>
              </a:rPr>
              <a:t>serverless ≠ no servers</a:t>
            </a:r>
            <a:endParaRPr lang="en-US" sz="3000" dirty="0"/>
          </a:p>
        </p:txBody>
      </p:sp>
      <p:sp>
        <p:nvSpPr>
          <p:cNvPr id="10" name="auto:1:fade"/>
          <p:cNvSpPr txBox="1"/>
          <p:nvPr/>
        </p:nvSpPr>
        <p:spPr>
          <a:xfrm>
            <a:off x="6172200" y="4114800"/>
            <a:ext cx="5394960" cy="365760"/>
          </a:xfrm>
          <a:prstGeom prst="rect">
            <a:avLst/>
          </a:prstGeom>
          <a:noFill/>
          <a:ln/>
        </p:spPr>
        <p:txBody>
          <a:bodyPr wrap="square" lIns="0" tIns="0" rIns="0" bIns="0" rtlCol="0" anchor="ctr"/>
          <a:lstStyle/>
          <a:p>
            <a:pPr algn="ctr" indent="0" marL="0">
              <a:buNone/>
            </a:pPr>
            <a:r>
              <a:rPr lang="en-US" sz="1100" dirty="0">
                <a:solidFill>
                  <a:srgbClr val="667085"/>
                </a:solidFill>
                <a:latin typeface="Courier New" pitchFamily="34" charset="0"/>
                <a:ea typeface="Courier New" pitchFamily="34" charset="-122"/>
                <a:cs typeface="Courier New" pitchFamily="34" charset="-120"/>
              </a:rPr>
              <a:t>someone else's problem, on purpose</a:t>
            </a:r>
            <a:endParaRPr lang="en-US" sz="1100" dirty="0"/>
          </a:p>
        </p:txBody>
      </p:sp>
      <p:sp>
        <p:nvSpPr>
          <p:cNvPr id="11" name="Text 8"/>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03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cond evt="onBegin" delay="0">
                          <p:tn val="2"/>
                        </p:cond>
                      </p:stCondLst>
                      <p:childTnLst>
                        <p:par>
                          <p:cTn id="11" fill="hold">
                            <p:stCondLst>
                              <p:cond delay="0"/>
                            </p:stCondLst>
                            <p:childTnLst>
                              <p:par>
                                <p:cTn id="6" presetID="53" presetClass="entr" presetSubtype="0" fill="hold" grpId="0" nodeType="after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50"/>
                                        <p:tgtEl>
                                          <p:spTgt spid="9"/>
                                        </p:tgtEl>
                                      </p:cBhvr>
                                    </p:animEffect>
                                    <p:animScale>
                                      <p:cBhvr>
                                        <p:cTn id="5" dur="450" fill="hold"/>
                                        <p:tgtEl>
                                          <p:spTgt spid="9"/>
                                        </p:tgtEl>
                                      </p:cBhvr>
                                      <p:from x="60000" y="60000"/>
                                      <p:to x="100000" y="100000"/>
                                    </p:animScale>
                                  </p:childTnLst>
                                </p:cTn>
                              </p:par>
                              <p:par>
                                <p:cTn id="9" presetID="10" presetClass="entr" presetSubtype="0" fill="hold" grpId="0" nodeType="withEffect">
                                  <p:stCondLst>
                                    <p:cond delay="8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8" fill="hold">
                      <p:stCondLst>
                        <p:cond delay="indefinite"/>
                      </p:stCondLst>
                      <p:childTnLst>
                        <p:par>
                          <p:cTn id="19" fill="hold">
                            <p:stCondLst>
                              <p:cond delay="0"/>
                            </p:stCondLst>
                            <p:childTnLst>
                              <p:par>
                                <p:cTn id="14"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350"/>
                                        <p:tgtEl>
                                          <p:spTgt spid="5"/>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350"/>
                                        <p:tgtEl>
                                          <p:spTgt spid="6"/>
                                        </p:tgtEl>
                                      </p:cBhvr>
                                    </p:animEffect>
                                  </p:childTnLst>
                                </p:cTn>
                              </p:par>
                            </p:childTnLst>
                          </p:cTn>
                        </p:par>
                      </p:childTnLst>
                    </p:cTn>
                  </p:par>
                  <p:par>
                    <p:cTn id="26" fill="hold">
                      <p:stCondLst>
                        <p:cond delay="indefinite"/>
                      </p:stCondLst>
                      <p:childTnLst>
                        <p:par>
                          <p:cTn id="27"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What that buys you</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Scale to zero when idle</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Scale out when traffic arrives</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Pay for requests, not hours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Nothing to patch, nothing to plan</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deploy, no capacity meeting</a:t>
            </a:r>
            <a:endParaRPr lang="en-US" sz="1900" dirty="0"/>
          </a:p>
        </p:txBody>
      </p:sp>
      <p:sp>
        <p:nvSpPr>
          <p:cNvPr id="15" name="auto:0:zoom"/>
          <p:cNvSpPr txBox="1"/>
          <p:nvPr/>
        </p:nvSpPr>
        <p:spPr>
          <a:xfrm>
            <a:off x="6172200" y="2834640"/>
            <a:ext cx="5394960" cy="1280160"/>
          </a:xfrm>
          <a:prstGeom prst="rect">
            <a:avLst/>
          </a:prstGeom>
          <a:noFill/>
          <a:ln/>
        </p:spPr>
        <p:txBody>
          <a:bodyPr wrap="square" lIns="0" tIns="0" rIns="0" bIns="0" rtlCol="0" anchor="ctr"/>
          <a:lstStyle/>
          <a:p>
            <a:pPr algn="ctr" indent="0" marL="0">
              <a:buNone/>
            </a:pPr>
            <a:r>
              <a:rPr lang="en-US" sz="4400" b="1" dirty="0">
                <a:solidFill>
                  <a:srgbClr val="0B7A75"/>
                </a:solidFill>
                <a:latin typeface="Century Schoolbook" pitchFamily="34" charset="0"/>
                <a:ea typeface="Century Schoolbook" pitchFamily="34" charset="-122"/>
                <a:cs typeface="Century Schoolbook" pitchFamily="34" charset="-120"/>
              </a:rPr>
              <a:t>0 → N → 0</a:t>
            </a:r>
            <a:endParaRPr lang="en-US" sz="4400" dirty="0"/>
          </a:p>
        </p:txBody>
      </p:sp>
      <p:sp>
        <p:nvSpPr>
          <p:cNvPr id="16" name="auto:1:fade"/>
          <p:cNvSpPr txBox="1"/>
          <p:nvPr/>
        </p:nvSpPr>
        <p:spPr>
          <a:xfrm>
            <a:off x="6172200" y="4114800"/>
            <a:ext cx="5394960" cy="365760"/>
          </a:xfrm>
          <a:prstGeom prst="rect">
            <a:avLst/>
          </a:prstGeom>
          <a:noFill/>
          <a:ln/>
        </p:spPr>
        <p:txBody>
          <a:bodyPr wrap="square" lIns="0" tIns="0" rIns="0" bIns="0" rtlCol="0" anchor="ctr"/>
          <a:lstStyle/>
          <a:p>
            <a:pPr algn="ctr" indent="0" marL="0">
              <a:buNone/>
            </a:pPr>
            <a:r>
              <a:rPr lang="en-US" sz="1100" dirty="0">
                <a:solidFill>
                  <a:srgbClr val="667085"/>
                </a:solidFill>
                <a:latin typeface="Courier New" pitchFamily="34" charset="0"/>
                <a:ea typeface="Courier New" pitchFamily="34" charset="-122"/>
                <a:cs typeface="Courier New" pitchFamily="34" charset="-120"/>
              </a:rPr>
              <a:t>replicas follow traffic</a:t>
            </a:r>
            <a:endParaRPr lang="en-US" sz="1100" dirty="0"/>
          </a:p>
        </p:txBody>
      </p:sp>
      <p:sp>
        <p:nvSpPr>
          <p:cNvPr id="17" name="Text 1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04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cond evt="onBegin" delay="0">
                          <p:tn val="2"/>
                        </p:cond>
                      </p:stCondLst>
                      <p:childTnLst>
                        <p:par>
                          <p:cTn id="11" fill="hold">
                            <p:stCondLst>
                              <p:cond delay="0"/>
                            </p:stCondLst>
                            <p:childTnLst>
                              <p:par>
                                <p:cTn id="6" presetID="53" presetClass="entr" presetSubtype="0" fill="hold" grpId="0" nodeType="after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50"/>
                                        <p:tgtEl>
                                          <p:spTgt spid="15"/>
                                        </p:tgtEl>
                                      </p:cBhvr>
                                    </p:animEffect>
                                    <p:animScale>
                                      <p:cBhvr>
                                        <p:cTn id="5" dur="450" fill="hold"/>
                                        <p:tgtEl>
                                          <p:spTgt spid="15"/>
                                        </p:tgtEl>
                                      </p:cBhvr>
                                      <p:from x="60000" y="60000"/>
                                      <p:to x="100000" y="100000"/>
                                    </p:animScale>
                                  </p:childTnLst>
                                </p:cTn>
                              </p:par>
                              <p:par>
                                <p:cTn id="9" presetID="10" presetClass="entr" presetSubtype="0" fill="hold" grpId="0" nodeType="withEffect">
                                  <p:stCondLst>
                                    <p:cond delay="8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14" presetID="2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350"/>
                                        <p:tgtEl>
                                          <p:spTgt spid="5"/>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350"/>
                                        <p:tgtEl>
                                          <p:spTgt spid="6"/>
                                        </p:tgtEl>
                                      </p:cBhvr>
                                    </p:animEffect>
                                  </p:childTnLst>
                                </p:cTn>
                              </p:par>
                            </p:childTnLst>
                          </p:cTn>
                        </p:par>
                      </p:childTnLst>
                    </p:cTn>
                  </p:par>
                  <p:par>
                    <p:cTn id="26" fill="hold">
                      <p:stCondLst>
                        <p:cond delay="indefinite"/>
                      </p:stCondLst>
                      <p:childTnLst>
                        <p:par>
                          <p:cTn id="27"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childTnLst>
                          </p:cTn>
                        </p:par>
                      </p:childTnLst>
                    </p:cTn>
                  </p:par>
                  <p:par>
                    <p:cTn id="34" fill="hold">
                      <p:stCondLst>
                        <p:cond delay="indefinite"/>
                      </p:stCondLst>
                      <p:childTnLst>
                        <p:par>
                          <p:cTn id="35"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350"/>
                                        <p:tgtEl>
                                          <p:spTgt spid="9"/>
                                        </p:tgtEl>
                                      </p:cBhvr>
                                    </p:animEffect>
                                  </p:childTnLst>
                                </p:cTn>
                              </p:par>
                              <p:par>
                                <p:cTn id="33"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350"/>
                                        <p:tgtEl>
                                          <p:spTgt spid="10"/>
                                        </p:tgtEl>
                                      </p:cBhvr>
                                    </p:animEffect>
                                  </p:childTnLst>
                                </p:cTn>
                              </p:par>
                            </p:childTnLst>
                          </p:cTn>
                        </p:par>
                      </p:childTnLst>
                    </p:cTn>
                  </p:par>
                  <p:par>
                    <p:cTn id="42" fill="hold">
                      <p:stCondLst>
                        <p:cond delay="indefinite"/>
                      </p:stCondLst>
                      <p:childTnLst>
                        <p:par>
                          <p:cTn id="43" fill="hold">
                            <p:stCondLst>
                              <p:cond delay="0"/>
                            </p:stCondLst>
                            <p:childTnLst>
                              <p:par>
                                <p:cTn id="38"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350"/>
                                        <p:tgtEl>
                                          <p:spTgt spid="11"/>
                                        </p:tgtEl>
                                      </p:cBhvr>
                                    </p:animEffect>
                                  </p:childTnLst>
                                </p:cTn>
                              </p:par>
                              <p:par>
                                <p:cTn id="41" presetID="22" presetClass="entr" presetSubtype="8"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350"/>
                                        <p:tgtEl>
                                          <p:spTgt spid="12"/>
                                        </p:tgtEl>
                                      </p:cBhvr>
                                    </p:animEffect>
                                  </p:childTnLst>
                                </p:cTn>
                              </p:par>
                            </p:childTnLst>
                          </p:cTn>
                        </p:par>
                      </p:childTnLst>
                    </p:cTn>
                  </p:par>
                  <p:par>
                    <p:cTn id="50" fill="hold">
                      <p:stCondLst>
                        <p:cond delay="indefinite"/>
                      </p:stCondLst>
                      <p:childTnLst>
                        <p:par>
                          <p:cTn id="51" fill="hold">
                            <p:stCondLst>
                              <p:cond delay="0"/>
                            </p:stCondLst>
                            <p:childTnLst>
                              <p:par>
                                <p:cTn id="46" presetID="22" presetClass="entr" presetSubtype="8"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350"/>
                                        <p:tgtEl>
                                          <p:spTgt spid="13"/>
                                        </p:tgtEl>
                                      </p:cBhvr>
                                    </p:animEffect>
                                  </p:childTnLst>
                                </p:cTn>
                              </p:par>
                              <p:par>
                                <p:cTn id="49" presetID="22" presetClass="entr" presetSubtype="8"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Serverless: the trade-offs</a:t>
            </a:r>
            <a:endParaRPr lang="en-US" sz="3800" dirty="0"/>
          </a:p>
        </p:txBody>
      </p:sp>
      <p:sp>
        <p:nvSpPr>
          <p:cNvPr id="5" name="step:1:fade"/>
          <p:cNvSpPr txBox="1"/>
          <p:nvPr/>
        </p:nvSpPr>
        <p:spPr>
          <a:xfrm>
            <a:off x="3017520" y="2103120"/>
            <a:ext cx="4206240" cy="274320"/>
          </a:xfrm>
          <a:prstGeom prst="rect">
            <a:avLst/>
          </a:prstGeom>
          <a:noFill/>
          <a:ln/>
        </p:spPr>
        <p:txBody>
          <a:bodyPr wrap="square" lIns="0" tIns="0" rIns="0" bIns="0" rtlCol="0" anchor="ctr"/>
          <a:lstStyle/>
          <a:p>
            <a:pPr indent="0" marL="0">
              <a:buNone/>
            </a:pPr>
            <a:r>
              <a:rPr lang="en-US" sz="1100" spc="200" kern="0" dirty="0">
                <a:solidFill>
                  <a:srgbClr val="667085"/>
                </a:solidFill>
                <a:latin typeface="Courier New" pitchFamily="34" charset="0"/>
                <a:ea typeface="Courier New" pitchFamily="34" charset="-122"/>
                <a:cs typeface="Courier New" pitchFamily="34" charset="-120"/>
              </a:rPr>
              <a:t>PRO</a:t>
            </a:r>
            <a:endParaRPr lang="en-US" sz="1100" dirty="0"/>
          </a:p>
        </p:txBody>
      </p:sp>
      <p:sp>
        <p:nvSpPr>
          <p:cNvPr id="6" name="step:1:fade"/>
          <p:cNvSpPr txBox="1"/>
          <p:nvPr/>
        </p:nvSpPr>
        <p:spPr>
          <a:xfrm>
            <a:off x="7223760" y="2103120"/>
            <a:ext cx="4297680" cy="274320"/>
          </a:xfrm>
          <a:prstGeom prst="rect">
            <a:avLst/>
          </a:prstGeom>
          <a:noFill/>
          <a:ln/>
        </p:spPr>
        <p:txBody>
          <a:bodyPr wrap="square" lIns="0" tIns="0" rIns="0" bIns="0" rtlCol="0" anchor="ctr"/>
          <a:lstStyle/>
          <a:p>
            <a:pPr indent="0" marL="0">
              <a:buNone/>
            </a:pPr>
            <a:r>
              <a:rPr lang="en-US" sz="1100" spc="200" kern="0" dirty="0">
                <a:solidFill>
                  <a:srgbClr val="667085"/>
                </a:solidFill>
                <a:latin typeface="Courier New" pitchFamily="34" charset="0"/>
                <a:ea typeface="Courier New" pitchFamily="34" charset="-122"/>
                <a:cs typeface="Courier New" pitchFamily="34" charset="-120"/>
              </a:rPr>
              <a:t>CON</a:t>
            </a:r>
            <a:endParaRPr lang="en-US" sz="1100" dirty="0"/>
          </a:p>
        </p:txBody>
      </p:sp>
      <p:sp>
        <p:nvSpPr>
          <p:cNvPr id="7" name="step:1:wipeL"/>
          <p:cNvSpPr txBox="1"/>
          <p:nvPr/>
        </p:nvSpPr>
        <p:spPr>
          <a:xfrm>
            <a:off x="640080" y="26060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Cost</a:t>
            </a:r>
            <a:endParaRPr lang="en-US" sz="1700" dirty="0"/>
          </a:p>
        </p:txBody>
      </p:sp>
      <p:sp>
        <p:nvSpPr>
          <p:cNvPr id="8" name="step:1:wipeL"/>
          <p:cNvSpPr txBox="1"/>
          <p:nvPr/>
        </p:nvSpPr>
        <p:spPr>
          <a:xfrm>
            <a:off x="3063240" y="26060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Pay only when it runs</a:t>
            </a:r>
            <a:endParaRPr lang="en-US" sz="1700" dirty="0"/>
          </a:p>
        </p:txBody>
      </p:sp>
      <p:sp>
        <p:nvSpPr>
          <p:cNvPr id="9" name="step:1:wipeL"/>
          <p:cNvSpPr txBox="1"/>
          <p:nvPr/>
        </p:nvSpPr>
        <p:spPr>
          <a:xfrm>
            <a:off x="7269480" y="26060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Bills spike under load</a:t>
            </a:r>
            <a:endParaRPr lang="en-US" sz="1700" dirty="0"/>
          </a:p>
        </p:txBody>
      </p:sp>
      <p:sp>
        <p:nvSpPr>
          <p:cNvPr id="10" name="step:2:wipeL"/>
          <p:cNvSpPr txBox="1"/>
          <p:nvPr/>
        </p:nvSpPr>
        <p:spPr>
          <a:xfrm>
            <a:off x="640080" y="32156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Ops</a:t>
            </a:r>
            <a:endParaRPr lang="en-US" sz="1700" dirty="0"/>
          </a:p>
        </p:txBody>
      </p:sp>
      <p:sp>
        <p:nvSpPr>
          <p:cNvPr id="11" name="step:2:wipeL"/>
          <p:cNvSpPr txBox="1"/>
          <p:nvPr/>
        </p:nvSpPr>
        <p:spPr>
          <a:xfrm>
            <a:off x="3063240" y="32156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No servers to patch</a:t>
            </a:r>
            <a:endParaRPr lang="en-US" sz="1700" dirty="0"/>
          </a:p>
        </p:txBody>
      </p:sp>
      <p:sp>
        <p:nvSpPr>
          <p:cNvPr id="12" name="step:2:wipeL"/>
          <p:cNvSpPr txBox="1"/>
          <p:nvPr/>
        </p:nvSpPr>
        <p:spPr>
          <a:xfrm>
            <a:off x="7269480" y="32156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Runtime is not yours</a:t>
            </a:r>
            <a:endParaRPr lang="en-US" sz="1700" dirty="0"/>
          </a:p>
        </p:txBody>
      </p:sp>
      <p:sp>
        <p:nvSpPr>
          <p:cNvPr id="13" name="step:2:wipeL"/>
          <p:cNvSpPr/>
          <p:nvPr/>
        </p:nvSpPr>
        <p:spPr>
          <a:xfrm>
            <a:off x="640080" y="3215640"/>
            <a:ext cx="10881360" cy="0"/>
          </a:xfrm>
          <a:prstGeom prst="line">
            <a:avLst/>
          </a:prstGeom>
          <a:noFill/>
          <a:ln w="6350">
            <a:solidFill>
              <a:srgbClr val="E4E7EC"/>
            </a:solidFill>
            <a:prstDash val="solid"/>
          </a:ln>
        </p:spPr>
      </p:sp>
      <p:sp>
        <p:nvSpPr>
          <p:cNvPr id="14" name="step:3:wipeL"/>
          <p:cNvSpPr txBox="1"/>
          <p:nvPr/>
        </p:nvSpPr>
        <p:spPr>
          <a:xfrm>
            <a:off x="640080" y="38252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Scale</a:t>
            </a:r>
            <a:endParaRPr lang="en-US" sz="1700" dirty="0"/>
          </a:p>
        </p:txBody>
      </p:sp>
      <p:sp>
        <p:nvSpPr>
          <p:cNvPr id="15" name="step:3:wipeL"/>
          <p:cNvSpPr txBox="1"/>
          <p:nvPr/>
        </p:nvSpPr>
        <p:spPr>
          <a:xfrm>
            <a:off x="3063240" y="38252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Up and down by itself</a:t>
            </a:r>
            <a:endParaRPr lang="en-US" sz="1700" dirty="0"/>
          </a:p>
        </p:txBody>
      </p:sp>
      <p:sp>
        <p:nvSpPr>
          <p:cNvPr id="16" name="step:3:wipeL"/>
          <p:cNvSpPr txBox="1"/>
          <p:nvPr/>
        </p:nvSpPr>
        <p:spPr>
          <a:xfrm>
            <a:off x="7269480" y="38252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Cold start on first hit</a:t>
            </a:r>
            <a:endParaRPr lang="en-US" sz="1700" dirty="0"/>
          </a:p>
        </p:txBody>
      </p:sp>
      <p:sp>
        <p:nvSpPr>
          <p:cNvPr id="17" name="step:3:wipeL"/>
          <p:cNvSpPr/>
          <p:nvPr/>
        </p:nvSpPr>
        <p:spPr>
          <a:xfrm>
            <a:off x="640080" y="3825240"/>
            <a:ext cx="10881360" cy="0"/>
          </a:xfrm>
          <a:prstGeom prst="line">
            <a:avLst/>
          </a:prstGeom>
          <a:noFill/>
          <a:ln w="6350">
            <a:solidFill>
              <a:srgbClr val="E4E7EC"/>
            </a:solidFill>
            <a:prstDash val="solid"/>
          </a:ln>
        </p:spPr>
      </p:sp>
      <p:sp>
        <p:nvSpPr>
          <p:cNvPr id="18" name="step:4:wipeL"/>
          <p:cNvSpPr txBox="1"/>
          <p:nvPr/>
        </p:nvSpPr>
        <p:spPr>
          <a:xfrm>
            <a:off x="640080" y="44348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Speed</a:t>
            </a:r>
            <a:endParaRPr lang="en-US" sz="1700" dirty="0"/>
          </a:p>
        </p:txBody>
      </p:sp>
      <p:sp>
        <p:nvSpPr>
          <p:cNvPr id="19" name="step:4:wipeL"/>
          <p:cNvSpPr txBox="1"/>
          <p:nvPr/>
        </p:nvSpPr>
        <p:spPr>
          <a:xfrm>
            <a:off x="3063240" y="44348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A function in minutes</a:t>
            </a:r>
            <a:endParaRPr lang="en-US" sz="1700" dirty="0"/>
          </a:p>
        </p:txBody>
      </p:sp>
      <p:sp>
        <p:nvSpPr>
          <p:cNvPr id="20" name="step:4:wipeL"/>
          <p:cNvSpPr txBox="1"/>
          <p:nvPr/>
        </p:nvSpPr>
        <p:spPr>
          <a:xfrm>
            <a:off x="7269480" y="44348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Platform lock-in</a:t>
            </a:r>
            <a:endParaRPr lang="en-US" sz="1700" dirty="0"/>
          </a:p>
        </p:txBody>
      </p:sp>
      <p:sp>
        <p:nvSpPr>
          <p:cNvPr id="21" name="step:4:wipeL"/>
          <p:cNvSpPr/>
          <p:nvPr/>
        </p:nvSpPr>
        <p:spPr>
          <a:xfrm>
            <a:off x="640080" y="4434840"/>
            <a:ext cx="10881360" cy="0"/>
          </a:xfrm>
          <a:prstGeom prst="line">
            <a:avLst/>
          </a:prstGeom>
          <a:noFill/>
          <a:ln w="6350">
            <a:solidFill>
              <a:srgbClr val="E4E7EC"/>
            </a:solidFill>
            <a:prstDash val="solid"/>
          </a:ln>
        </p:spPr>
      </p:sp>
      <p:sp>
        <p:nvSpPr>
          <p:cNvPr id="22" name="step:5:wipeL"/>
          <p:cNvSpPr txBox="1"/>
          <p:nvPr/>
        </p:nvSpPr>
        <p:spPr>
          <a:xfrm>
            <a:off x="640080" y="50444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Fit</a:t>
            </a:r>
            <a:endParaRPr lang="en-US" sz="1700" dirty="0"/>
          </a:p>
        </p:txBody>
      </p:sp>
      <p:sp>
        <p:nvSpPr>
          <p:cNvPr id="23" name="step:5:wipeL"/>
          <p:cNvSpPr txBox="1"/>
          <p:nvPr/>
        </p:nvSpPr>
        <p:spPr>
          <a:xfrm>
            <a:off x="3063240" y="50444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Bursty, event-driven</a:t>
            </a:r>
            <a:endParaRPr lang="en-US" sz="1700" dirty="0"/>
          </a:p>
        </p:txBody>
      </p:sp>
      <p:sp>
        <p:nvSpPr>
          <p:cNvPr id="24" name="step:5:wipeL"/>
          <p:cNvSpPr txBox="1"/>
          <p:nvPr/>
        </p:nvSpPr>
        <p:spPr>
          <a:xfrm>
            <a:off x="7269480" y="50444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Long-running jobs, state</a:t>
            </a:r>
            <a:endParaRPr lang="en-US" sz="1700" dirty="0"/>
          </a:p>
        </p:txBody>
      </p:sp>
      <p:sp>
        <p:nvSpPr>
          <p:cNvPr id="25" name="step:5:wipeL"/>
          <p:cNvSpPr/>
          <p:nvPr/>
        </p:nvSpPr>
        <p:spPr>
          <a:xfrm>
            <a:off x="640080" y="5044440"/>
            <a:ext cx="10881360" cy="0"/>
          </a:xfrm>
          <a:prstGeom prst="line">
            <a:avLst/>
          </a:prstGeom>
          <a:noFill/>
          <a:ln w="6350">
            <a:solidFill>
              <a:srgbClr val="E4E7EC"/>
            </a:solidFill>
            <a:prstDash val="solid"/>
          </a:ln>
        </p:spPr>
      </p:sp>
      <p:sp>
        <p:nvSpPr>
          <p:cNvPr id="26" name="step:6:wipeL"/>
          <p:cNvSpPr txBox="1"/>
          <p:nvPr/>
        </p:nvSpPr>
        <p:spPr>
          <a:xfrm>
            <a:off x="640080" y="56540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Deploy</a:t>
            </a:r>
            <a:endParaRPr lang="en-US" sz="1700" dirty="0"/>
          </a:p>
        </p:txBody>
      </p:sp>
      <p:sp>
        <p:nvSpPr>
          <p:cNvPr id="27" name="step:6:wipeL"/>
          <p:cNvSpPr txBox="1"/>
          <p:nvPr/>
        </p:nvSpPr>
        <p:spPr>
          <a:xfrm>
            <a:off x="3063240" y="5654040"/>
            <a:ext cx="411480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Easy, few clicks</a:t>
            </a:r>
            <a:endParaRPr lang="en-US" sz="1700" dirty="0"/>
          </a:p>
        </p:txBody>
      </p:sp>
      <p:sp>
        <p:nvSpPr>
          <p:cNvPr id="28" name="step:6:wipeL"/>
          <p:cNvSpPr txBox="1"/>
          <p:nvPr/>
        </p:nvSpPr>
        <p:spPr>
          <a:xfrm>
            <a:off x="7269480" y="56540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Less control and customization</a:t>
            </a:r>
            <a:endParaRPr lang="en-US" sz="1700" dirty="0"/>
          </a:p>
        </p:txBody>
      </p:sp>
      <p:sp>
        <p:nvSpPr>
          <p:cNvPr id="29" name="step:6:wipeL"/>
          <p:cNvSpPr/>
          <p:nvPr/>
        </p:nvSpPr>
        <p:spPr>
          <a:xfrm>
            <a:off x="640080" y="5654040"/>
            <a:ext cx="10881360" cy="0"/>
          </a:xfrm>
          <a:prstGeom prst="line">
            <a:avLst/>
          </a:prstGeom>
          <a:noFill/>
          <a:ln w="6350">
            <a:solidFill>
              <a:srgbClr val="E4E7EC"/>
            </a:solidFill>
            <a:prstDash val="solid"/>
          </a:ln>
        </p:spPr>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05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11"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350"/>
                                        <p:tgtEl>
                                          <p:spTgt spid="7"/>
                                        </p:tgtEl>
                                      </p:cBhvr>
                                    </p:animEffect>
                                  </p:childTnLst>
                                </p:cTn>
                              </p:par>
                              <p:par>
                                <p:cTn id="14"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350"/>
                                        <p:tgtEl>
                                          <p:spTgt spid="8"/>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350"/>
                                        <p:tgtEl>
                                          <p:spTgt spid="9"/>
                                        </p:tgtEl>
                                      </p:cBhvr>
                                    </p:animEffect>
                                  </p:childTnLst>
                                </p:cTn>
                              </p:par>
                            </p:childTnLst>
                          </p:cTn>
                        </p:par>
                      </p:childTnLst>
                    </p:cTn>
                  </p:par>
                  <p:par>
                    <p:cTn id="32" fill="hold">
                      <p:stCondLst>
                        <p:cond delay="indefinite"/>
                      </p:stCondLst>
                      <p:childTnLst>
                        <p:par>
                          <p:cTn id="33"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350"/>
                                        <p:tgtEl>
                                          <p:spTgt spid="10"/>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350"/>
                                        <p:tgtEl>
                                          <p:spTgt spid="11"/>
                                        </p:tgtEl>
                                      </p:cBhvr>
                                    </p:animEffect>
                                  </p:childTnLst>
                                </p:cTn>
                              </p:par>
                              <p:par>
                                <p:cTn id="28"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350"/>
                                        <p:tgtEl>
                                          <p:spTgt spid="12"/>
                                        </p:tgtEl>
                                      </p:cBhvr>
                                    </p:animEffect>
                                  </p:childTnLst>
                                </p:cTn>
                              </p:par>
                              <p:par>
                                <p:cTn id="31"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350"/>
                                        <p:tgtEl>
                                          <p:spTgt spid="13"/>
                                        </p:tgtEl>
                                      </p:cBhvr>
                                    </p:animEffect>
                                  </p:childTnLst>
                                </p:cTn>
                              </p:par>
                            </p:childTnLst>
                          </p:cTn>
                        </p:par>
                      </p:childTnLst>
                    </p:cTn>
                  </p:par>
                  <p:par>
                    <p:cTn id="46" fill="hold">
                      <p:stCondLst>
                        <p:cond delay="indefinite"/>
                      </p:stCondLst>
                      <p:childTnLst>
                        <p:par>
                          <p:cTn id="47" fill="hold">
                            <p:stCondLst>
                              <p:cond delay="0"/>
                            </p:stCondLst>
                            <p:childTnLst>
                              <p:par>
                                <p:cTn id="36"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350"/>
                                        <p:tgtEl>
                                          <p:spTgt spid="14"/>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350"/>
                                        <p:tgtEl>
                                          <p:spTgt spid="15"/>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350"/>
                                        <p:tgtEl>
                                          <p:spTgt spid="16"/>
                                        </p:tgtEl>
                                      </p:cBhvr>
                                    </p:animEffect>
                                  </p:childTnLst>
                                </p:cTn>
                              </p:par>
                              <p:par>
                                <p:cTn id="45"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350"/>
                                        <p:tgtEl>
                                          <p:spTgt spid="17"/>
                                        </p:tgtEl>
                                      </p:cBhvr>
                                    </p:animEffect>
                                  </p:childTnLst>
                                </p:cTn>
                              </p:par>
                            </p:childTnLst>
                          </p:cTn>
                        </p:par>
                      </p:childTnLst>
                    </p:cTn>
                  </p:par>
                  <p:par>
                    <p:cTn id="60" fill="hold">
                      <p:stCondLst>
                        <p:cond delay="indefinite"/>
                      </p:stCondLst>
                      <p:childTnLst>
                        <p:par>
                          <p:cTn id="61" fill="hold">
                            <p:stCondLst>
                              <p:cond delay="0"/>
                            </p:stCondLst>
                            <p:childTnLst>
                              <p:par>
                                <p:cTn id="50"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350"/>
                                        <p:tgtEl>
                                          <p:spTgt spid="18"/>
                                        </p:tgtEl>
                                      </p:cBhvr>
                                    </p:animEffect>
                                  </p:childTnLst>
                                </p:cTn>
                              </p:par>
                              <p:par>
                                <p:cTn id="53" presetID="22" presetClass="entr" presetSubtype="8"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350"/>
                                        <p:tgtEl>
                                          <p:spTgt spid="19"/>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left)">
                                      <p:cBhvr>
                                        <p:cTn id="55" dur="350"/>
                                        <p:tgtEl>
                                          <p:spTgt spid="20"/>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350"/>
                                        <p:tgtEl>
                                          <p:spTgt spid="21"/>
                                        </p:tgtEl>
                                      </p:cBhvr>
                                    </p:animEffect>
                                  </p:childTnLst>
                                </p:cTn>
                              </p:par>
                            </p:childTnLst>
                          </p:cTn>
                        </p:par>
                      </p:childTnLst>
                    </p:cTn>
                  </p:par>
                  <p:par>
                    <p:cTn id="74" fill="hold">
                      <p:stCondLst>
                        <p:cond delay="indefinite"/>
                      </p:stCondLst>
                      <p:childTnLst>
                        <p:par>
                          <p:cTn id="75" fill="hold">
                            <p:stCondLst>
                              <p:cond delay="0"/>
                            </p:stCondLst>
                            <p:childTnLst>
                              <p:par>
                                <p:cTn id="64" presetID="22" presetClass="entr" presetSubtype="8"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350"/>
                                        <p:tgtEl>
                                          <p:spTgt spid="22"/>
                                        </p:tgtEl>
                                      </p:cBhvr>
                                    </p:animEffect>
                                  </p:childTnLst>
                                </p:cTn>
                              </p:par>
                              <p:par>
                                <p:cTn id="67" presetID="22" presetClass="entr" presetSubtype="8"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6" dur="350"/>
                                        <p:tgtEl>
                                          <p:spTgt spid="23"/>
                                        </p:tgtEl>
                                      </p:cBhvr>
                                    </p:animEffect>
                                  </p:childTnLst>
                                </p:cTn>
                              </p:par>
                              <p:par>
                                <p:cTn id="70"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left)">
                                      <p:cBhvr>
                                        <p:cTn id="69" dur="350"/>
                                        <p:tgtEl>
                                          <p:spTgt spid="24"/>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350"/>
                                        <p:tgtEl>
                                          <p:spTgt spid="25"/>
                                        </p:tgtEl>
                                      </p:cBhvr>
                                    </p:animEffect>
                                  </p:childTnLst>
                                </p:cTn>
                              </p:par>
                            </p:childTnLst>
                          </p:cTn>
                        </p:par>
                      </p:childTnLst>
                    </p:cTn>
                  </p:par>
                  <p:par>
                    <p:cTn id="88" fill="hold">
                      <p:stCondLst>
                        <p:cond delay="indefinite"/>
                      </p:stCondLst>
                      <p:childTnLst>
                        <p:par>
                          <p:cTn id="89" fill="hold">
                            <p:stCondLst>
                              <p:cond delay="0"/>
                            </p:stCondLst>
                            <p:childTnLst>
                              <p:par>
                                <p:cTn id="78" presetID="22" presetClass="entr" presetSubtype="8"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left)">
                                      <p:cBhvr>
                                        <p:cTn id="77" dur="350"/>
                                        <p:tgtEl>
                                          <p:spTgt spid="26"/>
                                        </p:tgtEl>
                                      </p:cBhvr>
                                    </p:animEffect>
                                  </p:childTnLst>
                                </p:cTn>
                              </p:par>
                              <p:par>
                                <p:cTn id="81"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left)">
                                      <p:cBhvr>
                                        <p:cTn id="80" dur="350"/>
                                        <p:tgtEl>
                                          <p:spTgt spid="27"/>
                                        </p:tgtEl>
                                      </p:cBhvr>
                                    </p:animEffect>
                                  </p:childTnLst>
                                </p:cTn>
                              </p:par>
                              <p:par>
                                <p:cTn id="84" presetID="22" presetClass="entr" presetSubtype="8"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left)">
                                      <p:cBhvr>
                                        <p:cTn id="83" dur="350"/>
                                        <p:tgtEl>
                                          <p:spTgt spid="28"/>
                                        </p:tgtEl>
                                      </p:cBhvr>
                                    </p:animEffect>
                                  </p:childTnLst>
                                </p:cTn>
                              </p:par>
                              <p:par>
                                <p:cTn id="87" presetID="22" presetClass="entr" presetSubtype="8"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wipe(left)">
                                      <p:cBhvr>
                                        <p:cTn id="86"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Knative, and where it came from</a:t>
            </a:r>
            <a:endParaRPr lang="en-US" sz="3800" dirty="0"/>
          </a:p>
        </p:txBody>
      </p:sp>
      <p:pic>
        <p:nvPicPr>
          <p:cNvPr id="5" name="auto:99:fade" descr="preencoded.png">    </p:cNvPr>
          <p:cNvPicPr>
            <a:picLocks noChangeAspect="1"/>
          </p:cNvPicPr>
          <p:nvPr/>
        </p:nvPicPr>
        <p:blipFill>
          <a:blip r:embed="rId1"/>
          <a:stretch>
            <a:fillRect/>
          </a:stretch>
        </p:blipFill>
        <p:spPr>
          <a:xfrm>
            <a:off x="10475374" y="457200"/>
            <a:ext cx="1076241" cy="868680"/>
          </a:xfrm>
          <a:prstGeom prst="rect">
            <a:avLst/>
          </a:prstGeom>
        </p:spPr>
      </p:pic>
      <p:sp>
        <p:nvSpPr>
          <p:cNvPr id="6"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7"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500" dirty="0">
                <a:solidFill>
                  <a:srgbClr val="1B1F2A"/>
                </a:solidFill>
                <a:latin typeface="Calibri" pitchFamily="34" charset="0"/>
                <a:ea typeface="Calibri" pitchFamily="34" charset="-122"/>
                <a:cs typeface="Calibri" pitchFamily="34" charset="-120"/>
              </a:rPr>
              <a:t>Google open-sourced Knative in 2018; it joined the CNCF in 2022.</a:t>
            </a:r>
            <a:endParaRPr lang="en-US" sz="1500" dirty="0"/>
          </a:p>
        </p:txBody>
      </p:sp>
      <p:sp>
        <p:nvSpPr>
          <p:cNvPr id="8"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9"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500" dirty="0">
                <a:solidFill>
                  <a:srgbClr val="1B1F2A"/>
                </a:solidFill>
                <a:latin typeface="Calibri" pitchFamily="34" charset="0"/>
                <a:ea typeface="Calibri" pitchFamily="34" charset="-122"/>
                <a:cs typeface="Calibri" pitchFamily="34" charset="-120"/>
              </a:rPr>
              <a:t>It is not a platform of its own — it is serverless building blocks for Kubernetes.</a:t>
            </a:r>
            <a:endParaRPr lang="en-US" sz="1500" dirty="0"/>
          </a:p>
        </p:txBody>
      </p:sp>
      <p:sp>
        <p:nvSpPr>
          <p:cNvPr id="10"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1"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500" dirty="0">
                <a:solidFill>
                  <a:srgbClr val="1B1F2A"/>
                </a:solidFill>
                <a:latin typeface="Calibri" pitchFamily="34" charset="0"/>
                <a:ea typeface="Calibri" pitchFamily="34" charset="-122"/>
                <a:cs typeface="Calibri" pitchFamily="34" charset="-120"/>
              </a:rPr>
              <a:t>Serving handles requests, Eventing routes events. We run Serving only.</a:t>
            </a:r>
            <a:endParaRPr lang="en-US" sz="1500" dirty="0"/>
          </a:p>
        </p:txBody>
      </p:sp>
      <p:sp>
        <p:nvSpPr>
          <p:cNvPr id="12" name="auto:0: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3" name="auto:1: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2018</a:t>
            </a:r>
            <a:endParaRPr lang="en-US" sz="1400" dirty="0"/>
          </a:p>
        </p:txBody>
      </p:sp>
      <p:sp>
        <p:nvSpPr>
          <p:cNvPr id="14" name="auto:2: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Google open-sources Knative</a:t>
            </a:r>
            <a:endParaRPr lang="en-US" sz="950" dirty="0"/>
          </a:p>
        </p:txBody>
      </p:sp>
      <p:sp>
        <p:nvSpPr>
          <p:cNvPr id="15" name="auto:3: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6" name="auto:4: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2022</a:t>
            </a:r>
            <a:endParaRPr lang="en-US" sz="1400" dirty="0"/>
          </a:p>
        </p:txBody>
      </p:sp>
      <p:sp>
        <p:nvSpPr>
          <p:cNvPr id="17" name="auto:5: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donated to the CNCF</a:t>
            </a:r>
            <a:endParaRPr lang="en-US" sz="950" dirty="0"/>
          </a:p>
        </p:txBody>
      </p:sp>
      <p:sp>
        <p:nvSpPr>
          <p:cNvPr id="18" name="auto:6: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19" name="auto:7: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Serving</a:t>
            </a:r>
            <a:endParaRPr lang="en-US" sz="1400" dirty="0"/>
          </a:p>
        </p:txBody>
      </p:sp>
      <p:sp>
        <p:nvSpPr>
          <p:cNvPr id="20" name="auto:8: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request-driven workloads</a:t>
            </a:r>
            <a:endParaRPr lang="en-US" sz="950" dirty="0"/>
          </a:p>
        </p:txBody>
      </p:sp>
      <p:sp>
        <p:nvSpPr>
          <p:cNvPr id="21" name="auto:9: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2" name="auto:10: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Eventing</a:t>
            </a:r>
            <a:endParaRPr lang="en-US" sz="1400" dirty="0"/>
          </a:p>
        </p:txBody>
      </p:sp>
      <p:sp>
        <p:nvSpPr>
          <p:cNvPr id="23" name="auto:11: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brokers, triggers, CloudEvents</a:t>
            </a:r>
            <a:endParaRPr lang="en-US" sz="950" dirty="0"/>
          </a:p>
        </p:txBody>
      </p:sp>
      <p:sp>
        <p:nvSpPr>
          <p:cNvPr id="24" name="auto:12: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5" name="auto:13: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Ours</a:t>
            </a:r>
            <a:endParaRPr lang="en-US" sz="1400" dirty="0"/>
          </a:p>
        </p:txBody>
      </p:sp>
      <p:sp>
        <p:nvSpPr>
          <p:cNvPr id="26" name="auto:14: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Serving, via the Operator</a:t>
            </a:r>
            <a:endParaRPr lang="en-US" sz="950" dirty="0"/>
          </a:p>
        </p:txBody>
      </p:sp>
      <p:sp>
        <p:nvSpPr>
          <p:cNvPr id="27" name="Text 23"/>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06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5" presetID="22" presetClass="entr" presetSubtype="4" fill="hold" grpId="0" nodeType="after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wipe(down)">
                                      <p:cBhvr>
                                        <p:cTn id="4" dur="350"/>
                                        <p:tgtEl>
                                          <p:spTgt spid="12"/>
                                        </p:tgtEl>
                                      </p:cBhvr>
                                    </p:animEffect>
                                  </p:childTnLst>
                                </p:cTn>
                              </p:par>
                              <p:par>
                                <p:cTn id="8" presetID="22" presetClass="entr" presetSubtype="4" fill="hold" grpId="0" nodeType="withEffect">
                                  <p:stCondLst>
                                    <p:cond delay="8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350"/>
                                        <p:tgtEl>
                                          <p:spTgt spid="13"/>
                                        </p:tgtEl>
                                      </p:cBhvr>
                                    </p:animEffect>
                                  </p:childTnLst>
                                </p:cTn>
                              </p:par>
                              <p:par>
                                <p:cTn id="11" presetID="22" presetClass="entr" presetSubtype="4" fill="hold" grpId="0" nodeType="withEffect">
                                  <p:stCondLst>
                                    <p:cond delay="16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350"/>
                                        <p:tgtEl>
                                          <p:spTgt spid="14"/>
                                        </p:tgtEl>
                                      </p:cBhvr>
                                    </p:animEffect>
                                  </p:childTnLst>
                                </p:cTn>
                              </p:par>
                              <p:par>
                                <p:cTn id="14" presetID="22" presetClass="entr" presetSubtype="4" fill="hold" grpId="0" nodeType="withEffect">
                                  <p:stCondLst>
                                    <p:cond delay="24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350"/>
                                        <p:tgtEl>
                                          <p:spTgt spid="15"/>
                                        </p:tgtEl>
                                      </p:cBhvr>
                                    </p:animEffect>
                                  </p:childTnLst>
                                </p:cTn>
                              </p:par>
                              <p:par>
                                <p:cTn id="17" presetID="22" presetClass="entr" presetSubtype="4" fill="hold" grpId="0" nodeType="withEffect">
                                  <p:stCondLst>
                                    <p:cond delay="32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350"/>
                                        <p:tgtEl>
                                          <p:spTgt spid="16"/>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350"/>
                                        <p:tgtEl>
                                          <p:spTgt spid="17"/>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350"/>
                                        <p:tgtEl>
                                          <p:spTgt spid="18"/>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19"/>
                                        </p:tgtEl>
                                        <p:attrNameLst>
                                          <p:attrName>style.visibility</p:attrName>
                                        </p:attrNameLst>
                                      </p:cBhvr>
                                      <p:to>
                                        <p:strVal val="visible"/>
                                      </p:to>
                                    </p:set>
                                    <p:animEffect transition="in" filter="wipe(down)">
                                      <p:cBhvr>
                                        <p:cTn id="25" dur="350"/>
                                        <p:tgtEl>
                                          <p:spTgt spid="19"/>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0"/>
                                        </p:tgtEl>
                                        <p:attrNameLst>
                                          <p:attrName>style.visibility</p:attrName>
                                        </p:attrNameLst>
                                      </p:cBhvr>
                                      <p:to>
                                        <p:strVal val="visible"/>
                                      </p:to>
                                    </p:set>
                                    <p:animEffect transition="in" filter="wipe(down)">
                                      <p:cBhvr>
                                        <p:cTn id="28" dur="350"/>
                                        <p:tgtEl>
                                          <p:spTgt spid="20"/>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350"/>
                                        <p:tgtEl>
                                          <p:spTgt spid="21"/>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2"/>
                                        </p:tgtEl>
                                        <p:attrNameLst>
                                          <p:attrName>style.visibility</p:attrName>
                                        </p:attrNameLst>
                                      </p:cBhvr>
                                      <p:to>
                                        <p:strVal val="visible"/>
                                      </p:to>
                                    </p:set>
                                    <p:animEffect transition="in" filter="wipe(down)">
                                      <p:cBhvr>
                                        <p:cTn id="34" dur="350"/>
                                        <p:tgtEl>
                                          <p:spTgt spid="22"/>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350"/>
                                        <p:tgtEl>
                                          <p:spTgt spid="23"/>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4"/>
                                        </p:tgtEl>
                                        <p:attrNameLst>
                                          <p:attrName>style.visibility</p:attrName>
                                        </p:attrNameLst>
                                      </p:cBhvr>
                                      <p:to>
                                        <p:strVal val="visible"/>
                                      </p:to>
                                    </p:set>
                                    <p:animEffect transition="in" filter="wipe(down)">
                                      <p:cBhvr>
                                        <p:cTn id="40" dur="350"/>
                                        <p:tgtEl>
                                          <p:spTgt spid="24"/>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25"/>
                                        </p:tgtEl>
                                        <p:attrNameLst>
                                          <p:attrName>style.visibility</p:attrName>
                                        </p:attrNameLst>
                                      </p:cBhvr>
                                      <p:to>
                                        <p:strVal val="visible"/>
                                      </p:to>
                                    </p:set>
                                    <p:animEffect transition="in" filter="wipe(down)">
                                      <p:cBhvr>
                                        <p:cTn id="43" dur="350"/>
                                        <p:tgtEl>
                                          <p:spTgt spid="25"/>
                                        </p:tgtEl>
                                      </p:cBhvr>
                                    </p:animEffect>
                                  </p:childTnLst>
                                </p:cTn>
                              </p:par>
                              <p:par>
                                <p:cTn id="47" presetID="22" presetClass="entr" presetSubtype="4" fill="hold" grpId="0" nodeType="withEffect">
                                  <p:stCondLst>
                                    <p:cond delay="1120"/>
                                  </p:stCondLst>
                                  <p:childTnLst>
                                    <p:set>
                                      <p:cBhvr>
                                        <p:cTn id="45" dur="1" fill="hold">
                                          <p:stCondLst>
                                            <p:cond delay="0"/>
                                          </p:stCondLst>
                                        </p:cTn>
                                        <p:tgtEl>
                                          <p:spTgt spid="26"/>
                                        </p:tgtEl>
                                        <p:attrNameLst>
                                          <p:attrName>style.visibility</p:attrName>
                                        </p:attrNameLst>
                                      </p:cBhvr>
                                      <p:to>
                                        <p:strVal val="visible"/>
                                      </p:to>
                                    </p:set>
                                    <p:animEffect transition="in" filter="wipe(down)">
                                      <p:cBhvr>
                                        <p:cTn id="46" dur="350"/>
                                        <p:tgtEl>
                                          <p:spTgt spid="26"/>
                                        </p:tgtEl>
                                      </p:cBhvr>
                                    </p:animEffect>
                                  </p:childTnLst>
                                </p:cTn>
                              </p:par>
                              <p:par>
                                <p:cTn id="50" presetID="10" presetClass="entr" presetSubtype="0" fill="hold" grpId="0" nodeType="withEffect">
                                  <p:stCondLst>
                                    <p:cond delay="12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400"/>
                                        <p:tgtEl>
                                          <p:spTgt spid="5"/>
                                        </p:tgtEl>
                                      </p:cBhvr>
                                    </p:animEffect>
                                  </p:childTnLst>
                                </p:cTn>
                              </p:par>
                            </p:childTnLst>
                          </p:cTn>
                        </p:par>
                      </p:childTnLst>
                    </p:cTn>
                  </p:par>
                  <p:par>
                    <p:cTn id="59" fill="hold">
                      <p:stCondLst>
                        <p:cond delay="indefinite"/>
                      </p:stCondLst>
                      <p:childTnLst>
                        <p:par>
                          <p:cTn id="60" fill="hold">
                            <p:stCondLst>
                              <p:cond delay="0"/>
                            </p:stCondLst>
                            <p:childTnLst>
                              <p:par>
                                <p:cTn id="55" presetID="22" presetClass="entr" presetSubtype="8"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350"/>
                                        <p:tgtEl>
                                          <p:spTgt spid="6"/>
                                        </p:tgtEl>
                                      </p:cBhvr>
                                    </p:animEffect>
                                  </p:childTnLst>
                                </p:cTn>
                              </p:par>
                              <p:par>
                                <p:cTn id="58" presetID="22" presetClass="entr" presetSubtype="8"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350"/>
                                        <p:tgtEl>
                                          <p:spTgt spid="7"/>
                                        </p:tgtEl>
                                      </p:cBhvr>
                                    </p:animEffect>
                                  </p:childTnLst>
                                </p:cTn>
                              </p:par>
                            </p:childTnLst>
                          </p:cTn>
                        </p:par>
                      </p:childTnLst>
                    </p:cTn>
                  </p:par>
                  <p:par>
                    <p:cTn id="67" fill="hold">
                      <p:stCondLst>
                        <p:cond delay="indefinite"/>
                      </p:stCondLst>
                      <p:childTnLst>
                        <p:par>
                          <p:cTn id="68" fill="hold">
                            <p:stCondLst>
                              <p:cond delay="0"/>
                            </p:stCondLst>
                            <p:childTnLst>
                              <p:par>
                                <p:cTn id="63" presetID="22" presetClass="entr" presetSubtype="8"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350"/>
                                        <p:tgtEl>
                                          <p:spTgt spid="8"/>
                                        </p:tgtEl>
                                      </p:cBhvr>
                                    </p:animEffect>
                                  </p:childTnLst>
                                </p:cTn>
                              </p:par>
                              <p:par>
                                <p:cTn id="66" presetID="22" presetClass="entr" presetSubtype="8"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wipe(left)">
                                      <p:cBhvr>
                                        <p:cTn id="65" dur="350"/>
                                        <p:tgtEl>
                                          <p:spTgt spid="9"/>
                                        </p:tgtEl>
                                      </p:cBhvr>
                                    </p:animEffect>
                                  </p:childTnLst>
                                </p:cTn>
                              </p:par>
                            </p:childTnLst>
                          </p:cTn>
                        </p:par>
                      </p:childTnLst>
                    </p:cTn>
                  </p:par>
                  <p:par>
                    <p:cTn id="75" fill="hold">
                      <p:stCondLst>
                        <p:cond delay="indefinite"/>
                      </p:stCondLst>
                      <p:childTnLst>
                        <p:par>
                          <p:cTn id="76" fill="hold">
                            <p:stCondLst>
                              <p:cond delay="0"/>
                            </p:stCondLst>
                            <p:childTnLst>
                              <p:par>
                                <p:cTn id="71" presetID="22" presetClass="entr" presetSubtype="8"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wipe(left)">
                                      <p:cBhvr>
                                        <p:cTn id="70" dur="350"/>
                                        <p:tgtEl>
                                          <p:spTgt spid="10"/>
                                        </p:tgtEl>
                                      </p:cBhvr>
                                    </p:animEffect>
                                  </p:childTnLst>
                                </p:cTn>
                              </p:par>
                              <p:par>
                                <p:cTn id="74" presetID="22" presetClass="entr" presetSubtype="8" fill="hold" grpId="0" nodeType="with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left)">
                                      <p:cBhvr>
                                        <p:cTn id="73"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Knative, from what we already run</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We know Deployment, Service, Ingress, HPA</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Knative bundles them into one object</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Adds revisions, routing and scale-to-zero</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Runs on any Kubernetes, ours is OpenShift</a:t>
            </a:r>
            <a:endParaRPr lang="en-US" sz="1900" dirty="0"/>
          </a:p>
        </p:txBody>
      </p:sp>
      <p:sp>
        <p:nvSpPr>
          <p:cNvPr id="13" name="step:5:fade"/>
          <p:cNvSpPr txBox="1"/>
          <p:nvPr/>
        </p:nvSpPr>
        <p:spPr>
          <a:xfrm>
            <a:off x="6172200" y="2194560"/>
            <a:ext cx="118872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NEED</a:t>
            </a:r>
            <a:endParaRPr lang="en-US" sz="900" dirty="0"/>
          </a:p>
        </p:txBody>
      </p:sp>
      <p:sp>
        <p:nvSpPr>
          <p:cNvPr id="14" name="step:5:fade"/>
          <p:cNvSpPr txBox="1"/>
          <p:nvPr/>
        </p:nvSpPr>
        <p:spPr>
          <a:xfrm>
            <a:off x="7360920" y="2194560"/>
            <a:ext cx="201168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PLAIN KUBERNETES</a:t>
            </a:r>
            <a:endParaRPr lang="en-US" sz="900" dirty="0"/>
          </a:p>
        </p:txBody>
      </p:sp>
      <p:sp>
        <p:nvSpPr>
          <p:cNvPr id="15" name="step:5:fade"/>
          <p:cNvSpPr txBox="1"/>
          <p:nvPr/>
        </p:nvSpPr>
        <p:spPr>
          <a:xfrm>
            <a:off x="9372600" y="2194560"/>
            <a:ext cx="2194560" cy="274320"/>
          </a:xfrm>
          <a:prstGeom prst="rect">
            <a:avLst/>
          </a:prstGeom>
          <a:noFill/>
          <a:ln/>
        </p:spPr>
        <p:txBody>
          <a:bodyPr wrap="square" lIns="0" tIns="0" rIns="0" bIns="0" rtlCol="0" anchor="ctr"/>
          <a:lstStyle/>
          <a:p>
            <a:pPr indent="0" marL="0">
              <a:buNone/>
            </a:pPr>
            <a:r>
              <a:rPr lang="en-US" sz="900" spc="200" kern="0" dirty="0">
                <a:solidFill>
                  <a:srgbClr val="0B7A75"/>
                </a:solidFill>
                <a:latin typeface="Courier New" pitchFamily="34" charset="0"/>
                <a:ea typeface="Courier New" pitchFamily="34" charset="-122"/>
                <a:cs typeface="Courier New" pitchFamily="34" charset="-120"/>
              </a:rPr>
              <a:t>KNATIVE</a:t>
            </a:r>
            <a:endParaRPr lang="en-US" sz="900" dirty="0"/>
          </a:p>
        </p:txBody>
      </p:sp>
      <p:sp>
        <p:nvSpPr>
          <p:cNvPr id="16" name="step:5:fade"/>
          <p:cNvSpPr/>
          <p:nvPr/>
        </p:nvSpPr>
        <p:spPr>
          <a:xfrm>
            <a:off x="9281160" y="2560320"/>
            <a:ext cx="2286000" cy="502920"/>
          </a:xfrm>
          <a:prstGeom prst="rect">
            <a:avLst/>
          </a:prstGeom>
          <a:solidFill>
            <a:srgbClr val="E3F1F0"/>
          </a:solidFill>
          <a:ln w="12700">
            <a:solidFill>
              <a:srgbClr val="E3F1F0"/>
            </a:solidFill>
            <a:prstDash val="solid"/>
          </a:ln>
        </p:spPr>
      </p:sp>
      <p:sp>
        <p:nvSpPr>
          <p:cNvPr id="17" name="step:5:wipeL"/>
          <p:cNvSpPr txBox="1"/>
          <p:nvPr/>
        </p:nvSpPr>
        <p:spPr>
          <a:xfrm>
            <a:off x="6172200" y="256032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Run the code</a:t>
            </a:r>
            <a:endParaRPr lang="en-US" sz="1250" dirty="0"/>
          </a:p>
        </p:txBody>
      </p:sp>
      <p:sp>
        <p:nvSpPr>
          <p:cNvPr id="18" name="step:5:wipeL"/>
          <p:cNvSpPr txBox="1"/>
          <p:nvPr/>
        </p:nvSpPr>
        <p:spPr>
          <a:xfrm>
            <a:off x="7406640" y="256032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Deployment</a:t>
            </a:r>
            <a:endParaRPr lang="en-US" sz="1250" dirty="0"/>
          </a:p>
        </p:txBody>
      </p:sp>
      <p:sp>
        <p:nvSpPr>
          <p:cNvPr id="19" name="step:5:wipeL"/>
          <p:cNvSpPr txBox="1"/>
          <p:nvPr/>
        </p:nvSpPr>
        <p:spPr>
          <a:xfrm>
            <a:off x="9418320" y="256032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Revision</a:t>
            </a:r>
            <a:endParaRPr lang="en-US" sz="1250" dirty="0"/>
          </a:p>
        </p:txBody>
      </p:sp>
      <p:sp>
        <p:nvSpPr>
          <p:cNvPr id="20" name="step:6:fade"/>
          <p:cNvSpPr/>
          <p:nvPr/>
        </p:nvSpPr>
        <p:spPr>
          <a:xfrm>
            <a:off x="9281160" y="3063240"/>
            <a:ext cx="2286000" cy="502920"/>
          </a:xfrm>
          <a:prstGeom prst="rect">
            <a:avLst/>
          </a:prstGeom>
          <a:solidFill>
            <a:srgbClr val="E3F1F0"/>
          </a:solidFill>
          <a:ln w="12700">
            <a:solidFill>
              <a:srgbClr val="E3F1F0"/>
            </a:solidFill>
            <a:prstDash val="solid"/>
          </a:ln>
        </p:spPr>
      </p:sp>
      <p:sp>
        <p:nvSpPr>
          <p:cNvPr id="21" name="step:6:wipeL"/>
          <p:cNvSpPr txBox="1"/>
          <p:nvPr/>
        </p:nvSpPr>
        <p:spPr>
          <a:xfrm>
            <a:off x="6172200" y="306324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Reach it</a:t>
            </a:r>
            <a:endParaRPr lang="en-US" sz="1250" dirty="0"/>
          </a:p>
        </p:txBody>
      </p:sp>
      <p:sp>
        <p:nvSpPr>
          <p:cNvPr id="22" name="step:6:wipeL"/>
          <p:cNvSpPr txBox="1"/>
          <p:nvPr/>
        </p:nvSpPr>
        <p:spPr>
          <a:xfrm>
            <a:off x="7406640" y="306324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Service + Ingress</a:t>
            </a:r>
            <a:endParaRPr lang="en-US" sz="1250" dirty="0"/>
          </a:p>
        </p:txBody>
      </p:sp>
      <p:sp>
        <p:nvSpPr>
          <p:cNvPr id="23" name="step:6:wipeL"/>
          <p:cNvSpPr txBox="1"/>
          <p:nvPr/>
        </p:nvSpPr>
        <p:spPr>
          <a:xfrm>
            <a:off x="9418320" y="306324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Route</a:t>
            </a:r>
            <a:endParaRPr lang="en-US" sz="1250" dirty="0"/>
          </a:p>
        </p:txBody>
      </p:sp>
      <p:sp>
        <p:nvSpPr>
          <p:cNvPr id="24" name="step:6:wipeL"/>
          <p:cNvSpPr/>
          <p:nvPr/>
        </p:nvSpPr>
        <p:spPr>
          <a:xfrm>
            <a:off x="6172200" y="3063240"/>
            <a:ext cx="5394960" cy="0"/>
          </a:xfrm>
          <a:prstGeom prst="line">
            <a:avLst/>
          </a:prstGeom>
          <a:noFill/>
          <a:ln w="6350">
            <a:solidFill>
              <a:srgbClr val="E4E7EC"/>
            </a:solidFill>
            <a:prstDash val="solid"/>
          </a:ln>
        </p:spPr>
      </p:sp>
      <p:sp>
        <p:nvSpPr>
          <p:cNvPr id="25" name="step:7:fade"/>
          <p:cNvSpPr/>
          <p:nvPr/>
        </p:nvSpPr>
        <p:spPr>
          <a:xfrm>
            <a:off x="9281160" y="3566160"/>
            <a:ext cx="2286000" cy="502920"/>
          </a:xfrm>
          <a:prstGeom prst="rect">
            <a:avLst/>
          </a:prstGeom>
          <a:solidFill>
            <a:srgbClr val="E3F1F0"/>
          </a:solidFill>
          <a:ln w="12700">
            <a:solidFill>
              <a:srgbClr val="E3F1F0"/>
            </a:solidFill>
            <a:prstDash val="solid"/>
          </a:ln>
        </p:spPr>
      </p:sp>
      <p:sp>
        <p:nvSpPr>
          <p:cNvPr id="26" name="step:7:wipeL"/>
          <p:cNvSpPr txBox="1"/>
          <p:nvPr/>
        </p:nvSpPr>
        <p:spPr>
          <a:xfrm>
            <a:off x="6172200" y="356616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Scale it</a:t>
            </a:r>
            <a:endParaRPr lang="en-US" sz="1250" dirty="0"/>
          </a:p>
        </p:txBody>
      </p:sp>
      <p:sp>
        <p:nvSpPr>
          <p:cNvPr id="27" name="step:7:wipeL"/>
          <p:cNvSpPr txBox="1"/>
          <p:nvPr/>
        </p:nvSpPr>
        <p:spPr>
          <a:xfrm>
            <a:off x="7406640" y="356616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HPA, never to zero</a:t>
            </a:r>
            <a:endParaRPr lang="en-US" sz="1250" dirty="0"/>
          </a:p>
        </p:txBody>
      </p:sp>
      <p:sp>
        <p:nvSpPr>
          <p:cNvPr id="28" name="step:7:wipeL"/>
          <p:cNvSpPr txBox="1"/>
          <p:nvPr/>
        </p:nvSpPr>
        <p:spPr>
          <a:xfrm>
            <a:off x="9418320" y="356616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KPA, down to zero</a:t>
            </a:r>
            <a:endParaRPr lang="en-US" sz="1250" dirty="0"/>
          </a:p>
        </p:txBody>
      </p:sp>
      <p:sp>
        <p:nvSpPr>
          <p:cNvPr id="29" name="step:7:wipeL"/>
          <p:cNvSpPr/>
          <p:nvPr/>
        </p:nvSpPr>
        <p:spPr>
          <a:xfrm>
            <a:off x="6172200" y="3566160"/>
            <a:ext cx="5394960" cy="0"/>
          </a:xfrm>
          <a:prstGeom prst="line">
            <a:avLst/>
          </a:prstGeom>
          <a:noFill/>
          <a:ln w="6350">
            <a:solidFill>
              <a:srgbClr val="E4E7EC"/>
            </a:solidFill>
            <a:prstDash val="solid"/>
          </a:ln>
        </p:spPr>
      </p:sp>
      <p:sp>
        <p:nvSpPr>
          <p:cNvPr id="30" name="step:8:fade"/>
          <p:cNvSpPr/>
          <p:nvPr/>
        </p:nvSpPr>
        <p:spPr>
          <a:xfrm>
            <a:off x="9281160" y="4069080"/>
            <a:ext cx="2286000" cy="502920"/>
          </a:xfrm>
          <a:prstGeom prst="rect">
            <a:avLst/>
          </a:prstGeom>
          <a:solidFill>
            <a:srgbClr val="E3F1F0"/>
          </a:solidFill>
          <a:ln w="12700">
            <a:solidFill>
              <a:srgbClr val="E3F1F0"/>
            </a:solidFill>
            <a:prstDash val="solid"/>
          </a:ln>
        </p:spPr>
      </p:sp>
      <p:sp>
        <p:nvSpPr>
          <p:cNvPr id="31" name="step:8:wipeL"/>
          <p:cNvSpPr txBox="1"/>
          <p:nvPr/>
        </p:nvSpPr>
        <p:spPr>
          <a:xfrm>
            <a:off x="6172200" y="406908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Change it</a:t>
            </a:r>
            <a:endParaRPr lang="en-US" sz="1250" dirty="0"/>
          </a:p>
        </p:txBody>
      </p:sp>
      <p:sp>
        <p:nvSpPr>
          <p:cNvPr id="32" name="step:8:wipeL"/>
          <p:cNvSpPr txBox="1"/>
          <p:nvPr/>
        </p:nvSpPr>
        <p:spPr>
          <a:xfrm>
            <a:off x="7406640" y="406908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Rolling update</a:t>
            </a:r>
            <a:endParaRPr lang="en-US" sz="1250" dirty="0"/>
          </a:p>
        </p:txBody>
      </p:sp>
      <p:sp>
        <p:nvSpPr>
          <p:cNvPr id="33" name="step:8:wipeL"/>
          <p:cNvSpPr txBox="1"/>
          <p:nvPr/>
        </p:nvSpPr>
        <p:spPr>
          <a:xfrm>
            <a:off x="9418320" y="406908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New Revision, old kept</a:t>
            </a:r>
            <a:endParaRPr lang="en-US" sz="1250" dirty="0"/>
          </a:p>
        </p:txBody>
      </p:sp>
      <p:sp>
        <p:nvSpPr>
          <p:cNvPr id="34" name="step:8:wipeL"/>
          <p:cNvSpPr/>
          <p:nvPr/>
        </p:nvSpPr>
        <p:spPr>
          <a:xfrm>
            <a:off x="6172200" y="4069080"/>
            <a:ext cx="5394960" cy="0"/>
          </a:xfrm>
          <a:prstGeom prst="line">
            <a:avLst/>
          </a:prstGeom>
          <a:noFill/>
          <a:ln w="6350">
            <a:solidFill>
              <a:srgbClr val="E4E7EC"/>
            </a:solidFill>
            <a:prstDash val="solid"/>
          </a:ln>
        </p:spPr>
      </p:sp>
      <p:sp>
        <p:nvSpPr>
          <p:cNvPr id="35" name="step:9:fade"/>
          <p:cNvSpPr/>
          <p:nvPr/>
        </p:nvSpPr>
        <p:spPr>
          <a:xfrm>
            <a:off x="9281160" y="4572000"/>
            <a:ext cx="2286000" cy="502920"/>
          </a:xfrm>
          <a:prstGeom prst="rect">
            <a:avLst/>
          </a:prstGeom>
          <a:solidFill>
            <a:srgbClr val="E3F1F0"/>
          </a:solidFill>
          <a:ln w="12700">
            <a:solidFill>
              <a:srgbClr val="E3F1F0"/>
            </a:solidFill>
            <a:prstDash val="solid"/>
          </a:ln>
        </p:spPr>
      </p:sp>
      <p:sp>
        <p:nvSpPr>
          <p:cNvPr id="36" name="step:9:wipeL"/>
          <p:cNvSpPr txBox="1"/>
          <p:nvPr/>
        </p:nvSpPr>
        <p:spPr>
          <a:xfrm>
            <a:off x="6172200" y="457200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Own hostname</a:t>
            </a:r>
            <a:endParaRPr lang="en-US" sz="1250" dirty="0"/>
          </a:p>
        </p:txBody>
      </p:sp>
      <p:sp>
        <p:nvSpPr>
          <p:cNvPr id="37" name="step:9:wipeL"/>
          <p:cNvSpPr txBox="1"/>
          <p:nvPr/>
        </p:nvSpPr>
        <p:spPr>
          <a:xfrm>
            <a:off x="7406640" y="457200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Ingress rule</a:t>
            </a:r>
            <a:endParaRPr lang="en-US" sz="1250" dirty="0"/>
          </a:p>
        </p:txBody>
      </p:sp>
      <p:sp>
        <p:nvSpPr>
          <p:cNvPr id="38" name="step:9:wipeL"/>
          <p:cNvSpPr txBox="1"/>
          <p:nvPr/>
        </p:nvSpPr>
        <p:spPr>
          <a:xfrm>
            <a:off x="9418320" y="457200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DomainMapping</a:t>
            </a:r>
            <a:endParaRPr lang="en-US" sz="1250" dirty="0"/>
          </a:p>
        </p:txBody>
      </p:sp>
      <p:sp>
        <p:nvSpPr>
          <p:cNvPr id="39" name="step:9:wipeL"/>
          <p:cNvSpPr/>
          <p:nvPr/>
        </p:nvSpPr>
        <p:spPr>
          <a:xfrm>
            <a:off x="6172200" y="4572000"/>
            <a:ext cx="5394960" cy="0"/>
          </a:xfrm>
          <a:prstGeom prst="line">
            <a:avLst/>
          </a:prstGeom>
          <a:noFill/>
          <a:ln w="6350">
            <a:solidFill>
              <a:srgbClr val="E4E7EC"/>
            </a:solidFill>
            <a:prstDash val="solid"/>
          </a:ln>
        </p:spPr>
      </p:sp>
      <p:sp>
        <p:nvSpPr>
          <p:cNvPr id="40" name="Text 3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07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56" fill="hold">
                      <p:stCondLst>
                        <p:cond delay="indefinite"/>
                      </p:stCondLst>
                      <p:childTnLst>
                        <p:par>
                          <p:cTn id="57" fill="hold">
                            <p:stCondLst>
                              <p:cond delay="0"/>
                            </p:stCondLst>
                            <p:childTnLst>
                              <p:par>
                                <p:cTn id="37"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00"/>
                                        <p:tgtEl>
                                          <p:spTgt spid="16"/>
                                        </p:tgtEl>
                                      </p:cBhvr>
                                    </p:animEffect>
                                  </p:childTnLst>
                                </p:cTn>
                              </p:par>
                              <p:par>
                                <p:cTn id="49" presetID="22" presetClass="entr" presetSubtype="8"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350"/>
                                        <p:tgtEl>
                                          <p:spTgt spid="17"/>
                                        </p:tgtEl>
                                      </p:cBhvr>
                                    </p:animEffect>
                                  </p:childTnLst>
                                </p:cTn>
                              </p:par>
                              <p:par>
                                <p:cTn id="52" presetID="22" presetClass="entr" presetSubtype="8"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350"/>
                                        <p:tgtEl>
                                          <p:spTgt spid="18"/>
                                        </p:tgtEl>
                                      </p:cBhvr>
                                    </p:animEffect>
                                  </p:childTnLst>
                                </p:cTn>
                              </p:par>
                              <p:par>
                                <p:cTn id="55" presetID="22" presetClass="entr" presetSubtype="8"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350"/>
                                        <p:tgtEl>
                                          <p:spTgt spid="19"/>
                                        </p:tgtEl>
                                      </p:cBhvr>
                                    </p:animEffect>
                                  </p:childTnLst>
                                </p:cTn>
                              </p:par>
                            </p:childTnLst>
                          </p:cTn>
                        </p:par>
                      </p:childTnLst>
                    </p:cTn>
                  </p:par>
                  <p:par>
                    <p:cTn id="73" fill="hold">
                      <p:stCondLst>
                        <p:cond delay="indefinite"/>
                      </p:stCondLst>
                      <p:childTnLst>
                        <p:par>
                          <p:cTn id="74" fill="hold">
                            <p:stCondLst>
                              <p:cond delay="0"/>
                            </p:stCondLst>
                            <p:childTnLst>
                              <p:par>
                                <p:cTn id="60"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par>
                                <p:cTn id="63" presetID="22" presetClass="entr" presetSubtype="8"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350"/>
                                        <p:tgtEl>
                                          <p:spTgt spid="21"/>
                                        </p:tgtEl>
                                      </p:cBhvr>
                                    </p:animEffect>
                                  </p:childTnLst>
                                </p:cTn>
                              </p:par>
                              <p:par>
                                <p:cTn id="66" presetID="22" presetClass="entr" presetSubtype="8"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350"/>
                                        <p:tgtEl>
                                          <p:spTgt spid="22"/>
                                        </p:tgtEl>
                                      </p:cBhvr>
                                    </p:animEffect>
                                  </p:childTnLst>
                                </p:cTn>
                              </p:par>
                              <p:par>
                                <p:cTn id="69" presetID="22" presetClass="entr" presetSubtype="8"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350"/>
                                        <p:tgtEl>
                                          <p:spTgt spid="23"/>
                                        </p:tgtEl>
                                      </p:cBhvr>
                                    </p:animEffect>
                                  </p:childTnLst>
                                </p:cTn>
                              </p:par>
                              <p:par>
                                <p:cTn id="72" presetID="22" presetClass="entr" presetSubtype="8"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left)">
                                      <p:cBhvr>
                                        <p:cTn id="71" dur="350"/>
                                        <p:tgtEl>
                                          <p:spTgt spid="24"/>
                                        </p:tgtEl>
                                      </p:cBhvr>
                                    </p:animEffect>
                                  </p:childTnLst>
                                </p:cTn>
                              </p:par>
                            </p:childTnLst>
                          </p:cTn>
                        </p:par>
                      </p:childTnLst>
                    </p:cTn>
                  </p:par>
                  <p:par>
                    <p:cTn id="90" fill="hold">
                      <p:stCondLst>
                        <p:cond delay="indefinite"/>
                      </p:stCondLst>
                      <p:childTnLst>
                        <p:par>
                          <p:cTn id="91" fill="hold">
                            <p:stCondLst>
                              <p:cond delay="0"/>
                            </p:stCondLst>
                            <p:childTnLst>
                              <p:par>
                                <p:cTn id="77" presetID="10" presetClass="entr" presetSubtype="0" fill="hold" grpId="0"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00"/>
                                        <p:tgtEl>
                                          <p:spTgt spid="25"/>
                                        </p:tgtEl>
                                      </p:cBhvr>
                                    </p:animEffect>
                                  </p:childTnLst>
                                </p:cTn>
                              </p:par>
                              <p:par>
                                <p:cTn id="80" presetID="22" presetClass="entr" presetSubtype="8"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350"/>
                                        <p:tgtEl>
                                          <p:spTgt spid="26"/>
                                        </p:tgtEl>
                                      </p:cBhvr>
                                    </p:animEffect>
                                  </p:childTnLst>
                                </p:cTn>
                              </p:par>
                              <p:par>
                                <p:cTn id="83" presetID="22" presetClass="entr" presetSubtype="8"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wipe(left)">
                                      <p:cBhvr>
                                        <p:cTn id="82" dur="350"/>
                                        <p:tgtEl>
                                          <p:spTgt spid="27"/>
                                        </p:tgtEl>
                                      </p:cBhvr>
                                    </p:animEffect>
                                  </p:childTnLst>
                                </p:cTn>
                              </p:par>
                              <p:par>
                                <p:cTn id="86" presetID="22" presetClass="entr" presetSubtype="8"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wipe(left)">
                                      <p:cBhvr>
                                        <p:cTn id="85" dur="350"/>
                                        <p:tgtEl>
                                          <p:spTgt spid="28"/>
                                        </p:tgtEl>
                                      </p:cBhvr>
                                    </p:animEffect>
                                  </p:childTnLst>
                                </p:cTn>
                              </p:par>
                              <p:par>
                                <p:cTn id="89" presetID="22" presetClass="entr" presetSubtype="8"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ipe(left)">
                                      <p:cBhvr>
                                        <p:cTn id="88" dur="350"/>
                                        <p:tgtEl>
                                          <p:spTgt spid="29"/>
                                        </p:tgtEl>
                                      </p:cBhvr>
                                    </p:animEffect>
                                  </p:childTnLst>
                                </p:cTn>
                              </p:par>
                            </p:childTnLst>
                          </p:cTn>
                        </p:par>
                      </p:childTnLst>
                    </p:cTn>
                  </p:par>
                  <p:par>
                    <p:cTn id="107" fill="hold">
                      <p:stCondLst>
                        <p:cond delay="indefinite"/>
                      </p:stCondLst>
                      <p:childTnLst>
                        <p:par>
                          <p:cTn id="108" fill="hold">
                            <p:stCondLst>
                              <p:cond delay="0"/>
                            </p:stCondLst>
                            <p:childTnLst>
                              <p:par>
                                <p:cTn id="94" presetID="10" presetClass="entr" presetSubtype="0" fill="hold" grpId="0" nodeType="click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400"/>
                                        <p:tgtEl>
                                          <p:spTgt spid="30"/>
                                        </p:tgtEl>
                                      </p:cBhvr>
                                    </p:animEffect>
                                  </p:childTnLst>
                                </p:cTn>
                              </p:par>
                              <p:par>
                                <p:cTn id="97" presetID="22" presetClass="entr" presetSubtype="8"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wipe(left)">
                                      <p:cBhvr>
                                        <p:cTn id="96" dur="350"/>
                                        <p:tgtEl>
                                          <p:spTgt spid="31"/>
                                        </p:tgtEl>
                                      </p:cBhvr>
                                    </p:animEffect>
                                  </p:childTnLst>
                                </p:cTn>
                              </p:par>
                              <p:par>
                                <p:cTn id="100" presetID="22" presetClass="entr" presetSubtype="8"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wipe(left)">
                                      <p:cBhvr>
                                        <p:cTn id="99" dur="350"/>
                                        <p:tgtEl>
                                          <p:spTgt spid="32"/>
                                        </p:tgtEl>
                                      </p:cBhvr>
                                    </p:animEffect>
                                  </p:childTnLst>
                                </p:cTn>
                              </p:par>
                              <p:par>
                                <p:cTn id="103" presetID="22" presetClass="entr" presetSubtype="8"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wipe(left)">
                                      <p:cBhvr>
                                        <p:cTn id="102" dur="350"/>
                                        <p:tgtEl>
                                          <p:spTgt spid="33"/>
                                        </p:tgtEl>
                                      </p:cBhvr>
                                    </p:animEffect>
                                  </p:childTnLst>
                                </p:cTn>
                              </p:par>
                              <p:par>
                                <p:cTn id="106" presetID="22" presetClass="entr" presetSubtype="8"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wipe(left)">
                                      <p:cBhvr>
                                        <p:cTn id="105" dur="350"/>
                                        <p:tgtEl>
                                          <p:spTgt spid="34"/>
                                        </p:tgtEl>
                                      </p:cBhvr>
                                    </p:animEffect>
                                  </p:childTnLst>
                                </p:cTn>
                              </p:par>
                            </p:childTnLst>
                          </p:cTn>
                        </p:par>
                      </p:childTnLst>
                    </p:cTn>
                  </p:par>
                  <p:par>
                    <p:cTn id="124" fill="hold">
                      <p:stCondLst>
                        <p:cond delay="indefinite"/>
                      </p:stCondLst>
                      <p:childTnLst>
                        <p:par>
                          <p:cTn id="125" fill="hold">
                            <p:stCondLst>
                              <p:cond delay="0"/>
                            </p:stCondLst>
                            <p:childTnLst>
                              <p:par>
                                <p:cTn id="111" presetID="10" presetClass="entr" presetSubtype="0" fill="hold" grpId="0" nodeType="click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400"/>
                                        <p:tgtEl>
                                          <p:spTgt spid="35"/>
                                        </p:tgtEl>
                                      </p:cBhvr>
                                    </p:animEffect>
                                  </p:childTnLst>
                                </p:cTn>
                              </p:par>
                              <p:par>
                                <p:cTn id="114" presetID="22" presetClass="entr" presetSubtype="8"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wipe(left)">
                                      <p:cBhvr>
                                        <p:cTn id="113" dur="350"/>
                                        <p:tgtEl>
                                          <p:spTgt spid="36"/>
                                        </p:tgtEl>
                                      </p:cBhvr>
                                    </p:animEffect>
                                  </p:childTnLst>
                                </p:cTn>
                              </p:par>
                              <p:par>
                                <p:cTn id="117" presetID="22" presetClass="entr" presetSubtype="8"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wipe(left)">
                                      <p:cBhvr>
                                        <p:cTn id="116" dur="350"/>
                                        <p:tgtEl>
                                          <p:spTgt spid="37"/>
                                        </p:tgtEl>
                                      </p:cBhvr>
                                    </p:animEffect>
                                  </p:childTnLst>
                                </p:cTn>
                              </p:par>
                              <p:par>
                                <p:cTn id="120" presetID="22" presetClass="entr" presetSubtype="8" fill="hold" grpId="0"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wipe(left)">
                                      <p:cBhvr>
                                        <p:cTn id="119" dur="350"/>
                                        <p:tgtEl>
                                          <p:spTgt spid="38"/>
                                        </p:tgtEl>
                                      </p:cBhvr>
                                    </p:animEffect>
                                  </p:childTnLst>
                                </p:cTn>
                              </p:par>
                              <p:par>
                                <p:cTn id="123" presetID="22" presetClass="entr" presetSubtype="8" fill="hold" grpId="0" nodeType="with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wipe(left)">
                                      <p:cBhvr>
                                        <p:cTn id="122" dur="3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One object: the Knative Service</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Service owns Configuration and Route</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Configuration holds the desired code</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Every change is an immutable Revision</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Route sends traffic to revisions</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DomainMapping gives it your hostname</a:t>
            </a:r>
            <a:endParaRPr lang="en-US" sz="1900" dirty="0"/>
          </a:p>
        </p:txBody>
      </p:sp>
      <p:sp>
        <p:nvSpPr>
          <p:cNvPr id="15" name="step:2:wipeL"/>
          <p:cNvSpPr/>
          <p:nvPr/>
        </p:nvSpPr>
        <p:spPr>
          <a:xfrm flipH="1">
            <a:off x="7431024" y="2677058"/>
            <a:ext cx="1438656" cy="593446"/>
          </a:xfrm>
          <a:prstGeom prst="line">
            <a:avLst/>
          </a:prstGeom>
          <a:noFill/>
          <a:ln w="15875">
            <a:solidFill>
              <a:srgbClr val="98A2B3"/>
            </a:solidFill>
            <a:prstDash val="solid"/>
            <a:tailEnd type="triangle"/>
          </a:ln>
        </p:spPr>
      </p:sp>
      <p:sp>
        <p:nvSpPr>
          <p:cNvPr id="16" name="step:3:wipeL"/>
          <p:cNvSpPr/>
          <p:nvPr/>
        </p:nvSpPr>
        <p:spPr>
          <a:xfrm>
            <a:off x="7431024" y="3845966"/>
            <a:ext cx="0" cy="593446"/>
          </a:xfrm>
          <a:prstGeom prst="line">
            <a:avLst/>
          </a:prstGeom>
          <a:noFill/>
          <a:ln w="15875">
            <a:solidFill>
              <a:srgbClr val="98A2B3"/>
            </a:solidFill>
            <a:prstDash val="solid"/>
            <a:tailEnd type="triangle"/>
          </a:ln>
        </p:spPr>
      </p:sp>
      <p:sp>
        <p:nvSpPr>
          <p:cNvPr id="17" name="step:4:wipeL"/>
          <p:cNvSpPr/>
          <p:nvPr/>
        </p:nvSpPr>
        <p:spPr>
          <a:xfrm>
            <a:off x="8869680" y="2677058"/>
            <a:ext cx="1438656" cy="593446"/>
          </a:xfrm>
          <a:prstGeom prst="line">
            <a:avLst/>
          </a:prstGeom>
          <a:noFill/>
          <a:ln w="15875">
            <a:solidFill>
              <a:srgbClr val="98A2B3"/>
            </a:solidFill>
            <a:prstDash val="solid"/>
            <a:tailEnd type="triangle"/>
          </a:ln>
        </p:spPr>
      </p:sp>
      <p:sp>
        <p:nvSpPr>
          <p:cNvPr id="18" name="step:4:wipeL"/>
          <p:cNvSpPr/>
          <p:nvPr/>
        </p:nvSpPr>
        <p:spPr>
          <a:xfrm flipH="1">
            <a:off x="8510016" y="3558235"/>
            <a:ext cx="719328" cy="1168908"/>
          </a:xfrm>
          <a:prstGeom prst="line">
            <a:avLst/>
          </a:prstGeom>
          <a:noFill/>
          <a:ln w="15875">
            <a:solidFill>
              <a:srgbClr val="98A2B3"/>
            </a:solidFill>
            <a:prstDash val="dash"/>
            <a:tailEnd type="triangle"/>
          </a:ln>
        </p:spPr>
      </p:sp>
      <p:sp>
        <p:nvSpPr>
          <p:cNvPr id="19" name="step:5:wipeL"/>
          <p:cNvSpPr/>
          <p:nvPr/>
        </p:nvSpPr>
        <p:spPr>
          <a:xfrm flipV="1">
            <a:off x="10308336" y="3845966"/>
            <a:ext cx="0" cy="593446"/>
          </a:xfrm>
          <a:prstGeom prst="line">
            <a:avLst/>
          </a:prstGeom>
          <a:noFill/>
          <a:ln w="15875">
            <a:solidFill>
              <a:srgbClr val="98A2B3"/>
            </a:solidFill>
            <a:prstDash val="dash"/>
            <a:tailEnd type="triangle"/>
          </a:ln>
        </p:spPr>
      </p:sp>
      <p:sp>
        <p:nvSpPr>
          <p:cNvPr id="20" name="step:1:wipeD"/>
          <p:cNvSpPr/>
          <p:nvPr/>
        </p:nvSpPr>
        <p:spPr>
          <a:xfrm>
            <a:off x="7700772" y="2101596"/>
            <a:ext cx="2337816" cy="575462"/>
          </a:xfrm>
          <a:prstGeom prst="roundRect">
            <a:avLst>
              <a:gd name="adj" fmla="val 12712"/>
            </a:avLst>
          </a:prstGeom>
          <a:solidFill>
            <a:srgbClr val="FFFFFF"/>
          </a:solidFill>
          <a:ln w="22225">
            <a:solidFill>
              <a:srgbClr val="E4572E"/>
            </a:solidFill>
            <a:prstDash val="solid"/>
          </a:ln>
        </p:spPr>
      </p:sp>
      <p:sp>
        <p:nvSpPr>
          <p:cNvPr id="21" name="step:1:wipeD"/>
          <p:cNvSpPr txBox="1"/>
          <p:nvPr/>
        </p:nvSpPr>
        <p:spPr>
          <a:xfrm>
            <a:off x="7700772" y="2101596"/>
            <a:ext cx="2337816"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Knative Service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the one object you write</a:t>
            </a:r>
            <a:endParaRPr lang="en-US" sz="1200" dirty="0"/>
          </a:p>
        </p:txBody>
      </p:sp>
      <p:sp>
        <p:nvSpPr>
          <p:cNvPr id="22" name="step:2:wipeD"/>
          <p:cNvSpPr/>
          <p:nvPr/>
        </p:nvSpPr>
        <p:spPr>
          <a:xfrm>
            <a:off x="6352032" y="3270504"/>
            <a:ext cx="2157984" cy="575462"/>
          </a:xfrm>
          <a:prstGeom prst="roundRect">
            <a:avLst>
              <a:gd name="adj" fmla="val 12712"/>
            </a:avLst>
          </a:prstGeom>
          <a:solidFill>
            <a:srgbClr val="FFFFFF"/>
          </a:solidFill>
          <a:ln w="15875">
            <a:solidFill>
              <a:srgbClr val="0B7A75"/>
            </a:solidFill>
            <a:prstDash val="solid"/>
          </a:ln>
        </p:spPr>
      </p:sp>
      <p:sp>
        <p:nvSpPr>
          <p:cNvPr id="23" name="step:2:wipeD"/>
          <p:cNvSpPr txBox="1"/>
          <p:nvPr/>
        </p:nvSpPr>
        <p:spPr>
          <a:xfrm>
            <a:off x="6352032" y="3270504"/>
            <a:ext cx="2157984"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Configuration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desired state of the code</a:t>
            </a:r>
            <a:endParaRPr lang="en-US" sz="1200" dirty="0"/>
          </a:p>
        </p:txBody>
      </p:sp>
      <p:sp>
        <p:nvSpPr>
          <p:cNvPr id="24" name="step:3:wipeD"/>
          <p:cNvSpPr/>
          <p:nvPr/>
        </p:nvSpPr>
        <p:spPr>
          <a:xfrm>
            <a:off x="6352032" y="4439412"/>
            <a:ext cx="2157984" cy="575462"/>
          </a:xfrm>
          <a:prstGeom prst="roundRect">
            <a:avLst>
              <a:gd name="adj" fmla="val 12712"/>
            </a:avLst>
          </a:prstGeom>
          <a:solidFill>
            <a:srgbClr val="FFFFFF"/>
          </a:solidFill>
          <a:ln w="15875">
            <a:solidFill>
              <a:srgbClr val="0B7A75"/>
            </a:solidFill>
            <a:prstDash val="solid"/>
          </a:ln>
        </p:spPr>
      </p:sp>
      <p:sp>
        <p:nvSpPr>
          <p:cNvPr id="25" name="step:3:wipeD"/>
          <p:cNvSpPr txBox="1"/>
          <p:nvPr/>
        </p:nvSpPr>
        <p:spPr>
          <a:xfrm>
            <a:off x="6352032" y="4439412"/>
            <a:ext cx="2157984"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Revision 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immutable snapshot</a:t>
            </a:r>
            <a:endParaRPr lang="en-US" sz="1200" dirty="0"/>
          </a:p>
        </p:txBody>
      </p:sp>
      <p:sp>
        <p:nvSpPr>
          <p:cNvPr id="26" name="step:4:wipeD"/>
          <p:cNvSpPr/>
          <p:nvPr/>
        </p:nvSpPr>
        <p:spPr>
          <a:xfrm>
            <a:off x="9229344" y="3270504"/>
            <a:ext cx="2157984" cy="575462"/>
          </a:xfrm>
          <a:prstGeom prst="roundRect">
            <a:avLst>
              <a:gd name="adj" fmla="val 12712"/>
            </a:avLst>
          </a:prstGeom>
          <a:solidFill>
            <a:srgbClr val="FFFFFF"/>
          </a:solidFill>
          <a:ln w="15875">
            <a:solidFill>
              <a:srgbClr val="0B7A75"/>
            </a:solidFill>
            <a:prstDash val="solid"/>
          </a:ln>
        </p:spPr>
      </p:sp>
      <p:sp>
        <p:nvSpPr>
          <p:cNvPr id="27" name="step:4:wipeD"/>
          <p:cNvSpPr txBox="1"/>
          <p:nvPr/>
        </p:nvSpPr>
        <p:spPr>
          <a:xfrm>
            <a:off x="9229344" y="3270504"/>
            <a:ext cx="2157984"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Route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traffic → revisions</a:t>
            </a:r>
            <a:endParaRPr lang="en-US" sz="1200" dirty="0"/>
          </a:p>
        </p:txBody>
      </p:sp>
      <p:sp>
        <p:nvSpPr>
          <p:cNvPr id="28" name="step:5:wipeD"/>
          <p:cNvSpPr/>
          <p:nvPr/>
        </p:nvSpPr>
        <p:spPr>
          <a:xfrm>
            <a:off x="9229344" y="4439412"/>
            <a:ext cx="2157984" cy="575462"/>
          </a:xfrm>
          <a:prstGeom prst="roundRect">
            <a:avLst>
              <a:gd name="adj" fmla="val 12712"/>
            </a:avLst>
          </a:prstGeom>
          <a:solidFill>
            <a:srgbClr val="FFFFFF"/>
          </a:solidFill>
          <a:ln w="15875">
            <a:solidFill>
              <a:srgbClr val="0B7A75"/>
            </a:solidFill>
            <a:prstDash val="solid"/>
          </a:ln>
        </p:spPr>
      </p:sp>
      <p:sp>
        <p:nvSpPr>
          <p:cNvPr id="29" name="step:5:wipeD"/>
          <p:cNvSpPr txBox="1"/>
          <p:nvPr/>
        </p:nvSpPr>
        <p:spPr>
          <a:xfrm>
            <a:off x="9229344" y="4439412"/>
            <a:ext cx="2157984"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DomainMapping</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your own hostname</a:t>
            </a:r>
            <a:endParaRPr lang="en-US" sz="120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08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350"/>
                                        <p:tgtEl>
                                          <p:spTgt spid="20"/>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350"/>
                                        <p:tgtEl>
                                          <p:spTgt spid="21"/>
                                        </p:tgtEl>
                                      </p:cBhvr>
                                    </p:animEffect>
                                  </p:childTnLst>
                                </p:cTn>
                              </p:par>
                            </p:childTnLst>
                          </p:cTn>
                        </p:par>
                      </p:childTnLst>
                    </p:cTn>
                  </p:par>
                  <p:par>
                    <p:cTn id="32" fill="hold">
                      <p:stCondLst>
                        <p:cond delay="indefinite"/>
                      </p:stCondLst>
                      <p:childTnLst>
                        <p:par>
                          <p:cTn id="33"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350"/>
                                        <p:tgtEl>
                                          <p:spTgt spid="7"/>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50"/>
                                        <p:tgtEl>
                                          <p:spTgt spid="8"/>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350"/>
                                        <p:tgtEl>
                                          <p:spTgt spid="15"/>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350"/>
                                        <p:tgtEl>
                                          <p:spTgt spid="22"/>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down)">
                                      <p:cBhvr>
                                        <p:cTn id="30" dur="350"/>
                                        <p:tgtEl>
                                          <p:spTgt spid="23"/>
                                        </p:tgtEl>
                                      </p:cBhvr>
                                    </p:animEffect>
                                  </p:childTnLst>
                                </p:cTn>
                              </p:par>
                            </p:childTnLst>
                          </p:cTn>
                        </p:par>
                      </p:childTnLst>
                    </p:cTn>
                  </p:par>
                  <p:par>
                    <p:cTn id="49" fill="hold">
                      <p:stCondLst>
                        <p:cond delay="indefinite"/>
                      </p:stCondLst>
                      <p:childTnLst>
                        <p:par>
                          <p:cTn id="50" fill="hold">
                            <p:stCondLst>
                              <p:cond delay="0"/>
                            </p:stCondLst>
                            <p:childTnLst>
                              <p:par>
                                <p:cTn id="36" presetID="2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350"/>
                                        <p:tgtEl>
                                          <p:spTgt spid="9"/>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350"/>
                                        <p:tgtEl>
                                          <p:spTgt spid="10"/>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350"/>
                                        <p:tgtEl>
                                          <p:spTgt spid="16"/>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down)">
                                      <p:cBhvr>
                                        <p:cTn id="44" dur="350"/>
                                        <p:tgtEl>
                                          <p:spTgt spid="24"/>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350"/>
                                        <p:tgtEl>
                                          <p:spTgt spid="25"/>
                                        </p:tgtEl>
                                      </p:cBhvr>
                                    </p:animEffect>
                                  </p:childTnLst>
                                </p:cTn>
                              </p:par>
                            </p:childTnLst>
                          </p:cTn>
                        </p:par>
                      </p:childTnLst>
                    </p:cTn>
                  </p:par>
                  <p:par>
                    <p:cTn id="69" fill="hold">
                      <p:stCondLst>
                        <p:cond delay="indefinite"/>
                      </p:stCondLst>
                      <p:childTnLst>
                        <p:par>
                          <p:cTn id="70"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350"/>
                                        <p:tgtEl>
                                          <p:spTgt spid="11"/>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350"/>
                                        <p:tgtEl>
                                          <p:spTgt spid="12"/>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350"/>
                                        <p:tgtEl>
                                          <p:spTgt spid="17"/>
                                        </p:tgtEl>
                                      </p:cBhvr>
                                    </p:animEffect>
                                  </p:childTnLst>
                                </p:cTn>
                              </p:par>
                              <p:par>
                                <p:cTn id="62" presetID="22" presetClass="entr" presetSubtype="8"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350"/>
                                        <p:tgtEl>
                                          <p:spTgt spid="18"/>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down)">
                                      <p:cBhvr>
                                        <p:cTn id="64" dur="350"/>
                                        <p:tgtEl>
                                          <p:spTgt spid="26"/>
                                        </p:tgtEl>
                                      </p:cBhvr>
                                    </p:animEffect>
                                  </p:childTnLst>
                                </p:cTn>
                              </p:par>
                              <p:par>
                                <p:cTn id="68" presetID="22" presetClass="entr" presetSubtype="4"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down)">
                                      <p:cBhvr>
                                        <p:cTn id="67" dur="350"/>
                                        <p:tgtEl>
                                          <p:spTgt spid="27"/>
                                        </p:tgtEl>
                                      </p:cBhvr>
                                    </p:animEffect>
                                  </p:childTnLst>
                                </p:cTn>
                              </p:par>
                            </p:childTnLst>
                          </p:cTn>
                        </p:par>
                      </p:childTnLst>
                    </p:cTn>
                  </p:par>
                  <p:par>
                    <p:cTn id="86" fill="hold">
                      <p:stCondLst>
                        <p:cond delay="indefinite"/>
                      </p:stCondLst>
                      <p:childTnLst>
                        <p:par>
                          <p:cTn id="87"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350"/>
                                        <p:tgtEl>
                                          <p:spTgt spid="1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left)">
                                      <p:cBhvr>
                                        <p:cTn id="75" dur="350"/>
                                        <p:tgtEl>
                                          <p:spTgt spid="14"/>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wipe(left)">
                                      <p:cBhvr>
                                        <p:cTn id="78" dur="350"/>
                                        <p:tgtEl>
                                          <p:spTgt spid="19"/>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par>
                                <p:cTn id="85" presetID="22" presetClass="entr" presetSubtype="4"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down)">
                                      <p:cBhvr>
                                        <p:cTn id="84"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Service, in one file</a:t>
            </a:r>
            <a:endParaRPr lang="en-US" sz="3800" dirty="0"/>
          </a:p>
        </p:txBody>
      </p:sp>
      <p:sp>
        <p:nvSpPr>
          <p:cNvPr id="5" name="step:1:fade"/>
          <p:cNvSpPr/>
          <p:nvPr/>
        </p:nvSpPr>
        <p:spPr>
          <a:xfrm>
            <a:off x="640080" y="2057400"/>
            <a:ext cx="10881360" cy="4053840"/>
          </a:xfrm>
          <a:prstGeom prst="roundRect">
            <a:avLst>
              <a:gd name="adj" fmla="val 2256"/>
            </a:avLst>
          </a:prstGeom>
          <a:solidFill>
            <a:srgbClr val="F4F5F7"/>
          </a:solidFill>
          <a:ln w="12700">
            <a:solidFill>
              <a:srgbClr val="F4F5F7"/>
            </a:solidFill>
            <a:prstDash val="solid"/>
          </a:ln>
        </p:spPr>
      </p:sp>
      <p:sp>
        <p:nvSpPr>
          <p:cNvPr id="6" name="step:1:fade"/>
          <p:cNvSpPr txBox="1"/>
          <p:nvPr/>
        </p:nvSpPr>
        <p:spPr>
          <a:xfrm>
            <a:off x="868680" y="2240280"/>
            <a:ext cx="10424160" cy="3688080"/>
          </a:xfrm>
          <a:prstGeom prst="rect">
            <a:avLst/>
          </a:prstGeom>
          <a:noFill/>
          <a:ln/>
        </p:spPr>
        <p:txBody>
          <a:bodyPr wrap="square" lIns="0" tIns="0" rIns="0" bIns="0" rtlCol="0" anchor="t"/>
          <a:lstStyle/>
          <a:p>
            <a:pPr indent="0" marL="0">
              <a:lnSpc>
                <a:spcPct val="118000"/>
              </a:lnSpc>
              <a:buNone/>
            </a:pPr>
            <a:r>
              <a:rPr lang="en-US" sz="1000" b="1" dirty="0">
                <a:solidFill>
                  <a:srgbClr val="E4572E"/>
                </a:solidFill>
                <a:latin typeface="Courier New" pitchFamily="34" charset="0"/>
                <a:ea typeface="Courier New" pitchFamily="34" charset="-122"/>
                <a:cs typeface="Courier New" pitchFamily="34" charset="-120"/>
              </a:rPr>
              <a:t>apiVersion: serving.knative.dev/v1</a:t>
            </a:r>
            <a:endParaRPr lang="en-US" sz="1000" dirty="0"/>
          </a:p>
          <a:p>
            <a:pPr indent="0" marL="0">
              <a:lnSpc>
                <a:spcPct val="118000"/>
              </a:lnSpc>
              <a:buNone/>
            </a:pPr>
            <a:r>
              <a:rPr lang="en-US" sz="1000" b="1" dirty="0">
                <a:solidFill>
                  <a:srgbClr val="E4572E"/>
                </a:solidFill>
                <a:latin typeface="Courier New" pitchFamily="34" charset="0"/>
                <a:ea typeface="Courier New" pitchFamily="34" charset="-122"/>
                <a:cs typeface="Courier New" pitchFamily="34" charset="-120"/>
              </a:rPr>
              <a:t>kind: Service</a:t>
            </a:r>
            <a:endParaRPr lang="en-US" sz="1000" dirty="0"/>
          </a:p>
          <a:p>
            <a:pPr indent="0" marL="0">
              <a:lnSpc>
                <a:spcPct val="118000"/>
              </a:lnSpc>
              <a:buNone/>
            </a:pPr>
            <a:r>
              <a:rPr lang="en-US" sz="1000" dirty="0">
                <a:solidFill>
                  <a:srgbClr val="1B1F2A"/>
                </a:solidFill>
                <a:latin typeface="Courier New" pitchFamily="34" charset="0"/>
                <a:ea typeface="Courier New" pitchFamily="34" charset="-122"/>
                <a:cs typeface="Courier New" pitchFamily="34" charset="-120"/>
              </a:rPr>
              <a:t>metadata:</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name: billing</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namespace: team-a-serverless          # one namespace per SSO group</a:t>
            </a:r>
            <a:endParaRPr lang="en-US" sz="1000" dirty="0"/>
          </a:p>
          <a:p>
            <a:pPr indent="0" marL="0">
              <a:lnSpc>
                <a:spcPct val="118000"/>
              </a:lnSpc>
              <a:buNone/>
            </a:pPr>
            <a:r>
              <a:rPr lang="en-US" sz="1000" dirty="0">
                <a:solidFill>
                  <a:srgbClr val="1B1F2A"/>
                </a:solidFill>
                <a:latin typeface="Courier New" pitchFamily="34" charset="0"/>
                <a:ea typeface="Courier New" pitchFamily="34" charset="-122"/>
                <a:cs typeface="Courier New" pitchFamily="34" charset="-120"/>
              </a:rPr>
              <a:t>spec:</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template:</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metadata:</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annotations:</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autoscaling.knative.dev/metric: concurrency</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autoscaling.knative.dev/target: "80"</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autoscaling.knative.dev/min-scale: "0"      # scale to zero</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autoscaling.knative.dev/max-scale: "10"</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spec:</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containers:</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 image: registry.central/team-a/billing@sha256:9f2c...</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ports:</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 containerPort: 8080</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resources:</a:t>
            </a:r>
            <a:endParaRPr lang="en-US" sz="1000" dirty="0"/>
          </a:p>
          <a:p>
            <a:pPr indent="0" marL="0">
              <a:lnSpc>
                <a:spcPct val="118000"/>
              </a:lnSpc>
              <a:buNone/>
            </a:pPr>
            <a:r>
              <a:rPr lang="en-US" sz="1000" dirty="0">
                <a:solidFill>
                  <a:srgbClr val="667085"/>
                </a:solidFill>
                <a:latin typeface="Courier New" pitchFamily="34" charset="0"/>
                <a:ea typeface="Courier New" pitchFamily="34" charset="-122"/>
                <a:cs typeface="Courier New" pitchFamily="34" charset="-120"/>
              </a:rPr>
              <a:t>            requests: { cpu: 250m, memory: 512Mi }</a:t>
            </a:r>
            <a:endParaRPr lang="en-US" sz="1000" dirty="0"/>
          </a:p>
        </p:txBody>
      </p:sp>
      <p:sp>
        <p:nvSpPr>
          <p:cNvPr id="7" name="Text 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09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pieces that do the scaling</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Concurrency: requests in flight per pod</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queue proxy measures it</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KPA turns that into replicas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Activator stands in at zero</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minScale and maxScale bound it</a:t>
            </a:r>
            <a:endParaRPr lang="en-US" sz="1900" dirty="0"/>
          </a:p>
        </p:txBody>
      </p:sp>
      <p:sp>
        <p:nvSpPr>
          <p:cNvPr id="15" name="step:6:fade"/>
          <p:cNvSpPr txBox="1"/>
          <p:nvPr/>
        </p:nvSpPr>
        <p:spPr>
          <a:xfrm>
            <a:off x="6172200" y="2194560"/>
            <a:ext cx="118872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PIECE</a:t>
            </a:r>
            <a:endParaRPr lang="en-US" sz="900" dirty="0"/>
          </a:p>
        </p:txBody>
      </p:sp>
      <p:sp>
        <p:nvSpPr>
          <p:cNvPr id="16" name="step:6:fade"/>
          <p:cNvSpPr txBox="1"/>
          <p:nvPr/>
        </p:nvSpPr>
        <p:spPr>
          <a:xfrm>
            <a:off x="7360920" y="2194560"/>
            <a:ext cx="201168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WHAT IT DOES</a:t>
            </a:r>
            <a:endParaRPr lang="en-US" sz="900" dirty="0"/>
          </a:p>
        </p:txBody>
      </p:sp>
      <p:sp>
        <p:nvSpPr>
          <p:cNvPr id="17" name="step:6:fade"/>
          <p:cNvSpPr txBox="1"/>
          <p:nvPr/>
        </p:nvSpPr>
        <p:spPr>
          <a:xfrm>
            <a:off x="9372600" y="2194560"/>
            <a:ext cx="219456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ROLE</a:t>
            </a:r>
            <a:endParaRPr lang="en-US" sz="900" dirty="0"/>
          </a:p>
        </p:txBody>
      </p:sp>
      <p:sp>
        <p:nvSpPr>
          <p:cNvPr id="18" name="step:6:wipeL"/>
          <p:cNvSpPr txBox="1"/>
          <p:nvPr/>
        </p:nvSpPr>
        <p:spPr>
          <a:xfrm>
            <a:off x="6172200" y="256032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Queue proxy</a:t>
            </a:r>
            <a:endParaRPr lang="en-US" sz="1250" dirty="0"/>
          </a:p>
        </p:txBody>
      </p:sp>
      <p:sp>
        <p:nvSpPr>
          <p:cNvPr id="19" name="step:6:wipeL"/>
          <p:cNvSpPr txBox="1"/>
          <p:nvPr/>
        </p:nvSpPr>
        <p:spPr>
          <a:xfrm>
            <a:off x="7406640" y="256032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Counts in-flight requests</a:t>
            </a:r>
            <a:endParaRPr lang="en-US" sz="1250" dirty="0"/>
          </a:p>
        </p:txBody>
      </p:sp>
      <p:sp>
        <p:nvSpPr>
          <p:cNvPr id="20" name="step:6:wipeL"/>
          <p:cNvSpPr txBox="1"/>
          <p:nvPr/>
        </p:nvSpPr>
        <p:spPr>
          <a:xfrm>
            <a:off x="9418320" y="256032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meter</a:t>
            </a:r>
            <a:endParaRPr lang="en-US" sz="1250" dirty="0"/>
          </a:p>
        </p:txBody>
      </p:sp>
      <p:sp>
        <p:nvSpPr>
          <p:cNvPr id="21" name="step:7:wipeL"/>
          <p:cNvSpPr txBox="1"/>
          <p:nvPr/>
        </p:nvSpPr>
        <p:spPr>
          <a:xfrm>
            <a:off x="6172200" y="306324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KPA</a:t>
            </a:r>
            <a:endParaRPr lang="en-US" sz="1250" dirty="0"/>
          </a:p>
        </p:txBody>
      </p:sp>
      <p:sp>
        <p:nvSpPr>
          <p:cNvPr id="22" name="step:7:wipeL"/>
          <p:cNvSpPr txBox="1"/>
          <p:nvPr/>
        </p:nvSpPr>
        <p:spPr>
          <a:xfrm>
            <a:off x="7406640" y="306324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Requests → replica count</a:t>
            </a:r>
            <a:endParaRPr lang="en-US" sz="1250" dirty="0"/>
          </a:p>
        </p:txBody>
      </p:sp>
      <p:sp>
        <p:nvSpPr>
          <p:cNvPr id="23" name="step:7:wipeL"/>
          <p:cNvSpPr txBox="1"/>
          <p:nvPr/>
        </p:nvSpPr>
        <p:spPr>
          <a:xfrm>
            <a:off x="9418320" y="306324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decision</a:t>
            </a:r>
            <a:endParaRPr lang="en-US" sz="1250" dirty="0"/>
          </a:p>
        </p:txBody>
      </p:sp>
      <p:sp>
        <p:nvSpPr>
          <p:cNvPr id="24" name="step:7:wipeL"/>
          <p:cNvSpPr/>
          <p:nvPr/>
        </p:nvSpPr>
        <p:spPr>
          <a:xfrm>
            <a:off x="6172200" y="3063240"/>
            <a:ext cx="5394960" cy="0"/>
          </a:xfrm>
          <a:prstGeom prst="line">
            <a:avLst/>
          </a:prstGeom>
          <a:noFill/>
          <a:ln w="6350">
            <a:solidFill>
              <a:srgbClr val="E4E7EC"/>
            </a:solidFill>
            <a:prstDash val="solid"/>
          </a:ln>
        </p:spPr>
      </p:sp>
      <p:sp>
        <p:nvSpPr>
          <p:cNvPr id="25" name="step:8:wipeL"/>
          <p:cNvSpPr txBox="1"/>
          <p:nvPr/>
        </p:nvSpPr>
        <p:spPr>
          <a:xfrm>
            <a:off x="6172200" y="356616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Activator</a:t>
            </a:r>
            <a:endParaRPr lang="en-US" sz="1250" dirty="0"/>
          </a:p>
        </p:txBody>
      </p:sp>
      <p:sp>
        <p:nvSpPr>
          <p:cNvPr id="26" name="step:8:wipeL"/>
          <p:cNvSpPr txBox="1"/>
          <p:nvPr/>
        </p:nvSpPr>
        <p:spPr>
          <a:xfrm>
            <a:off x="7406640" y="356616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Holds requests while pods start</a:t>
            </a:r>
            <a:endParaRPr lang="en-US" sz="1250" dirty="0"/>
          </a:p>
        </p:txBody>
      </p:sp>
      <p:sp>
        <p:nvSpPr>
          <p:cNvPr id="27" name="step:8:wipeL"/>
          <p:cNvSpPr txBox="1"/>
          <p:nvPr/>
        </p:nvSpPr>
        <p:spPr>
          <a:xfrm>
            <a:off x="9418320" y="356616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safety net</a:t>
            </a:r>
            <a:endParaRPr lang="en-US" sz="1250" dirty="0"/>
          </a:p>
        </p:txBody>
      </p:sp>
      <p:sp>
        <p:nvSpPr>
          <p:cNvPr id="28" name="step:8:wipeL"/>
          <p:cNvSpPr/>
          <p:nvPr/>
        </p:nvSpPr>
        <p:spPr>
          <a:xfrm>
            <a:off x="6172200" y="3566160"/>
            <a:ext cx="5394960" cy="0"/>
          </a:xfrm>
          <a:prstGeom prst="line">
            <a:avLst/>
          </a:prstGeom>
          <a:noFill/>
          <a:ln w="6350">
            <a:solidFill>
              <a:srgbClr val="E4E7EC"/>
            </a:solidFill>
            <a:prstDash val="solid"/>
          </a:ln>
        </p:spPr>
      </p:sp>
      <p:sp>
        <p:nvSpPr>
          <p:cNvPr id="29" name="step:9:wipeL"/>
          <p:cNvSpPr txBox="1"/>
          <p:nvPr/>
        </p:nvSpPr>
        <p:spPr>
          <a:xfrm>
            <a:off x="6172200" y="406908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minScale</a:t>
            </a:r>
            <a:endParaRPr lang="en-US" sz="1250" dirty="0"/>
          </a:p>
        </p:txBody>
      </p:sp>
      <p:sp>
        <p:nvSpPr>
          <p:cNvPr id="30" name="step:9:wipeL"/>
          <p:cNvSpPr txBox="1"/>
          <p:nvPr/>
        </p:nvSpPr>
        <p:spPr>
          <a:xfrm>
            <a:off x="7406640" y="406908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Keeps N pods warm</a:t>
            </a:r>
            <a:endParaRPr lang="en-US" sz="1250" dirty="0"/>
          </a:p>
        </p:txBody>
      </p:sp>
      <p:sp>
        <p:nvSpPr>
          <p:cNvPr id="31" name="step:9:wipeL"/>
          <p:cNvSpPr txBox="1"/>
          <p:nvPr/>
        </p:nvSpPr>
        <p:spPr>
          <a:xfrm>
            <a:off x="9418320" y="406908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override</a:t>
            </a:r>
            <a:endParaRPr lang="en-US" sz="1250" dirty="0"/>
          </a:p>
        </p:txBody>
      </p:sp>
      <p:sp>
        <p:nvSpPr>
          <p:cNvPr id="32" name="step:9:wipeL"/>
          <p:cNvSpPr/>
          <p:nvPr/>
        </p:nvSpPr>
        <p:spPr>
          <a:xfrm>
            <a:off x="6172200" y="4069080"/>
            <a:ext cx="5394960" cy="0"/>
          </a:xfrm>
          <a:prstGeom prst="line">
            <a:avLst/>
          </a:prstGeom>
          <a:noFill/>
          <a:ln w="6350">
            <a:solidFill>
              <a:srgbClr val="E4E7EC"/>
            </a:solidFill>
            <a:prstDash val="solid"/>
          </a:ln>
        </p:spPr>
      </p:sp>
      <p:sp>
        <p:nvSpPr>
          <p:cNvPr id="33" name="step:10:wipeL"/>
          <p:cNvSpPr txBox="1"/>
          <p:nvPr/>
        </p:nvSpPr>
        <p:spPr>
          <a:xfrm>
            <a:off x="6172200" y="457200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maxScale</a:t>
            </a:r>
            <a:endParaRPr lang="en-US" sz="1250" dirty="0"/>
          </a:p>
        </p:txBody>
      </p:sp>
      <p:sp>
        <p:nvSpPr>
          <p:cNvPr id="34" name="step:10:wipeL"/>
          <p:cNvSpPr txBox="1"/>
          <p:nvPr/>
        </p:nvSpPr>
        <p:spPr>
          <a:xfrm>
            <a:off x="7406640" y="457200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Caps the fan-out</a:t>
            </a:r>
            <a:endParaRPr lang="en-US" sz="1250" dirty="0"/>
          </a:p>
        </p:txBody>
      </p:sp>
      <p:sp>
        <p:nvSpPr>
          <p:cNvPr id="35" name="step:10:wipeL"/>
          <p:cNvSpPr txBox="1"/>
          <p:nvPr/>
        </p:nvSpPr>
        <p:spPr>
          <a:xfrm>
            <a:off x="9418320" y="457200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ceiling</a:t>
            </a:r>
            <a:endParaRPr lang="en-US" sz="1250" dirty="0"/>
          </a:p>
        </p:txBody>
      </p:sp>
      <p:sp>
        <p:nvSpPr>
          <p:cNvPr id="36" name="step:10:wipeL"/>
          <p:cNvSpPr/>
          <p:nvPr/>
        </p:nvSpPr>
        <p:spPr>
          <a:xfrm>
            <a:off x="6172200" y="4572000"/>
            <a:ext cx="5394960" cy="0"/>
          </a:xfrm>
          <a:prstGeom prst="line">
            <a:avLst/>
          </a:prstGeom>
          <a:noFill/>
          <a:ln w="6350">
            <a:solidFill>
              <a:srgbClr val="E4E7EC"/>
            </a:solidFill>
            <a:prstDash val="solid"/>
          </a:ln>
        </p:spPr>
      </p:sp>
      <p:sp>
        <p:nvSpPr>
          <p:cNvPr id="37" name="Text 3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10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61" fill="hold">
                      <p:stCondLst>
                        <p:cond delay="indefinite"/>
                      </p:stCondLst>
                      <p:childTnLst>
                        <p:par>
                          <p:cTn id="62" fill="hold">
                            <p:stCondLst>
                              <p:cond delay="0"/>
                            </p:stCondLst>
                            <p:childTnLst>
                              <p:par>
                                <p:cTn id="45"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00"/>
                                        <p:tgtEl>
                                          <p:spTgt spid="15"/>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00"/>
                                        <p:tgtEl>
                                          <p:spTgt spid="16"/>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4"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350"/>
                                        <p:tgtEl>
                                          <p:spTgt spid="18"/>
                                        </p:tgtEl>
                                      </p:cBhvr>
                                    </p:animEffect>
                                  </p:childTnLst>
                                </p:cTn>
                              </p:par>
                              <p:par>
                                <p:cTn id="57"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350"/>
                                        <p:tgtEl>
                                          <p:spTgt spid="19"/>
                                        </p:tgtEl>
                                      </p:cBhvr>
                                    </p:animEffect>
                                  </p:childTnLst>
                                </p:cTn>
                              </p:par>
                              <p:par>
                                <p:cTn id="60"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350"/>
                                        <p:tgtEl>
                                          <p:spTgt spid="20"/>
                                        </p:tgtEl>
                                      </p:cBhvr>
                                    </p:animEffect>
                                  </p:childTnLst>
                                </p:cTn>
                              </p:par>
                            </p:childTnLst>
                          </p:cTn>
                        </p:par>
                      </p:childTnLst>
                    </p:cTn>
                  </p:par>
                  <p:par>
                    <p:cTn id="75" fill="hold">
                      <p:stCondLst>
                        <p:cond delay="indefinite"/>
                      </p:stCondLst>
                      <p:childTnLst>
                        <p:par>
                          <p:cTn id="76" fill="hold">
                            <p:stCondLst>
                              <p:cond delay="0"/>
                            </p:stCondLst>
                            <p:childTnLst>
                              <p:par>
                                <p:cTn id="65" presetID="22" presetClass="entr" presetSubtype="8"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350"/>
                                        <p:tgtEl>
                                          <p:spTgt spid="21"/>
                                        </p:tgtEl>
                                      </p:cBhvr>
                                    </p:animEffect>
                                  </p:childTnLst>
                                </p:cTn>
                              </p:par>
                              <p:par>
                                <p:cTn id="68" presetID="22" presetClass="entr" presetSubtype="8"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350"/>
                                        <p:tgtEl>
                                          <p:spTgt spid="22"/>
                                        </p:tgtEl>
                                      </p:cBhvr>
                                    </p:animEffect>
                                  </p:childTnLst>
                                </p:cTn>
                              </p:par>
                              <p:par>
                                <p:cTn id="71" presetID="22" presetClass="entr" presetSubtype="8"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350"/>
                                        <p:tgtEl>
                                          <p:spTgt spid="23"/>
                                        </p:tgtEl>
                                      </p:cBhvr>
                                    </p:animEffect>
                                  </p:childTnLst>
                                </p:cTn>
                              </p:par>
                              <p:par>
                                <p:cTn id="74" presetID="22" presetClass="entr" presetSubtype="8"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ipe(left)">
                                      <p:cBhvr>
                                        <p:cTn id="73" dur="350"/>
                                        <p:tgtEl>
                                          <p:spTgt spid="24"/>
                                        </p:tgtEl>
                                      </p:cBhvr>
                                    </p:animEffect>
                                  </p:childTnLst>
                                </p:cTn>
                              </p:par>
                            </p:childTnLst>
                          </p:cTn>
                        </p:par>
                      </p:childTnLst>
                    </p:cTn>
                  </p:par>
                  <p:par>
                    <p:cTn id="89" fill="hold">
                      <p:stCondLst>
                        <p:cond delay="indefinite"/>
                      </p:stCondLst>
                      <p:childTnLst>
                        <p:par>
                          <p:cTn id="90" fill="hold">
                            <p:stCondLst>
                              <p:cond delay="0"/>
                            </p:stCondLst>
                            <p:childTnLst>
                              <p:par>
                                <p:cTn id="79" presetID="22" presetClass="entr" presetSubtype="8"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350"/>
                                        <p:tgtEl>
                                          <p:spTgt spid="25"/>
                                        </p:tgtEl>
                                      </p:cBhvr>
                                    </p:animEffect>
                                  </p:childTnLst>
                                </p:cTn>
                              </p:par>
                              <p:par>
                                <p:cTn id="82"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350"/>
                                        <p:tgtEl>
                                          <p:spTgt spid="26"/>
                                        </p:tgtEl>
                                      </p:cBhvr>
                                    </p:animEffect>
                                  </p:childTnLst>
                                </p:cTn>
                              </p:par>
                              <p:par>
                                <p:cTn id="85" presetID="22" presetClass="entr" presetSubtype="8"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350"/>
                                        <p:tgtEl>
                                          <p:spTgt spid="27"/>
                                        </p:tgtEl>
                                      </p:cBhvr>
                                    </p:animEffect>
                                  </p:childTnLst>
                                </p:cTn>
                              </p:par>
                              <p:par>
                                <p:cTn id="88" presetID="22" presetClass="entr" presetSubtype="8"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35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93" presetID="22" presetClass="entr" presetSubtype="8"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350"/>
                                        <p:tgtEl>
                                          <p:spTgt spid="29"/>
                                        </p:tgtEl>
                                      </p:cBhvr>
                                    </p:animEffect>
                                  </p:childTnLst>
                                </p:cTn>
                              </p:par>
                              <p:par>
                                <p:cTn id="96" presetID="22" presetClass="entr" presetSubtype="8"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350"/>
                                        <p:tgtEl>
                                          <p:spTgt spid="30"/>
                                        </p:tgtEl>
                                      </p:cBhvr>
                                    </p:animEffect>
                                  </p:childTnLst>
                                </p:cTn>
                              </p:par>
                              <p:par>
                                <p:cTn id="99" presetID="22" presetClass="entr" presetSubtype="8"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350"/>
                                        <p:tgtEl>
                                          <p:spTgt spid="31"/>
                                        </p:tgtEl>
                                      </p:cBhvr>
                                    </p:animEffect>
                                  </p:childTnLst>
                                </p:cTn>
                              </p:par>
                              <p:par>
                                <p:cTn id="102" presetID="22" presetClass="entr" presetSubtype="8"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wipe(left)">
                                      <p:cBhvr>
                                        <p:cTn id="101" dur="350"/>
                                        <p:tgtEl>
                                          <p:spTgt spid="32"/>
                                        </p:tgtEl>
                                      </p:cBhvr>
                                    </p:animEffect>
                                  </p:childTnLst>
                                </p:cTn>
                              </p:par>
                            </p:childTnLst>
                          </p:cTn>
                        </p:par>
                      </p:childTnLst>
                    </p:cTn>
                  </p:par>
                  <p:par>
                    <p:cTn id="117" fill="hold">
                      <p:stCondLst>
                        <p:cond delay="indefinite"/>
                      </p:stCondLst>
                      <p:childTnLst>
                        <p:par>
                          <p:cTn id="118" fill="hold">
                            <p:stCondLst>
                              <p:cond delay="0"/>
                            </p:stCondLst>
                            <p:childTnLst>
                              <p:par>
                                <p:cTn id="107" presetID="22" presetClass="entr" presetSubtype="8" fill="hold" grpId="0" nodeType="click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wipe(left)">
                                      <p:cBhvr>
                                        <p:cTn id="106" dur="350"/>
                                        <p:tgtEl>
                                          <p:spTgt spid="33"/>
                                        </p:tgtEl>
                                      </p:cBhvr>
                                    </p:animEffect>
                                  </p:childTnLst>
                                </p:cTn>
                              </p:par>
                              <p:par>
                                <p:cTn id="110" presetID="22" presetClass="entr" presetSubtype="8"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left)">
                                      <p:cBhvr>
                                        <p:cTn id="109" dur="350"/>
                                        <p:tgtEl>
                                          <p:spTgt spid="34"/>
                                        </p:tgtEl>
                                      </p:cBhvr>
                                    </p:animEffect>
                                  </p:childTnLst>
                                </p:cTn>
                              </p:par>
                              <p:par>
                                <p:cTn id="113" presetID="22" presetClass="entr" presetSubtype="8" fill="hold" grpId="0" nodeType="with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wipe(left)">
                                      <p:cBhvr>
                                        <p:cTn id="112" dur="350"/>
                                        <p:tgtEl>
                                          <p:spTgt spid="35"/>
                                        </p:tgtEl>
                                      </p:cBhvr>
                                    </p:animEffect>
                                  </p:childTnLst>
                                </p:cTn>
                              </p:par>
                              <p:par>
                                <p:cTn id="116" presetID="22" presetClass="entr" presetSubtype="8"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left)">
                                      <p:cBhvr>
                                        <p:cTn id="115" dur="3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Scaling to zero, and back</a:t>
            </a:r>
            <a:endParaRPr lang="en-US" sz="3800" dirty="0"/>
          </a:p>
        </p:txBody>
      </p:sp>
      <p:sp>
        <p:nvSpPr>
          <p:cNvPr id="5" name="step:1:wipeL"/>
          <p:cNvSpPr/>
          <p:nvPr/>
        </p:nvSpPr>
        <p:spPr>
          <a:xfrm>
            <a:off x="640080" y="2366772"/>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An idle revision sits at zero pods</a:t>
            </a:r>
            <a:endParaRPr lang="en-US" sz="1700" dirty="0"/>
          </a:p>
        </p:txBody>
      </p:sp>
      <p:sp>
        <p:nvSpPr>
          <p:cNvPr id="7" name="step:2:wipeL"/>
          <p:cNvSpPr/>
          <p:nvPr/>
        </p:nvSpPr>
        <p:spPr>
          <a:xfrm>
            <a:off x="640080" y="3022092"/>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5844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A request arrives for that revision</a:t>
            </a:r>
            <a:endParaRPr lang="en-US" sz="1700" dirty="0"/>
          </a:p>
        </p:txBody>
      </p:sp>
      <p:sp>
        <p:nvSpPr>
          <p:cNvPr id="9" name="step:3:wipeL"/>
          <p:cNvSpPr/>
          <p:nvPr/>
        </p:nvSpPr>
        <p:spPr>
          <a:xfrm>
            <a:off x="640080" y="367741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376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Activator holds it, never drops it</a:t>
            </a:r>
            <a:endParaRPr lang="en-US" sz="1700" dirty="0"/>
          </a:p>
        </p:txBody>
      </p:sp>
      <p:sp>
        <p:nvSpPr>
          <p:cNvPr id="11" name="step:4:wipeL"/>
          <p:cNvSpPr/>
          <p:nvPr/>
        </p:nvSpPr>
        <p:spPr>
          <a:xfrm>
            <a:off x="640080" y="4332732"/>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6908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KPA is asked for capacity</a:t>
            </a:r>
            <a:endParaRPr lang="en-US" sz="1700" dirty="0"/>
          </a:p>
        </p:txBody>
      </p:sp>
      <p:sp>
        <p:nvSpPr>
          <p:cNvPr id="13" name="step:5:wipeL"/>
          <p:cNvSpPr/>
          <p:nvPr/>
        </p:nvSpPr>
        <p:spPr>
          <a:xfrm>
            <a:off x="640080" y="4988052"/>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2440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Pods start, the request is served</a:t>
            </a:r>
            <a:endParaRPr lang="en-US" sz="1700" dirty="0"/>
          </a:p>
        </p:txBody>
      </p:sp>
      <p:sp>
        <p:nvSpPr>
          <p:cNvPr id="15" name="step:6:wipeL"/>
          <p:cNvSpPr/>
          <p:nvPr/>
        </p:nvSpPr>
        <p:spPr>
          <a:xfrm>
            <a:off x="640080" y="5643372"/>
            <a:ext cx="118872" cy="118872"/>
          </a:xfrm>
          <a:prstGeom prst="rect">
            <a:avLst/>
          </a:prstGeom>
          <a:solidFill>
            <a:srgbClr val="E4572E"/>
          </a:solidFill>
          <a:ln w="12700">
            <a:solidFill>
              <a:srgbClr val="E4572E"/>
            </a:solidFill>
            <a:prstDash val="solid"/>
          </a:ln>
        </p:spPr>
      </p:sp>
      <p:sp>
        <p:nvSpPr>
          <p:cNvPr id="16" name="step:6:wipeL"/>
          <p:cNvSpPr txBox="1"/>
          <p:nvPr/>
        </p:nvSpPr>
        <p:spPr>
          <a:xfrm>
            <a:off x="960120" y="53797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Once healthy, traffic goes direct</a:t>
            </a:r>
            <a:endParaRPr lang="en-US" sz="1700" dirty="0"/>
          </a:p>
        </p:txBody>
      </p:sp>
      <p:sp>
        <p:nvSpPr>
          <p:cNvPr id="17" name="step:3:wipeL"/>
          <p:cNvSpPr/>
          <p:nvPr/>
        </p:nvSpPr>
        <p:spPr>
          <a:xfrm>
            <a:off x="8330184" y="2596134"/>
            <a:ext cx="809244" cy="0"/>
          </a:xfrm>
          <a:prstGeom prst="line">
            <a:avLst/>
          </a:prstGeom>
          <a:noFill/>
          <a:ln w="15875">
            <a:solidFill>
              <a:srgbClr val="98A2B3"/>
            </a:solidFill>
            <a:prstDash val="solid"/>
            <a:tailEnd type="triangle"/>
          </a:ln>
        </p:spPr>
      </p:sp>
      <p:sp>
        <p:nvSpPr>
          <p:cNvPr id="18" name="step:4:wipeL"/>
          <p:cNvSpPr/>
          <p:nvPr/>
        </p:nvSpPr>
        <p:spPr>
          <a:xfrm>
            <a:off x="10263378" y="2910840"/>
            <a:ext cx="0" cy="764286"/>
          </a:xfrm>
          <a:prstGeom prst="line">
            <a:avLst/>
          </a:prstGeom>
          <a:noFill/>
          <a:ln w="15875">
            <a:solidFill>
              <a:srgbClr val="98A2B3"/>
            </a:solidFill>
            <a:prstDash val="solid"/>
            <a:tailEnd type="triangle"/>
          </a:ln>
        </p:spPr>
      </p:sp>
      <p:sp>
        <p:nvSpPr>
          <p:cNvPr id="19" name="step:4:wipeL"/>
          <p:cNvSpPr/>
          <p:nvPr/>
        </p:nvSpPr>
        <p:spPr>
          <a:xfrm flipH="1">
            <a:off x="8869680" y="4304538"/>
            <a:ext cx="1393698" cy="764286"/>
          </a:xfrm>
          <a:prstGeom prst="line">
            <a:avLst/>
          </a:prstGeom>
          <a:noFill/>
          <a:ln w="15875">
            <a:solidFill>
              <a:srgbClr val="98A2B3"/>
            </a:solidFill>
            <a:prstDash val="solid"/>
            <a:tailEnd type="triangle"/>
          </a:ln>
        </p:spPr>
      </p:sp>
      <p:sp>
        <p:nvSpPr>
          <p:cNvPr id="20" name="step:1:wipeD"/>
          <p:cNvSpPr/>
          <p:nvPr/>
        </p:nvSpPr>
        <p:spPr>
          <a:xfrm>
            <a:off x="7431024" y="5068824"/>
            <a:ext cx="2877312" cy="755294"/>
          </a:xfrm>
          <a:prstGeom prst="roundRect">
            <a:avLst>
              <a:gd name="adj" fmla="val 9685"/>
            </a:avLst>
          </a:prstGeom>
          <a:solidFill>
            <a:srgbClr val="FFFFFF"/>
          </a:solidFill>
          <a:ln w="15875">
            <a:solidFill>
              <a:srgbClr val="0B7A75"/>
            </a:solidFill>
            <a:prstDash val="solid"/>
          </a:ln>
        </p:spPr>
      </p:sp>
      <p:sp>
        <p:nvSpPr>
          <p:cNvPr id="21" name="step:1:wipeD"/>
          <p:cNvSpPr txBox="1"/>
          <p:nvPr/>
        </p:nvSpPr>
        <p:spPr>
          <a:xfrm>
            <a:off x="7431024" y="5068824"/>
            <a:ext cx="2877312" cy="755294"/>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Revision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0 pods · no cost</a:t>
            </a:r>
            <a:endParaRPr lang="en-US" sz="1200" dirty="0"/>
          </a:p>
        </p:txBody>
      </p:sp>
      <p:sp>
        <p:nvSpPr>
          <p:cNvPr id="22" name="step:2:wipeD"/>
          <p:cNvSpPr/>
          <p:nvPr/>
        </p:nvSpPr>
        <p:spPr>
          <a:xfrm>
            <a:off x="6262116" y="2281428"/>
            <a:ext cx="2068068" cy="629412"/>
          </a:xfrm>
          <a:prstGeom prst="roundRect">
            <a:avLst>
              <a:gd name="adj" fmla="val 11622"/>
            </a:avLst>
          </a:prstGeom>
          <a:solidFill>
            <a:srgbClr val="FFFFFF"/>
          </a:solidFill>
          <a:ln w="22225">
            <a:solidFill>
              <a:srgbClr val="E4572E"/>
            </a:solidFill>
            <a:prstDash val="solid"/>
          </a:ln>
        </p:spPr>
      </p:sp>
      <p:sp>
        <p:nvSpPr>
          <p:cNvPr id="23" name="step:2:wipeD"/>
          <p:cNvSpPr txBox="1"/>
          <p:nvPr/>
        </p:nvSpPr>
        <p:spPr>
          <a:xfrm>
            <a:off x="6262116" y="2281428"/>
            <a:ext cx="2068068"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request</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GET /billing</a:t>
            </a:r>
            <a:endParaRPr lang="en-US" sz="1200" dirty="0"/>
          </a:p>
        </p:txBody>
      </p:sp>
      <p:sp>
        <p:nvSpPr>
          <p:cNvPr id="24" name="step:3:wipeD"/>
          <p:cNvSpPr/>
          <p:nvPr/>
        </p:nvSpPr>
        <p:spPr>
          <a:xfrm>
            <a:off x="9139428" y="2281428"/>
            <a:ext cx="2247900" cy="629412"/>
          </a:xfrm>
          <a:prstGeom prst="roundRect">
            <a:avLst>
              <a:gd name="adj" fmla="val 11622"/>
            </a:avLst>
          </a:prstGeom>
          <a:solidFill>
            <a:srgbClr val="FFFFFF"/>
          </a:solidFill>
          <a:ln w="22225">
            <a:solidFill>
              <a:srgbClr val="E4572E"/>
            </a:solidFill>
            <a:prstDash val="solid"/>
          </a:ln>
        </p:spPr>
      </p:sp>
      <p:sp>
        <p:nvSpPr>
          <p:cNvPr id="25" name="step:3:wipeD"/>
          <p:cNvSpPr txBox="1"/>
          <p:nvPr/>
        </p:nvSpPr>
        <p:spPr>
          <a:xfrm>
            <a:off x="9139428" y="2281428"/>
            <a:ext cx="224790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Activator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buffers, never drops</a:t>
            </a:r>
            <a:endParaRPr lang="en-US" sz="1200" dirty="0"/>
          </a:p>
        </p:txBody>
      </p:sp>
      <p:sp>
        <p:nvSpPr>
          <p:cNvPr id="26" name="step:4:wipeD"/>
          <p:cNvSpPr/>
          <p:nvPr/>
        </p:nvSpPr>
        <p:spPr>
          <a:xfrm>
            <a:off x="9139428" y="3675126"/>
            <a:ext cx="2247900" cy="629412"/>
          </a:xfrm>
          <a:prstGeom prst="roundRect">
            <a:avLst>
              <a:gd name="adj" fmla="val 11622"/>
            </a:avLst>
          </a:prstGeom>
          <a:solidFill>
            <a:srgbClr val="FFFFFF"/>
          </a:solidFill>
          <a:ln w="15875">
            <a:solidFill>
              <a:srgbClr val="0B7A75"/>
            </a:solidFill>
            <a:prstDash val="solid"/>
          </a:ln>
        </p:spPr>
      </p:sp>
      <p:sp>
        <p:nvSpPr>
          <p:cNvPr id="27" name="step:4:wipeD"/>
          <p:cNvSpPr txBox="1"/>
          <p:nvPr/>
        </p:nvSpPr>
        <p:spPr>
          <a:xfrm>
            <a:off x="9139428" y="3675126"/>
            <a:ext cx="224790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KPA</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0 → 1 replica</a:t>
            </a:r>
            <a:endParaRPr lang="en-US" sz="1200" dirty="0"/>
          </a:p>
        </p:txBody>
      </p:sp>
      <p:sp>
        <p:nvSpPr>
          <p:cNvPr id="28" name="step:5:wipeD"/>
          <p:cNvSpPr/>
          <p:nvPr/>
        </p:nvSpPr>
        <p:spPr>
          <a:xfrm>
            <a:off x="7431024" y="5068824"/>
            <a:ext cx="2877312" cy="755294"/>
          </a:xfrm>
          <a:prstGeom prst="roundRect">
            <a:avLst>
              <a:gd name="adj" fmla="val 9685"/>
            </a:avLst>
          </a:prstGeom>
          <a:solidFill>
            <a:srgbClr val="FFFFFF"/>
          </a:solidFill>
          <a:ln w="15875">
            <a:solidFill>
              <a:srgbClr val="0B7A75"/>
            </a:solidFill>
            <a:prstDash val="solid"/>
          </a:ln>
        </p:spPr>
      </p:sp>
      <p:sp>
        <p:nvSpPr>
          <p:cNvPr id="29" name="step:5:wipeD"/>
          <p:cNvSpPr txBox="1"/>
          <p:nvPr/>
        </p:nvSpPr>
        <p:spPr>
          <a:xfrm>
            <a:off x="7431024" y="5068824"/>
            <a:ext cx="2877312" cy="755294"/>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Revision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starting · 1 pod</a:t>
            </a:r>
            <a:endParaRPr lang="en-US" sz="1200" dirty="0"/>
          </a:p>
        </p:txBody>
      </p:sp>
      <p:sp>
        <p:nvSpPr>
          <p:cNvPr id="30" name="step:6:wipeD"/>
          <p:cNvSpPr/>
          <p:nvPr/>
        </p:nvSpPr>
        <p:spPr>
          <a:xfrm>
            <a:off x="7431024" y="5068824"/>
            <a:ext cx="2877312" cy="755294"/>
          </a:xfrm>
          <a:prstGeom prst="roundRect">
            <a:avLst>
              <a:gd name="adj" fmla="val 9685"/>
            </a:avLst>
          </a:prstGeom>
          <a:solidFill>
            <a:srgbClr val="FFFFFF"/>
          </a:solidFill>
          <a:ln w="15875">
            <a:solidFill>
              <a:srgbClr val="0B7A75"/>
            </a:solidFill>
            <a:prstDash val="solid"/>
          </a:ln>
        </p:spPr>
      </p:sp>
      <p:sp>
        <p:nvSpPr>
          <p:cNvPr id="31" name="step:6:wipeD"/>
          <p:cNvSpPr txBox="1"/>
          <p:nvPr/>
        </p:nvSpPr>
        <p:spPr>
          <a:xfrm>
            <a:off x="7431024" y="5068824"/>
            <a:ext cx="2877312" cy="755294"/>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Revision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Ready · traffic direct</a:t>
            </a:r>
            <a:endParaRPr lang="en-US" sz="1200" dirty="0"/>
          </a:p>
        </p:txBody>
      </p:sp>
      <p:sp>
        <p:nvSpPr>
          <p:cNvPr id="32" name="Text 29"/>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11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350"/>
                                        <p:tgtEl>
                                          <p:spTgt spid="20"/>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350"/>
                                        <p:tgtEl>
                                          <p:spTgt spid="21"/>
                                        </p:tgtEl>
                                      </p:cBhvr>
                                    </p:animEffect>
                                  </p:childTnLst>
                                </p:cTn>
                              </p:par>
                            </p:childTnLst>
                          </p:cTn>
                        </p:par>
                      </p:childTnLst>
                    </p:cTn>
                  </p:par>
                  <p:par>
                    <p:cTn id="29" fill="hold">
                      <p:stCondLst>
                        <p:cond delay="indefinite"/>
                      </p:stCondLst>
                      <p:childTnLst>
                        <p:par>
                          <p:cTn id="30"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350"/>
                                        <p:tgtEl>
                                          <p:spTgt spid="7"/>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50"/>
                                        <p:tgtEl>
                                          <p:spTgt spid="8"/>
                                        </p:tgtEl>
                                      </p:cBhvr>
                                    </p:animEffect>
                                  </p:childTnLst>
                                </p:cTn>
                              </p:par>
                              <p:par>
                                <p:cTn id="25" presetID="22" presetClass="entr" presetSubtype="4"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350"/>
                                        <p:tgtEl>
                                          <p:spTgt spid="22"/>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down)">
                                      <p:cBhvr>
                                        <p:cTn id="27" dur="350"/>
                                        <p:tgtEl>
                                          <p:spTgt spid="23"/>
                                        </p:tgtEl>
                                      </p:cBhvr>
                                    </p:animEffect>
                                  </p:childTnLst>
                                </p:cTn>
                              </p:par>
                            </p:childTnLst>
                          </p:cTn>
                        </p:par>
                      </p:childTnLst>
                    </p:cTn>
                  </p:par>
                  <p:par>
                    <p:cTn id="46" fill="hold">
                      <p:stCondLst>
                        <p:cond delay="indefinite"/>
                      </p:stCondLst>
                      <p:childTnLst>
                        <p:par>
                          <p:cTn id="47" fill="hold">
                            <p:stCondLst>
                              <p:cond delay="0"/>
                            </p:stCondLst>
                            <p:childTnLst>
                              <p:par>
                                <p:cTn id="33"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350"/>
                                        <p:tgtEl>
                                          <p:spTgt spid="9"/>
                                        </p:tgtEl>
                                      </p:cBhvr>
                                    </p:animEffect>
                                  </p:childTnLst>
                                </p:cTn>
                              </p:par>
                              <p:par>
                                <p:cTn id="36" presetID="22" presetClass="entr" presetSubtype="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350"/>
                                        <p:tgtEl>
                                          <p:spTgt spid="10"/>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350"/>
                                        <p:tgtEl>
                                          <p:spTgt spid="17"/>
                                        </p:tgtEl>
                                      </p:cBhvr>
                                    </p:animEffect>
                                  </p:childTnLst>
                                </p:cTn>
                              </p:par>
                              <p:par>
                                <p:cTn id="42" presetID="22" presetClass="entr" presetSubtype="4"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down)">
                                      <p:cBhvr>
                                        <p:cTn id="41" dur="350"/>
                                        <p:tgtEl>
                                          <p:spTgt spid="24"/>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down)">
                                      <p:cBhvr>
                                        <p:cTn id="44" dur="350"/>
                                        <p:tgtEl>
                                          <p:spTgt spid="25"/>
                                        </p:tgtEl>
                                      </p:cBhvr>
                                    </p:animEffect>
                                  </p:childTnLst>
                                </p:cTn>
                              </p:par>
                            </p:childTnLst>
                          </p:cTn>
                        </p:par>
                      </p:childTnLst>
                    </p:cTn>
                  </p:par>
                  <p:par>
                    <p:cTn id="66" fill="hold">
                      <p:stCondLst>
                        <p:cond delay="indefinite"/>
                      </p:stCondLst>
                      <p:childTnLst>
                        <p:par>
                          <p:cTn id="67" fill="hold">
                            <p:stCondLst>
                              <p:cond delay="0"/>
                            </p:stCondLst>
                            <p:childTnLst>
                              <p:par>
                                <p:cTn id="50" presetID="22" presetClass="entr" presetSubtype="8"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350"/>
                                        <p:tgtEl>
                                          <p:spTgt spid="11"/>
                                        </p:tgtEl>
                                      </p:cBhvr>
                                    </p:animEffect>
                                  </p:childTnLst>
                                </p:cTn>
                              </p:par>
                              <p:par>
                                <p:cTn id="53" presetID="22" presetClass="entr" presetSubtype="8"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350"/>
                                        <p:tgtEl>
                                          <p:spTgt spid="12"/>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350"/>
                                        <p:tgtEl>
                                          <p:spTgt spid="18"/>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350"/>
                                        <p:tgtEl>
                                          <p:spTgt spid="19"/>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down)">
                                      <p:cBhvr>
                                        <p:cTn id="61" dur="350"/>
                                        <p:tgtEl>
                                          <p:spTgt spid="26"/>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down)">
                                      <p:cBhvr>
                                        <p:cTn id="64" dur="350"/>
                                        <p:tgtEl>
                                          <p:spTgt spid="27"/>
                                        </p:tgtEl>
                                      </p:cBhvr>
                                    </p:animEffect>
                                  </p:childTnLst>
                                </p:cTn>
                              </p:par>
                            </p:childTnLst>
                          </p:cTn>
                        </p:par>
                      </p:childTnLst>
                    </p:cTn>
                  </p:par>
                  <p:par>
                    <p:cTn id="80" fill="hold">
                      <p:stCondLst>
                        <p:cond delay="indefinite"/>
                      </p:stCondLst>
                      <p:childTnLst>
                        <p:par>
                          <p:cTn id="81" fill="hold">
                            <p:stCondLst>
                              <p:cond delay="0"/>
                            </p:stCondLst>
                            <p:childTnLst>
                              <p:par>
                                <p:cTn id="70" presetID="22" presetClass="entr" presetSubtype="8"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350"/>
                                        <p:tgtEl>
                                          <p:spTgt spid="13"/>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350"/>
                                        <p:tgtEl>
                                          <p:spTgt spid="14"/>
                                        </p:tgtEl>
                                      </p:cBhvr>
                                    </p:animEffect>
                                  </p:childTnLst>
                                </p:cTn>
                              </p:par>
                              <p:par>
                                <p:cTn id="76" presetID="22" presetClass="entr" presetSubtype="4"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down)">
                                      <p:cBhvr>
                                        <p:cTn id="75" dur="350"/>
                                        <p:tgtEl>
                                          <p:spTgt spid="28"/>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down)">
                                      <p:cBhvr>
                                        <p:cTn id="78" dur="350"/>
                                        <p:tgtEl>
                                          <p:spTgt spid="29"/>
                                        </p:tgtEl>
                                      </p:cBhvr>
                                    </p:animEffect>
                                  </p:childTnLst>
                                </p:cTn>
                              </p:par>
                            </p:childTnLst>
                          </p:cTn>
                        </p:par>
                      </p:childTnLst>
                    </p:cTn>
                  </p:par>
                  <p:par>
                    <p:cTn id="94" fill="hold">
                      <p:stCondLst>
                        <p:cond delay="indefinite"/>
                      </p:stCondLst>
                      <p:childTnLst>
                        <p:par>
                          <p:cTn id="95" fill="hold">
                            <p:stCondLst>
                              <p:cond delay="0"/>
                            </p:stCondLst>
                            <p:childTnLst>
                              <p:par>
                                <p:cTn id="84" presetID="22" presetClass="entr" presetSubtype="8"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left)">
                                      <p:cBhvr>
                                        <p:cTn id="83" dur="350"/>
                                        <p:tgtEl>
                                          <p:spTgt spid="15"/>
                                        </p:tgtEl>
                                      </p:cBhvr>
                                    </p:animEffect>
                                  </p:childTnLst>
                                </p:cTn>
                              </p:par>
                              <p:par>
                                <p:cTn id="87" presetID="22" presetClass="entr" presetSubtype="8" fill="hold" grpId="0" nodeType="with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wipe(left)">
                                      <p:cBhvr>
                                        <p:cTn id="86" dur="350"/>
                                        <p:tgtEl>
                                          <p:spTgt spid="16"/>
                                        </p:tgtEl>
                                      </p:cBhvr>
                                    </p:animEffect>
                                  </p:childTnLst>
                                </p:cTn>
                              </p:par>
                              <p:par>
                                <p:cTn id="90" presetID="22" presetClass="entr" presetSubtype="4"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down)">
                                      <p:cBhvr>
                                        <p:cTn id="89" dur="350"/>
                                        <p:tgtEl>
                                          <p:spTgt spid="30"/>
                                        </p:tgtEl>
                                      </p:cBhvr>
                                    </p:animEffect>
                                  </p:childTnLst>
                                </p:cTn>
                              </p:par>
                              <p:par>
                                <p:cTn id="93" presetID="22" presetClass="entr" presetSubtype="4"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wipe(down)">
                                      <p:cBhvr>
                                        <p:cTn id="92" dur="3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OpenShift Serverless Operator</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Red Hat's supported Knative distribution</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KnativeServing custom resource</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OLM installs it and upgrades it</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Kourier ingress, Routes created for you</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Catalog mirrors with oc-mirror</a:t>
            </a:r>
            <a:endParaRPr lang="en-US" sz="1900" dirty="0"/>
          </a:p>
        </p:txBody>
      </p:sp>
      <p:sp>
        <p:nvSpPr>
          <p:cNvPr id="15" name="auto:0: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6" name="auto:1: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Knative Serving</a:t>
            </a:r>
            <a:endParaRPr lang="en-US" sz="1400" dirty="0"/>
          </a:p>
        </p:txBody>
      </p:sp>
      <p:sp>
        <p:nvSpPr>
          <p:cNvPr id="17" name="auto:2: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Service · Revision · Route · DomainMapping</a:t>
            </a:r>
            <a:endParaRPr lang="en-US" sz="950" dirty="0"/>
          </a:p>
        </p:txBody>
      </p:sp>
      <p:sp>
        <p:nvSpPr>
          <p:cNvPr id="18" name="auto:3: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9" name="auto:4: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KnativeServing CR</a:t>
            </a:r>
            <a:endParaRPr lang="en-US" sz="1400" dirty="0"/>
          </a:p>
        </p:txBody>
      </p:sp>
      <p:sp>
        <p:nvSpPr>
          <p:cNvPr id="20" name="auto:5: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one document</a:t>
            </a:r>
            <a:endParaRPr lang="en-US" sz="950" dirty="0"/>
          </a:p>
        </p:txBody>
      </p:sp>
      <p:sp>
        <p:nvSpPr>
          <p:cNvPr id="21" name="auto:6: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22" name="auto:7: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Serverless Operator</a:t>
            </a:r>
            <a:endParaRPr lang="en-US" sz="1400" dirty="0"/>
          </a:p>
        </p:txBody>
      </p:sp>
      <p:sp>
        <p:nvSpPr>
          <p:cNvPr id="23" name="auto:8: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reconciles, upgrades</a:t>
            </a:r>
            <a:endParaRPr lang="en-US" sz="950" dirty="0"/>
          </a:p>
        </p:txBody>
      </p:sp>
      <p:sp>
        <p:nvSpPr>
          <p:cNvPr id="24" name="auto:9: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5" name="auto:10: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Operator Lifecycle Manager</a:t>
            </a:r>
            <a:endParaRPr lang="en-US" sz="1400" dirty="0"/>
          </a:p>
        </p:txBody>
      </p:sp>
      <p:sp>
        <p:nvSpPr>
          <p:cNvPr id="26" name="auto:11: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Subscription → catalog</a:t>
            </a:r>
            <a:endParaRPr lang="en-US" sz="950" dirty="0"/>
          </a:p>
        </p:txBody>
      </p:sp>
      <p:sp>
        <p:nvSpPr>
          <p:cNvPr id="27" name="auto:12: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8" name="auto:13: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OpenShift</a:t>
            </a:r>
            <a:endParaRPr lang="en-US" sz="1400" dirty="0"/>
          </a:p>
        </p:txBody>
      </p:sp>
      <p:sp>
        <p:nvSpPr>
          <p:cNvPr id="29" name="auto:14: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one cluster per region</a:t>
            </a:r>
            <a:endParaRPr lang="en-US" sz="95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12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9" fill="hold">
                            <p:stCondLst>
                              <p:cond delay="0"/>
                            </p:stCondLst>
                            <p:childTnLst>
                              <p:par>
                                <p:cTn id="5" presetID="22" presetClass="entr" presetSubtype="4" fill="hold" grpId="0" nodeType="after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down)">
                                      <p:cBhvr>
                                        <p:cTn id="4" dur="350"/>
                                        <p:tgtEl>
                                          <p:spTgt spid="15"/>
                                        </p:tgtEl>
                                      </p:cBhvr>
                                    </p:animEffect>
                                  </p:childTnLst>
                                </p:cTn>
                              </p:par>
                              <p:par>
                                <p:cTn id="8" presetID="22" presetClass="entr" presetSubtype="4" fill="hold" grpId="0" nodeType="withEffect">
                                  <p:stCondLst>
                                    <p:cond delay="8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350"/>
                                        <p:tgtEl>
                                          <p:spTgt spid="16"/>
                                        </p:tgtEl>
                                      </p:cBhvr>
                                    </p:animEffect>
                                  </p:childTnLst>
                                </p:cTn>
                              </p:par>
                              <p:par>
                                <p:cTn id="11" presetID="22" presetClass="entr" presetSubtype="4" fill="hold" grpId="0" nodeType="withEffect">
                                  <p:stCondLst>
                                    <p:cond delay="16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350"/>
                                        <p:tgtEl>
                                          <p:spTgt spid="17"/>
                                        </p:tgtEl>
                                      </p:cBhvr>
                                    </p:animEffect>
                                  </p:childTnLst>
                                </p:cTn>
                              </p:par>
                              <p:par>
                                <p:cTn id="14" presetID="22" presetClass="entr" presetSubtype="4" fill="hold" grpId="0" nodeType="withEffect">
                                  <p:stCondLst>
                                    <p:cond delay="24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350"/>
                                        <p:tgtEl>
                                          <p:spTgt spid="18"/>
                                        </p:tgtEl>
                                      </p:cBhvr>
                                    </p:animEffect>
                                  </p:childTnLst>
                                </p:cTn>
                              </p:par>
                              <p:par>
                                <p:cTn id="17" presetID="22" presetClass="entr" presetSubtype="4" fill="hold" grpId="0" nodeType="withEffect">
                                  <p:stCondLst>
                                    <p:cond delay="32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350"/>
                                        <p:tgtEl>
                                          <p:spTgt spid="19"/>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350"/>
                                        <p:tgtEl>
                                          <p:spTgt spid="20"/>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350"/>
                                        <p:tgtEl>
                                          <p:spTgt spid="21"/>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350"/>
                                        <p:tgtEl>
                                          <p:spTgt spid="22"/>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350"/>
                                        <p:tgtEl>
                                          <p:spTgt spid="23"/>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4"/>
                                        </p:tgtEl>
                                        <p:attrNameLst>
                                          <p:attrName>style.visibility</p:attrName>
                                        </p:attrNameLst>
                                      </p:cBhvr>
                                      <p:to>
                                        <p:strVal val="visible"/>
                                      </p:to>
                                    </p:set>
                                    <p:animEffect transition="in" filter="wipe(down)">
                                      <p:cBhvr>
                                        <p:cTn id="31" dur="350"/>
                                        <p:tgtEl>
                                          <p:spTgt spid="24"/>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5"/>
                                        </p:tgtEl>
                                        <p:attrNameLst>
                                          <p:attrName>style.visibility</p:attrName>
                                        </p:attrNameLst>
                                      </p:cBhvr>
                                      <p:to>
                                        <p:strVal val="visible"/>
                                      </p:to>
                                    </p:set>
                                    <p:animEffect transition="in" filter="wipe(down)">
                                      <p:cBhvr>
                                        <p:cTn id="34" dur="350"/>
                                        <p:tgtEl>
                                          <p:spTgt spid="25"/>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350"/>
                                        <p:tgtEl>
                                          <p:spTgt spid="26"/>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350"/>
                                        <p:tgtEl>
                                          <p:spTgt spid="27"/>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350"/>
                                        <p:tgtEl>
                                          <p:spTgt spid="28"/>
                                        </p:tgtEl>
                                      </p:cBhvr>
                                    </p:animEffect>
                                  </p:childTnLst>
                                </p:cTn>
                              </p:par>
                              <p:par>
                                <p:cTn id="47" presetID="22" presetClass="entr" presetSubtype="4" fill="hold" grpId="0" nodeType="withEffect">
                                  <p:stCondLst>
                                    <p:cond delay="1120"/>
                                  </p:stCondLst>
                                  <p:childTnLst>
                                    <p:set>
                                      <p:cBhvr>
                                        <p:cTn id="45" dur="1" fill="hold">
                                          <p:stCondLst>
                                            <p:cond delay="0"/>
                                          </p:stCondLst>
                                        </p:cTn>
                                        <p:tgtEl>
                                          <p:spTgt spid="29"/>
                                        </p:tgtEl>
                                        <p:attrNameLst>
                                          <p:attrName>style.visibility</p:attrName>
                                        </p:attrNameLst>
                                      </p:cBhvr>
                                      <p:to>
                                        <p:strVal val="visible"/>
                                      </p:to>
                                    </p:set>
                                    <p:animEffect transition="in" filter="wipe(down)">
                                      <p:cBhvr>
                                        <p:cTn id="46" dur="350"/>
                                        <p:tgtEl>
                                          <p:spTgt spid="29"/>
                                        </p:tgtEl>
                                      </p:cBhvr>
                                    </p:animEffect>
                                  </p:childTnLst>
                                </p:cTn>
                              </p:par>
                            </p:childTnLst>
                          </p:cTn>
                        </p:par>
                      </p:childTnLst>
                    </p:cTn>
                  </p:par>
                  <p:par>
                    <p:cTn id="56" fill="hold">
                      <p:stCondLst>
                        <p:cond delay="indefinite"/>
                      </p:stCondLst>
                      <p:childTnLst>
                        <p:par>
                          <p:cTn id="57" fill="hold">
                            <p:stCondLst>
                              <p:cond delay="0"/>
                            </p:stCondLst>
                            <p:childTnLst>
                              <p:par>
                                <p:cTn id="52" presetID="22" presetClass="entr" presetSubtype="8"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350"/>
                                        <p:tgtEl>
                                          <p:spTgt spid="5"/>
                                        </p:tgtEl>
                                      </p:cBhvr>
                                    </p:animEffect>
                                  </p:childTnLst>
                                </p:cTn>
                              </p:par>
                              <p:par>
                                <p:cTn id="55" presetID="22" presetClass="entr" presetSubtype="8"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350"/>
                                        <p:tgtEl>
                                          <p:spTgt spid="6"/>
                                        </p:tgtEl>
                                      </p:cBhvr>
                                    </p:animEffect>
                                  </p:childTnLst>
                                </p:cTn>
                              </p:par>
                            </p:childTnLst>
                          </p:cTn>
                        </p:par>
                      </p:childTnLst>
                    </p:cTn>
                  </p:par>
                  <p:par>
                    <p:cTn id="64" fill="hold">
                      <p:stCondLst>
                        <p:cond delay="indefinite"/>
                      </p:stCondLst>
                      <p:childTnLst>
                        <p:par>
                          <p:cTn id="65" fill="hold">
                            <p:stCondLst>
                              <p:cond delay="0"/>
                            </p:stCondLst>
                            <p:childTnLst>
                              <p:par>
                                <p:cTn id="60" presetID="22" presetClass="entr" presetSubtype="8"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350"/>
                                        <p:tgtEl>
                                          <p:spTgt spid="7"/>
                                        </p:tgtEl>
                                      </p:cBhvr>
                                    </p:animEffect>
                                  </p:childTnLst>
                                </p:cTn>
                              </p:par>
                              <p:par>
                                <p:cTn id="63" presetID="22" presetClass="entr" presetSubtype="8" fill="hold" grpId="0"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350"/>
                                        <p:tgtEl>
                                          <p:spTgt spid="8"/>
                                        </p:tgtEl>
                                      </p:cBhvr>
                                    </p:animEffect>
                                  </p:childTnLst>
                                </p:cTn>
                              </p:par>
                            </p:childTnLst>
                          </p:cTn>
                        </p:par>
                      </p:childTnLst>
                    </p:cTn>
                  </p:par>
                  <p:par>
                    <p:cTn id="72" fill="hold">
                      <p:stCondLst>
                        <p:cond delay="indefinite"/>
                      </p:stCondLst>
                      <p:childTnLst>
                        <p:par>
                          <p:cTn id="73" fill="hold">
                            <p:stCondLst>
                              <p:cond delay="0"/>
                            </p:stCondLst>
                            <p:childTnLst>
                              <p:par>
                                <p:cTn id="68" presetID="22" presetClass="entr" presetSubtype="8"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350"/>
                                        <p:tgtEl>
                                          <p:spTgt spid="9"/>
                                        </p:tgtEl>
                                      </p:cBhvr>
                                    </p:animEffect>
                                  </p:childTnLst>
                                </p:cTn>
                              </p:par>
                              <p:par>
                                <p:cTn id="71" presetID="22" presetClass="entr" presetSubtype="8" fill="hold" grpId="0"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wipe(left)">
                                      <p:cBhvr>
                                        <p:cTn id="70" dur="350"/>
                                        <p:tgtEl>
                                          <p:spTgt spid="10"/>
                                        </p:tgtEl>
                                      </p:cBhvr>
                                    </p:animEffect>
                                  </p:childTnLst>
                                </p:cTn>
                              </p:par>
                            </p:childTnLst>
                          </p:cTn>
                        </p:par>
                      </p:childTnLst>
                    </p:cTn>
                  </p:par>
                  <p:par>
                    <p:cTn id="80" fill="hold">
                      <p:stCondLst>
                        <p:cond delay="indefinite"/>
                      </p:stCondLst>
                      <p:childTnLst>
                        <p:par>
                          <p:cTn id="81" fill="hold">
                            <p:stCondLst>
                              <p:cond delay="0"/>
                            </p:stCondLst>
                            <p:childTnLst>
                              <p:par>
                                <p:cTn id="76" presetID="22" presetClass="entr" presetSubtype="8"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350"/>
                                        <p:tgtEl>
                                          <p:spTgt spid="11"/>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wipe(left)">
                                      <p:cBhvr>
                                        <p:cTn id="78" dur="350"/>
                                        <p:tgtEl>
                                          <p:spTgt spid="12"/>
                                        </p:tgtEl>
                                      </p:cBhvr>
                                    </p:animEffect>
                                  </p:childTnLst>
                                </p:cTn>
                              </p:par>
                            </p:childTnLst>
                          </p:cTn>
                        </p:par>
                      </p:childTnLst>
                    </p:cTn>
                  </p:par>
                  <p:par>
                    <p:cTn id="88" fill="hold">
                      <p:stCondLst>
                        <p:cond delay="indefinite"/>
                      </p:stCondLst>
                      <p:childTnLst>
                        <p:par>
                          <p:cTn id="89" fill="hold">
                            <p:stCondLst>
                              <p:cond delay="0"/>
                            </p:stCondLst>
                            <p:childTnLst>
                              <p:par>
                                <p:cTn id="84" presetID="22" presetClass="entr" presetSubtype="8"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wipe(left)">
                                      <p:cBhvr>
                                        <p:cTn id="83" dur="350"/>
                                        <p:tgtEl>
                                          <p:spTgt spid="13"/>
                                        </p:tgtEl>
                                      </p:cBhvr>
                                    </p:animEffect>
                                  </p:childTnLst>
                                </p:cTn>
                              </p:par>
                              <p:par>
                                <p:cTn id="87" presetID="22" presetClass="entr" presetSubtype="8" fill="hold" grpId="0"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wipe(left)">
                                      <p:cBhvr>
                                        <p:cTn id="86"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FOUNDATIONS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Why the Operator</a:t>
            </a:r>
            <a:endParaRPr lang="en-US" sz="3800" dirty="0"/>
          </a:p>
        </p:txBody>
      </p:sp>
      <p:sp>
        <p:nvSpPr>
          <p:cNvPr id="5" name="step:1:fade"/>
          <p:cNvSpPr txBox="1"/>
          <p:nvPr/>
        </p:nvSpPr>
        <p:spPr>
          <a:xfrm>
            <a:off x="3017520" y="2103120"/>
            <a:ext cx="4206240" cy="274320"/>
          </a:xfrm>
          <a:prstGeom prst="rect">
            <a:avLst/>
          </a:prstGeom>
          <a:noFill/>
          <a:ln/>
        </p:spPr>
        <p:txBody>
          <a:bodyPr wrap="square" lIns="0" tIns="0" rIns="0" bIns="0" rtlCol="0" anchor="ctr"/>
          <a:lstStyle/>
          <a:p>
            <a:pPr indent="0" marL="0">
              <a:buNone/>
            </a:pPr>
            <a:r>
              <a:rPr lang="en-US" sz="1100" spc="200" kern="0" dirty="0">
                <a:solidFill>
                  <a:srgbClr val="667085"/>
                </a:solidFill>
                <a:latin typeface="Courier New" pitchFamily="34" charset="0"/>
                <a:ea typeface="Courier New" pitchFamily="34" charset="-122"/>
                <a:cs typeface="Courier New" pitchFamily="34" charset="-120"/>
              </a:rPr>
              <a:t>UPSTREAM KNATIVE</a:t>
            </a:r>
            <a:endParaRPr lang="en-US" sz="1100" dirty="0"/>
          </a:p>
        </p:txBody>
      </p:sp>
      <p:sp>
        <p:nvSpPr>
          <p:cNvPr id="6" name="step:1:fade"/>
          <p:cNvSpPr txBox="1"/>
          <p:nvPr/>
        </p:nvSpPr>
        <p:spPr>
          <a:xfrm>
            <a:off x="7223760" y="2103120"/>
            <a:ext cx="4297680" cy="274320"/>
          </a:xfrm>
          <a:prstGeom prst="rect">
            <a:avLst/>
          </a:prstGeom>
          <a:noFill/>
          <a:ln/>
        </p:spPr>
        <p:txBody>
          <a:bodyPr wrap="square" lIns="0" tIns="0" rIns="0" bIns="0" rtlCol="0" anchor="ctr"/>
          <a:lstStyle/>
          <a:p>
            <a:pPr indent="0" marL="0">
              <a:buNone/>
            </a:pPr>
            <a:r>
              <a:rPr lang="en-US" sz="1100" spc="200" kern="0" dirty="0">
                <a:solidFill>
                  <a:srgbClr val="0B7A75"/>
                </a:solidFill>
                <a:latin typeface="Courier New" pitchFamily="34" charset="0"/>
                <a:ea typeface="Courier New" pitchFamily="34" charset="-122"/>
                <a:cs typeface="Courier New" pitchFamily="34" charset="-120"/>
              </a:rPr>
              <a:t>SERVERLESS OPERATOR</a:t>
            </a:r>
            <a:endParaRPr lang="en-US" sz="1100" dirty="0"/>
          </a:p>
        </p:txBody>
      </p:sp>
      <p:sp>
        <p:nvSpPr>
          <p:cNvPr id="7" name="step:1:fade"/>
          <p:cNvSpPr/>
          <p:nvPr/>
        </p:nvSpPr>
        <p:spPr>
          <a:xfrm>
            <a:off x="7132320" y="2606040"/>
            <a:ext cx="4389120" cy="609600"/>
          </a:xfrm>
          <a:prstGeom prst="rect">
            <a:avLst/>
          </a:prstGeom>
          <a:solidFill>
            <a:srgbClr val="E3F1F0"/>
          </a:solidFill>
          <a:ln w="12700">
            <a:solidFill>
              <a:srgbClr val="E3F1F0"/>
            </a:solidFill>
            <a:prstDash val="solid"/>
          </a:ln>
        </p:spPr>
      </p:sp>
      <p:sp>
        <p:nvSpPr>
          <p:cNvPr id="8" name="step:1:wipeL"/>
          <p:cNvSpPr txBox="1"/>
          <p:nvPr/>
        </p:nvSpPr>
        <p:spPr>
          <a:xfrm>
            <a:off x="640080" y="26060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Upgrades</a:t>
            </a:r>
            <a:endParaRPr lang="en-US" sz="1700" dirty="0"/>
          </a:p>
        </p:txBody>
      </p:sp>
      <p:sp>
        <p:nvSpPr>
          <p:cNvPr id="9" name="step:1:wipeL"/>
          <p:cNvSpPr txBox="1"/>
          <p:nvPr/>
        </p:nvSpPr>
        <p:spPr>
          <a:xfrm>
            <a:off x="3063240" y="26060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YAML we maintain by hand</a:t>
            </a:r>
            <a:endParaRPr lang="en-US" sz="1700" dirty="0"/>
          </a:p>
        </p:txBody>
      </p:sp>
      <p:sp>
        <p:nvSpPr>
          <p:cNvPr id="10" name="step:1:wipeL"/>
          <p:cNvSpPr txBox="1"/>
          <p:nvPr/>
        </p:nvSpPr>
        <p:spPr>
          <a:xfrm>
            <a:off x="7269480" y="26060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OLM, from the catalog</a:t>
            </a:r>
            <a:endParaRPr lang="en-US" sz="1700" dirty="0"/>
          </a:p>
        </p:txBody>
      </p:sp>
      <p:sp>
        <p:nvSpPr>
          <p:cNvPr id="11" name="step:2:fade"/>
          <p:cNvSpPr/>
          <p:nvPr/>
        </p:nvSpPr>
        <p:spPr>
          <a:xfrm>
            <a:off x="7132320" y="3215640"/>
            <a:ext cx="4389120" cy="609600"/>
          </a:xfrm>
          <a:prstGeom prst="rect">
            <a:avLst/>
          </a:prstGeom>
          <a:solidFill>
            <a:srgbClr val="E3F1F0"/>
          </a:solidFill>
          <a:ln w="12700">
            <a:solidFill>
              <a:srgbClr val="E3F1F0"/>
            </a:solidFill>
            <a:prstDash val="solid"/>
          </a:ln>
        </p:spPr>
      </p:sp>
      <p:sp>
        <p:nvSpPr>
          <p:cNvPr id="12" name="step:2:wipeL"/>
          <p:cNvSpPr txBox="1"/>
          <p:nvPr/>
        </p:nvSpPr>
        <p:spPr>
          <a:xfrm>
            <a:off x="640080" y="32156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Ingress</a:t>
            </a:r>
            <a:endParaRPr lang="en-US" sz="1700" dirty="0"/>
          </a:p>
        </p:txBody>
      </p:sp>
      <p:sp>
        <p:nvSpPr>
          <p:cNvPr id="13" name="step:2:wipeL"/>
          <p:cNvSpPr txBox="1"/>
          <p:nvPr/>
        </p:nvSpPr>
        <p:spPr>
          <a:xfrm>
            <a:off x="3063240" y="32156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We run and tune it</a:t>
            </a:r>
            <a:endParaRPr lang="en-US" sz="1700" dirty="0"/>
          </a:p>
        </p:txBody>
      </p:sp>
      <p:sp>
        <p:nvSpPr>
          <p:cNvPr id="14" name="step:2:wipeL"/>
          <p:cNvSpPr txBox="1"/>
          <p:nvPr/>
        </p:nvSpPr>
        <p:spPr>
          <a:xfrm>
            <a:off x="7269480" y="32156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Kourier, managed</a:t>
            </a:r>
            <a:endParaRPr lang="en-US" sz="1700" dirty="0"/>
          </a:p>
        </p:txBody>
      </p:sp>
      <p:sp>
        <p:nvSpPr>
          <p:cNvPr id="15" name="step:2:wipeL"/>
          <p:cNvSpPr/>
          <p:nvPr/>
        </p:nvSpPr>
        <p:spPr>
          <a:xfrm>
            <a:off x="640080" y="3215640"/>
            <a:ext cx="10881360" cy="0"/>
          </a:xfrm>
          <a:prstGeom prst="line">
            <a:avLst/>
          </a:prstGeom>
          <a:noFill/>
          <a:ln w="6350">
            <a:solidFill>
              <a:srgbClr val="E4E7EC"/>
            </a:solidFill>
            <a:prstDash val="solid"/>
          </a:ln>
        </p:spPr>
      </p:sp>
      <p:sp>
        <p:nvSpPr>
          <p:cNvPr id="16" name="step:3:fade"/>
          <p:cNvSpPr/>
          <p:nvPr/>
        </p:nvSpPr>
        <p:spPr>
          <a:xfrm>
            <a:off x="7132320" y="3825240"/>
            <a:ext cx="4389120" cy="609600"/>
          </a:xfrm>
          <a:prstGeom prst="rect">
            <a:avLst/>
          </a:prstGeom>
          <a:solidFill>
            <a:srgbClr val="E3F1F0"/>
          </a:solidFill>
          <a:ln w="12700">
            <a:solidFill>
              <a:srgbClr val="E3F1F0"/>
            </a:solidFill>
            <a:prstDash val="solid"/>
          </a:ln>
        </p:spPr>
      </p:sp>
      <p:sp>
        <p:nvSpPr>
          <p:cNvPr id="17" name="step:3:wipeL"/>
          <p:cNvSpPr txBox="1"/>
          <p:nvPr/>
        </p:nvSpPr>
        <p:spPr>
          <a:xfrm>
            <a:off x="640080" y="38252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Routes, TLS</a:t>
            </a:r>
            <a:endParaRPr lang="en-US" sz="1700" dirty="0"/>
          </a:p>
        </p:txBody>
      </p:sp>
      <p:sp>
        <p:nvSpPr>
          <p:cNvPr id="18" name="step:3:wipeL"/>
          <p:cNvSpPr txBox="1"/>
          <p:nvPr/>
        </p:nvSpPr>
        <p:spPr>
          <a:xfrm>
            <a:off x="3063240" y="38252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Hand-made, extra RBAC</a:t>
            </a:r>
            <a:endParaRPr lang="en-US" sz="1700" dirty="0"/>
          </a:p>
        </p:txBody>
      </p:sp>
      <p:sp>
        <p:nvSpPr>
          <p:cNvPr id="19" name="step:3:wipeL"/>
          <p:cNvSpPr txBox="1"/>
          <p:nvPr/>
        </p:nvSpPr>
        <p:spPr>
          <a:xfrm>
            <a:off x="7269480" y="38252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Created for us</a:t>
            </a:r>
            <a:endParaRPr lang="en-US" sz="1700" dirty="0"/>
          </a:p>
        </p:txBody>
      </p:sp>
      <p:sp>
        <p:nvSpPr>
          <p:cNvPr id="20" name="step:3:wipeL"/>
          <p:cNvSpPr/>
          <p:nvPr/>
        </p:nvSpPr>
        <p:spPr>
          <a:xfrm>
            <a:off x="640080" y="3825240"/>
            <a:ext cx="10881360" cy="0"/>
          </a:xfrm>
          <a:prstGeom prst="line">
            <a:avLst/>
          </a:prstGeom>
          <a:noFill/>
          <a:ln w="6350">
            <a:solidFill>
              <a:srgbClr val="E4E7EC"/>
            </a:solidFill>
            <a:prstDash val="solid"/>
          </a:ln>
        </p:spPr>
      </p:sp>
      <p:sp>
        <p:nvSpPr>
          <p:cNvPr id="21" name="step:4:fade"/>
          <p:cNvSpPr/>
          <p:nvPr/>
        </p:nvSpPr>
        <p:spPr>
          <a:xfrm>
            <a:off x="7132320" y="4434840"/>
            <a:ext cx="4389120" cy="609600"/>
          </a:xfrm>
          <a:prstGeom prst="rect">
            <a:avLst/>
          </a:prstGeom>
          <a:solidFill>
            <a:srgbClr val="E3F1F0"/>
          </a:solidFill>
          <a:ln w="12700">
            <a:solidFill>
              <a:srgbClr val="E3F1F0"/>
            </a:solidFill>
            <a:prstDash val="solid"/>
          </a:ln>
        </p:spPr>
      </p:sp>
      <p:sp>
        <p:nvSpPr>
          <p:cNvPr id="22" name="step:4:wipeL"/>
          <p:cNvSpPr txBox="1"/>
          <p:nvPr/>
        </p:nvSpPr>
        <p:spPr>
          <a:xfrm>
            <a:off x="640080" y="44348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Airgap</a:t>
            </a:r>
            <a:endParaRPr lang="en-US" sz="1700" dirty="0"/>
          </a:p>
        </p:txBody>
      </p:sp>
      <p:sp>
        <p:nvSpPr>
          <p:cNvPr id="23" name="step:4:wipeL"/>
          <p:cNvSpPr txBox="1"/>
          <p:nvPr/>
        </p:nvSpPr>
        <p:spPr>
          <a:xfrm>
            <a:off x="3063240" y="44348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Image by image</a:t>
            </a:r>
            <a:endParaRPr lang="en-US" sz="1700" dirty="0"/>
          </a:p>
        </p:txBody>
      </p:sp>
      <p:sp>
        <p:nvSpPr>
          <p:cNvPr id="24" name="step:4:wipeL"/>
          <p:cNvSpPr txBox="1"/>
          <p:nvPr/>
        </p:nvSpPr>
        <p:spPr>
          <a:xfrm>
            <a:off x="7269480" y="44348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oc-mirror, one path</a:t>
            </a:r>
            <a:endParaRPr lang="en-US" sz="1700" dirty="0"/>
          </a:p>
        </p:txBody>
      </p:sp>
      <p:sp>
        <p:nvSpPr>
          <p:cNvPr id="25" name="step:4:wipeL"/>
          <p:cNvSpPr/>
          <p:nvPr/>
        </p:nvSpPr>
        <p:spPr>
          <a:xfrm>
            <a:off x="640080" y="4434840"/>
            <a:ext cx="10881360" cy="0"/>
          </a:xfrm>
          <a:prstGeom prst="line">
            <a:avLst/>
          </a:prstGeom>
          <a:noFill/>
          <a:ln w="6350">
            <a:solidFill>
              <a:srgbClr val="E4E7EC"/>
            </a:solidFill>
            <a:prstDash val="solid"/>
          </a:ln>
        </p:spPr>
      </p:sp>
      <p:sp>
        <p:nvSpPr>
          <p:cNvPr id="26" name="step:5:fade"/>
          <p:cNvSpPr/>
          <p:nvPr/>
        </p:nvSpPr>
        <p:spPr>
          <a:xfrm>
            <a:off x="7132320" y="5044440"/>
            <a:ext cx="4389120" cy="609600"/>
          </a:xfrm>
          <a:prstGeom prst="rect">
            <a:avLst/>
          </a:prstGeom>
          <a:solidFill>
            <a:srgbClr val="E3F1F0"/>
          </a:solidFill>
          <a:ln w="12700">
            <a:solidFill>
              <a:srgbClr val="E3F1F0"/>
            </a:solidFill>
            <a:prstDash val="solid"/>
          </a:ln>
        </p:spPr>
      </p:sp>
      <p:sp>
        <p:nvSpPr>
          <p:cNvPr id="27" name="step:5:wipeL"/>
          <p:cNvSpPr txBox="1"/>
          <p:nvPr/>
        </p:nvSpPr>
        <p:spPr>
          <a:xfrm>
            <a:off x="640080" y="50444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Support</a:t>
            </a:r>
            <a:endParaRPr lang="en-US" sz="1700" dirty="0"/>
          </a:p>
        </p:txBody>
      </p:sp>
      <p:sp>
        <p:nvSpPr>
          <p:cNvPr id="28" name="step:5:wipeL"/>
          <p:cNvSpPr txBox="1"/>
          <p:nvPr/>
        </p:nvSpPr>
        <p:spPr>
          <a:xfrm>
            <a:off x="3063240" y="50444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Community</a:t>
            </a:r>
            <a:endParaRPr lang="en-US" sz="1700" dirty="0"/>
          </a:p>
        </p:txBody>
      </p:sp>
      <p:sp>
        <p:nvSpPr>
          <p:cNvPr id="29" name="step:5:wipeL"/>
          <p:cNvSpPr txBox="1"/>
          <p:nvPr/>
        </p:nvSpPr>
        <p:spPr>
          <a:xfrm>
            <a:off x="7269480" y="50444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Red Hat</a:t>
            </a:r>
            <a:endParaRPr lang="en-US" sz="1700" dirty="0"/>
          </a:p>
        </p:txBody>
      </p:sp>
      <p:sp>
        <p:nvSpPr>
          <p:cNvPr id="30" name="step:5:wipeL"/>
          <p:cNvSpPr/>
          <p:nvPr/>
        </p:nvSpPr>
        <p:spPr>
          <a:xfrm>
            <a:off x="640080" y="5044440"/>
            <a:ext cx="10881360" cy="0"/>
          </a:xfrm>
          <a:prstGeom prst="line">
            <a:avLst/>
          </a:prstGeom>
          <a:noFill/>
          <a:ln w="6350">
            <a:solidFill>
              <a:srgbClr val="E4E7EC"/>
            </a:solidFill>
            <a:prstDash val="solid"/>
          </a:ln>
        </p:spPr>
      </p:sp>
      <p:sp>
        <p:nvSpPr>
          <p:cNvPr id="31" name="step:6:fade"/>
          <p:cNvSpPr/>
          <p:nvPr/>
        </p:nvSpPr>
        <p:spPr>
          <a:xfrm>
            <a:off x="7132320" y="5654040"/>
            <a:ext cx="4389120" cy="609600"/>
          </a:xfrm>
          <a:prstGeom prst="rect">
            <a:avLst/>
          </a:prstGeom>
          <a:solidFill>
            <a:srgbClr val="E3F1F0"/>
          </a:solidFill>
          <a:ln w="12700">
            <a:solidFill>
              <a:srgbClr val="E3F1F0"/>
            </a:solidFill>
            <a:prstDash val="solid"/>
          </a:ln>
        </p:spPr>
      </p:sp>
      <p:sp>
        <p:nvSpPr>
          <p:cNvPr id="32" name="step:6:wipeL"/>
          <p:cNvSpPr txBox="1"/>
          <p:nvPr/>
        </p:nvSpPr>
        <p:spPr>
          <a:xfrm>
            <a:off x="640080" y="5654040"/>
            <a:ext cx="2286000" cy="609600"/>
          </a:xfrm>
          <a:prstGeom prst="rect">
            <a:avLst/>
          </a:prstGeom>
          <a:noFill/>
          <a:ln/>
        </p:spPr>
        <p:txBody>
          <a:bodyPr wrap="square" lIns="0" tIns="0" rIns="0" bIns="0" rtlCol="0" anchor="ctr"/>
          <a:lstStyle/>
          <a:p>
            <a:pPr indent="0" marL="0">
              <a:buNone/>
            </a:pPr>
            <a:r>
              <a:rPr lang="en-US" sz="1700" b="1" dirty="0">
                <a:solidFill>
                  <a:srgbClr val="1B1F2A"/>
                </a:solidFill>
                <a:latin typeface="Calibri" pitchFamily="34" charset="0"/>
                <a:ea typeface="Calibri" pitchFamily="34" charset="-122"/>
                <a:cs typeface="Calibri" pitchFamily="34" charset="-120"/>
              </a:rPr>
              <a:t>Who owns it</a:t>
            </a:r>
            <a:endParaRPr lang="en-US" sz="1700" dirty="0"/>
          </a:p>
        </p:txBody>
      </p:sp>
      <p:sp>
        <p:nvSpPr>
          <p:cNvPr id="33" name="step:6:wipeL"/>
          <p:cNvSpPr txBox="1"/>
          <p:nvPr/>
        </p:nvSpPr>
        <p:spPr>
          <a:xfrm>
            <a:off x="3063240" y="5654040"/>
            <a:ext cx="4114800" cy="609600"/>
          </a:xfrm>
          <a:prstGeom prst="rect">
            <a:avLst/>
          </a:prstGeom>
          <a:noFill/>
          <a:ln/>
        </p:spPr>
        <p:txBody>
          <a:bodyPr wrap="square" lIns="0" tIns="0" rIns="0" bIns="0" rtlCol="0" anchor="ctr"/>
          <a:lstStyle/>
          <a:p>
            <a:pPr indent="0" marL="0">
              <a:buNone/>
            </a:pPr>
            <a:r>
              <a:rPr lang="en-US" sz="1700" dirty="0">
                <a:solidFill>
                  <a:srgbClr val="667085"/>
                </a:solidFill>
                <a:latin typeface="Calibri" pitchFamily="34" charset="0"/>
                <a:ea typeface="Calibri" pitchFamily="34" charset="-122"/>
                <a:cs typeface="Calibri" pitchFamily="34" charset="-120"/>
              </a:rPr>
              <a:t>Us</a:t>
            </a:r>
            <a:endParaRPr lang="en-US" sz="1700" dirty="0"/>
          </a:p>
        </p:txBody>
      </p:sp>
      <p:sp>
        <p:nvSpPr>
          <p:cNvPr id="34" name="step:6:wipeL"/>
          <p:cNvSpPr txBox="1"/>
          <p:nvPr/>
        </p:nvSpPr>
        <p:spPr>
          <a:xfrm>
            <a:off x="7269480" y="5654040"/>
            <a:ext cx="4206240" cy="609600"/>
          </a:xfrm>
          <a:prstGeom prst="rect">
            <a:avLst/>
          </a:prstGeom>
          <a:noFill/>
          <a:ln/>
        </p:spPr>
        <p:txBody>
          <a:bodyPr wrap="square" lIns="0" tIns="0" rIns="0" bIns="0" rtlCol="0" anchor="ctr"/>
          <a:lstStyle/>
          <a:p>
            <a:pPr indent="0" marL="0">
              <a:buNone/>
            </a:pPr>
            <a:r>
              <a:rPr lang="en-US" sz="1700" dirty="0">
                <a:solidFill>
                  <a:srgbClr val="1B1F2A"/>
                </a:solidFill>
                <a:latin typeface="Calibri" pitchFamily="34" charset="0"/>
                <a:ea typeface="Calibri" pitchFamily="34" charset="-122"/>
                <a:cs typeface="Calibri" pitchFamily="34" charset="-120"/>
              </a:rPr>
              <a:t>The platform</a:t>
            </a:r>
            <a:endParaRPr lang="en-US" sz="1700" dirty="0"/>
          </a:p>
        </p:txBody>
      </p:sp>
      <p:sp>
        <p:nvSpPr>
          <p:cNvPr id="35" name="step:6:wipeL"/>
          <p:cNvSpPr/>
          <p:nvPr/>
        </p:nvSpPr>
        <p:spPr>
          <a:xfrm>
            <a:off x="640080" y="5654040"/>
            <a:ext cx="10881360" cy="0"/>
          </a:xfrm>
          <a:prstGeom prst="line">
            <a:avLst/>
          </a:prstGeom>
          <a:noFill/>
          <a:ln w="6350">
            <a:solidFill>
              <a:srgbClr val="E4E7EC"/>
            </a:solidFill>
            <a:prstDash val="solid"/>
          </a:ln>
        </p:spPr>
      </p:sp>
      <p:sp>
        <p:nvSpPr>
          <p:cNvPr id="36" name="Text 33"/>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13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4"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350"/>
                                        <p:tgtEl>
                                          <p:spTgt spid="8"/>
                                        </p:tgtEl>
                                      </p:cBhvr>
                                    </p:animEffect>
                                  </p:childTnLst>
                                </p:cTn>
                              </p:par>
                              <p:par>
                                <p:cTn id="17"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350"/>
                                        <p:tgtEl>
                                          <p:spTgt spid="9"/>
                                        </p:tgtEl>
                                      </p:cBhvr>
                                    </p:animEffect>
                                  </p:childTnLst>
                                </p:cTn>
                              </p:par>
                              <p:par>
                                <p:cTn id="20" presetID="22" presetClass="entr" presetSubtype="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350"/>
                                        <p:tgtEl>
                                          <p:spTgt spid="10"/>
                                        </p:tgtEl>
                                      </p:cBhvr>
                                    </p:animEffect>
                                  </p:childTnLst>
                                </p:cTn>
                              </p:par>
                            </p:childTnLst>
                          </p:cTn>
                        </p:par>
                      </p:childTnLst>
                    </p:cTn>
                  </p:par>
                  <p:par>
                    <p:cTn id="38" fill="hold">
                      <p:stCondLst>
                        <p:cond delay="indefinite"/>
                      </p:stCondLst>
                      <p:childTnLst>
                        <p:par>
                          <p:cTn id="39"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8"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350"/>
                                        <p:tgtEl>
                                          <p:spTgt spid="12"/>
                                        </p:tgtEl>
                                      </p:cBhvr>
                                    </p:animEffect>
                                  </p:childTnLst>
                                </p:cTn>
                              </p:par>
                              <p:par>
                                <p:cTn id="31"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350"/>
                                        <p:tgtEl>
                                          <p:spTgt spid="13"/>
                                        </p:tgtEl>
                                      </p:cBhvr>
                                    </p:animEffect>
                                  </p:childTnLst>
                                </p:cTn>
                              </p:par>
                              <p:par>
                                <p:cTn id="34"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350"/>
                                        <p:tgtEl>
                                          <p:spTgt spid="14"/>
                                        </p:tgtEl>
                                      </p:cBhvr>
                                    </p:animEffect>
                                  </p:childTnLst>
                                </p:cTn>
                              </p:par>
                              <p:par>
                                <p:cTn id="37"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350"/>
                                        <p:tgtEl>
                                          <p:spTgt spid="15"/>
                                        </p:tgtEl>
                                      </p:cBhvr>
                                    </p:animEffect>
                                  </p:childTnLst>
                                </p:cTn>
                              </p:par>
                            </p:childTnLst>
                          </p:cTn>
                        </p:par>
                      </p:childTnLst>
                    </p:cTn>
                  </p:par>
                  <p:par>
                    <p:cTn id="55" fill="hold">
                      <p:stCondLst>
                        <p:cond delay="indefinite"/>
                      </p:stCondLst>
                      <p:childTnLst>
                        <p:par>
                          <p:cTn id="56" fill="hold">
                            <p:stCondLst>
                              <p:cond delay="0"/>
                            </p:stCondLst>
                            <p:childTnLst>
                              <p:par>
                                <p:cTn id="42"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5"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350"/>
                                        <p:tgtEl>
                                          <p:spTgt spid="17"/>
                                        </p:tgtEl>
                                      </p:cBhvr>
                                    </p:animEffect>
                                  </p:childTnLst>
                                </p:cTn>
                              </p:par>
                              <p:par>
                                <p:cTn id="48"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350"/>
                                        <p:tgtEl>
                                          <p:spTgt spid="18"/>
                                        </p:tgtEl>
                                      </p:cBhvr>
                                    </p:animEffect>
                                  </p:childTnLst>
                                </p:cTn>
                              </p:par>
                              <p:par>
                                <p:cTn id="51" presetID="22" presetClass="entr" presetSubtype="8"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350"/>
                                        <p:tgtEl>
                                          <p:spTgt spid="19"/>
                                        </p:tgtEl>
                                      </p:cBhvr>
                                    </p:animEffect>
                                  </p:childTnLst>
                                </p:cTn>
                              </p:par>
                              <p:par>
                                <p:cTn id="54" presetID="22" presetClass="entr" presetSubtype="8"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350"/>
                                        <p:tgtEl>
                                          <p:spTgt spid="20"/>
                                        </p:tgtEl>
                                      </p:cBhvr>
                                    </p:animEffect>
                                  </p:childTnLst>
                                </p:cTn>
                              </p:par>
                            </p:childTnLst>
                          </p:cTn>
                        </p:par>
                      </p:childTnLst>
                    </p:cTn>
                  </p:par>
                  <p:par>
                    <p:cTn id="72" fill="hold">
                      <p:stCondLst>
                        <p:cond delay="indefinite"/>
                      </p:stCondLst>
                      <p:childTnLst>
                        <p:par>
                          <p:cTn id="73" fill="hold">
                            <p:stCondLst>
                              <p:cond delay="0"/>
                            </p:stCondLst>
                            <p:childTnLst>
                              <p:par>
                                <p:cTn id="59"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par>
                                <p:cTn id="62" presetID="22" presetClass="entr" presetSubtype="8"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350"/>
                                        <p:tgtEl>
                                          <p:spTgt spid="22"/>
                                        </p:tgtEl>
                                      </p:cBhvr>
                                    </p:animEffect>
                                  </p:childTnLst>
                                </p:cTn>
                              </p:par>
                              <p:par>
                                <p:cTn id="65" presetID="22" presetClass="entr" presetSubtype="8"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350"/>
                                        <p:tgtEl>
                                          <p:spTgt spid="23"/>
                                        </p:tgtEl>
                                      </p:cBhvr>
                                    </p:animEffect>
                                  </p:childTnLst>
                                </p:cTn>
                              </p:par>
                              <p:par>
                                <p:cTn id="68" presetID="22" presetClass="entr" presetSubtype="8"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350"/>
                                        <p:tgtEl>
                                          <p:spTgt spid="24"/>
                                        </p:tgtEl>
                                      </p:cBhvr>
                                    </p:animEffect>
                                  </p:childTnLst>
                                </p:cTn>
                              </p:par>
                              <p:par>
                                <p:cTn id="71" presetID="22" presetClass="entr" presetSubtype="8"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350"/>
                                        <p:tgtEl>
                                          <p:spTgt spid="25"/>
                                        </p:tgtEl>
                                      </p:cBhvr>
                                    </p:animEffect>
                                  </p:childTnLst>
                                </p:cTn>
                              </p:par>
                            </p:childTnLst>
                          </p:cTn>
                        </p:par>
                      </p:childTnLst>
                    </p:cTn>
                  </p:par>
                  <p:par>
                    <p:cTn id="89" fill="hold">
                      <p:stCondLst>
                        <p:cond delay="indefinite"/>
                      </p:stCondLst>
                      <p:childTnLst>
                        <p:par>
                          <p:cTn id="90" fill="hold">
                            <p:stCondLst>
                              <p:cond delay="0"/>
                            </p:stCondLst>
                            <p:childTnLst>
                              <p:par>
                                <p:cTn id="76" presetID="10"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left)">
                                      <p:cBhvr>
                                        <p:cTn id="78" dur="350"/>
                                        <p:tgtEl>
                                          <p:spTgt spid="27"/>
                                        </p:tgtEl>
                                      </p:cBhvr>
                                    </p:animEffect>
                                  </p:childTnLst>
                                </p:cTn>
                              </p:par>
                              <p:par>
                                <p:cTn id="82" presetID="22" presetClass="entr" presetSubtype="8"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left)">
                                      <p:cBhvr>
                                        <p:cTn id="81" dur="350"/>
                                        <p:tgtEl>
                                          <p:spTgt spid="28"/>
                                        </p:tgtEl>
                                      </p:cBhvr>
                                    </p:animEffect>
                                  </p:childTnLst>
                                </p:cTn>
                              </p:par>
                              <p:par>
                                <p:cTn id="85" presetID="22" presetClass="entr" presetSubtype="8"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left)">
                                      <p:cBhvr>
                                        <p:cTn id="84" dur="350"/>
                                        <p:tgtEl>
                                          <p:spTgt spid="29"/>
                                        </p:tgtEl>
                                      </p:cBhvr>
                                    </p:animEffect>
                                  </p:childTnLst>
                                </p:cTn>
                              </p:par>
                              <p:par>
                                <p:cTn id="88" presetID="22" presetClass="entr" presetSubtype="8"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left)">
                                      <p:cBhvr>
                                        <p:cTn id="87" dur="350"/>
                                        <p:tgtEl>
                                          <p:spTgt spid="30"/>
                                        </p:tgtEl>
                                      </p:cBhvr>
                                    </p:animEffect>
                                  </p:childTnLst>
                                </p:cTn>
                              </p:par>
                            </p:childTnLst>
                          </p:cTn>
                        </p:par>
                      </p:childTnLst>
                    </p:cTn>
                  </p:par>
                  <p:par>
                    <p:cTn id="106" fill="hold">
                      <p:stCondLst>
                        <p:cond delay="indefinite"/>
                      </p:stCondLst>
                      <p:childTnLst>
                        <p:par>
                          <p:cTn id="107" fill="hold">
                            <p:stCondLst>
                              <p:cond delay="0"/>
                            </p:stCondLst>
                            <p:childTnLst>
                              <p:par>
                                <p:cTn id="93" presetID="10" presetClass="entr" presetSubtype="0" fill="hold" grpId="0"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400"/>
                                        <p:tgtEl>
                                          <p:spTgt spid="31"/>
                                        </p:tgtEl>
                                      </p:cBhvr>
                                    </p:animEffect>
                                  </p:childTnLst>
                                </p:cTn>
                              </p:par>
                              <p:par>
                                <p:cTn id="96" presetID="22" presetClass="entr" presetSubtype="8"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wipe(left)">
                                      <p:cBhvr>
                                        <p:cTn id="95" dur="350"/>
                                        <p:tgtEl>
                                          <p:spTgt spid="32"/>
                                        </p:tgtEl>
                                      </p:cBhvr>
                                    </p:animEffect>
                                  </p:childTnLst>
                                </p:cTn>
                              </p:par>
                              <p:par>
                                <p:cTn id="99" presetID="22" presetClass="entr" presetSubtype="8"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wipe(left)">
                                      <p:cBhvr>
                                        <p:cTn id="98" dur="350"/>
                                        <p:tgtEl>
                                          <p:spTgt spid="33"/>
                                        </p:tgtEl>
                                      </p:cBhvr>
                                    </p:animEffect>
                                  </p:childTnLst>
                                </p:cTn>
                              </p:par>
                              <p:par>
                                <p:cTn id="102" presetID="22" presetClass="entr" presetSubtype="8"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wipe(left)">
                                      <p:cBhvr>
                                        <p:cTn id="101" dur="350"/>
                                        <p:tgtEl>
                                          <p:spTgt spid="34"/>
                                        </p:tgtEl>
                                      </p:cBhvr>
                                    </p:animEffect>
                                  </p:childTnLst>
                                </p:cTn>
                              </p:par>
                              <p:par>
                                <p:cTn id="105" presetID="22" presetClass="entr" presetSubtype="8"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4572E"/>
        </a:solidFill>
      </p:bgPr>
    </p:bg>
    <p:spTree>
      <p:nvGrpSpPr>
        <p:cNvPr id="1" name=""/>
        <p:cNvGrpSpPr/>
        <p:nvPr/>
      </p:nvGrpSpPr>
      <p:grpSpPr>
        <a:xfrm>
          <a:off x="0" y="0"/>
          <a:ext cx="0" cy="0"/>
          <a:chOff x="0" y="0"/>
          <a:chExt cx="0" cy="0"/>
        </a:xfrm>
      </p:grpSpPr>
      <p:sp>
        <p:nvSpPr>
          <p:cNvPr id="2" name="auto:0:wipeL"/>
          <p:cNvSpPr txBox="1"/>
          <p:nvPr/>
        </p:nvSpPr>
        <p:spPr>
          <a:xfrm>
            <a:off x="640080" y="2194560"/>
            <a:ext cx="10515600" cy="1463040"/>
          </a:xfrm>
          <a:prstGeom prst="rect">
            <a:avLst/>
          </a:prstGeom>
          <a:noFill/>
          <a:ln/>
        </p:spPr>
        <p:txBody>
          <a:bodyPr wrap="square" lIns="0" tIns="0" rIns="0" bIns="0" rtlCol="0" anchor="ctr"/>
          <a:lstStyle/>
          <a:p>
            <a:pPr indent="0" marL="0">
              <a:buNone/>
            </a:pPr>
            <a:r>
              <a:rPr lang="en-US" sz="6400" b="1" dirty="0">
                <a:solidFill>
                  <a:srgbClr val="FFFFFF"/>
                </a:solidFill>
                <a:latin typeface="Century Schoolbook" pitchFamily="34" charset="0"/>
                <a:ea typeface="Century Schoolbook" pitchFamily="34" charset="-122"/>
                <a:cs typeface="Century Schoolbook" pitchFamily="34" charset="-120"/>
              </a:rPr>
              <a:t>The API</a:t>
            </a:r>
            <a:endParaRPr lang="en-US" sz="6400" dirty="0"/>
          </a:p>
        </p:txBody>
      </p:sp>
      <p:sp>
        <p:nvSpPr>
          <p:cNvPr id="3" name="auto:1:fade"/>
          <p:cNvSpPr txBox="1"/>
          <p:nvPr/>
        </p:nvSpPr>
        <p:spPr>
          <a:xfrm>
            <a:off x="640080" y="3749040"/>
            <a:ext cx="9144000" cy="548640"/>
          </a:xfrm>
          <a:prstGeom prst="rect">
            <a:avLst/>
          </a:prstGeom>
          <a:noFill/>
          <a:ln/>
        </p:spPr>
        <p:txBody>
          <a:bodyPr wrap="square" lIns="0" tIns="0" rIns="0" bIns="0" rtlCol="0" anchor="ctr"/>
          <a:lstStyle/>
          <a:p>
            <a:pPr indent="0" marL="0">
              <a:buNone/>
            </a:pPr>
            <a:r>
              <a:rPr lang="en-US" sz="2200" i="1" dirty="0">
                <a:solidFill>
                  <a:srgbClr val="FFFFFF"/>
                </a:solidFill>
                <a:latin typeface="Century Schoolbook" pitchFamily="34" charset="0"/>
                <a:ea typeface="Century Schoolbook" pitchFamily="34" charset="-122"/>
                <a:cs typeface="Century Schoolbook" pitchFamily="34" charset="-120"/>
              </a:rPr>
              <a:t>One HTTP call, a serverless application.</a:t>
            </a:r>
            <a:endParaRPr lang="en-US" sz="2200" dirty="0"/>
          </a:p>
        </p:txBody>
      </p:sp>
      <p:sp>
        <p:nvSpPr>
          <p:cNvPr id="4" name="Text 2"/>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14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350"/>
                                        <p:tgtEl>
                                          <p:spTgt spid="2"/>
                                        </p:tgtEl>
                                      </p:cBhvr>
                                    </p:animEffect>
                                  </p:childTnLst>
                                </p:cTn>
                              </p:par>
                              <p:par>
                                <p:cTn id="8" presetID="10" presetClass="entr" presetSubtype="0" fill="hold" grpId="0" nodeType="withEffect">
                                  <p:stCondLst>
                                    <p:cond delay="8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What the API is</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HTTP API in front of Knative</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Two offerings: functions and containers</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It validates, then answers 202</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call reaches both regions</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Nobody needs cluster access</a:t>
            </a:r>
            <a:endParaRPr lang="en-US" sz="1900" dirty="0"/>
          </a:p>
        </p:txBody>
      </p:sp>
      <p:sp>
        <p:nvSpPr>
          <p:cNvPr id="15" name="step:1: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6" name="step:1: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one API</a:t>
            </a:r>
            <a:endParaRPr lang="en-US" sz="1400" dirty="0"/>
          </a:p>
        </p:txBody>
      </p:sp>
      <p:sp>
        <p:nvSpPr>
          <p:cNvPr id="17" name="step:1: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FastAPI, running in both regions</a:t>
            </a:r>
            <a:endParaRPr lang="en-US" sz="950" dirty="0"/>
          </a:p>
        </p:txBody>
      </p:sp>
      <p:sp>
        <p:nvSpPr>
          <p:cNvPr id="18" name="step:2: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9" name="step:2: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functions</a:t>
            </a:r>
            <a:endParaRPr lang="en-US" sz="1400" dirty="0"/>
          </a:p>
        </p:txBody>
      </p:sp>
      <p:sp>
        <p:nvSpPr>
          <p:cNvPr id="20" name="step:2: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your git repo — we build it</a:t>
            </a:r>
            <a:endParaRPr lang="en-US" sz="950" dirty="0"/>
          </a:p>
        </p:txBody>
      </p:sp>
      <p:sp>
        <p:nvSpPr>
          <p:cNvPr id="21" name="step:3: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22" name="step:3: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containers</a:t>
            </a:r>
            <a:endParaRPr lang="en-US" sz="1400" dirty="0"/>
          </a:p>
        </p:txBody>
      </p:sp>
      <p:sp>
        <p:nvSpPr>
          <p:cNvPr id="23" name="step:3: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your image — we run it</a:t>
            </a:r>
            <a:endParaRPr lang="en-US" sz="950" dirty="0"/>
          </a:p>
        </p:txBody>
      </p:sp>
      <p:sp>
        <p:nvSpPr>
          <p:cNvPr id="24" name="step:4: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5" name="step:4: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the contract</a:t>
            </a:r>
            <a:endParaRPr lang="en-US" sz="1400" dirty="0"/>
          </a:p>
        </p:txBody>
      </p:sp>
      <p:sp>
        <p:nvSpPr>
          <p:cNvPr id="26" name="step:4: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202 + statusUrl, closed statuses</a:t>
            </a:r>
            <a:endParaRPr lang="en-US" sz="950" dirty="0"/>
          </a:p>
        </p:txBody>
      </p:sp>
      <p:sp>
        <p:nvSpPr>
          <p:cNvPr id="27" name="step:5: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8" name="step:5: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the reach</a:t>
            </a:r>
            <a:endParaRPr lang="en-US" sz="1400" dirty="0"/>
          </a:p>
        </p:txBody>
      </p:sp>
      <p:sp>
        <p:nvSpPr>
          <p:cNvPr id="29" name="step:5: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central + south, one call</a:t>
            </a:r>
            <a:endParaRPr lang="en-US" sz="95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15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350"/>
                                        <p:tgtEl>
                                          <p:spTgt spid="15"/>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350"/>
                                        <p:tgtEl>
                                          <p:spTgt spid="1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350"/>
                                        <p:tgtEl>
                                          <p:spTgt spid="17"/>
                                        </p:tgtEl>
                                      </p:cBhvr>
                                    </p:animEffect>
                                  </p:childTnLst>
                                </p:cTn>
                              </p:par>
                            </p:childTnLst>
                          </p:cTn>
                        </p:par>
                      </p:childTnLst>
                    </p:cTn>
                  </p:par>
                  <p:par>
                    <p:cTn id="35" fill="hold">
                      <p:stCondLst>
                        <p:cond delay="indefinite"/>
                      </p:stCondLst>
                      <p:childTnLst>
                        <p:par>
                          <p:cTn id="36"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350"/>
                                        <p:tgtEl>
                                          <p:spTgt spid="18"/>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350"/>
                                        <p:tgtEl>
                                          <p:spTgt spid="19"/>
                                        </p:tgtEl>
                                      </p:cBhvr>
                                    </p:animEffect>
                                  </p:childTnLst>
                                </p:cTn>
                              </p:par>
                              <p:par>
                                <p:cTn id="34" presetID="22" presetClass="entr" presetSubtype="4"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down)">
                                      <p:cBhvr>
                                        <p:cTn id="33" dur="3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9"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350"/>
                                        <p:tgtEl>
                                          <p:spTgt spid="9"/>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350"/>
                                        <p:tgtEl>
                                          <p:spTgt spid="10"/>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350"/>
                                        <p:tgtEl>
                                          <p:spTgt spid="21"/>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350"/>
                                        <p:tgtEl>
                                          <p:spTgt spid="22"/>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350"/>
                                        <p:tgtEl>
                                          <p:spTgt spid="23"/>
                                        </p:tgtEl>
                                      </p:cBhvr>
                                    </p:animEffect>
                                  </p:childTnLst>
                                </p:cTn>
                              </p:par>
                            </p:childTnLst>
                          </p:cTn>
                        </p:par>
                      </p:childTnLst>
                    </p:cTn>
                  </p:par>
                  <p:par>
                    <p:cTn id="69" fill="hold">
                      <p:stCondLst>
                        <p:cond delay="indefinite"/>
                      </p:stCondLst>
                      <p:childTnLst>
                        <p:par>
                          <p:cTn id="70" fill="hold">
                            <p:stCondLst>
                              <p:cond delay="0"/>
                            </p:stCondLst>
                            <p:childTnLst>
                              <p:par>
                                <p:cTn id="56"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350"/>
                                        <p:tgtEl>
                                          <p:spTgt spid="11"/>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350"/>
                                        <p:tgtEl>
                                          <p:spTgt spid="12"/>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350"/>
                                        <p:tgtEl>
                                          <p:spTgt spid="24"/>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350"/>
                                        <p:tgtEl>
                                          <p:spTgt spid="25"/>
                                        </p:tgtEl>
                                      </p:cBhvr>
                                    </p:animEffect>
                                  </p:childTnLst>
                                </p:cTn>
                              </p:par>
                              <p:par>
                                <p:cTn id="68" presetID="22" presetClass="entr" presetSubtype="4"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350"/>
                                        <p:tgtEl>
                                          <p:spTgt spid="26"/>
                                        </p:tgtEl>
                                      </p:cBhvr>
                                    </p:animEffect>
                                  </p:childTnLst>
                                </p:cTn>
                              </p:par>
                            </p:childTnLst>
                          </p:cTn>
                        </p:par>
                      </p:childTnLst>
                    </p:cTn>
                  </p:par>
                  <p:par>
                    <p:cTn id="86" fill="hold">
                      <p:stCondLst>
                        <p:cond delay="indefinite"/>
                      </p:stCondLst>
                      <p:childTnLst>
                        <p:par>
                          <p:cTn id="87"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350"/>
                                        <p:tgtEl>
                                          <p:spTgt spid="1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left)">
                                      <p:cBhvr>
                                        <p:cTn id="75" dur="350"/>
                                        <p:tgtEl>
                                          <p:spTgt spid="14"/>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par>
                                <p:cTn id="85" presetID="22" presetClass="entr" presetSubtype="4"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down)">
                                      <p:cBhvr>
                                        <p:cTn id="84"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endpoint structure</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23 endpoints under one base path</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group is in the path</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Both offerings have the same shape</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OIDC token or admin key</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Allow live streaming with short-lived tickets</a:t>
            </a:r>
            <a:endParaRPr lang="en-US" sz="1900" dirty="0"/>
          </a:p>
        </p:txBody>
      </p:sp>
      <p:sp>
        <p:nvSpPr>
          <p:cNvPr id="15" name="auto:0:fade"/>
          <p:cNvSpPr/>
          <p:nvPr/>
        </p:nvSpPr>
        <p:spPr>
          <a:xfrm>
            <a:off x="6172200" y="2194560"/>
            <a:ext cx="5394960" cy="3291840"/>
          </a:xfrm>
          <a:prstGeom prst="roundRect">
            <a:avLst>
              <a:gd name="adj" fmla="val 2778"/>
            </a:avLst>
          </a:prstGeom>
          <a:solidFill>
            <a:srgbClr val="F4F5F7"/>
          </a:solidFill>
          <a:ln w="12700">
            <a:solidFill>
              <a:srgbClr val="F4F5F7"/>
            </a:solidFill>
            <a:prstDash val="solid"/>
          </a:ln>
        </p:spPr>
      </p:sp>
      <p:sp>
        <p:nvSpPr>
          <p:cNvPr id="16" name="auto:1:fade"/>
          <p:cNvSpPr txBox="1"/>
          <p:nvPr/>
        </p:nvSpPr>
        <p:spPr>
          <a:xfrm>
            <a:off x="6400800" y="2377440"/>
            <a:ext cx="4937760" cy="2926080"/>
          </a:xfrm>
          <a:prstGeom prst="rect">
            <a:avLst/>
          </a:prstGeom>
          <a:noFill/>
          <a:ln/>
        </p:spPr>
        <p:txBody>
          <a:bodyPr wrap="square" lIns="0" tIns="0" rIns="0" bIns="0" rtlCol="0" anchor="t"/>
          <a:lstStyle/>
          <a:p>
            <a:pPr indent="0" marL="0">
              <a:lnSpc>
                <a:spcPct val="135000"/>
              </a:lnSpc>
              <a:buNone/>
            </a:pPr>
            <a:r>
              <a:rPr lang="en-US" sz="1150" b="1" dirty="0">
                <a:solidFill>
                  <a:srgbClr val="E4572E"/>
                </a:solidFill>
                <a:latin typeface="Courier New" pitchFamily="34" charset="0"/>
                <a:ea typeface="Courier New" pitchFamily="34" charset="-122"/>
                <a:cs typeface="Courier New" pitchFamily="34" charset="-120"/>
              </a:rPr>
              <a:t>/api/serverless/v1</a:t>
            </a:r>
            <a:endParaRPr lang="en-US" sz="1150" dirty="0"/>
          </a:p>
          <a:p>
            <a:pPr indent="0" marL="0">
              <a:lnSpc>
                <a:spcPct val="135000"/>
              </a:lnSpc>
              <a:buNone/>
            </a:pPr>
            <a:r>
              <a:rPr lang="en-US" sz="1150" dirty="0">
                <a:solidFill>
                  <a:srgbClr val="1B1F2A"/>
                </a:solidFill>
                <a:latin typeface="Courier New" pitchFamily="34" charset="0"/>
                <a:ea typeface="Courier New" pitchFamily="34" charset="-122"/>
                <a:cs typeface="Courier New" pitchFamily="34" charset="-120"/>
              </a:rPr>
              <a:t>  /groups/{group}/functions</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POST · GET · PUT · DELETE</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/{name}/build</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/{name}/stats · /pods · /logs</a:t>
            </a:r>
            <a:endParaRPr lang="en-US" sz="1150" dirty="0"/>
          </a:p>
          <a:p>
            <a:pPr indent="0" marL="0">
              <a:lnSpc>
                <a:spcPct val="135000"/>
              </a:lnSpc>
              <a:buNone/>
            </a:pPr>
            <a:r>
              <a:rPr lang="en-US" sz="1150" dirty="0">
                <a:solidFill>
                  <a:srgbClr val="1B1F2A"/>
                </a:solidFill>
                <a:latin typeface="Courier New" pitchFamily="34" charset="0"/>
                <a:ea typeface="Courier New" pitchFamily="34" charset="-122"/>
                <a:cs typeface="Courier New" pitchFamily="34" charset="-120"/>
              </a:rPr>
              <a:t>  /groups/{group}/containers</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POST · GET · PUT · DELETE</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/{name}/pull</a:t>
            </a:r>
            <a:endParaRPr lang="en-US" sz="1150" dirty="0"/>
          </a:p>
          <a:p>
            <a:pPr indent="0" marL="0">
              <a:lnSpc>
                <a:spcPct val="135000"/>
              </a:lnSpc>
              <a:buNone/>
            </a:pPr>
            <a:r>
              <a:rPr lang="en-US" sz="1150" dirty="0">
                <a:solidFill>
                  <a:srgbClr val="667085"/>
                </a:solidFill>
                <a:latin typeface="Courier New" pitchFamily="34" charset="0"/>
                <a:ea typeface="Courier New" pitchFamily="34" charset="-122"/>
                <a:cs typeface="Courier New" pitchFamily="34" charset="-120"/>
              </a:rPr>
              <a:t>    /{name}/stats · /pods · /logs</a:t>
            </a:r>
            <a:endParaRPr lang="en-US" sz="1150" dirty="0"/>
          </a:p>
          <a:p>
            <a:pPr indent="0" marL="0">
              <a:lnSpc>
                <a:spcPct val="135000"/>
              </a:lnSpc>
              <a:buNone/>
            </a:pPr>
            <a:r>
              <a:rPr lang="en-US" sz="1150" dirty="0">
                <a:solidFill>
                  <a:srgbClr val="1B1F2A"/>
                </a:solidFill>
                <a:latin typeface="Courier New" pitchFamily="34" charset="0"/>
                <a:ea typeface="Courier New" pitchFamily="34" charset="-122"/>
                <a:cs typeface="Courier New" pitchFamily="34" charset="-120"/>
              </a:rPr>
              <a:t>  /functions/info · /containers/info</a:t>
            </a:r>
            <a:endParaRPr lang="en-US" sz="1150" dirty="0"/>
          </a:p>
          <a:p>
            <a:pPr indent="0" marL="0">
              <a:lnSpc>
                <a:spcPct val="135000"/>
              </a:lnSpc>
              <a:buNone/>
            </a:pPr>
            <a:r>
              <a:rPr lang="en-US" sz="1150" dirty="0">
                <a:solidFill>
                  <a:srgbClr val="1B1F2A"/>
                </a:solidFill>
                <a:latin typeface="Courier New" pitchFamily="34" charset="0"/>
                <a:ea typeface="Courier New" pitchFamily="34" charset="-122"/>
                <a:cs typeface="Courier New" pitchFamily="34" charset="-120"/>
              </a:rPr>
              <a:t>  /stream-tickets</a:t>
            </a:r>
            <a:endParaRPr lang="en-US" sz="1150" dirty="0"/>
          </a:p>
        </p:txBody>
      </p:sp>
      <p:sp>
        <p:nvSpPr>
          <p:cNvPr id="17" name="Text 1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16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00"/>
                                        <p:tgtEl>
                                          <p:spTgt spid="15"/>
                                        </p:tgtEl>
                                      </p:cBhvr>
                                    </p:animEffect>
                                  </p:childTnLst>
                                </p:cTn>
                              </p:par>
                              <p:par>
                                <p:cTn id="8" presetID="10" presetClass="entr" presetSubtype="0" fill="hold" grpId="0" nodeType="withEffect">
                                  <p:stCondLst>
                                    <p:cond delay="8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350"/>
                                        <p:tgtEl>
                                          <p:spTgt spid="5"/>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350"/>
                                        <p:tgtEl>
                                          <p:spTgt spid="6"/>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350"/>
                                        <p:tgtEl>
                                          <p:spTgt spid="7"/>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350"/>
                                        <p:tgtEl>
                                          <p:spTgt spid="8"/>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350"/>
                                        <p:tgtEl>
                                          <p:spTgt spid="9"/>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350"/>
                                        <p:tgtEl>
                                          <p:spTgt spid="10"/>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350"/>
                                        <p:tgtEl>
                                          <p:spTgt spid="11"/>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350"/>
                                        <p:tgtEl>
                                          <p:spTgt spid="12"/>
                                        </p:tgtEl>
                                      </p:cBhvr>
                                    </p:animEffect>
                                  </p:childTnLst>
                                </p:cTn>
                              </p:par>
                            </p:childTnLst>
                          </p:cTn>
                        </p:par>
                      </p:childTnLst>
                    </p:cTn>
                  </p:par>
                  <p:par>
                    <p:cTn id="49" fill="hold">
                      <p:stCondLst>
                        <p:cond delay="indefinite"/>
                      </p:stCondLst>
                      <p:childTnLst>
                        <p:par>
                          <p:cTn id="50" fill="hold">
                            <p:stCondLst>
                              <p:cond delay="0"/>
                            </p:stCondLst>
                            <p:childTnLst>
                              <p:par>
                                <p:cTn id="45" presetID="22" presetClass="entr" presetSubtype="8"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350"/>
                                        <p:tgtEl>
                                          <p:spTgt spid="13"/>
                                        </p:tgtEl>
                                      </p:cBhvr>
                                    </p:animEffect>
                                  </p:childTnLst>
                                </p:cTn>
                              </p:par>
                              <p:par>
                                <p:cTn id="48" presetID="22" presetClass="entr" presetSubtype="8"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Anatomy of a workload</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Identity: name, hostname, regions</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Source: git repo or image</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Runtime: env, files, port, size</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Scaling: min, max, metric, target</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Response: same shape, secrets redacted</a:t>
            </a:r>
            <a:endParaRPr lang="en-US" sz="1900" dirty="0"/>
          </a:p>
        </p:txBody>
      </p:sp>
      <p:sp>
        <p:nvSpPr>
          <p:cNvPr id="15" name="step:1: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6" name="step:1: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Identity</a:t>
            </a:r>
            <a:endParaRPr lang="en-US" sz="1400" dirty="0"/>
          </a:p>
        </p:txBody>
      </p:sp>
      <p:sp>
        <p:nvSpPr>
          <p:cNvPr id="17" name="step:1: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name · hostname · regions[]</a:t>
            </a:r>
            <a:endParaRPr lang="en-US" sz="950" dirty="0"/>
          </a:p>
        </p:txBody>
      </p:sp>
      <p:sp>
        <p:nvSpPr>
          <p:cNvPr id="18" name="step:2: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9" name="step:2: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Source</a:t>
            </a:r>
            <a:endParaRPr lang="en-US" sz="1400" dirty="0"/>
          </a:p>
        </p:txBody>
      </p:sp>
      <p:sp>
        <p:nvSpPr>
          <p:cNvPr id="20" name="step:2: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gitRepo · branch · runtime  |  image</a:t>
            </a:r>
            <a:endParaRPr lang="en-US" sz="950" dirty="0"/>
          </a:p>
        </p:txBody>
      </p:sp>
      <p:sp>
        <p:nvSpPr>
          <p:cNvPr id="21" name="step:3: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22" name="step:3: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Runtime</a:t>
            </a:r>
            <a:endParaRPr lang="en-US" sz="1400" dirty="0"/>
          </a:p>
        </p:txBody>
      </p:sp>
      <p:sp>
        <p:nvSpPr>
          <p:cNvPr id="23" name="step:3: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env[] · files[] · port · size</a:t>
            </a:r>
            <a:endParaRPr lang="en-US" sz="950" dirty="0"/>
          </a:p>
        </p:txBody>
      </p:sp>
      <p:sp>
        <p:nvSpPr>
          <p:cNvPr id="24" name="step:4: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5" name="step:4: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Scaling</a:t>
            </a:r>
            <a:endParaRPr lang="en-US" sz="1400" dirty="0"/>
          </a:p>
        </p:txBody>
      </p:sp>
      <p:sp>
        <p:nvSpPr>
          <p:cNvPr id="26" name="step:4: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minScale · maxScale · metric · target</a:t>
            </a:r>
            <a:endParaRPr lang="en-US" sz="950" dirty="0"/>
          </a:p>
        </p:txBody>
      </p:sp>
      <p:sp>
        <p:nvSpPr>
          <p:cNvPr id="27" name="step:5: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8" name="step:5: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Response</a:t>
            </a:r>
            <a:endParaRPr lang="en-US" sz="1400" dirty="0"/>
          </a:p>
        </p:txBody>
      </p:sp>
      <p:sp>
        <p:nvSpPr>
          <p:cNvPr id="29" name="step:5: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the request, secrets redacted</a:t>
            </a:r>
            <a:endParaRPr lang="en-US" sz="95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17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350"/>
                                        <p:tgtEl>
                                          <p:spTgt spid="15"/>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350"/>
                                        <p:tgtEl>
                                          <p:spTgt spid="1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350"/>
                                        <p:tgtEl>
                                          <p:spTgt spid="17"/>
                                        </p:tgtEl>
                                      </p:cBhvr>
                                    </p:animEffect>
                                  </p:childTnLst>
                                </p:cTn>
                              </p:par>
                            </p:childTnLst>
                          </p:cTn>
                        </p:par>
                      </p:childTnLst>
                    </p:cTn>
                  </p:par>
                  <p:par>
                    <p:cTn id="35" fill="hold">
                      <p:stCondLst>
                        <p:cond delay="indefinite"/>
                      </p:stCondLst>
                      <p:childTnLst>
                        <p:par>
                          <p:cTn id="36"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350"/>
                                        <p:tgtEl>
                                          <p:spTgt spid="18"/>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350"/>
                                        <p:tgtEl>
                                          <p:spTgt spid="19"/>
                                        </p:tgtEl>
                                      </p:cBhvr>
                                    </p:animEffect>
                                  </p:childTnLst>
                                </p:cTn>
                              </p:par>
                              <p:par>
                                <p:cTn id="34" presetID="22" presetClass="entr" presetSubtype="4"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down)">
                                      <p:cBhvr>
                                        <p:cTn id="33" dur="3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9"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350"/>
                                        <p:tgtEl>
                                          <p:spTgt spid="9"/>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350"/>
                                        <p:tgtEl>
                                          <p:spTgt spid="10"/>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350"/>
                                        <p:tgtEl>
                                          <p:spTgt spid="21"/>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350"/>
                                        <p:tgtEl>
                                          <p:spTgt spid="22"/>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350"/>
                                        <p:tgtEl>
                                          <p:spTgt spid="23"/>
                                        </p:tgtEl>
                                      </p:cBhvr>
                                    </p:animEffect>
                                  </p:childTnLst>
                                </p:cTn>
                              </p:par>
                            </p:childTnLst>
                          </p:cTn>
                        </p:par>
                      </p:childTnLst>
                    </p:cTn>
                  </p:par>
                  <p:par>
                    <p:cTn id="69" fill="hold">
                      <p:stCondLst>
                        <p:cond delay="indefinite"/>
                      </p:stCondLst>
                      <p:childTnLst>
                        <p:par>
                          <p:cTn id="70" fill="hold">
                            <p:stCondLst>
                              <p:cond delay="0"/>
                            </p:stCondLst>
                            <p:childTnLst>
                              <p:par>
                                <p:cTn id="56"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350"/>
                                        <p:tgtEl>
                                          <p:spTgt spid="11"/>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350"/>
                                        <p:tgtEl>
                                          <p:spTgt spid="12"/>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350"/>
                                        <p:tgtEl>
                                          <p:spTgt spid="24"/>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350"/>
                                        <p:tgtEl>
                                          <p:spTgt spid="25"/>
                                        </p:tgtEl>
                                      </p:cBhvr>
                                    </p:animEffect>
                                  </p:childTnLst>
                                </p:cTn>
                              </p:par>
                              <p:par>
                                <p:cTn id="68" presetID="22" presetClass="entr" presetSubtype="4"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350"/>
                                        <p:tgtEl>
                                          <p:spTgt spid="26"/>
                                        </p:tgtEl>
                                      </p:cBhvr>
                                    </p:animEffect>
                                  </p:childTnLst>
                                </p:cTn>
                              </p:par>
                            </p:childTnLst>
                          </p:cTn>
                        </p:par>
                      </p:childTnLst>
                    </p:cTn>
                  </p:par>
                  <p:par>
                    <p:cTn id="86" fill="hold">
                      <p:stCondLst>
                        <p:cond delay="indefinite"/>
                      </p:stCondLst>
                      <p:childTnLst>
                        <p:par>
                          <p:cTn id="87"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350"/>
                                        <p:tgtEl>
                                          <p:spTgt spid="1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left)">
                                      <p:cBhvr>
                                        <p:cTn id="75" dur="350"/>
                                        <p:tgtEl>
                                          <p:spTgt spid="14"/>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par>
                                <p:cTn id="85" presetID="22" presetClass="entr" presetSubtype="4"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down)">
                                      <p:cBhvr>
                                        <p:cTn id="84"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Every workload has one status</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closed set, published on /info</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Pending, Building, Deploying, Ready</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Building only exists for functions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Failed always carries a reason</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row per region, rolled up</a:t>
            </a:r>
            <a:endParaRPr lang="en-US" sz="1900" dirty="0"/>
          </a:p>
        </p:txBody>
      </p:sp>
      <p:sp>
        <p:nvSpPr>
          <p:cNvPr id="15" name="step:6:wipeL"/>
          <p:cNvSpPr/>
          <p:nvPr/>
        </p:nvSpPr>
        <p:spPr>
          <a:xfrm>
            <a:off x="6172200" y="2286000"/>
            <a:ext cx="1051560" cy="384048"/>
          </a:xfrm>
          <a:prstGeom prst="roundRect">
            <a:avLst>
              <a:gd name="adj" fmla="val 14286"/>
            </a:avLst>
          </a:prstGeom>
          <a:solidFill>
            <a:srgbClr val="FFFFFF"/>
          </a:solidFill>
          <a:ln w="15875">
            <a:solidFill>
              <a:srgbClr val="0B7A75"/>
            </a:solidFill>
            <a:prstDash val="solid"/>
          </a:ln>
        </p:spPr>
      </p:sp>
      <p:sp>
        <p:nvSpPr>
          <p:cNvPr id="16" name="step:6:wipeL"/>
          <p:cNvSpPr txBox="1"/>
          <p:nvPr/>
        </p:nvSpPr>
        <p:spPr>
          <a:xfrm>
            <a:off x="6172200" y="2286000"/>
            <a:ext cx="1051560" cy="384048"/>
          </a:xfrm>
          <a:prstGeom prst="rect">
            <a:avLst/>
          </a:prstGeom>
          <a:noFill/>
          <a:ln/>
        </p:spPr>
        <p:txBody>
          <a:bodyPr wrap="square" lIns="0" tIns="0" rIns="0" bIns="0" rtlCol="0" anchor="ctr"/>
          <a:lstStyle/>
          <a:p>
            <a:pPr algn="ctr" indent="0" marL="0">
              <a:buNone/>
            </a:pPr>
            <a:r>
              <a:rPr lang="en-US" sz="1200" b="1" dirty="0">
                <a:solidFill>
                  <a:srgbClr val="0B7A75"/>
                </a:solidFill>
                <a:latin typeface="Calibri" pitchFamily="34" charset="0"/>
                <a:ea typeface="Calibri" pitchFamily="34" charset="-122"/>
                <a:cs typeface="Calibri" pitchFamily="34" charset="-120"/>
              </a:rPr>
              <a:t>Pending</a:t>
            </a:r>
            <a:endParaRPr lang="en-US" sz="1200" dirty="0"/>
          </a:p>
        </p:txBody>
      </p:sp>
      <p:sp>
        <p:nvSpPr>
          <p:cNvPr id="17" name="step:7:wipeL"/>
          <p:cNvSpPr/>
          <p:nvPr/>
        </p:nvSpPr>
        <p:spPr>
          <a:xfrm>
            <a:off x="7223760" y="2478024"/>
            <a:ext cx="256032" cy="0"/>
          </a:xfrm>
          <a:prstGeom prst="line">
            <a:avLst/>
          </a:prstGeom>
          <a:noFill/>
          <a:ln w="15875">
            <a:solidFill>
              <a:srgbClr val="98A2B3"/>
            </a:solidFill>
            <a:prstDash val="solid"/>
            <a:tailEnd type="triangle"/>
          </a:ln>
        </p:spPr>
      </p:sp>
      <p:sp>
        <p:nvSpPr>
          <p:cNvPr id="18" name="step:7:wipeL"/>
          <p:cNvSpPr/>
          <p:nvPr/>
        </p:nvSpPr>
        <p:spPr>
          <a:xfrm>
            <a:off x="7479792" y="2286000"/>
            <a:ext cx="1051560" cy="384048"/>
          </a:xfrm>
          <a:prstGeom prst="roundRect">
            <a:avLst>
              <a:gd name="adj" fmla="val 14286"/>
            </a:avLst>
          </a:prstGeom>
          <a:solidFill>
            <a:srgbClr val="FFFFFF"/>
          </a:solidFill>
          <a:ln w="15875">
            <a:solidFill>
              <a:srgbClr val="0B7A75"/>
            </a:solidFill>
            <a:prstDash val="solid"/>
          </a:ln>
        </p:spPr>
      </p:sp>
      <p:sp>
        <p:nvSpPr>
          <p:cNvPr id="19" name="step:7:wipeL"/>
          <p:cNvSpPr txBox="1"/>
          <p:nvPr/>
        </p:nvSpPr>
        <p:spPr>
          <a:xfrm>
            <a:off x="7479792" y="2286000"/>
            <a:ext cx="1051560" cy="384048"/>
          </a:xfrm>
          <a:prstGeom prst="rect">
            <a:avLst/>
          </a:prstGeom>
          <a:noFill/>
          <a:ln/>
        </p:spPr>
        <p:txBody>
          <a:bodyPr wrap="square" lIns="0" tIns="0" rIns="0" bIns="0" rtlCol="0" anchor="ctr"/>
          <a:lstStyle/>
          <a:p>
            <a:pPr algn="ctr" indent="0" marL="0">
              <a:buNone/>
            </a:pPr>
            <a:r>
              <a:rPr lang="en-US" sz="1200" b="1" dirty="0">
                <a:solidFill>
                  <a:srgbClr val="0B7A75"/>
                </a:solidFill>
                <a:latin typeface="Calibri" pitchFamily="34" charset="0"/>
                <a:ea typeface="Calibri" pitchFamily="34" charset="-122"/>
                <a:cs typeface="Calibri" pitchFamily="34" charset="-120"/>
              </a:rPr>
              <a:t>Building</a:t>
            </a:r>
            <a:endParaRPr lang="en-US" sz="1200" dirty="0"/>
          </a:p>
        </p:txBody>
      </p:sp>
      <p:sp>
        <p:nvSpPr>
          <p:cNvPr id="20" name="step:8:wipeL"/>
          <p:cNvSpPr/>
          <p:nvPr/>
        </p:nvSpPr>
        <p:spPr>
          <a:xfrm>
            <a:off x="8531352" y="2478024"/>
            <a:ext cx="256032" cy="0"/>
          </a:xfrm>
          <a:prstGeom prst="line">
            <a:avLst/>
          </a:prstGeom>
          <a:noFill/>
          <a:ln w="15875">
            <a:solidFill>
              <a:srgbClr val="98A2B3"/>
            </a:solidFill>
            <a:prstDash val="solid"/>
            <a:tailEnd type="triangle"/>
          </a:ln>
        </p:spPr>
      </p:sp>
      <p:sp>
        <p:nvSpPr>
          <p:cNvPr id="21" name="step:8:wipeL"/>
          <p:cNvSpPr/>
          <p:nvPr/>
        </p:nvSpPr>
        <p:spPr>
          <a:xfrm>
            <a:off x="8787384" y="2286000"/>
            <a:ext cx="1051560" cy="384048"/>
          </a:xfrm>
          <a:prstGeom prst="roundRect">
            <a:avLst>
              <a:gd name="adj" fmla="val 14286"/>
            </a:avLst>
          </a:prstGeom>
          <a:solidFill>
            <a:srgbClr val="FFFFFF"/>
          </a:solidFill>
          <a:ln w="15875">
            <a:solidFill>
              <a:srgbClr val="0B7A75"/>
            </a:solidFill>
            <a:prstDash val="solid"/>
          </a:ln>
        </p:spPr>
      </p:sp>
      <p:sp>
        <p:nvSpPr>
          <p:cNvPr id="22" name="step:8:wipeL"/>
          <p:cNvSpPr txBox="1"/>
          <p:nvPr/>
        </p:nvSpPr>
        <p:spPr>
          <a:xfrm>
            <a:off x="8787384" y="2286000"/>
            <a:ext cx="1051560" cy="384048"/>
          </a:xfrm>
          <a:prstGeom prst="rect">
            <a:avLst/>
          </a:prstGeom>
          <a:noFill/>
          <a:ln/>
        </p:spPr>
        <p:txBody>
          <a:bodyPr wrap="square" lIns="0" tIns="0" rIns="0" bIns="0" rtlCol="0" anchor="ctr"/>
          <a:lstStyle/>
          <a:p>
            <a:pPr algn="ctr" indent="0" marL="0">
              <a:buNone/>
            </a:pPr>
            <a:r>
              <a:rPr lang="en-US" sz="1200" b="1" dirty="0">
                <a:solidFill>
                  <a:srgbClr val="0B7A75"/>
                </a:solidFill>
                <a:latin typeface="Calibri" pitchFamily="34" charset="0"/>
                <a:ea typeface="Calibri" pitchFamily="34" charset="-122"/>
                <a:cs typeface="Calibri" pitchFamily="34" charset="-120"/>
              </a:rPr>
              <a:t>Deploying</a:t>
            </a:r>
            <a:endParaRPr lang="en-US" sz="1200" dirty="0"/>
          </a:p>
        </p:txBody>
      </p:sp>
      <p:sp>
        <p:nvSpPr>
          <p:cNvPr id="23" name="step:9:wipeL"/>
          <p:cNvSpPr/>
          <p:nvPr/>
        </p:nvSpPr>
        <p:spPr>
          <a:xfrm>
            <a:off x="9838944" y="2478024"/>
            <a:ext cx="256032" cy="0"/>
          </a:xfrm>
          <a:prstGeom prst="line">
            <a:avLst/>
          </a:prstGeom>
          <a:noFill/>
          <a:ln w="15875">
            <a:solidFill>
              <a:srgbClr val="98A2B3"/>
            </a:solidFill>
            <a:prstDash val="solid"/>
            <a:tailEnd type="triangle"/>
          </a:ln>
        </p:spPr>
      </p:sp>
      <p:sp>
        <p:nvSpPr>
          <p:cNvPr id="24" name="step:9:wipeL"/>
          <p:cNvSpPr/>
          <p:nvPr/>
        </p:nvSpPr>
        <p:spPr>
          <a:xfrm>
            <a:off x="10094976" y="2286000"/>
            <a:ext cx="1051560" cy="384048"/>
          </a:xfrm>
          <a:prstGeom prst="roundRect">
            <a:avLst>
              <a:gd name="adj" fmla="val 14286"/>
            </a:avLst>
          </a:prstGeom>
          <a:solidFill>
            <a:srgbClr val="1B8A5A"/>
          </a:solidFill>
          <a:ln w="15875">
            <a:solidFill>
              <a:srgbClr val="1B8A5A"/>
            </a:solidFill>
            <a:prstDash val="solid"/>
          </a:ln>
        </p:spPr>
      </p:sp>
      <p:sp>
        <p:nvSpPr>
          <p:cNvPr id="25" name="step:9:wipeL"/>
          <p:cNvSpPr txBox="1"/>
          <p:nvPr/>
        </p:nvSpPr>
        <p:spPr>
          <a:xfrm>
            <a:off x="10094976" y="2286000"/>
            <a:ext cx="1051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Ready</a:t>
            </a:r>
            <a:endParaRPr lang="en-US" sz="1200" dirty="0"/>
          </a:p>
        </p:txBody>
      </p:sp>
      <p:sp>
        <p:nvSpPr>
          <p:cNvPr id="26" name="step:10:wipeL"/>
          <p:cNvSpPr/>
          <p:nvPr/>
        </p:nvSpPr>
        <p:spPr>
          <a:xfrm>
            <a:off x="6172200" y="3063240"/>
            <a:ext cx="1051560" cy="384048"/>
          </a:xfrm>
          <a:prstGeom prst="roundRect">
            <a:avLst>
              <a:gd name="adj" fmla="val 14286"/>
            </a:avLst>
          </a:prstGeom>
          <a:solidFill>
            <a:srgbClr val="FFFFFF"/>
          </a:solidFill>
          <a:ln w="15875">
            <a:solidFill>
              <a:srgbClr val="C0392B"/>
            </a:solidFill>
            <a:prstDash val="solid"/>
          </a:ln>
        </p:spPr>
      </p:sp>
      <p:sp>
        <p:nvSpPr>
          <p:cNvPr id="27" name="step:10:wipeL"/>
          <p:cNvSpPr txBox="1"/>
          <p:nvPr/>
        </p:nvSpPr>
        <p:spPr>
          <a:xfrm>
            <a:off x="6172200" y="3063240"/>
            <a:ext cx="1051560" cy="38404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Failed</a:t>
            </a:r>
            <a:endParaRPr lang="en-US" sz="1200" dirty="0"/>
          </a:p>
        </p:txBody>
      </p:sp>
      <p:sp>
        <p:nvSpPr>
          <p:cNvPr id="28" name="step:10:wipeL"/>
          <p:cNvSpPr txBox="1"/>
          <p:nvPr/>
        </p:nvSpPr>
        <p:spPr>
          <a:xfrm>
            <a:off x="7360920" y="3063240"/>
            <a:ext cx="2743200" cy="384048"/>
          </a:xfrm>
          <a:prstGeom prst="rect">
            <a:avLst/>
          </a:prstGeom>
          <a:noFill/>
          <a:ln/>
        </p:spPr>
        <p:txBody>
          <a:bodyPr wrap="square" lIns="0" tIns="0" rIns="0" bIns="0" rtlCol="0" anchor="ctr"/>
          <a:lstStyle/>
          <a:p>
            <a:pPr indent="0" marL="0">
              <a:buNone/>
            </a:pPr>
            <a:r>
              <a:rPr lang="en-US" sz="1200" dirty="0">
                <a:solidFill>
                  <a:srgbClr val="667085"/>
                </a:solidFill>
                <a:latin typeface="Calibri" pitchFamily="34" charset="0"/>
                <a:ea typeface="Calibri" pitchFamily="34" charset="-122"/>
                <a:cs typeface="Calibri" pitchFamily="34" charset="-120"/>
              </a:rPr>
              <a:t>with a reason:</a:t>
            </a:r>
            <a:endParaRPr lang="en-US" sz="1200" dirty="0"/>
          </a:p>
        </p:txBody>
      </p:sp>
      <p:sp>
        <p:nvSpPr>
          <p:cNvPr id="29" name="step:11:fade"/>
          <p:cNvSpPr/>
          <p:nvPr/>
        </p:nvSpPr>
        <p:spPr>
          <a:xfrm>
            <a:off x="6172200" y="3657600"/>
            <a:ext cx="1007669" cy="310896"/>
          </a:xfrm>
          <a:prstGeom prst="roundRect">
            <a:avLst>
              <a:gd name="adj" fmla="val 14706"/>
            </a:avLst>
          </a:prstGeom>
          <a:solidFill>
            <a:srgbClr val="FFFFFF"/>
          </a:solidFill>
          <a:ln w="9525">
            <a:solidFill>
              <a:srgbClr val="E4E7EC"/>
            </a:solidFill>
            <a:prstDash val="solid"/>
          </a:ln>
        </p:spPr>
      </p:sp>
      <p:sp>
        <p:nvSpPr>
          <p:cNvPr id="30" name="step:11:fade"/>
          <p:cNvSpPr txBox="1"/>
          <p:nvPr/>
        </p:nvSpPr>
        <p:spPr>
          <a:xfrm>
            <a:off x="6172200" y="3657600"/>
            <a:ext cx="1007669" cy="310896"/>
          </a:xfrm>
          <a:prstGeom prst="rect">
            <a:avLst/>
          </a:prstGeom>
          <a:noFill/>
          <a:ln/>
        </p:spPr>
        <p:txBody>
          <a:bodyPr wrap="square" lIns="0" tIns="0" rIns="0" bIns="0" rtlCol="0" anchor="ctr"/>
          <a:lstStyle/>
          <a:p>
            <a:pPr algn="ctr" indent="0" marL="0">
              <a:buNone/>
            </a:pPr>
            <a:r>
              <a:rPr lang="en-US" sz="950" dirty="0">
                <a:solidFill>
                  <a:srgbClr val="C0392B"/>
                </a:solidFill>
                <a:latin typeface="Courier New" pitchFamily="34" charset="0"/>
                <a:ea typeface="Courier New" pitchFamily="34" charset="-122"/>
                <a:cs typeface="Courier New" pitchFamily="34" charset="-120"/>
              </a:rPr>
              <a:t>BuildFailed</a:t>
            </a:r>
            <a:endParaRPr lang="en-US" sz="950" dirty="0"/>
          </a:p>
        </p:txBody>
      </p:sp>
      <p:sp>
        <p:nvSpPr>
          <p:cNvPr id="31" name="step:11:fade"/>
          <p:cNvSpPr/>
          <p:nvPr/>
        </p:nvSpPr>
        <p:spPr>
          <a:xfrm>
            <a:off x="7289597" y="3657600"/>
            <a:ext cx="1307592" cy="310896"/>
          </a:xfrm>
          <a:prstGeom prst="roundRect">
            <a:avLst>
              <a:gd name="adj" fmla="val 14706"/>
            </a:avLst>
          </a:prstGeom>
          <a:solidFill>
            <a:srgbClr val="FFFFFF"/>
          </a:solidFill>
          <a:ln w="9525">
            <a:solidFill>
              <a:srgbClr val="E4E7EC"/>
            </a:solidFill>
            <a:prstDash val="solid"/>
          </a:ln>
        </p:spPr>
      </p:sp>
      <p:sp>
        <p:nvSpPr>
          <p:cNvPr id="32" name="step:11:fade"/>
          <p:cNvSpPr txBox="1"/>
          <p:nvPr/>
        </p:nvSpPr>
        <p:spPr>
          <a:xfrm>
            <a:off x="7289597" y="3657600"/>
            <a:ext cx="1307592" cy="310896"/>
          </a:xfrm>
          <a:prstGeom prst="rect">
            <a:avLst/>
          </a:prstGeom>
          <a:noFill/>
          <a:ln/>
        </p:spPr>
        <p:txBody>
          <a:bodyPr wrap="square" lIns="0" tIns="0" rIns="0" bIns="0" rtlCol="0" anchor="ctr"/>
          <a:lstStyle/>
          <a:p>
            <a:pPr algn="ctr" indent="0" marL="0">
              <a:buNone/>
            </a:pPr>
            <a:r>
              <a:rPr lang="en-US" sz="950" dirty="0">
                <a:solidFill>
                  <a:srgbClr val="C0392B"/>
                </a:solidFill>
                <a:latin typeface="Courier New" pitchFamily="34" charset="0"/>
                <a:ea typeface="Courier New" pitchFamily="34" charset="-122"/>
                <a:cs typeface="Courier New" pitchFamily="34" charset="-120"/>
              </a:rPr>
              <a:t>ImagePullFailed</a:t>
            </a:r>
            <a:endParaRPr lang="en-US" sz="950" dirty="0"/>
          </a:p>
        </p:txBody>
      </p:sp>
      <p:sp>
        <p:nvSpPr>
          <p:cNvPr id="33" name="step:11:fade"/>
          <p:cNvSpPr/>
          <p:nvPr/>
        </p:nvSpPr>
        <p:spPr>
          <a:xfrm>
            <a:off x="8706917" y="3657600"/>
            <a:ext cx="1082650" cy="310896"/>
          </a:xfrm>
          <a:prstGeom prst="roundRect">
            <a:avLst>
              <a:gd name="adj" fmla="val 14706"/>
            </a:avLst>
          </a:prstGeom>
          <a:solidFill>
            <a:srgbClr val="FFFFFF"/>
          </a:solidFill>
          <a:ln w="9525">
            <a:solidFill>
              <a:srgbClr val="E4E7EC"/>
            </a:solidFill>
            <a:prstDash val="solid"/>
          </a:ln>
        </p:spPr>
      </p:sp>
      <p:sp>
        <p:nvSpPr>
          <p:cNvPr id="34" name="step:11:fade"/>
          <p:cNvSpPr txBox="1"/>
          <p:nvPr/>
        </p:nvSpPr>
        <p:spPr>
          <a:xfrm>
            <a:off x="8706917" y="3657600"/>
            <a:ext cx="1082650" cy="310896"/>
          </a:xfrm>
          <a:prstGeom prst="rect">
            <a:avLst/>
          </a:prstGeom>
          <a:noFill/>
          <a:ln/>
        </p:spPr>
        <p:txBody>
          <a:bodyPr wrap="square" lIns="0" tIns="0" rIns="0" bIns="0" rtlCol="0" anchor="ctr"/>
          <a:lstStyle/>
          <a:p>
            <a:pPr algn="ctr" indent="0" marL="0">
              <a:buNone/>
            </a:pPr>
            <a:r>
              <a:rPr lang="en-US" sz="950" dirty="0">
                <a:solidFill>
                  <a:srgbClr val="C0392B"/>
                </a:solidFill>
                <a:latin typeface="Courier New" pitchFamily="34" charset="0"/>
                <a:ea typeface="Courier New" pitchFamily="34" charset="-122"/>
                <a:cs typeface="Courier New" pitchFamily="34" charset="-120"/>
              </a:rPr>
              <a:t>CrashLooping</a:t>
            </a:r>
            <a:endParaRPr lang="en-US" sz="950" dirty="0"/>
          </a:p>
        </p:txBody>
      </p:sp>
      <p:sp>
        <p:nvSpPr>
          <p:cNvPr id="35" name="step:11:fade"/>
          <p:cNvSpPr/>
          <p:nvPr/>
        </p:nvSpPr>
        <p:spPr>
          <a:xfrm>
            <a:off x="9899294" y="3657600"/>
            <a:ext cx="1007669" cy="310896"/>
          </a:xfrm>
          <a:prstGeom prst="roundRect">
            <a:avLst>
              <a:gd name="adj" fmla="val 14706"/>
            </a:avLst>
          </a:prstGeom>
          <a:solidFill>
            <a:srgbClr val="FFFFFF"/>
          </a:solidFill>
          <a:ln w="9525">
            <a:solidFill>
              <a:srgbClr val="E4E7EC"/>
            </a:solidFill>
            <a:prstDash val="solid"/>
          </a:ln>
        </p:spPr>
      </p:sp>
      <p:sp>
        <p:nvSpPr>
          <p:cNvPr id="36" name="step:11:fade"/>
          <p:cNvSpPr txBox="1"/>
          <p:nvPr/>
        </p:nvSpPr>
        <p:spPr>
          <a:xfrm>
            <a:off x="9899294" y="3657600"/>
            <a:ext cx="1007669" cy="310896"/>
          </a:xfrm>
          <a:prstGeom prst="rect">
            <a:avLst/>
          </a:prstGeom>
          <a:noFill/>
          <a:ln/>
        </p:spPr>
        <p:txBody>
          <a:bodyPr wrap="square" lIns="0" tIns="0" rIns="0" bIns="0" rtlCol="0" anchor="ctr"/>
          <a:lstStyle/>
          <a:p>
            <a:pPr algn="ctr" indent="0" marL="0">
              <a:buNone/>
            </a:pPr>
            <a:r>
              <a:rPr lang="en-US" sz="950" dirty="0">
                <a:solidFill>
                  <a:srgbClr val="C0392B"/>
                </a:solidFill>
                <a:latin typeface="Courier New" pitchFamily="34" charset="0"/>
                <a:ea typeface="Courier New" pitchFamily="34" charset="-122"/>
                <a:cs typeface="Courier New" pitchFamily="34" charset="-120"/>
              </a:rPr>
              <a:t>ConfigError</a:t>
            </a:r>
            <a:endParaRPr lang="en-US" sz="950" dirty="0"/>
          </a:p>
        </p:txBody>
      </p:sp>
      <p:sp>
        <p:nvSpPr>
          <p:cNvPr id="37" name="step:11:fade"/>
          <p:cNvSpPr/>
          <p:nvPr/>
        </p:nvSpPr>
        <p:spPr>
          <a:xfrm>
            <a:off x="6172200" y="4059936"/>
            <a:ext cx="1982419" cy="310896"/>
          </a:xfrm>
          <a:prstGeom prst="roundRect">
            <a:avLst>
              <a:gd name="adj" fmla="val 14706"/>
            </a:avLst>
          </a:prstGeom>
          <a:solidFill>
            <a:srgbClr val="FFFFFF"/>
          </a:solidFill>
          <a:ln w="9525">
            <a:solidFill>
              <a:srgbClr val="E4E7EC"/>
            </a:solidFill>
            <a:prstDash val="solid"/>
          </a:ln>
        </p:spPr>
      </p:sp>
      <p:sp>
        <p:nvSpPr>
          <p:cNvPr id="38" name="step:11:fade"/>
          <p:cNvSpPr txBox="1"/>
          <p:nvPr/>
        </p:nvSpPr>
        <p:spPr>
          <a:xfrm>
            <a:off x="6172200" y="4059936"/>
            <a:ext cx="1982419" cy="310896"/>
          </a:xfrm>
          <a:prstGeom prst="rect">
            <a:avLst/>
          </a:prstGeom>
          <a:noFill/>
          <a:ln/>
        </p:spPr>
        <p:txBody>
          <a:bodyPr wrap="square" lIns="0" tIns="0" rIns="0" bIns="0" rtlCol="0" anchor="ctr"/>
          <a:lstStyle/>
          <a:p>
            <a:pPr algn="ctr" indent="0" marL="0">
              <a:buNone/>
            </a:pPr>
            <a:r>
              <a:rPr lang="en-US" sz="950" dirty="0">
                <a:solidFill>
                  <a:srgbClr val="C0392B"/>
                </a:solidFill>
                <a:latin typeface="Courier New" pitchFamily="34" charset="0"/>
                <a:ea typeface="Courier New" pitchFamily="34" charset="-122"/>
                <a:cs typeface="Courier New" pitchFamily="34" charset="-120"/>
              </a:rPr>
              <a:t>ProgressDeadlineExceeded</a:t>
            </a:r>
            <a:endParaRPr lang="en-US" sz="950" dirty="0"/>
          </a:p>
        </p:txBody>
      </p:sp>
      <p:sp>
        <p:nvSpPr>
          <p:cNvPr id="39" name="Text 3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18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49" fill="hold">
                      <p:stCondLst>
                        <p:cond delay="indefinite"/>
                      </p:stCondLst>
                      <p:childTnLst>
                        <p:par>
                          <p:cTn id="50" fill="hold">
                            <p:stCondLst>
                              <p:cond delay="0"/>
                            </p:stCondLst>
                            <p:childTnLst>
                              <p:par>
                                <p:cTn id="45" presetID="2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350"/>
                                        <p:tgtEl>
                                          <p:spTgt spid="15"/>
                                        </p:tgtEl>
                                      </p:cBhvr>
                                    </p:animEffect>
                                  </p:childTnLst>
                                </p:cTn>
                              </p:par>
                              <p:par>
                                <p:cTn id="48" presetID="2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350"/>
                                        <p:tgtEl>
                                          <p:spTgt spid="16"/>
                                        </p:tgtEl>
                                      </p:cBhvr>
                                    </p:animEffect>
                                  </p:childTnLst>
                                </p:cTn>
                              </p:par>
                            </p:childTnLst>
                          </p:cTn>
                        </p:par>
                      </p:childTnLst>
                    </p:cTn>
                  </p:par>
                  <p:par>
                    <p:cTn id="60" fill="hold">
                      <p:stCondLst>
                        <p:cond delay="indefinite"/>
                      </p:stCondLst>
                      <p:childTnLst>
                        <p:par>
                          <p:cTn id="61"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350"/>
                                        <p:tgtEl>
                                          <p:spTgt spid="17"/>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350"/>
                                        <p:tgtEl>
                                          <p:spTgt spid="18"/>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350"/>
                                        <p:tgtEl>
                                          <p:spTgt spid="19"/>
                                        </p:tgtEl>
                                      </p:cBhvr>
                                    </p:animEffect>
                                  </p:childTnLst>
                                </p:cTn>
                              </p:par>
                            </p:childTnLst>
                          </p:cTn>
                        </p:par>
                      </p:childTnLst>
                    </p:cTn>
                  </p:par>
                  <p:par>
                    <p:cTn id="71" fill="hold">
                      <p:stCondLst>
                        <p:cond delay="indefinite"/>
                      </p:stCondLst>
                      <p:childTnLst>
                        <p:par>
                          <p:cTn id="72" fill="hold">
                            <p:stCondLst>
                              <p:cond delay="0"/>
                            </p:stCondLst>
                            <p:childTnLst>
                              <p:par>
                                <p:cTn id="64" presetID="22" presetClass="entr" presetSubtype="8"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350"/>
                                        <p:tgtEl>
                                          <p:spTgt spid="20"/>
                                        </p:tgtEl>
                                      </p:cBhvr>
                                    </p:animEffect>
                                  </p:childTnLst>
                                </p:cTn>
                              </p:par>
                              <p:par>
                                <p:cTn id="67" presetID="22" presetClass="entr" presetSubtype="8"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350"/>
                                        <p:tgtEl>
                                          <p:spTgt spid="21"/>
                                        </p:tgtEl>
                                      </p:cBhvr>
                                    </p:animEffect>
                                  </p:childTnLst>
                                </p:cTn>
                              </p:par>
                              <p:par>
                                <p:cTn id="70" presetID="22" presetClass="entr" presetSubtype="8"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350"/>
                                        <p:tgtEl>
                                          <p:spTgt spid="22"/>
                                        </p:tgtEl>
                                      </p:cBhvr>
                                    </p:animEffect>
                                  </p:childTnLst>
                                </p:cTn>
                              </p:par>
                            </p:childTnLst>
                          </p:cTn>
                        </p:par>
                      </p:childTnLst>
                    </p:cTn>
                  </p:par>
                  <p:par>
                    <p:cTn id="82" fill="hold">
                      <p:stCondLst>
                        <p:cond delay="indefinite"/>
                      </p:stCondLst>
                      <p:childTnLst>
                        <p:par>
                          <p:cTn id="83" fill="hold">
                            <p:stCondLst>
                              <p:cond delay="0"/>
                            </p:stCondLst>
                            <p:childTnLst>
                              <p:par>
                                <p:cTn id="75" presetID="22" presetClass="entr" presetSubtype="8"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350"/>
                                        <p:tgtEl>
                                          <p:spTgt spid="23"/>
                                        </p:tgtEl>
                                      </p:cBhvr>
                                    </p:animEffect>
                                  </p:childTnLst>
                                </p:cTn>
                              </p:par>
                              <p:par>
                                <p:cTn id="78" presetID="22" presetClass="entr" presetSubtype="8"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350"/>
                                        <p:tgtEl>
                                          <p:spTgt spid="24"/>
                                        </p:tgtEl>
                                      </p:cBhvr>
                                    </p:animEffect>
                                  </p:childTnLst>
                                </p:cTn>
                              </p:par>
                              <p:par>
                                <p:cTn id="81" presetID="22" presetClass="entr" presetSubtype="8"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left)">
                                      <p:cBhvr>
                                        <p:cTn id="80" dur="350"/>
                                        <p:tgtEl>
                                          <p:spTgt spid="25"/>
                                        </p:tgtEl>
                                      </p:cBhvr>
                                    </p:animEffect>
                                  </p:childTnLst>
                                </p:cTn>
                              </p:par>
                            </p:childTnLst>
                          </p:cTn>
                        </p:par>
                      </p:childTnLst>
                    </p:cTn>
                  </p:par>
                  <p:par>
                    <p:cTn id="93" fill="hold">
                      <p:stCondLst>
                        <p:cond delay="indefinite"/>
                      </p:stCondLst>
                      <p:childTnLst>
                        <p:par>
                          <p:cTn id="94" fill="hold">
                            <p:stCondLst>
                              <p:cond delay="0"/>
                            </p:stCondLst>
                            <p:childTnLst>
                              <p:par>
                                <p:cTn id="86" presetID="22" presetClass="entr" presetSubtype="8" fill="hold" grpId="0" nodeType="click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wipe(left)">
                                      <p:cBhvr>
                                        <p:cTn id="85" dur="350"/>
                                        <p:tgtEl>
                                          <p:spTgt spid="26"/>
                                        </p:tgtEl>
                                      </p:cBhvr>
                                    </p:animEffect>
                                  </p:childTnLst>
                                </p:cTn>
                              </p:par>
                              <p:par>
                                <p:cTn id="89" presetID="22" presetClass="entr" presetSubtype="8"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left)">
                                      <p:cBhvr>
                                        <p:cTn id="88" dur="350"/>
                                        <p:tgtEl>
                                          <p:spTgt spid="27"/>
                                        </p:tgtEl>
                                      </p:cBhvr>
                                    </p:animEffect>
                                  </p:childTnLst>
                                </p:cTn>
                              </p:par>
                              <p:par>
                                <p:cTn id="92" presetID="22" presetClass="entr" presetSubtype="8"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1" dur="350"/>
                                        <p:tgtEl>
                                          <p:spTgt spid="28"/>
                                        </p:tgtEl>
                                      </p:cBhvr>
                                    </p:animEffect>
                                  </p:childTnLst>
                                </p:cTn>
                              </p:par>
                            </p:childTnLst>
                          </p:cTn>
                        </p:par>
                      </p:childTnLst>
                    </p:cTn>
                  </p:par>
                  <p:par>
                    <p:cTn id="125" fill="hold">
                      <p:stCondLst>
                        <p:cond delay="indefinite"/>
                      </p:stCondLst>
                      <p:childTnLst>
                        <p:par>
                          <p:cTn id="126" fill="hold">
                            <p:stCondLst>
                              <p:cond delay="0"/>
                            </p:stCondLst>
                            <p:childTnLst>
                              <p:par>
                                <p:cTn id="97" presetID="10" presetClass="entr" presetSubtype="0" fill="hold" grpId="0"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400"/>
                                        <p:tgtEl>
                                          <p:spTgt spid="29"/>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400"/>
                                        <p:tgtEl>
                                          <p:spTgt spid="30"/>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400"/>
                                        <p:tgtEl>
                                          <p:spTgt spid="31"/>
                                        </p:tgtEl>
                                      </p:cBhvr>
                                    </p:animEffect>
                                  </p:childTnLst>
                                </p:cTn>
                              </p:par>
                              <p:par>
                                <p:cTn id="106" presetID="10" presetClass="entr" presetSubtype="0"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400"/>
                                        <p:tgtEl>
                                          <p:spTgt spid="32"/>
                                        </p:tgtEl>
                                      </p:cBhvr>
                                    </p:animEffect>
                                  </p:childTnLst>
                                </p:cTn>
                              </p:par>
                              <p:par>
                                <p:cTn id="109" presetID="10" presetClass="entr" presetSubtype="0"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400"/>
                                        <p:tgtEl>
                                          <p:spTgt spid="33"/>
                                        </p:tgtEl>
                                      </p:cBhvr>
                                    </p:animEffect>
                                  </p:childTnLst>
                                </p:cTn>
                              </p:par>
                              <p:par>
                                <p:cTn id="112" presetID="10" presetClass="entr" presetSubtype="0"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400"/>
                                        <p:tgtEl>
                                          <p:spTgt spid="34"/>
                                        </p:tgtEl>
                                      </p:cBhvr>
                                    </p:animEffect>
                                  </p:childTnLst>
                                </p:cTn>
                              </p:par>
                              <p:par>
                                <p:cTn id="115" presetID="10" presetClass="entr" presetSubtype="0" fill="hold" grpId="0"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400"/>
                                        <p:tgtEl>
                                          <p:spTgt spid="35"/>
                                        </p:tgtEl>
                                      </p:cBhvr>
                                    </p:animEffect>
                                  </p:childTnLst>
                                </p:cTn>
                              </p:par>
                              <p:par>
                                <p:cTn id="118" presetID="10" presetClass="entr" presetSubtype="0"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fade">
                                      <p:cBhvr>
                                        <p:cTn id="117" dur="400"/>
                                        <p:tgtEl>
                                          <p:spTgt spid="36"/>
                                        </p:tgtEl>
                                      </p:cBhvr>
                                    </p:animEffect>
                                  </p:childTnLst>
                                </p:cTn>
                              </p:par>
                              <p:par>
                                <p:cTn id="121" presetID="10"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400"/>
                                        <p:tgtEl>
                                          <p:spTgt spid="37"/>
                                        </p:tgtEl>
                                      </p:cBhvr>
                                    </p:animEffect>
                                  </p:childTnLst>
                                </p:cTn>
                              </p:par>
                              <p:par>
                                <p:cTn id="124" presetID="10" presetClass="entr" presetSubtype="0"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 · 1 OF 3 · THE REQUEST</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You send this</a:t>
            </a:r>
            <a:endParaRPr lang="en-US" sz="3800" dirty="0"/>
          </a:p>
        </p:txBody>
      </p:sp>
      <p:sp>
        <p:nvSpPr>
          <p:cNvPr id="5" name="step:1:fade"/>
          <p:cNvSpPr/>
          <p:nvPr/>
        </p:nvSpPr>
        <p:spPr>
          <a:xfrm>
            <a:off x="640080" y="2057400"/>
            <a:ext cx="10881360" cy="3478378"/>
          </a:xfrm>
          <a:prstGeom prst="roundRect">
            <a:avLst>
              <a:gd name="adj" fmla="val 2629"/>
            </a:avLst>
          </a:prstGeom>
          <a:solidFill>
            <a:srgbClr val="F4F5F7"/>
          </a:solidFill>
          <a:ln w="12700">
            <a:solidFill>
              <a:srgbClr val="F4F5F7"/>
            </a:solidFill>
            <a:prstDash val="solid"/>
          </a:ln>
        </p:spPr>
      </p:sp>
      <p:sp>
        <p:nvSpPr>
          <p:cNvPr id="6" name="step:1:fade"/>
          <p:cNvSpPr txBox="1"/>
          <p:nvPr/>
        </p:nvSpPr>
        <p:spPr>
          <a:xfrm>
            <a:off x="868680" y="2240280"/>
            <a:ext cx="10424160" cy="3112618"/>
          </a:xfrm>
          <a:prstGeom prst="rect">
            <a:avLst/>
          </a:prstGeom>
          <a:noFill/>
          <a:ln/>
        </p:spPr>
        <p:txBody>
          <a:bodyPr wrap="square" lIns="0" tIns="0" rIns="0" bIns="0" rtlCol="0" anchor="t"/>
          <a:lstStyle/>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POST /api/serverless/v1/groups/team-a/functions</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Authorization: Bearer &lt;keycloak token&gt;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"name": "billing",  "port": 8080,  "size": "small",</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"gitRepo": "https://git.internal/team-a/billing.git",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"branch": "main",  "runtime": "python",  "version": "3.12",</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"regions": ["central", "south"],</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"env": [{ "name": "LOG_LEVEL", "value": "info"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"scaling": { "minScale": 0, "maxScale": 10,</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"metric": "concurrency", "target": 80 }</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 no namespace, no image, no Knative, no kubectl</a:t>
            </a:r>
            <a:endParaRPr lang="en-US" sz="1200" dirty="0"/>
          </a:p>
        </p:txBody>
      </p:sp>
      <p:sp>
        <p:nvSpPr>
          <p:cNvPr id="7" name="Text 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19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 · 2 OF 3 · THE ANSWER</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You get this back, immediately</a:t>
            </a:r>
            <a:endParaRPr lang="en-US" sz="3800" dirty="0"/>
          </a:p>
        </p:txBody>
      </p:sp>
      <p:sp>
        <p:nvSpPr>
          <p:cNvPr id="5" name="step:1:fade"/>
          <p:cNvSpPr/>
          <p:nvPr/>
        </p:nvSpPr>
        <p:spPr>
          <a:xfrm>
            <a:off x="640080" y="2057400"/>
            <a:ext cx="10881360" cy="2830982"/>
          </a:xfrm>
          <a:prstGeom prst="roundRect">
            <a:avLst>
              <a:gd name="adj" fmla="val 3230"/>
            </a:avLst>
          </a:prstGeom>
          <a:solidFill>
            <a:srgbClr val="F4F5F7"/>
          </a:solidFill>
          <a:ln w="12700">
            <a:solidFill>
              <a:srgbClr val="F4F5F7"/>
            </a:solidFill>
            <a:prstDash val="solid"/>
          </a:ln>
        </p:spPr>
      </p:sp>
      <p:sp>
        <p:nvSpPr>
          <p:cNvPr id="6" name="step:1:fade"/>
          <p:cNvSpPr txBox="1"/>
          <p:nvPr/>
        </p:nvSpPr>
        <p:spPr>
          <a:xfrm>
            <a:off x="868680" y="2240280"/>
            <a:ext cx="10424160" cy="2465222"/>
          </a:xfrm>
          <a:prstGeom prst="rect">
            <a:avLst/>
          </a:prstGeom>
          <a:noFill/>
          <a:ln/>
        </p:spPr>
        <p:txBody>
          <a:bodyPr wrap="square" lIns="0" tIns="0" rIns="0" bIns="0" rtlCol="0" anchor="t"/>
          <a:lstStyle/>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202 Accepted</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"name": "billing",  "status": "Pending",</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"hostname": "billing-team-a.serverless.example",</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"statusUrl": "/api/serverless/v1/groups/team-a/functions/billing",</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"regions": [{ "region": "central", "status": "Pending"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 "region": "south",   "status": "Pending" }]</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 validated synchronously — a 400 here means nothing was written</a:t>
            </a:r>
            <a:endParaRPr lang="en-US" sz="1200" dirty="0"/>
          </a:p>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 accepted, not finished: the work happens after the answer</a:t>
            </a:r>
            <a:endParaRPr lang="en-US" sz="1200" dirty="0"/>
          </a:p>
        </p:txBody>
      </p:sp>
      <p:sp>
        <p:nvSpPr>
          <p:cNvPr id="7" name="Text 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20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 · 3 OF 3 · THE POLL</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Then you poll the same URL</a:t>
            </a:r>
            <a:endParaRPr lang="en-US" sz="3800" dirty="0"/>
          </a:p>
        </p:txBody>
      </p:sp>
      <p:sp>
        <p:nvSpPr>
          <p:cNvPr id="5" name="step:1:fade"/>
          <p:cNvSpPr/>
          <p:nvPr/>
        </p:nvSpPr>
        <p:spPr>
          <a:xfrm>
            <a:off x="640080" y="2057400"/>
            <a:ext cx="10881360" cy="3694176"/>
          </a:xfrm>
          <a:prstGeom prst="roundRect">
            <a:avLst>
              <a:gd name="adj" fmla="val 2475"/>
            </a:avLst>
          </a:prstGeom>
          <a:solidFill>
            <a:srgbClr val="F4F5F7"/>
          </a:solidFill>
          <a:ln w="12700">
            <a:solidFill>
              <a:srgbClr val="F4F5F7"/>
            </a:solidFill>
            <a:prstDash val="solid"/>
          </a:ln>
        </p:spPr>
      </p:sp>
      <p:sp>
        <p:nvSpPr>
          <p:cNvPr id="6" name="step:1:fade"/>
          <p:cNvSpPr txBox="1"/>
          <p:nvPr/>
        </p:nvSpPr>
        <p:spPr>
          <a:xfrm>
            <a:off x="868680" y="2240280"/>
            <a:ext cx="10424160" cy="3328416"/>
          </a:xfrm>
          <a:prstGeom prst="rect">
            <a:avLst/>
          </a:prstGeom>
          <a:noFill/>
          <a:ln/>
        </p:spPr>
        <p:txBody>
          <a:bodyPr wrap="square" lIns="0" tIns="0" rIns="0" bIns="0" rtlCol="0" anchor="t"/>
          <a:lstStyle/>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GET /api/serverless/v1/groups/team-a/functions/billing</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200 OK</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"name": "billing",  "status": "Ready",</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"url": "https://billing-team-a.serverless.example",</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"image": "registry.central/team-a/billing@sha256:9f2c...",</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"scaling": { "minScale": 0, "maxScale": 10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"regions":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 "region": "central", "status": "Ready", "revision": "billing-00007"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 "region": "south",   "status": "Ready", "revision": "billing-00007" }],</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"lastBuild": { "status": "Succeeded", "finishedAt": "..." }</a:t>
            </a:r>
            <a:endParaRPr lang="en-US" sz="1200" dirty="0"/>
          </a:p>
          <a:p>
            <a:pPr indent="0" marL="0">
              <a:lnSpc>
                <a:spcPct val="118000"/>
              </a:lnSpc>
              <a:buNone/>
            </a:pPr>
            <a:r>
              <a:rPr lang="en-US" sz="1200" dirty="0">
                <a:solidFill>
                  <a:srgbClr val="1B1F2A"/>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66708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b="1" dirty="0">
                <a:solidFill>
                  <a:srgbClr val="E4572E"/>
                </a:solidFill>
                <a:latin typeface="Courier New" pitchFamily="34" charset="0"/>
                <a:ea typeface="Courier New" pitchFamily="34" charset="-122"/>
                <a:cs typeface="Courier New" pitchFamily="34" charset="-120"/>
              </a:rPr>
              <a:t># Pending → Building → Deploying → Ready, same shape every time</a:t>
            </a:r>
            <a:endParaRPr lang="en-US" sz="1200" dirty="0"/>
          </a:p>
        </p:txBody>
      </p:sp>
      <p:sp>
        <p:nvSpPr>
          <p:cNvPr id="7" name="Text 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21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Talking to the cluster</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Client certificate mTLS, always</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No kubeconfig, no service-account token</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certificate's CN is the user</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Address derived from the region name</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Every write is server-side apply</a:t>
            </a:r>
            <a:endParaRPr lang="en-US" sz="1900" dirty="0"/>
          </a:p>
        </p:txBody>
      </p:sp>
      <p:sp>
        <p:nvSpPr>
          <p:cNvPr id="15" name="auto:0:wipeL"/>
          <p:cNvSpPr/>
          <p:nvPr/>
        </p:nvSpPr>
        <p:spPr>
          <a:xfrm>
            <a:off x="8599932" y="2506218"/>
            <a:ext cx="539496" cy="0"/>
          </a:xfrm>
          <a:prstGeom prst="line">
            <a:avLst/>
          </a:prstGeom>
          <a:noFill/>
          <a:ln w="15875">
            <a:solidFill>
              <a:srgbClr val="98A2B3"/>
            </a:solidFill>
            <a:prstDash val="solid"/>
            <a:tailEnd type="triangle"/>
          </a:ln>
        </p:spPr>
      </p:sp>
      <p:sp>
        <p:nvSpPr>
          <p:cNvPr id="16" name="auto:1:wipeL"/>
          <p:cNvSpPr/>
          <p:nvPr/>
        </p:nvSpPr>
        <p:spPr>
          <a:xfrm>
            <a:off x="10218420" y="2820924"/>
            <a:ext cx="0" cy="809244"/>
          </a:xfrm>
          <a:prstGeom prst="line">
            <a:avLst/>
          </a:prstGeom>
          <a:noFill/>
          <a:ln w="15875">
            <a:solidFill>
              <a:srgbClr val="98A2B3"/>
            </a:solidFill>
            <a:prstDash val="solid"/>
            <a:tailEnd type="triangle"/>
          </a:ln>
        </p:spPr>
      </p:sp>
      <p:sp>
        <p:nvSpPr>
          <p:cNvPr id="17" name="auto:2:wipeL"/>
          <p:cNvSpPr/>
          <p:nvPr/>
        </p:nvSpPr>
        <p:spPr>
          <a:xfrm flipH="1">
            <a:off x="8599932" y="3944874"/>
            <a:ext cx="539496" cy="0"/>
          </a:xfrm>
          <a:prstGeom prst="line">
            <a:avLst/>
          </a:prstGeom>
          <a:noFill/>
          <a:ln w="15875">
            <a:solidFill>
              <a:srgbClr val="98A2B3"/>
            </a:solidFill>
            <a:prstDash val="solid"/>
            <a:tailEnd type="triangle"/>
          </a:ln>
        </p:spPr>
      </p:sp>
      <p:sp>
        <p:nvSpPr>
          <p:cNvPr id="18" name="auto:3:wipeL"/>
          <p:cNvSpPr/>
          <p:nvPr/>
        </p:nvSpPr>
        <p:spPr>
          <a:xfrm>
            <a:off x="7520940" y="4259580"/>
            <a:ext cx="1348740" cy="719328"/>
          </a:xfrm>
          <a:prstGeom prst="line">
            <a:avLst/>
          </a:prstGeom>
          <a:noFill/>
          <a:ln w="15875">
            <a:solidFill>
              <a:srgbClr val="98A2B3"/>
            </a:solidFill>
            <a:prstDash val="solid"/>
            <a:tailEnd type="triangle"/>
          </a:ln>
        </p:spPr>
      </p:sp>
      <p:sp>
        <p:nvSpPr>
          <p:cNvPr id="19" name="auto:4:wipeD"/>
          <p:cNvSpPr/>
          <p:nvPr/>
        </p:nvSpPr>
        <p:spPr>
          <a:xfrm>
            <a:off x="6441948" y="2191512"/>
            <a:ext cx="2157984" cy="629412"/>
          </a:xfrm>
          <a:prstGeom prst="roundRect">
            <a:avLst>
              <a:gd name="adj" fmla="val 11622"/>
            </a:avLst>
          </a:prstGeom>
          <a:solidFill>
            <a:srgbClr val="FFFFFF"/>
          </a:solidFill>
          <a:ln w="15875">
            <a:solidFill>
              <a:srgbClr val="0B7A75"/>
            </a:solidFill>
            <a:prstDash val="solid"/>
          </a:ln>
        </p:spPr>
      </p:sp>
      <p:sp>
        <p:nvSpPr>
          <p:cNvPr id="20" name="auto:5:wipeD"/>
          <p:cNvSpPr txBox="1"/>
          <p:nvPr/>
        </p:nvSpPr>
        <p:spPr>
          <a:xfrm>
            <a:off x="6441948" y="2191512"/>
            <a:ext cx="2157984"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cert-manager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ACME, internal CA</a:t>
            </a:r>
            <a:endParaRPr lang="en-US" sz="1200" dirty="0"/>
          </a:p>
        </p:txBody>
      </p:sp>
      <p:sp>
        <p:nvSpPr>
          <p:cNvPr id="21" name="auto:6:wipeD"/>
          <p:cNvSpPr/>
          <p:nvPr/>
        </p:nvSpPr>
        <p:spPr>
          <a:xfrm>
            <a:off x="9139428" y="2191512"/>
            <a:ext cx="2157984" cy="629412"/>
          </a:xfrm>
          <a:prstGeom prst="roundRect">
            <a:avLst>
              <a:gd name="adj" fmla="val 11622"/>
            </a:avLst>
          </a:prstGeom>
          <a:solidFill>
            <a:srgbClr val="FFFFFF"/>
          </a:solidFill>
          <a:ln w="22225">
            <a:solidFill>
              <a:srgbClr val="E4572E"/>
            </a:solidFill>
            <a:prstDash val="solid"/>
          </a:ln>
        </p:spPr>
      </p:sp>
      <p:sp>
        <p:nvSpPr>
          <p:cNvPr id="22" name="auto:7:wipeD"/>
          <p:cNvSpPr txBox="1"/>
          <p:nvPr/>
        </p:nvSpPr>
        <p:spPr>
          <a:xfrm>
            <a:off x="9139428" y="2191512"/>
            <a:ext cx="2157984"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API pod</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mounts tls.crt + tls.key</a:t>
            </a:r>
            <a:endParaRPr lang="en-US" sz="1200" dirty="0"/>
          </a:p>
        </p:txBody>
      </p:sp>
      <p:sp>
        <p:nvSpPr>
          <p:cNvPr id="23" name="auto:8:wipeD"/>
          <p:cNvSpPr/>
          <p:nvPr/>
        </p:nvSpPr>
        <p:spPr>
          <a:xfrm>
            <a:off x="9139428" y="3630168"/>
            <a:ext cx="2157984" cy="629412"/>
          </a:xfrm>
          <a:prstGeom prst="roundRect">
            <a:avLst>
              <a:gd name="adj" fmla="val 11622"/>
            </a:avLst>
          </a:prstGeom>
          <a:solidFill>
            <a:srgbClr val="FFFFFF"/>
          </a:solidFill>
          <a:ln w="15875">
            <a:solidFill>
              <a:srgbClr val="0B7A75"/>
            </a:solidFill>
            <a:prstDash val="solid"/>
          </a:ln>
        </p:spPr>
      </p:sp>
      <p:sp>
        <p:nvSpPr>
          <p:cNvPr id="24" name="auto:9:wipeD"/>
          <p:cNvSpPr txBox="1"/>
          <p:nvPr/>
        </p:nvSpPr>
        <p:spPr>
          <a:xfrm>
            <a:off x="9139428" y="3630168"/>
            <a:ext cx="2157984"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API server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api.{cluster}.{domain}:6443</a:t>
            </a:r>
            <a:endParaRPr lang="en-US" sz="1200" dirty="0"/>
          </a:p>
        </p:txBody>
      </p:sp>
      <p:sp>
        <p:nvSpPr>
          <p:cNvPr id="25" name="auto:10:wipeD"/>
          <p:cNvSpPr/>
          <p:nvPr/>
        </p:nvSpPr>
        <p:spPr>
          <a:xfrm>
            <a:off x="6441948" y="3630168"/>
            <a:ext cx="2157984" cy="629412"/>
          </a:xfrm>
          <a:prstGeom prst="roundRect">
            <a:avLst>
              <a:gd name="adj" fmla="val 11622"/>
            </a:avLst>
          </a:prstGeom>
          <a:solidFill>
            <a:srgbClr val="FFFFFF"/>
          </a:solidFill>
          <a:ln w="15875">
            <a:solidFill>
              <a:srgbClr val="0B7A75"/>
            </a:solidFill>
            <a:prstDash val="solid"/>
          </a:ln>
        </p:spPr>
      </p:sp>
      <p:sp>
        <p:nvSpPr>
          <p:cNvPr id="26" name="auto:11:wipeD"/>
          <p:cNvSpPr txBox="1"/>
          <p:nvPr/>
        </p:nvSpPr>
        <p:spPr>
          <a:xfrm>
            <a:off x="6441948" y="3630168"/>
            <a:ext cx="2157984"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RBAC</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role in the tenant namespace</a:t>
            </a:r>
            <a:endParaRPr lang="en-US" sz="1200" dirty="0"/>
          </a:p>
        </p:txBody>
      </p:sp>
      <p:sp>
        <p:nvSpPr>
          <p:cNvPr id="27" name="auto:12:wipeD"/>
          <p:cNvSpPr/>
          <p:nvPr/>
        </p:nvSpPr>
        <p:spPr>
          <a:xfrm>
            <a:off x="7341108" y="4978908"/>
            <a:ext cx="3057144" cy="557479"/>
          </a:xfrm>
          <a:prstGeom prst="roundRect">
            <a:avLst>
              <a:gd name="adj" fmla="val 13122"/>
            </a:avLst>
          </a:prstGeom>
          <a:solidFill>
            <a:srgbClr val="FFFFFF"/>
          </a:solidFill>
          <a:ln w="15875">
            <a:solidFill>
              <a:srgbClr val="0B7A75"/>
            </a:solidFill>
            <a:prstDash val="solid"/>
          </a:ln>
        </p:spPr>
      </p:sp>
      <p:sp>
        <p:nvSpPr>
          <p:cNvPr id="28" name="auto:13:wipeD"/>
          <p:cNvSpPr txBox="1"/>
          <p:nvPr/>
        </p:nvSpPr>
        <p:spPr>
          <a:xfrm>
            <a:off x="7341108" y="4978908"/>
            <a:ext cx="3057144" cy="557479"/>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workload applied</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server-side apply, with force</a:t>
            </a:r>
            <a:endParaRPr lang="en-US" sz="1200" dirty="0"/>
          </a:p>
        </p:txBody>
      </p:sp>
      <p:sp>
        <p:nvSpPr>
          <p:cNvPr id="29" name="Text 2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22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cond evt="onBegin" delay="0">
                          <p:tn val="2"/>
                        </p:cond>
                      </p:stCondLst>
                      <p:childTnLst>
                        <p:par>
                          <p:cTn id="46"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left)">
                                      <p:cBhvr>
                                        <p:cTn id="4" dur="350"/>
                                        <p:tgtEl>
                                          <p:spTgt spid="15"/>
                                        </p:tgtEl>
                                      </p:cBhvr>
                                    </p:animEffect>
                                  </p:childTnLst>
                                </p:cTn>
                              </p:par>
                              <p:par>
                                <p:cTn id="8" presetID="22" presetClass="entr" presetSubtype="8" fill="hold" grpId="0" nodeType="withEffect">
                                  <p:stCondLst>
                                    <p:cond delay="8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350"/>
                                        <p:tgtEl>
                                          <p:spTgt spid="16"/>
                                        </p:tgtEl>
                                      </p:cBhvr>
                                    </p:animEffect>
                                  </p:childTnLst>
                                </p:cTn>
                              </p:par>
                              <p:par>
                                <p:cTn id="11" presetID="22" presetClass="entr" presetSubtype="8" fill="hold" grpId="0" nodeType="withEffect">
                                  <p:stCondLst>
                                    <p:cond delay="16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350"/>
                                        <p:tgtEl>
                                          <p:spTgt spid="17"/>
                                        </p:tgtEl>
                                      </p:cBhvr>
                                    </p:animEffect>
                                  </p:childTnLst>
                                </p:cTn>
                              </p:par>
                              <p:par>
                                <p:cTn id="14" presetID="22" presetClass="entr" presetSubtype="8" fill="hold" grpId="0" nodeType="withEffect">
                                  <p:stCondLst>
                                    <p:cond delay="24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350"/>
                                        <p:tgtEl>
                                          <p:spTgt spid="18"/>
                                        </p:tgtEl>
                                      </p:cBhvr>
                                    </p:animEffect>
                                  </p:childTnLst>
                                </p:cTn>
                              </p:par>
                              <p:par>
                                <p:cTn id="17" presetID="22" presetClass="entr" presetSubtype="4" fill="hold" grpId="0" nodeType="withEffect">
                                  <p:stCondLst>
                                    <p:cond delay="32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350"/>
                                        <p:tgtEl>
                                          <p:spTgt spid="19"/>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350"/>
                                        <p:tgtEl>
                                          <p:spTgt spid="20"/>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350"/>
                                        <p:tgtEl>
                                          <p:spTgt spid="21"/>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350"/>
                                        <p:tgtEl>
                                          <p:spTgt spid="22"/>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350"/>
                                        <p:tgtEl>
                                          <p:spTgt spid="23"/>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4"/>
                                        </p:tgtEl>
                                        <p:attrNameLst>
                                          <p:attrName>style.visibility</p:attrName>
                                        </p:attrNameLst>
                                      </p:cBhvr>
                                      <p:to>
                                        <p:strVal val="visible"/>
                                      </p:to>
                                    </p:set>
                                    <p:animEffect transition="in" filter="wipe(down)">
                                      <p:cBhvr>
                                        <p:cTn id="31" dur="350"/>
                                        <p:tgtEl>
                                          <p:spTgt spid="24"/>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5"/>
                                        </p:tgtEl>
                                        <p:attrNameLst>
                                          <p:attrName>style.visibility</p:attrName>
                                        </p:attrNameLst>
                                      </p:cBhvr>
                                      <p:to>
                                        <p:strVal val="visible"/>
                                      </p:to>
                                    </p:set>
                                    <p:animEffect transition="in" filter="wipe(down)">
                                      <p:cBhvr>
                                        <p:cTn id="34" dur="350"/>
                                        <p:tgtEl>
                                          <p:spTgt spid="25"/>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350"/>
                                        <p:tgtEl>
                                          <p:spTgt spid="26"/>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350"/>
                                        <p:tgtEl>
                                          <p:spTgt spid="27"/>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350"/>
                                        <p:tgtEl>
                                          <p:spTgt spid="28"/>
                                        </p:tgtEl>
                                      </p:cBhvr>
                                    </p:animEffect>
                                  </p:childTnLst>
                                </p:cTn>
                              </p:par>
                            </p:childTnLst>
                          </p:cTn>
                        </p:par>
                      </p:childTnLst>
                    </p:cTn>
                  </p:par>
                  <p:par>
                    <p:cTn id="53" fill="hold">
                      <p:stCondLst>
                        <p:cond delay="indefinite"/>
                      </p:stCondLst>
                      <p:childTnLst>
                        <p:par>
                          <p:cTn id="54" fill="hold">
                            <p:stCondLst>
                              <p:cond delay="0"/>
                            </p:stCondLst>
                            <p:childTnLst>
                              <p:par>
                                <p:cTn id="49" presetID="22" presetClass="entr" presetSubtype="8"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350"/>
                                        <p:tgtEl>
                                          <p:spTgt spid="5"/>
                                        </p:tgtEl>
                                      </p:cBhvr>
                                    </p:animEffect>
                                  </p:childTnLst>
                                </p:cTn>
                              </p:par>
                              <p:par>
                                <p:cTn id="52" presetID="22" presetClass="entr" presetSubtype="8"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350"/>
                                        <p:tgtEl>
                                          <p:spTgt spid="6"/>
                                        </p:tgtEl>
                                      </p:cBhvr>
                                    </p:animEffect>
                                  </p:childTnLst>
                                </p:cTn>
                              </p:par>
                            </p:childTnLst>
                          </p:cTn>
                        </p:par>
                      </p:childTnLst>
                    </p:cTn>
                  </p:par>
                  <p:par>
                    <p:cTn id="61" fill="hold">
                      <p:stCondLst>
                        <p:cond delay="indefinite"/>
                      </p:stCondLst>
                      <p:childTnLst>
                        <p:par>
                          <p:cTn id="62" fill="hold">
                            <p:stCondLst>
                              <p:cond delay="0"/>
                            </p:stCondLst>
                            <p:childTnLst>
                              <p:par>
                                <p:cTn id="57" presetID="22" presetClass="entr" presetSubtype="8"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350"/>
                                        <p:tgtEl>
                                          <p:spTgt spid="7"/>
                                        </p:tgtEl>
                                      </p:cBhvr>
                                    </p:animEffect>
                                  </p:childTnLst>
                                </p:cTn>
                              </p:par>
                              <p:par>
                                <p:cTn id="60" presetID="22" presetClass="entr" presetSubtype="8"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350"/>
                                        <p:tgtEl>
                                          <p:spTgt spid="8"/>
                                        </p:tgtEl>
                                      </p:cBhvr>
                                    </p:animEffect>
                                  </p:childTnLst>
                                </p:cTn>
                              </p:par>
                            </p:childTnLst>
                          </p:cTn>
                        </p:par>
                      </p:childTnLst>
                    </p:cTn>
                  </p:par>
                  <p:par>
                    <p:cTn id="69" fill="hold">
                      <p:stCondLst>
                        <p:cond delay="indefinite"/>
                      </p:stCondLst>
                      <p:childTnLst>
                        <p:par>
                          <p:cTn id="70" fill="hold">
                            <p:stCondLst>
                              <p:cond delay="0"/>
                            </p:stCondLst>
                            <p:childTnLst>
                              <p:par>
                                <p:cTn id="65" presetID="22" presetClass="entr" presetSubtype="8" fill="hold" grpId="0"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350"/>
                                        <p:tgtEl>
                                          <p:spTgt spid="9"/>
                                        </p:tgtEl>
                                      </p:cBhvr>
                                    </p:animEffect>
                                  </p:childTnLst>
                                </p:cTn>
                              </p:par>
                              <p:par>
                                <p:cTn id="68" presetID="22" presetClass="entr" presetSubtype="8"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left)">
                                      <p:cBhvr>
                                        <p:cTn id="67" dur="350"/>
                                        <p:tgtEl>
                                          <p:spTgt spid="10"/>
                                        </p:tgtEl>
                                      </p:cBhvr>
                                    </p:animEffect>
                                  </p:childTnLst>
                                </p:cTn>
                              </p:par>
                            </p:childTnLst>
                          </p:cTn>
                        </p:par>
                      </p:childTnLst>
                    </p:cTn>
                  </p:par>
                  <p:par>
                    <p:cTn id="77" fill="hold">
                      <p:stCondLst>
                        <p:cond delay="indefinite"/>
                      </p:stCondLst>
                      <p:childTnLst>
                        <p:par>
                          <p:cTn id="78"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left)">
                                      <p:cBhvr>
                                        <p:cTn id="72" dur="350"/>
                                        <p:tgtEl>
                                          <p:spTgt spid="11"/>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left)">
                                      <p:cBhvr>
                                        <p:cTn id="75" dur="350"/>
                                        <p:tgtEl>
                                          <p:spTgt spid="12"/>
                                        </p:tgtEl>
                                      </p:cBhvr>
                                    </p:animEffect>
                                  </p:childTnLst>
                                </p:cTn>
                              </p:par>
                            </p:childTnLst>
                          </p:cTn>
                        </p:par>
                      </p:childTnLst>
                    </p:cTn>
                  </p:par>
                  <p:par>
                    <p:cTn id="85" fill="hold">
                      <p:stCondLst>
                        <p:cond delay="indefinite"/>
                      </p:stCondLst>
                      <p:childTnLst>
                        <p:par>
                          <p:cTn id="86" fill="hold">
                            <p:stCondLst>
                              <p:cond delay="0"/>
                            </p:stCondLst>
                            <p:childTnLst>
                              <p:par>
                                <p:cTn id="81" presetID="22" presetClass="entr" presetSubtype="8"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350"/>
                                        <p:tgtEl>
                                          <p:spTgt spid="13"/>
                                        </p:tgtEl>
                                      </p:cBhvr>
                                    </p:animEffect>
                                  </p:childTnLst>
                                </p:cTn>
                              </p:par>
                              <p:par>
                                <p:cTn id="84" presetID="22" presetClass="entr" presetSubtype="8" fill="hold" grpId="0"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left)">
                                      <p:cBhvr>
                                        <p:cTn id="83"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Active/active, two regions</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API runs in both regions</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deploy fans out to both</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No leader election, deterministic specs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region builds what it runs</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State lives in the Knative Service</a:t>
            </a:r>
            <a:endParaRPr lang="en-US" sz="1900" dirty="0"/>
          </a:p>
        </p:txBody>
      </p:sp>
      <p:sp>
        <p:nvSpPr>
          <p:cNvPr id="15" name="step:6:wipeL"/>
          <p:cNvSpPr/>
          <p:nvPr/>
        </p:nvSpPr>
        <p:spPr>
          <a:xfrm flipH="1">
            <a:off x="7520940" y="2641092"/>
            <a:ext cx="1348740" cy="719328"/>
          </a:xfrm>
          <a:prstGeom prst="line">
            <a:avLst/>
          </a:prstGeom>
          <a:noFill/>
          <a:ln w="15875">
            <a:solidFill>
              <a:srgbClr val="98A2B3"/>
            </a:solidFill>
            <a:prstDash val="solid"/>
            <a:tailEnd type="triangle"/>
          </a:ln>
        </p:spPr>
      </p:sp>
      <p:sp>
        <p:nvSpPr>
          <p:cNvPr id="16" name="step:6:wipeL"/>
          <p:cNvSpPr/>
          <p:nvPr/>
        </p:nvSpPr>
        <p:spPr>
          <a:xfrm>
            <a:off x="8869680" y="2641092"/>
            <a:ext cx="1348740" cy="719328"/>
          </a:xfrm>
          <a:prstGeom prst="line">
            <a:avLst/>
          </a:prstGeom>
          <a:noFill/>
          <a:ln w="15875">
            <a:solidFill>
              <a:srgbClr val="98A2B3"/>
            </a:solidFill>
            <a:prstDash val="solid"/>
            <a:tailEnd type="triangle"/>
          </a:ln>
        </p:spPr>
      </p:sp>
      <p:sp>
        <p:nvSpPr>
          <p:cNvPr id="17" name="step:6:wipeL"/>
          <p:cNvSpPr/>
          <p:nvPr/>
        </p:nvSpPr>
        <p:spPr>
          <a:xfrm>
            <a:off x="8689848" y="3899916"/>
            <a:ext cx="359664" cy="0"/>
          </a:xfrm>
          <a:prstGeom prst="line">
            <a:avLst/>
          </a:prstGeom>
          <a:noFill/>
          <a:ln w="15875">
            <a:solidFill>
              <a:srgbClr val="98A2B3"/>
            </a:solidFill>
            <a:prstDash val="dash"/>
            <a:tailEnd type="triangle"/>
          </a:ln>
        </p:spPr>
      </p:sp>
      <p:sp>
        <p:nvSpPr>
          <p:cNvPr id="18" name="step:6:wipeL"/>
          <p:cNvSpPr/>
          <p:nvPr/>
        </p:nvSpPr>
        <p:spPr>
          <a:xfrm>
            <a:off x="7520940" y="4439412"/>
            <a:ext cx="1348740" cy="629412"/>
          </a:xfrm>
          <a:prstGeom prst="line">
            <a:avLst/>
          </a:prstGeom>
          <a:noFill/>
          <a:ln w="15875">
            <a:solidFill>
              <a:srgbClr val="98A2B3"/>
            </a:solidFill>
            <a:prstDash val="dash"/>
            <a:tailEnd type="triangle"/>
          </a:ln>
        </p:spPr>
      </p:sp>
      <p:sp>
        <p:nvSpPr>
          <p:cNvPr id="19" name="step:6:wipeL"/>
          <p:cNvSpPr/>
          <p:nvPr/>
        </p:nvSpPr>
        <p:spPr>
          <a:xfrm flipH="1">
            <a:off x="8869680" y="4439412"/>
            <a:ext cx="1348740" cy="629412"/>
          </a:xfrm>
          <a:prstGeom prst="line">
            <a:avLst/>
          </a:prstGeom>
          <a:noFill/>
          <a:ln w="15875">
            <a:solidFill>
              <a:srgbClr val="98A2B3"/>
            </a:solidFill>
            <a:prstDash val="dash"/>
            <a:tailEnd type="triangle"/>
          </a:ln>
        </p:spPr>
      </p:sp>
      <p:sp>
        <p:nvSpPr>
          <p:cNvPr id="20" name="step:6:wipeD"/>
          <p:cNvSpPr/>
          <p:nvPr/>
        </p:nvSpPr>
        <p:spPr>
          <a:xfrm>
            <a:off x="7520940" y="2101596"/>
            <a:ext cx="2697480" cy="539496"/>
          </a:xfrm>
          <a:prstGeom prst="roundRect">
            <a:avLst>
              <a:gd name="adj" fmla="val 13559"/>
            </a:avLst>
          </a:prstGeom>
          <a:solidFill>
            <a:srgbClr val="FFFFFF"/>
          </a:solidFill>
          <a:ln w="22225">
            <a:solidFill>
              <a:srgbClr val="E4572E"/>
            </a:solidFill>
            <a:prstDash val="solid"/>
          </a:ln>
        </p:spPr>
      </p:sp>
      <p:sp>
        <p:nvSpPr>
          <p:cNvPr id="21" name="step:6:wipeD"/>
          <p:cNvSpPr txBox="1"/>
          <p:nvPr/>
        </p:nvSpPr>
        <p:spPr>
          <a:xfrm>
            <a:off x="7520940" y="2101596"/>
            <a:ext cx="2697480" cy="539496"/>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DNS</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*.serverless.{domain} → active region</a:t>
            </a:r>
            <a:endParaRPr lang="en-US" sz="1200" dirty="0"/>
          </a:p>
        </p:txBody>
      </p:sp>
      <p:sp>
        <p:nvSpPr>
          <p:cNvPr id="22" name="step:6:wipeD"/>
          <p:cNvSpPr/>
          <p:nvPr/>
        </p:nvSpPr>
        <p:spPr>
          <a:xfrm>
            <a:off x="6352032" y="3360420"/>
            <a:ext cx="2337816" cy="1078992"/>
          </a:xfrm>
          <a:prstGeom prst="roundRect">
            <a:avLst>
              <a:gd name="adj" fmla="val 6780"/>
            </a:avLst>
          </a:prstGeom>
          <a:solidFill>
            <a:srgbClr val="FFFFFF"/>
          </a:solidFill>
          <a:ln w="15875">
            <a:solidFill>
              <a:srgbClr val="0B7A75"/>
            </a:solidFill>
            <a:prstDash val="solid"/>
          </a:ln>
        </p:spPr>
      </p:sp>
      <p:sp>
        <p:nvSpPr>
          <p:cNvPr id="23" name="step:6:wipeD"/>
          <p:cNvSpPr txBox="1"/>
          <p:nvPr/>
        </p:nvSpPr>
        <p:spPr>
          <a:xfrm>
            <a:off x="6352032" y="3360420"/>
            <a:ext cx="2337816" cy="107899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central</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API · controllers · registry · workloads</a:t>
            </a:r>
            <a:endParaRPr lang="en-US" sz="1200" dirty="0"/>
          </a:p>
        </p:txBody>
      </p:sp>
      <p:sp>
        <p:nvSpPr>
          <p:cNvPr id="24" name="step:6:wipeD"/>
          <p:cNvSpPr/>
          <p:nvPr/>
        </p:nvSpPr>
        <p:spPr>
          <a:xfrm>
            <a:off x="9049512" y="3360420"/>
            <a:ext cx="2337816" cy="1078992"/>
          </a:xfrm>
          <a:prstGeom prst="roundRect">
            <a:avLst>
              <a:gd name="adj" fmla="val 6780"/>
            </a:avLst>
          </a:prstGeom>
          <a:solidFill>
            <a:srgbClr val="FFFFFF"/>
          </a:solidFill>
          <a:ln w="15875">
            <a:solidFill>
              <a:srgbClr val="0B7A75"/>
            </a:solidFill>
            <a:prstDash val="solid"/>
          </a:ln>
        </p:spPr>
      </p:sp>
      <p:sp>
        <p:nvSpPr>
          <p:cNvPr id="25" name="step:6:wipeD"/>
          <p:cNvSpPr txBox="1"/>
          <p:nvPr/>
        </p:nvSpPr>
        <p:spPr>
          <a:xfrm>
            <a:off x="9049512" y="3360420"/>
            <a:ext cx="2337816" cy="107899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south</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API · controllers · registry · workloads</a:t>
            </a:r>
            <a:endParaRPr lang="en-US" sz="1200" dirty="0"/>
          </a:p>
        </p:txBody>
      </p:sp>
      <p:sp>
        <p:nvSpPr>
          <p:cNvPr id="26" name="step:6:wipeD"/>
          <p:cNvSpPr/>
          <p:nvPr/>
        </p:nvSpPr>
        <p:spPr>
          <a:xfrm>
            <a:off x="7251192" y="5068824"/>
            <a:ext cx="3236976" cy="503530"/>
          </a:xfrm>
          <a:prstGeom prst="roundRect">
            <a:avLst>
              <a:gd name="adj" fmla="val 14528"/>
            </a:avLst>
          </a:prstGeom>
          <a:solidFill>
            <a:srgbClr val="FFFFFF"/>
          </a:solidFill>
          <a:ln w="15875">
            <a:solidFill>
              <a:srgbClr val="0B7A75"/>
            </a:solidFill>
            <a:prstDash val="solid"/>
          </a:ln>
        </p:spPr>
      </p:sp>
      <p:sp>
        <p:nvSpPr>
          <p:cNvPr id="27" name="step:6:wipeD"/>
          <p:cNvSpPr txBox="1"/>
          <p:nvPr/>
        </p:nvSpPr>
        <p:spPr>
          <a:xfrm>
            <a:off x="7251192" y="5068824"/>
            <a:ext cx="3236976" cy="503530"/>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Knative Service = the truth</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no database, no replication</a:t>
            </a:r>
            <a:endParaRPr lang="en-US" sz="1200" dirty="0"/>
          </a:p>
        </p:txBody>
      </p:sp>
      <p:sp>
        <p:nvSpPr>
          <p:cNvPr id="28" name="Text 25"/>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23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82" fill="hold">
                      <p:stCondLst>
                        <p:cond delay="indefinite"/>
                      </p:stCondLst>
                      <p:childTnLst>
                        <p:par>
                          <p:cTn id="83" fill="hold">
                            <p:stCondLst>
                              <p:cond delay="0"/>
                            </p:stCondLst>
                            <p:childTnLst>
                              <p:par>
                                <p:cTn id="45" presetID="2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350"/>
                                        <p:tgtEl>
                                          <p:spTgt spid="15"/>
                                        </p:tgtEl>
                                      </p:cBhvr>
                                    </p:animEffect>
                                  </p:childTnLst>
                                </p:cTn>
                              </p:par>
                              <p:par>
                                <p:cTn id="48" presetID="2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350"/>
                                        <p:tgtEl>
                                          <p:spTgt spid="16"/>
                                        </p:tgtEl>
                                      </p:cBhvr>
                                    </p:animEffect>
                                  </p:childTnLst>
                                </p:cTn>
                              </p:par>
                              <p:par>
                                <p:cTn id="51"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350"/>
                                        <p:tgtEl>
                                          <p:spTgt spid="17"/>
                                        </p:tgtEl>
                                      </p:cBhvr>
                                    </p:animEffect>
                                  </p:childTnLst>
                                </p:cTn>
                              </p:par>
                              <p:par>
                                <p:cTn id="54"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350"/>
                                        <p:tgtEl>
                                          <p:spTgt spid="18"/>
                                        </p:tgtEl>
                                      </p:cBhvr>
                                    </p:animEffect>
                                  </p:childTnLst>
                                </p:cTn>
                              </p:par>
                              <p:par>
                                <p:cTn id="57"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350"/>
                                        <p:tgtEl>
                                          <p:spTgt spid="19"/>
                                        </p:tgtEl>
                                      </p:cBhvr>
                                    </p:animEffect>
                                  </p:childTnLst>
                                </p:cTn>
                              </p:par>
                              <p:par>
                                <p:cTn id="60" presetID="22" presetClass="entr" presetSubtype="4"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down)">
                                      <p:cBhvr>
                                        <p:cTn id="59" dur="350"/>
                                        <p:tgtEl>
                                          <p:spTgt spid="20"/>
                                        </p:tgtEl>
                                      </p:cBhvr>
                                    </p:animEffect>
                                  </p:childTnLst>
                                </p:cTn>
                              </p:par>
                              <p:par>
                                <p:cTn id="63" presetID="22" presetClass="entr" presetSubtype="4"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350"/>
                                        <p:tgtEl>
                                          <p:spTgt spid="21"/>
                                        </p:tgtEl>
                                      </p:cBhvr>
                                    </p:animEffect>
                                  </p:childTnLst>
                                </p:cTn>
                              </p:par>
                              <p:par>
                                <p:cTn id="66" presetID="2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down)">
                                      <p:cBhvr>
                                        <p:cTn id="65" dur="350"/>
                                        <p:tgtEl>
                                          <p:spTgt spid="22"/>
                                        </p:tgtEl>
                                      </p:cBhvr>
                                    </p:animEffect>
                                  </p:childTnLst>
                                </p:cTn>
                              </p:par>
                              <p:par>
                                <p:cTn id="69" presetID="2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down)">
                                      <p:cBhvr>
                                        <p:cTn id="68" dur="350"/>
                                        <p:tgtEl>
                                          <p:spTgt spid="23"/>
                                        </p:tgtEl>
                                      </p:cBhvr>
                                    </p:animEffect>
                                  </p:childTnLst>
                                </p:cTn>
                              </p:par>
                              <p:par>
                                <p:cTn id="72" presetID="22" presetClass="entr" presetSubtype="4"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down)">
                                      <p:cBhvr>
                                        <p:cTn id="71" dur="350"/>
                                        <p:tgtEl>
                                          <p:spTgt spid="24"/>
                                        </p:tgtEl>
                                      </p:cBhvr>
                                    </p:animEffect>
                                  </p:childTnLst>
                                </p:cTn>
                              </p:par>
                              <p:par>
                                <p:cTn id="75" presetID="22" presetClass="entr" presetSubtype="4"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down)">
                                      <p:cBhvr>
                                        <p:cTn id="74" dur="350"/>
                                        <p:tgtEl>
                                          <p:spTgt spid="25"/>
                                        </p:tgtEl>
                                      </p:cBhvr>
                                    </p:animEffect>
                                  </p:childTnLst>
                                </p:cTn>
                              </p:par>
                              <p:par>
                                <p:cTn id="78" presetID="22" presetClass="entr" presetSubtype="4"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down)">
                                      <p:cBhvr>
                                        <p:cTn id="77" dur="350"/>
                                        <p:tgtEl>
                                          <p:spTgt spid="26"/>
                                        </p:tgtEl>
                                      </p:cBhvr>
                                    </p:animEffect>
                                  </p:childTnLst>
                                </p:cTn>
                              </p:par>
                              <p:par>
                                <p:cTn id="81" presetID="22" presetClass="entr" presetSubtype="4"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down)">
                                      <p:cBhvr>
                                        <p:cTn id="80"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THE API</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tenant controller</a:t>
            </a:r>
            <a:endParaRPr lang="en-US" sz="3800" dirty="0"/>
          </a:p>
        </p:txBody>
      </p:sp>
      <p:sp>
        <p:nvSpPr>
          <p:cNvPr id="5" name="step:1:wipeL"/>
          <p:cNvSpPr/>
          <p:nvPr/>
        </p:nvSpPr>
        <p:spPr>
          <a:xfrm>
            <a:off x="640080" y="2366772"/>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A namespace per SSO group</a:t>
            </a:r>
            <a:endParaRPr lang="en-US" sz="1700" dirty="0"/>
          </a:p>
        </p:txBody>
      </p:sp>
      <p:sp>
        <p:nvSpPr>
          <p:cNvPr id="7" name="step:2:wipeL"/>
          <p:cNvSpPr/>
          <p:nvPr/>
        </p:nvSpPr>
        <p:spPr>
          <a:xfrm>
            <a:off x="640080" y="3022092"/>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5844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Separate process, separate certificate</a:t>
            </a:r>
            <a:endParaRPr lang="en-US" sz="1700" dirty="0"/>
          </a:p>
        </p:txBody>
      </p:sp>
      <p:sp>
        <p:nvSpPr>
          <p:cNvPr id="9" name="step:3:wipeL"/>
          <p:cNvSpPr/>
          <p:nvPr/>
        </p:nvSpPr>
        <p:spPr>
          <a:xfrm>
            <a:off x="640080" y="367741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376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API never creates namespaces</a:t>
            </a:r>
            <a:endParaRPr lang="en-US" sz="1700" dirty="0"/>
          </a:p>
        </p:txBody>
      </p:sp>
      <p:sp>
        <p:nvSpPr>
          <p:cNvPr id="11" name="step:4:wipeL"/>
          <p:cNvSpPr/>
          <p:nvPr/>
        </p:nvSpPr>
        <p:spPr>
          <a:xfrm>
            <a:off x="640080" y="4332732"/>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6908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Provision before every deploy, fail closed</a:t>
            </a:r>
            <a:endParaRPr lang="en-US" sz="1700" dirty="0"/>
          </a:p>
        </p:txBody>
      </p:sp>
      <p:sp>
        <p:nvSpPr>
          <p:cNvPr id="13" name="step:5:wipeL"/>
          <p:cNvSpPr/>
          <p:nvPr/>
        </p:nvSpPr>
        <p:spPr>
          <a:xfrm>
            <a:off x="640080" y="4988052"/>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2440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Reconcile the local cluster only</a:t>
            </a:r>
            <a:endParaRPr lang="en-US" sz="1700" dirty="0"/>
          </a:p>
        </p:txBody>
      </p:sp>
      <p:sp>
        <p:nvSpPr>
          <p:cNvPr id="15" name="step:6:wipeL"/>
          <p:cNvSpPr/>
          <p:nvPr/>
        </p:nvSpPr>
        <p:spPr>
          <a:xfrm>
            <a:off x="640080" y="5643372"/>
            <a:ext cx="118872" cy="118872"/>
          </a:xfrm>
          <a:prstGeom prst="rect">
            <a:avLst/>
          </a:prstGeom>
          <a:solidFill>
            <a:srgbClr val="E4572E"/>
          </a:solidFill>
          <a:ln w="12700">
            <a:solidFill>
              <a:srgbClr val="E4572E"/>
            </a:solidFill>
            <a:prstDash val="solid"/>
          </a:ln>
        </p:spPr>
      </p:sp>
      <p:sp>
        <p:nvSpPr>
          <p:cNvPr id="16" name="step:6:wipeL"/>
          <p:cNvSpPr txBox="1"/>
          <p:nvPr/>
        </p:nvSpPr>
        <p:spPr>
          <a:xfrm>
            <a:off x="960120" y="53797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Garbage-collect empty namespaces, opt-in</a:t>
            </a:r>
            <a:endParaRPr lang="en-US" sz="1700" dirty="0"/>
          </a:p>
        </p:txBody>
      </p:sp>
      <p:sp>
        <p:nvSpPr>
          <p:cNvPr id="17" name="auto:0:wipeL"/>
          <p:cNvSpPr/>
          <p:nvPr/>
        </p:nvSpPr>
        <p:spPr>
          <a:xfrm>
            <a:off x="8330184" y="2578151"/>
            <a:ext cx="899160" cy="0"/>
          </a:xfrm>
          <a:prstGeom prst="line">
            <a:avLst/>
          </a:prstGeom>
          <a:noFill/>
          <a:ln w="15875">
            <a:solidFill>
              <a:srgbClr val="98A2B3"/>
            </a:solidFill>
            <a:prstDash val="solid"/>
            <a:tailEnd type="triangle"/>
          </a:ln>
        </p:spPr>
      </p:sp>
      <p:sp>
        <p:nvSpPr>
          <p:cNvPr id="18" name="auto:1:wipeL"/>
          <p:cNvSpPr/>
          <p:nvPr/>
        </p:nvSpPr>
        <p:spPr>
          <a:xfrm flipH="1">
            <a:off x="7520940" y="2874874"/>
            <a:ext cx="2787396" cy="935126"/>
          </a:xfrm>
          <a:prstGeom prst="line">
            <a:avLst/>
          </a:prstGeom>
          <a:noFill/>
          <a:ln w="15875">
            <a:solidFill>
              <a:srgbClr val="98A2B3"/>
            </a:solidFill>
            <a:prstDash val="solid"/>
            <a:tailEnd type="triangle"/>
          </a:ln>
        </p:spPr>
      </p:sp>
      <p:sp>
        <p:nvSpPr>
          <p:cNvPr id="19" name="auto:2:wipeL"/>
          <p:cNvSpPr/>
          <p:nvPr/>
        </p:nvSpPr>
        <p:spPr>
          <a:xfrm flipH="1">
            <a:off x="10218420" y="2874874"/>
            <a:ext cx="89916" cy="935126"/>
          </a:xfrm>
          <a:prstGeom prst="line">
            <a:avLst/>
          </a:prstGeom>
          <a:noFill/>
          <a:ln w="15875">
            <a:solidFill>
              <a:srgbClr val="98A2B3"/>
            </a:solidFill>
            <a:prstDash val="solid"/>
            <a:tailEnd type="triangle"/>
          </a:ln>
        </p:spPr>
      </p:sp>
      <p:sp>
        <p:nvSpPr>
          <p:cNvPr id="20" name="auto:3:wipeL"/>
          <p:cNvSpPr/>
          <p:nvPr/>
        </p:nvSpPr>
        <p:spPr>
          <a:xfrm flipV="1">
            <a:off x="8869680" y="2874874"/>
            <a:ext cx="1438656" cy="2193950"/>
          </a:xfrm>
          <a:prstGeom prst="line">
            <a:avLst/>
          </a:prstGeom>
          <a:noFill/>
          <a:ln w="15875">
            <a:solidFill>
              <a:srgbClr val="98A2B3"/>
            </a:solidFill>
            <a:prstDash val="dash"/>
            <a:tailEnd type="triangle"/>
          </a:ln>
        </p:spPr>
      </p:sp>
      <p:sp>
        <p:nvSpPr>
          <p:cNvPr id="21" name="auto:4:wipeD"/>
          <p:cNvSpPr/>
          <p:nvPr/>
        </p:nvSpPr>
        <p:spPr>
          <a:xfrm>
            <a:off x="6352032" y="2281428"/>
            <a:ext cx="1978152" cy="593446"/>
          </a:xfrm>
          <a:prstGeom prst="roundRect">
            <a:avLst>
              <a:gd name="adj" fmla="val 12327"/>
            </a:avLst>
          </a:prstGeom>
          <a:solidFill>
            <a:srgbClr val="FFFFFF"/>
          </a:solidFill>
          <a:ln w="15875">
            <a:solidFill>
              <a:srgbClr val="0B7A75"/>
            </a:solidFill>
            <a:prstDash val="solid"/>
          </a:ln>
        </p:spPr>
      </p:sp>
      <p:sp>
        <p:nvSpPr>
          <p:cNvPr id="22" name="auto:5:wipeD"/>
          <p:cNvSpPr txBox="1"/>
          <p:nvPr/>
        </p:nvSpPr>
        <p:spPr>
          <a:xfrm>
            <a:off x="6352032" y="2281428"/>
            <a:ext cx="1978152" cy="593446"/>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API</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writes workloads only</a:t>
            </a:r>
            <a:endParaRPr lang="en-US" sz="1200" dirty="0"/>
          </a:p>
        </p:txBody>
      </p:sp>
      <p:sp>
        <p:nvSpPr>
          <p:cNvPr id="23" name="auto:6:wipeD"/>
          <p:cNvSpPr/>
          <p:nvPr/>
        </p:nvSpPr>
        <p:spPr>
          <a:xfrm>
            <a:off x="9229344" y="2281428"/>
            <a:ext cx="2157984" cy="593446"/>
          </a:xfrm>
          <a:prstGeom prst="roundRect">
            <a:avLst>
              <a:gd name="adj" fmla="val 12327"/>
            </a:avLst>
          </a:prstGeom>
          <a:solidFill>
            <a:srgbClr val="FFFFFF"/>
          </a:solidFill>
          <a:ln w="22225">
            <a:solidFill>
              <a:srgbClr val="E4572E"/>
            </a:solidFill>
            <a:prstDash val="solid"/>
          </a:ln>
        </p:spPr>
      </p:sp>
      <p:sp>
        <p:nvSpPr>
          <p:cNvPr id="24" name="auto:7:wipeD"/>
          <p:cNvSpPr txBox="1"/>
          <p:nvPr/>
        </p:nvSpPr>
        <p:spPr>
          <a:xfrm>
            <a:off x="9229344" y="2281428"/>
            <a:ext cx="2157984" cy="593446"/>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tenant controller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namespaces, RBAC, policies</a:t>
            </a:r>
            <a:endParaRPr lang="en-US" sz="1200" dirty="0"/>
          </a:p>
        </p:txBody>
      </p:sp>
      <p:sp>
        <p:nvSpPr>
          <p:cNvPr id="25" name="auto:8:wipeD"/>
          <p:cNvSpPr/>
          <p:nvPr/>
        </p:nvSpPr>
        <p:spPr>
          <a:xfrm>
            <a:off x="6352032" y="3810000"/>
            <a:ext cx="2337816" cy="809244"/>
          </a:xfrm>
          <a:prstGeom prst="roundRect">
            <a:avLst>
              <a:gd name="adj" fmla="val 9040"/>
            </a:avLst>
          </a:prstGeom>
          <a:solidFill>
            <a:srgbClr val="FFFFFF"/>
          </a:solidFill>
          <a:ln w="15875">
            <a:solidFill>
              <a:srgbClr val="0B7A75"/>
            </a:solidFill>
            <a:prstDash val="solid"/>
          </a:ln>
        </p:spPr>
      </p:sp>
      <p:sp>
        <p:nvSpPr>
          <p:cNvPr id="26" name="auto:9:wipeD"/>
          <p:cNvSpPr txBox="1"/>
          <p:nvPr/>
        </p:nvSpPr>
        <p:spPr>
          <a:xfrm>
            <a:off x="6352032" y="3810000"/>
            <a:ext cx="2337816" cy="809244"/>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central</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{group}-serverless</a:t>
            </a:r>
            <a:endParaRPr lang="en-US" sz="1200" dirty="0"/>
          </a:p>
        </p:txBody>
      </p:sp>
      <p:sp>
        <p:nvSpPr>
          <p:cNvPr id="27" name="auto:10:wipeD"/>
          <p:cNvSpPr/>
          <p:nvPr/>
        </p:nvSpPr>
        <p:spPr>
          <a:xfrm>
            <a:off x="9049512" y="3810000"/>
            <a:ext cx="2337816" cy="809244"/>
          </a:xfrm>
          <a:prstGeom prst="roundRect">
            <a:avLst>
              <a:gd name="adj" fmla="val 9040"/>
            </a:avLst>
          </a:prstGeom>
          <a:solidFill>
            <a:srgbClr val="FFFFFF"/>
          </a:solidFill>
          <a:ln w="15875">
            <a:solidFill>
              <a:srgbClr val="0B7A75"/>
            </a:solidFill>
            <a:prstDash val="solid"/>
          </a:ln>
        </p:spPr>
      </p:sp>
      <p:sp>
        <p:nvSpPr>
          <p:cNvPr id="28" name="auto:11:wipeD"/>
          <p:cNvSpPr txBox="1"/>
          <p:nvPr/>
        </p:nvSpPr>
        <p:spPr>
          <a:xfrm>
            <a:off x="9049512" y="3810000"/>
            <a:ext cx="2337816" cy="809244"/>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south</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{group}-serverless</a:t>
            </a:r>
            <a:endParaRPr lang="en-US" sz="1200" dirty="0"/>
          </a:p>
        </p:txBody>
      </p:sp>
      <p:sp>
        <p:nvSpPr>
          <p:cNvPr id="29" name="auto:12:wipeD"/>
          <p:cNvSpPr/>
          <p:nvPr/>
        </p:nvSpPr>
        <p:spPr>
          <a:xfrm>
            <a:off x="7071360" y="5068824"/>
            <a:ext cx="3596640" cy="503530"/>
          </a:xfrm>
          <a:prstGeom prst="roundRect">
            <a:avLst>
              <a:gd name="adj" fmla="val 14528"/>
            </a:avLst>
          </a:prstGeom>
          <a:solidFill>
            <a:srgbClr val="FFFFFF"/>
          </a:solidFill>
          <a:ln w="15875">
            <a:solidFill>
              <a:srgbClr val="0B7A75"/>
            </a:solidFill>
            <a:prstDash val="solid"/>
          </a:ln>
        </p:spPr>
      </p:sp>
      <p:sp>
        <p:nvSpPr>
          <p:cNvPr id="30" name="auto:13:wipeD"/>
          <p:cNvSpPr txBox="1"/>
          <p:nvPr/>
        </p:nvSpPr>
        <p:spPr>
          <a:xfrm>
            <a:off x="7071360" y="5068824"/>
            <a:ext cx="3596640" cy="503530"/>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template set</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{{namespace}} {{group}} {{region}} {{registry}}</a:t>
            </a:r>
            <a:endParaRPr lang="en-US" sz="1200" dirty="0"/>
          </a:p>
        </p:txBody>
      </p:sp>
      <p:sp>
        <p:nvSpPr>
          <p:cNvPr id="31" name="Text 28"/>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24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cond evt="onBegin" delay="0">
                          <p:tn val="2"/>
                        </p:cond>
                      </p:stCondLst>
                      <p:childTnLst>
                        <p:par>
                          <p:cTn id="46"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wipe(left)">
                                      <p:cBhvr>
                                        <p:cTn id="4" dur="350"/>
                                        <p:tgtEl>
                                          <p:spTgt spid="17"/>
                                        </p:tgtEl>
                                      </p:cBhvr>
                                    </p:animEffect>
                                  </p:childTnLst>
                                </p:cTn>
                              </p:par>
                              <p:par>
                                <p:cTn id="8" presetID="22" presetClass="entr" presetSubtype="8" fill="hold" grpId="0" nodeType="withEffect">
                                  <p:stCondLst>
                                    <p:cond delay="8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350"/>
                                        <p:tgtEl>
                                          <p:spTgt spid="18"/>
                                        </p:tgtEl>
                                      </p:cBhvr>
                                    </p:animEffect>
                                  </p:childTnLst>
                                </p:cTn>
                              </p:par>
                              <p:par>
                                <p:cTn id="11" presetID="22" presetClass="entr" presetSubtype="8" fill="hold" grpId="0" nodeType="withEffect">
                                  <p:stCondLst>
                                    <p:cond delay="16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350"/>
                                        <p:tgtEl>
                                          <p:spTgt spid="19"/>
                                        </p:tgtEl>
                                      </p:cBhvr>
                                    </p:animEffect>
                                  </p:childTnLst>
                                </p:cTn>
                              </p:par>
                              <p:par>
                                <p:cTn id="14" presetID="22" presetClass="entr" presetSubtype="8" fill="hold" grpId="0" nodeType="withEffect">
                                  <p:stCondLst>
                                    <p:cond delay="24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350"/>
                                        <p:tgtEl>
                                          <p:spTgt spid="20"/>
                                        </p:tgtEl>
                                      </p:cBhvr>
                                    </p:animEffect>
                                  </p:childTnLst>
                                </p:cTn>
                              </p:par>
                              <p:par>
                                <p:cTn id="17" presetID="22" presetClass="entr" presetSubtype="4" fill="hold" grpId="0" nodeType="withEffect">
                                  <p:stCondLst>
                                    <p:cond delay="320"/>
                                  </p:stCondLst>
                                  <p:childTnLst>
                                    <p:set>
                                      <p:cBhvr>
                                        <p:cTn id="15" dur="1" fill="hold">
                                          <p:stCondLst>
                                            <p:cond delay="0"/>
                                          </p:stCondLst>
                                        </p:cTn>
                                        <p:tgtEl>
                                          <p:spTgt spid="21"/>
                                        </p:tgtEl>
                                        <p:attrNameLst>
                                          <p:attrName>style.visibility</p:attrName>
                                        </p:attrNameLst>
                                      </p:cBhvr>
                                      <p:to>
                                        <p:strVal val="visible"/>
                                      </p:to>
                                    </p:set>
                                    <p:animEffect transition="in" filter="wipe(down)">
                                      <p:cBhvr>
                                        <p:cTn id="16" dur="350"/>
                                        <p:tgtEl>
                                          <p:spTgt spid="21"/>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350"/>
                                        <p:tgtEl>
                                          <p:spTgt spid="22"/>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350"/>
                                        <p:tgtEl>
                                          <p:spTgt spid="23"/>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350"/>
                                        <p:tgtEl>
                                          <p:spTgt spid="24"/>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350"/>
                                        <p:tgtEl>
                                          <p:spTgt spid="25"/>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6"/>
                                        </p:tgtEl>
                                        <p:attrNameLst>
                                          <p:attrName>style.visibility</p:attrName>
                                        </p:attrNameLst>
                                      </p:cBhvr>
                                      <p:to>
                                        <p:strVal val="visible"/>
                                      </p:to>
                                    </p:set>
                                    <p:animEffect transition="in" filter="wipe(down)">
                                      <p:cBhvr>
                                        <p:cTn id="31" dur="350"/>
                                        <p:tgtEl>
                                          <p:spTgt spid="26"/>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7"/>
                                        </p:tgtEl>
                                        <p:attrNameLst>
                                          <p:attrName>style.visibility</p:attrName>
                                        </p:attrNameLst>
                                      </p:cBhvr>
                                      <p:to>
                                        <p:strVal val="visible"/>
                                      </p:to>
                                    </p:set>
                                    <p:animEffect transition="in" filter="wipe(down)">
                                      <p:cBhvr>
                                        <p:cTn id="34" dur="350"/>
                                        <p:tgtEl>
                                          <p:spTgt spid="27"/>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350"/>
                                        <p:tgtEl>
                                          <p:spTgt spid="28"/>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350"/>
                                        <p:tgtEl>
                                          <p:spTgt spid="29"/>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30"/>
                                        </p:tgtEl>
                                        <p:attrNameLst>
                                          <p:attrName>style.visibility</p:attrName>
                                        </p:attrNameLst>
                                      </p:cBhvr>
                                      <p:to>
                                        <p:strVal val="visible"/>
                                      </p:to>
                                    </p:set>
                                    <p:animEffect transition="in" filter="wipe(down)">
                                      <p:cBhvr>
                                        <p:cTn id="43" dur="350"/>
                                        <p:tgtEl>
                                          <p:spTgt spid="30"/>
                                        </p:tgtEl>
                                      </p:cBhvr>
                                    </p:animEffect>
                                  </p:childTnLst>
                                </p:cTn>
                              </p:par>
                            </p:childTnLst>
                          </p:cTn>
                        </p:par>
                      </p:childTnLst>
                    </p:cTn>
                  </p:par>
                  <p:par>
                    <p:cTn id="53" fill="hold">
                      <p:stCondLst>
                        <p:cond delay="indefinite"/>
                      </p:stCondLst>
                      <p:childTnLst>
                        <p:par>
                          <p:cTn id="54" fill="hold">
                            <p:stCondLst>
                              <p:cond delay="0"/>
                            </p:stCondLst>
                            <p:childTnLst>
                              <p:par>
                                <p:cTn id="49" presetID="22" presetClass="entr" presetSubtype="8"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350"/>
                                        <p:tgtEl>
                                          <p:spTgt spid="5"/>
                                        </p:tgtEl>
                                      </p:cBhvr>
                                    </p:animEffect>
                                  </p:childTnLst>
                                </p:cTn>
                              </p:par>
                              <p:par>
                                <p:cTn id="52" presetID="22" presetClass="entr" presetSubtype="8"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350"/>
                                        <p:tgtEl>
                                          <p:spTgt spid="6"/>
                                        </p:tgtEl>
                                      </p:cBhvr>
                                    </p:animEffect>
                                  </p:childTnLst>
                                </p:cTn>
                              </p:par>
                            </p:childTnLst>
                          </p:cTn>
                        </p:par>
                      </p:childTnLst>
                    </p:cTn>
                  </p:par>
                  <p:par>
                    <p:cTn id="61" fill="hold">
                      <p:stCondLst>
                        <p:cond delay="indefinite"/>
                      </p:stCondLst>
                      <p:childTnLst>
                        <p:par>
                          <p:cTn id="62" fill="hold">
                            <p:stCondLst>
                              <p:cond delay="0"/>
                            </p:stCondLst>
                            <p:childTnLst>
                              <p:par>
                                <p:cTn id="57" presetID="22" presetClass="entr" presetSubtype="8"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350"/>
                                        <p:tgtEl>
                                          <p:spTgt spid="7"/>
                                        </p:tgtEl>
                                      </p:cBhvr>
                                    </p:animEffect>
                                  </p:childTnLst>
                                </p:cTn>
                              </p:par>
                              <p:par>
                                <p:cTn id="60" presetID="22" presetClass="entr" presetSubtype="8"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350"/>
                                        <p:tgtEl>
                                          <p:spTgt spid="8"/>
                                        </p:tgtEl>
                                      </p:cBhvr>
                                    </p:animEffect>
                                  </p:childTnLst>
                                </p:cTn>
                              </p:par>
                            </p:childTnLst>
                          </p:cTn>
                        </p:par>
                      </p:childTnLst>
                    </p:cTn>
                  </p:par>
                  <p:par>
                    <p:cTn id="69" fill="hold">
                      <p:stCondLst>
                        <p:cond delay="indefinite"/>
                      </p:stCondLst>
                      <p:childTnLst>
                        <p:par>
                          <p:cTn id="70" fill="hold">
                            <p:stCondLst>
                              <p:cond delay="0"/>
                            </p:stCondLst>
                            <p:childTnLst>
                              <p:par>
                                <p:cTn id="65" presetID="22" presetClass="entr" presetSubtype="8" fill="hold" grpId="0"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350"/>
                                        <p:tgtEl>
                                          <p:spTgt spid="9"/>
                                        </p:tgtEl>
                                      </p:cBhvr>
                                    </p:animEffect>
                                  </p:childTnLst>
                                </p:cTn>
                              </p:par>
                              <p:par>
                                <p:cTn id="68" presetID="22" presetClass="entr" presetSubtype="8"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left)">
                                      <p:cBhvr>
                                        <p:cTn id="67" dur="350"/>
                                        <p:tgtEl>
                                          <p:spTgt spid="10"/>
                                        </p:tgtEl>
                                      </p:cBhvr>
                                    </p:animEffect>
                                  </p:childTnLst>
                                </p:cTn>
                              </p:par>
                            </p:childTnLst>
                          </p:cTn>
                        </p:par>
                      </p:childTnLst>
                    </p:cTn>
                  </p:par>
                  <p:par>
                    <p:cTn id="77" fill="hold">
                      <p:stCondLst>
                        <p:cond delay="indefinite"/>
                      </p:stCondLst>
                      <p:childTnLst>
                        <p:par>
                          <p:cTn id="78"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left)">
                                      <p:cBhvr>
                                        <p:cTn id="72" dur="350"/>
                                        <p:tgtEl>
                                          <p:spTgt spid="11"/>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left)">
                                      <p:cBhvr>
                                        <p:cTn id="75" dur="350"/>
                                        <p:tgtEl>
                                          <p:spTgt spid="12"/>
                                        </p:tgtEl>
                                      </p:cBhvr>
                                    </p:animEffect>
                                  </p:childTnLst>
                                </p:cTn>
                              </p:par>
                            </p:childTnLst>
                          </p:cTn>
                        </p:par>
                      </p:childTnLst>
                    </p:cTn>
                  </p:par>
                  <p:par>
                    <p:cTn id="85" fill="hold">
                      <p:stCondLst>
                        <p:cond delay="indefinite"/>
                      </p:stCondLst>
                      <p:childTnLst>
                        <p:par>
                          <p:cTn id="86" fill="hold">
                            <p:stCondLst>
                              <p:cond delay="0"/>
                            </p:stCondLst>
                            <p:childTnLst>
                              <p:par>
                                <p:cTn id="81" presetID="22" presetClass="entr" presetSubtype="8"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350"/>
                                        <p:tgtEl>
                                          <p:spTgt spid="13"/>
                                        </p:tgtEl>
                                      </p:cBhvr>
                                    </p:animEffect>
                                  </p:childTnLst>
                                </p:cTn>
                              </p:par>
                              <p:par>
                                <p:cTn id="84" presetID="22" presetClass="entr" presetSubtype="8" fill="hold" grpId="0"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left)">
                                      <p:cBhvr>
                                        <p:cTn id="83" dur="350"/>
                                        <p:tgtEl>
                                          <p:spTgt spid="14"/>
                                        </p:tgtEl>
                                      </p:cBhvr>
                                    </p:animEffect>
                                  </p:childTnLst>
                                </p:cTn>
                              </p:par>
                            </p:childTnLst>
                          </p:cTn>
                        </p:par>
                      </p:childTnLst>
                    </p:cTn>
                  </p:par>
                  <p:par>
                    <p:cTn id="93" fill="hold">
                      <p:stCondLst>
                        <p:cond delay="indefinite"/>
                      </p:stCondLst>
                      <p:childTnLst>
                        <p:par>
                          <p:cTn id="94" fill="hold">
                            <p:stCondLst>
                              <p:cond delay="0"/>
                            </p:stCondLst>
                            <p:childTnLst>
                              <p:par>
                                <p:cTn id="89" presetID="22" presetClass="entr" presetSubtype="8" fill="hold" grpId="0" nodeType="click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wipe(left)">
                                      <p:cBhvr>
                                        <p:cTn id="88" dur="350"/>
                                        <p:tgtEl>
                                          <p:spTgt spid="15"/>
                                        </p:tgtEl>
                                      </p:cBhvr>
                                    </p:animEffect>
                                  </p:childTnLst>
                                </p:cTn>
                              </p:par>
                              <p:par>
                                <p:cTn id="92" presetID="22" presetClass="entr" presetSubtype="8" fill="hold" grpId="0" nodeType="with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wipe(left)">
                                      <p:cBhvr>
                                        <p:cTn id="91"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4572E"/>
        </a:solidFill>
      </p:bgPr>
    </p:bg>
    <p:spTree>
      <p:nvGrpSpPr>
        <p:cNvPr id="1" name=""/>
        <p:cNvGrpSpPr/>
        <p:nvPr/>
      </p:nvGrpSpPr>
      <p:grpSpPr>
        <a:xfrm>
          <a:off x="0" y="0"/>
          <a:ext cx="0" cy="0"/>
          <a:chOff x="0" y="0"/>
          <a:chExt cx="0" cy="0"/>
        </a:xfrm>
      </p:grpSpPr>
      <p:sp>
        <p:nvSpPr>
          <p:cNvPr id="2" name="auto:0:wipeL"/>
          <p:cNvSpPr txBox="1"/>
          <p:nvPr/>
        </p:nvSpPr>
        <p:spPr>
          <a:xfrm>
            <a:off x="640080" y="2194560"/>
            <a:ext cx="10515600" cy="1463040"/>
          </a:xfrm>
          <a:prstGeom prst="rect">
            <a:avLst/>
          </a:prstGeom>
          <a:noFill/>
          <a:ln/>
        </p:spPr>
        <p:txBody>
          <a:bodyPr wrap="square" lIns="0" tIns="0" rIns="0" bIns="0" rtlCol="0" anchor="ctr"/>
          <a:lstStyle/>
          <a:p>
            <a:pPr indent="0" marL="0">
              <a:buNone/>
            </a:pPr>
            <a:r>
              <a:rPr lang="en-US" sz="6400" b="1" dirty="0">
                <a:solidFill>
                  <a:srgbClr val="FFFFFF"/>
                </a:solidFill>
                <a:latin typeface="Century Schoolbook" pitchFamily="34" charset="0"/>
                <a:ea typeface="Century Schoolbook" pitchFamily="34" charset="-122"/>
                <a:cs typeface="Century Schoolbook" pitchFamily="34" charset="-120"/>
              </a:rPr>
              <a:t>Functions &amp; builds</a:t>
            </a:r>
            <a:endParaRPr lang="en-US" sz="6400" dirty="0"/>
          </a:p>
        </p:txBody>
      </p:sp>
      <p:sp>
        <p:nvSpPr>
          <p:cNvPr id="3" name="auto:1:fade"/>
          <p:cNvSpPr txBox="1"/>
          <p:nvPr/>
        </p:nvSpPr>
        <p:spPr>
          <a:xfrm>
            <a:off x="640080" y="3749040"/>
            <a:ext cx="9144000" cy="548640"/>
          </a:xfrm>
          <a:prstGeom prst="rect">
            <a:avLst/>
          </a:prstGeom>
          <a:noFill/>
          <a:ln/>
        </p:spPr>
        <p:txBody>
          <a:bodyPr wrap="square" lIns="0" tIns="0" rIns="0" bIns="0" rtlCol="0" anchor="ctr"/>
          <a:lstStyle/>
          <a:p>
            <a:pPr indent="0" marL="0">
              <a:buNone/>
            </a:pPr>
            <a:r>
              <a:rPr lang="en-US" sz="2200" i="1" dirty="0">
                <a:solidFill>
                  <a:srgbClr val="FFFFFF"/>
                </a:solidFill>
                <a:latin typeface="Century Schoolbook" pitchFamily="34" charset="0"/>
                <a:ea typeface="Century Schoolbook" pitchFamily="34" charset="-122"/>
                <a:cs typeface="Century Schoolbook" pitchFamily="34" charset="-120"/>
              </a:rPr>
              <a:t>'Here is my repo' hides a build.</a:t>
            </a:r>
            <a:endParaRPr lang="en-US" sz="2200" dirty="0"/>
          </a:p>
        </p:txBody>
      </p:sp>
      <p:sp>
        <p:nvSpPr>
          <p:cNvPr id="4" name="Text 2"/>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25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350"/>
                                        <p:tgtEl>
                                          <p:spTgt spid="2"/>
                                        </p:tgtEl>
                                      </p:cBhvr>
                                    </p:animEffect>
                                  </p:childTnLst>
                                </p:cTn>
                              </p:par>
                              <p:par>
                                <p:cTn id="8" presetID="10" presetClass="entr" presetSubtype="0" fill="hold" grpId="0" nodeType="withEffect">
                                  <p:stCondLst>
                                    <p:cond delay="8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Why a function needs a build</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cluster cannot run a repository</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Kubernetes only ever starts images</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Someone must turn source into an image</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That step is the build</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For containers, the user already did it</a:t>
            </a:r>
            <a:endParaRPr lang="en-US" sz="1900" dirty="0"/>
          </a:p>
        </p:txBody>
      </p:sp>
      <p:sp>
        <p:nvSpPr>
          <p:cNvPr id="15" name="step:2:wipeL"/>
          <p:cNvSpPr/>
          <p:nvPr/>
        </p:nvSpPr>
        <p:spPr>
          <a:xfrm>
            <a:off x="7970520" y="2686050"/>
            <a:ext cx="359664" cy="0"/>
          </a:xfrm>
          <a:prstGeom prst="line">
            <a:avLst/>
          </a:prstGeom>
          <a:noFill/>
          <a:ln w="15875">
            <a:solidFill>
              <a:srgbClr val="98A2B3"/>
            </a:solidFill>
            <a:prstDash val="solid"/>
            <a:tailEnd type="triangle"/>
          </a:ln>
        </p:spPr>
      </p:sp>
      <p:sp>
        <p:nvSpPr>
          <p:cNvPr id="16" name="step:3:wipeL"/>
          <p:cNvSpPr/>
          <p:nvPr/>
        </p:nvSpPr>
        <p:spPr>
          <a:xfrm>
            <a:off x="9589008" y="2686050"/>
            <a:ext cx="359664" cy="0"/>
          </a:xfrm>
          <a:prstGeom prst="line">
            <a:avLst/>
          </a:prstGeom>
          <a:noFill/>
          <a:ln w="15875">
            <a:solidFill>
              <a:srgbClr val="98A2B3"/>
            </a:solidFill>
            <a:prstDash val="solid"/>
            <a:tailEnd type="triangle"/>
          </a:ln>
        </p:spPr>
      </p:sp>
      <p:sp>
        <p:nvSpPr>
          <p:cNvPr id="17" name="step:4:wipeL"/>
          <p:cNvSpPr/>
          <p:nvPr/>
        </p:nvSpPr>
        <p:spPr>
          <a:xfrm flipV="1">
            <a:off x="8779764" y="3000756"/>
            <a:ext cx="179832" cy="1258824"/>
          </a:xfrm>
          <a:prstGeom prst="line">
            <a:avLst/>
          </a:prstGeom>
          <a:noFill/>
          <a:ln w="15875">
            <a:solidFill>
              <a:srgbClr val="98A2B3"/>
            </a:solidFill>
            <a:prstDash val="dash"/>
            <a:tailEnd type="triangle"/>
          </a:ln>
        </p:spPr>
      </p:sp>
      <p:sp>
        <p:nvSpPr>
          <p:cNvPr id="18" name="step:5:wipeL"/>
          <p:cNvSpPr/>
          <p:nvPr/>
        </p:nvSpPr>
        <p:spPr>
          <a:xfrm flipV="1">
            <a:off x="10668000" y="3000756"/>
            <a:ext cx="0" cy="1258824"/>
          </a:xfrm>
          <a:prstGeom prst="line">
            <a:avLst/>
          </a:prstGeom>
          <a:noFill/>
          <a:ln w="15875">
            <a:solidFill>
              <a:srgbClr val="98A2B3"/>
            </a:solidFill>
            <a:prstDash val="dash"/>
            <a:tailEnd type="triangle"/>
          </a:ln>
        </p:spPr>
      </p:sp>
      <p:sp>
        <p:nvSpPr>
          <p:cNvPr id="19" name="step:1:wipeD"/>
          <p:cNvSpPr/>
          <p:nvPr/>
        </p:nvSpPr>
        <p:spPr>
          <a:xfrm>
            <a:off x="6352032" y="2371344"/>
            <a:ext cx="1618488" cy="629412"/>
          </a:xfrm>
          <a:prstGeom prst="roundRect">
            <a:avLst>
              <a:gd name="adj" fmla="val 11622"/>
            </a:avLst>
          </a:prstGeom>
          <a:solidFill>
            <a:srgbClr val="FFFFFF"/>
          </a:solidFill>
          <a:ln w="15875">
            <a:solidFill>
              <a:srgbClr val="0B7A75"/>
            </a:solidFill>
            <a:prstDash val="solid"/>
          </a:ln>
        </p:spPr>
      </p:sp>
      <p:sp>
        <p:nvSpPr>
          <p:cNvPr id="20" name="step:1:wipeD"/>
          <p:cNvSpPr txBox="1"/>
          <p:nvPr/>
        </p:nvSpPr>
        <p:spPr>
          <a:xfrm>
            <a:off x="6352032" y="2371344"/>
            <a:ext cx="1618488"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your source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 git repository</a:t>
            </a:r>
            <a:endParaRPr lang="en-US" sz="1200" dirty="0"/>
          </a:p>
        </p:txBody>
      </p:sp>
      <p:sp>
        <p:nvSpPr>
          <p:cNvPr id="21" name="step:2:wipeD"/>
          <p:cNvSpPr/>
          <p:nvPr/>
        </p:nvSpPr>
        <p:spPr>
          <a:xfrm>
            <a:off x="8330184" y="2371344"/>
            <a:ext cx="1258824" cy="629412"/>
          </a:xfrm>
          <a:prstGeom prst="roundRect">
            <a:avLst>
              <a:gd name="adj" fmla="val 11622"/>
            </a:avLst>
          </a:prstGeom>
          <a:solidFill>
            <a:srgbClr val="FFFFFF"/>
          </a:solidFill>
          <a:ln w="22225">
            <a:solidFill>
              <a:srgbClr val="E4572E"/>
            </a:solidFill>
            <a:prstDash val="solid"/>
          </a:ln>
        </p:spPr>
      </p:sp>
      <p:sp>
        <p:nvSpPr>
          <p:cNvPr id="22" name="step:2:wipeD"/>
          <p:cNvSpPr txBox="1"/>
          <p:nvPr/>
        </p:nvSpPr>
        <p:spPr>
          <a:xfrm>
            <a:off x="8330184" y="2371344"/>
            <a:ext cx="1258824"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the missing step</a:t>
            </a:r>
            <a:endParaRPr lang="en-US" sz="1200" dirty="0"/>
          </a:p>
        </p:txBody>
      </p:sp>
      <p:sp>
        <p:nvSpPr>
          <p:cNvPr id="23" name="step:3:wipeD"/>
          <p:cNvSpPr/>
          <p:nvPr/>
        </p:nvSpPr>
        <p:spPr>
          <a:xfrm>
            <a:off x="9948672" y="2371344"/>
            <a:ext cx="1438656" cy="629412"/>
          </a:xfrm>
          <a:prstGeom prst="roundRect">
            <a:avLst>
              <a:gd name="adj" fmla="val 11622"/>
            </a:avLst>
          </a:prstGeom>
          <a:solidFill>
            <a:srgbClr val="FFFFFF"/>
          </a:solidFill>
          <a:ln w="15875">
            <a:solidFill>
              <a:srgbClr val="0B7A75"/>
            </a:solidFill>
            <a:prstDash val="solid"/>
          </a:ln>
        </p:spPr>
      </p:sp>
      <p:sp>
        <p:nvSpPr>
          <p:cNvPr id="24" name="step:3:wipeD"/>
          <p:cNvSpPr txBox="1"/>
          <p:nvPr/>
        </p:nvSpPr>
        <p:spPr>
          <a:xfrm>
            <a:off x="9948672" y="2371344"/>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an image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what a pod runs</a:t>
            </a:r>
            <a:endParaRPr lang="en-US" sz="1200" dirty="0"/>
          </a:p>
        </p:txBody>
      </p:sp>
      <p:sp>
        <p:nvSpPr>
          <p:cNvPr id="25" name="step:4:wipeD"/>
          <p:cNvSpPr/>
          <p:nvPr/>
        </p:nvSpPr>
        <p:spPr>
          <a:xfrm>
            <a:off x="7880604" y="4259580"/>
            <a:ext cx="1798320" cy="701345"/>
          </a:xfrm>
          <a:prstGeom prst="roundRect">
            <a:avLst>
              <a:gd name="adj" fmla="val 10430"/>
            </a:avLst>
          </a:prstGeom>
          <a:solidFill>
            <a:srgbClr val="FFFFFF"/>
          </a:solidFill>
          <a:ln w="22225">
            <a:solidFill>
              <a:srgbClr val="E4572E"/>
            </a:solidFill>
            <a:prstDash val="solid"/>
          </a:ln>
        </p:spPr>
      </p:sp>
      <p:sp>
        <p:nvSpPr>
          <p:cNvPr id="26" name="step:4:wipeD"/>
          <p:cNvSpPr txBox="1"/>
          <p:nvPr/>
        </p:nvSpPr>
        <p:spPr>
          <a:xfrm>
            <a:off x="7880604" y="4259580"/>
            <a:ext cx="1798320" cy="701345"/>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function offering</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we build the image</a:t>
            </a:r>
            <a:endParaRPr lang="en-US" sz="1200" dirty="0"/>
          </a:p>
        </p:txBody>
      </p:sp>
      <p:sp>
        <p:nvSpPr>
          <p:cNvPr id="27" name="step:5:wipeD"/>
          <p:cNvSpPr/>
          <p:nvPr/>
        </p:nvSpPr>
        <p:spPr>
          <a:xfrm>
            <a:off x="9858756" y="4259580"/>
            <a:ext cx="1618488" cy="701345"/>
          </a:xfrm>
          <a:prstGeom prst="roundRect">
            <a:avLst>
              <a:gd name="adj" fmla="val 10430"/>
            </a:avLst>
          </a:prstGeom>
          <a:solidFill>
            <a:srgbClr val="FFFFFF"/>
          </a:solidFill>
          <a:ln w="15875">
            <a:solidFill>
              <a:srgbClr val="0B7A75"/>
            </a:solidFill>
            <a:prstDash val="solid"/>
          </a:ln>
        </p:spPr>
      </p:sp>
      <p:sp>
        <p:nvSpPr>
          <p:cNvPr id="28" name="step:5:wipeD"/>
          <p:cNvSpPr txBox="1"/>
          <p:nvPr/>
        </p:nvSpPr>
        <p:spPr>
          <a:xfrm>
            <a:off x="9858756" y="4259580"/>
            <a:ext cx="1618488" cy="701345"/>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container offering</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you bring the image</a:t>
            </a:r>
            <a:endParaRPr lang="en-US" sz="1200" dirty="0"/>
          </a:p>
        </p:txBody>
      </p:sp>
      <p:sp>
        <p:nvSpPr>
          <p:cNvPr id="29" name="Text 2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26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350"/>
                                        <p:tgtEl>
                                          <p:spTgt spid="19"/>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350"/>
                                        <p:tgtEl>
                                          <p:spTgt spid="20"/>
                                        </p:tgtEl>
                                      </p:cBhvr>
                                    </p:animEffect>
                                  </p:childTnLst>
                                </p:cTn>
                              </p:par>
                            </p:childTnLst>
                          </p:cTn>
                        </p:par>
                      </p:childTnLst>
                    </p:cTn>
                  </p:par>
                  <p:par>
                    <p:cTn id="32" fill="hold">
                      <p:stCondLst>
                        <p:cond delay="indefinite"/>
                      </p:stCondLst>
                      <p:childTnLst>
                        <p:par>
                          <p:cTn id="33"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350"/>
                                        <p:tgtEl>
                                          <p:spTgt spid="7"/>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50"/>
                                        <p:tgtEl>
                                          <p:spTgt spid="8"/>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350"/>
                                        <p:tgtEl>
                                          <p:spTgt spid="15"/>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350"/>
                                        <p:tgtEl>
                                          <p:spTgt spid="21"/>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down)">
                                      <p:cBhvr>
                                        <p:cTn id="30" dur="350"/>
                                        <p:tgtEl>
                                          <p:spTgt spid="22"/>
                                        </p:tgtEl>
                                      </p:cBhvr>
                                    </p:animEffect>
                                  </p:childTnLst>
                                </p:cTn>
                              </p:par>
                            </p:childTnLst>
                          </p:cTn>
                        </p:par>
                      </p:childTnLst>
                    </p:cTn>
                  </p:par>
                  <p:par>
                    <p:cTn id="49" fill="hold">
                      <p:stCondLst>
                        <p:cond delay="indefinite"/>
                      </p:stCondLst>
                      <p:childTnLst>
                        <p:par>
                          <p:cTn id="50" fill="hold">
                            <p:stCondLst>
                              <p:cond delay="0"/>
                            </p:stCondLst>
                            <p:childTnLst>
                              <p:par>
                                <p:cTn id="36" presetID="2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350"/>
                                        <p:tgtEl>
                                          <p:spTgt spid="9"/>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350"/>
                                        <p:tgtEl>
                                          <p:spTgt spid="10"/>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350"/>
                                        <p:tgtEl>
                                          <p:spTgt spid="16"/>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down)">
                                      <p:cBhvr>
                                        <p:cTn id="44" dur="350"/>
                                        <p:tgtEl>
                                          <p:spTgt spid="23"/>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350"/>
                                        <p:tgtEl>
                                          <p:spTgt spid="24"/>
                                        </p:tgtEl>
                                      </p:cBhvr>
                                    </p:animEffect>
                                  </p:childTnLst>
                                </p:cTn>
                              </p:par>
                            </p:childTnLst>
                          </p:cTn>
                        </p:par>
                      </p:childTnLst>
                    </p:cTn>
                  </p:par>
                  <p:par>
                    <p:cTn id="66" fill="hold">
                      <p:stCondLst>
                        <p:cond delay="indefinite"/>
                      </p:stCondLst>
                      <p:childTnLst>
                        <p:par>
                          <p:cTn id="67"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350"/>
                                        <p:tgtEl>
                                          <p:spTgt spid="11"/>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350"/>
                                        <p:tgtEl>
                                          <p:spTgt spid="12"/>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350"/>
                                        <p:tgtEl>
                                          <p:spTgt spid="17"/>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down)">
                                      <p:cBhvr>
                                        <p:cTn id="61" dur="350"/>
                                        <p:tgtEl>
                                          <p:spTgt spid="25"/>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down)">
                                      <p:cBhvr>
                                        <p:cTn id="64" dur="350"/>
                                        <p:tgtEl>
                                          <p:spTgt spid="26"/>
                                        </p:tgtEl>
                                      </p:cBhvr>
                                    </p:animEffect>
                                  </p:childTnLst>
                                </p:cTn>
                              </p:par>
                            </p:childTnLst>
                          </p:cTn>
                        </p:par>
                      </p:childTnLst>
                    </p:cTn>
                  </p:par>
                  <p:par>
                    <p:cTn id="83" fill="hold">
                      <p:stCondLst>
                        <p:cond delay="indefinite"/>
                      </p:stCondLst>
                      <p:childTnLst>
                        <p:par>
                          <p:cTn id="84" fill="hold">
                            <p:stCondLst>
                              <p:cond delay="0"/>
                            </p:stCondLst>
                            <p:childTnLst>
                              <p:par>
                                <p:cTn id="70" presetID="22" presetClass="entr" presetSubtype="8"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350"/>
                                        <p:tgtEl>
                                          <p:spTgt spid="13"/>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350"/>
                                        <p:tgtEl>
                                          <p:spTgt spid="14"/>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350"/>
                                        <p:tgtEl>
                                          <p:spTgt spid="18"/>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Buildpacks</a:t>
            </a:r>
            <a:endParaRPr lang="en-US" sz="3800" dirty="0"/>
          </a:p>
        </p:txBody>
      </p:sp>
      <p:pic>
        <p:nvPicPr>
          <p:cNvPr id="5" name="auto:99:fade" descr="preencoded.png">    </p:cNvPr>
          <p:cNvPicPr>
            <a:picLocks noChangeAspect="1"/>
          </p:cNvPicPr>
          <p:nvPr/>
        </p:nvPicPr>
        <p:blipFill>
          <a:blip r:embed="rId1"/>
          <a:stretch>
            <a:fillRect/>
          </a:stretch>
        </p:blipFill>
        <p:spPr>
          <a:xfrm>
            <a:off x="10682935" y="457200"/>
            <a:ext cx="868680" cy="868680"/>
          </a:xfrm>
          <a:prstGeom prst="rect">
            <a:avLst/>
          </a:prstGeom>
        </p:spPr>
      </p:pic>
      <p:sp>
        <p:nvSpPr>
          <p:cNvPr id="6"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7"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An open standard, not a Dockerfile</a:t>
            </a:r>
            <a:endParaRPr lang="en-US" sz="1900" dirty="0"/>
          </a:p>
        </p:txBody>
      </p:sp>
      <p:sp>
        <p:nvSpPr>
          <p:cNvPr id="8"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9"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Detection reads your source</a:t>
            </a:r>
            <a:endParaRPr lang="en-US" sz="1900" dirty="0"/>
          </a:p>
        </p:txBody>
      </p:sp>
      <p:sp>
        <p:nvSpPr>
          <p:cNvPr id="10"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1"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same base image for everyone</a:t>
            </a:r>
            <a:endParaRPr lang="en-US" sz="1900" dirty="0"/>
          </a:p>
        </p:txBody>
      </p:sp>
      <p:sp>
        <p:nvSpPr>
          <p:cNvPr id="12"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3"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Rebase swaps that base, no rebuild</a:t>
            </a:r>
            <a:endParaRPr lang="en-US" sz="1900" dirty="0"/>
          </a:p>
        </p:txBody>
      </p:sp>
      <p:sp>
        <p:nvSpPr>
          <p:cNvPr id="14"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5"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CNCF project, like Knative</a:t>
            </a:r>
            <a:endParaRPr lang="en-US" sz="1900" dirty="0"/>
          </a:p>
        </p:txBody>
      </p:sp>
      <p:sp>
        <p:nvSpPr>
          <p:cNvPr id="16" name="step:6:fade"/>
          <p:cNvSpPr txBox="1"/>
          <p:nvPr/>
        </p:nvSpPr>
        <p:spPr>
          <a:xfrm>
            <a:off x="7360920" y="2194560"/>
            <a:ext cx="201168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DOCKERFILE</a:t>
            </a:r>
            <a:endParaRPr lang="en-US" sz="900" dirty="0"/>
          </a:p>
        </p:txBody>
      </p:sp>
      <p:sp>
        <p:nvSpPr>
          <p:cNvPr id="17" name="step:6:fade"/>
          <p:cNvSpPr txBox="1"/>
          <p:nvPr/>
        </p:nvSpPr>
        <p:spPr>
          <a:xfrm>
            <a:off x="9372600" y="2194560"/>
            <a:ext cx="2194560" cy="274320"/>
          </a:xfrm>
          <a:prstGeom prst="rect">
            <a:avLst/>
          </a:prstGeom>
          <a:noFill/>
          <a:ln/>
        </p:spPr>
        <p:txBody>
          <a:bodyPr wrap="square" lIns="0" tIns="0" rIns="0" bIns="0" rtlCol="0" anchor="ctr"/>
          <a:lstStyle/>
          <a:p>
            <a:pPr indent="0" marL="0">
              <a:buNone/>
            </a:pPr>
            <a:r>
              <a:rPr lang="en-US" sz="900" spc="200" kern="0" dirty="0">
                <a:solidFill>
                  <a:srgbClr val="0B7A75"/>
                </a:solidFill>
                <a:latin typeface="Courier New" pitchFamily="34" charset="0"/>
                <a:ea typeface="Courier New" pitchFamily="34" charset="-122"/>
                <a:cs typeface="Courier New" pitchFamily="34" charset="-120"/>
              </a:rPr>
              <a:t>BUILDPACKS</a:t>
            </a:r>
            <a:endParaRPr lang="en-US" sz="900" dirty="0"/>
          </a:p>
        </p:txBody>
      </p:sp>
      <p:sp>
        <p:nvSpPr>
          <p:cNvPr id="18" name="step:6:fade"/>
          <p:cNvSpPr/>
          <p:nvPr/>
        </p:nvSpPr>
        <p:spPr>
          <a:xfrm>
            <a:off x="9281160" y="2560320"/>
            <a:ext cx="2286000" cy="502920"/>
          </a:xfrm>
          <a:prstGeom prst="rect">
            <a:avLst/>
          </a:prstGeom>
          <a:solidFill>
            <a:srgbClr val="E3F1F0"/>
          </a:solidFill>
          <a:ln w="12700">
            <a:solidFill>
              <a:srgbClr val="E3F1F0"/>
            </a:solidFill>
            <a:prstDash val="solid"/>
          </a:ln>
        </p:spPr>
      </p:sp>
      <p:sp>
        <p:nvSpPr>
          <p:cNvPr id="19" name="step:6:wipeL"/>
          <p:cNvSpPr txBox="1"/>
          <p:nvPr/>
        </p:nvSpPr>
        <p:spPr>
          <a:xfrm>
            <a:off x="6172200" y="256032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Who writes it</a:t>
            </a:r>
            <a:endParaRPr lang="en-US" sz="1250" dirty="0"/>
          </a:p>
        </p:txBody>
      </p:sp>
      <p:sp>
        <p:nvSpPr>
          <p:cNvPr id="20" name="step:6:wipeL"/>
          <p:cNvSpPr txBox="1"/>
          <p:nvPr/>
        </p:nvSpPr>
        <p:spPr>
          <a:xfrm>
            <a:off x="7406640" y="256032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Every team, again</a:t>
            </a:r>
            <a:endParaRPr lang="en-US" sz="1250" dirty="0"/>
          </a:p>
        </p:txBody>
      </p:sp>
      <p:sp>
        <p:nvSpPr>
          <p:cNvPr id="21" name="step:6:wipeL"/>
          <p:cNvSpPr txBox="1"/>
          <p:nvPr/>
        </p:nvSpPr>
        <p:spPr>
          <a:xfrm>
            <a:off x="9418320" y="256032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Nobody</a:t>
            </a:r>
            <a:endParaRPr lang="en-US" sz="1250" dirty="0"/>
          </a:p>
        </p:txBody>
      </p:sp>
      <p:sp>
        <p:nvSpPr>
          <p:cNvPr id="22" name="step:7:fade"/>
          <p:cNvSpPr/>
          <p:nvPr/>
        </p:nvSpPr>
        <p:spPr>
          <a:xfrm>
            <a:off x="9281160" y="3063240"/>
            <a:ext cx="2286000" cy="502920"/>
          </a:xfrm>
          <a:prstGeom prst="rect">
            <a:avLst/>
          </a:prstGeom>
          <a:solidFill>
            <a:srgbClr val="E3F1F0"/>
          </a:solidFill>
          <a:ln w="12700">
            <a:solidFill>
              <a:srgbClr val="E3F1F0"/>
            </a:solidFill>
            <a:prstDash val="solid"/>
          </a:ln>
        </p:spPr>
      </p:sp>
      <p:sp>
        <p:nvSpPr>
          <p:cNvPr id="23" name="step:7:wipeL"/>
          <p:cNvSpPr txBox="1"/>
          <p:nvPr/>
        </p:nvSpPr>
        <p:spPr>
          <a:xfrm>
            <a:off x="6172200" y="306324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Base image</a:t>
            </a:r>
            <a:endParaRPr lang="en-US" sz="1250" dirty="0"/>
          </a:p>
        </p:txBody>
      </p:sp>
      <p:sp>
        <p:nvSpPr>
          <p:cNvPr id="24" name="step:7:wipeL"/>
          <p:cNvSpPr txBox="1"/>
          <p:nvPr/>
        </p:nvSpPr>
        <p:spPr>
          <a:xfrm>
            <a:off x="7406640" y="306324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Whatever was pinned</a:t>
            </a:r>
            <a:endParaRPr lang="en-US" sz="1250" dirty="0"/>
          </a:p>
        </p:txBody>
      </p:sp>
      <p:sp>
        <p:nvSpPr>
          <p:cNvPr id="25" name="step:7:wipeL"/>
          <p:cNvSpPr txBox="1"/>
          <p:nvPr/>
        </p:nvSpPr>
        <p:spPr>
          <a:xfrm>
            <a:off x="9418320" y="306324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One curated stack</a:t>
            </a:r>
            <a:endParaRPr lang="en-US" sz="1250" dirty="0"/>
          </a:p>
        </p:txBody>
      </p:sp>
      <p:sp>
        <p:nvSpPr>
          <p:cNvPr id="26" name="step:7:wipeL"/>
          <p:cNvSpPr/>
          <p:nvPr/>
        </p:nvSpPr>
        <p:spPr>
          <a:xfrm>
            <a:off x="6172200" y="3063240"/>
            <a:ext cx="5394960" cy="0"/>
          </a:xfrm>
          <a:prstGeom prst="line">
            <a:avLst/>
          </a:prstGeom>
          <a:noFill/>
          <a:ln w="6350">
            <a:solidFill>
              <a:srgbClr val="E4E7EC"/>
            </a:solidFill>
            <a:prstDash val="solid"/>
          </a:ln>
        </p:spPr>
      </p:sp>
      <p:sp>
        <p:nvSpPr>
          <p:cNvPr id="27" name="step:8:fade"/>
          <p:cNvSpPr/>
          <p:nvPr/>
        </p:nvSpPr>
        <p:spPr>
          <a:xfrm>
            <a:off x="9281160" y="3566160"/>
            <a:ext cx="2286000" cy="502920"/>
          </a:xfrm>
          <a:prstGeom prst="rect">
            <a:avLst/>
          </a:prstGeom>
          <a:solidFill>
            <a:srgbClr val="E3F1F0"/>
          </a:solidFill>
          <a:ln w="12700">
            <a:solidFill>
              <a:srgbClr val="E3F1F0"/>
            </a:solidFill>
            <a:prstDash val="solid"/>
          </a:ln>
        </p:spPr>
      </p:sp>
      <p:sp>
        <p:nvSpPr>
          <p:cNvPr id="28" name="step:8:wipeL"/>
          <p:cNvSpPr txBox="1"/>
          <p:nvPr/>
        </p:nvSpPr>
        <p:spPr>
          <a:xfrm>
            <a:off x="6172200" y="356616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Language setup</a:t>
            </a:r>
            <a:endParaRPr lang="en-US" sz="1250" dirty="0"/>
          </a:p>
        </p:txBody>
      </p:sp>
      <p:sp>
        <p:nvSpPr>
          <p:cNvPr id="29" name="step:8:wipeL"/>
          <p:cNvSpPr txBox="1"/>
          <p:nvPr/>
        </p:nvSpPr>
        <p:spPr>
          <a:xfrm>
            <a:off x="7406640" y="356616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Copied between repos</a:t>
            </a:r>
            <a:endParaRPr lang="en-US" sz="1250" dirty="0"/>
          </a:p>
        </p:txBody>
      </p:sp>
      <p:sp>
        <p:nvSpPr>
          <p:cNvPr id="30" name="step:8:wipeL"/>
          <p:cNvSpPr txBox="1"/>
          <p:nvPr/>
        </p:nvSpPr>
        <p:spPr>
          <a:xfrm>
            <a:off x="9418320" y="356616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Detected from source</a:t>
            </a:r>
            <a:endParaRPr lang="en-US" sz="1250" dirty="0"/>
          </a:p>
        </p:txBody>
      </p:sp>
      <p:sp>
        <p:nvSpPr>
          <p:cNvPr id="31" name="step:8:wipeL"/>
          <p:cNvSpPr/>
          <p:nvPr/>
        </p:nvSpPr>
        <p:spPr>
          <a:xfrm>
            <a:off x="6172200" y="3566160"/>
            <a:ext cx="5394960" cy="0"/>
          </a:xfrm>
          <a:prstGeom prst="line">
            <a:avLst/>
          </a:prstGeom>
          <a:noFill/>
          <a:ln w="6350">
            <a:solidFill>
              <a:srgbClr val="E4E7EC"/>
            </a:solidFill>
            <a:prstDash val="solid"/>
          </a:ln>
        </p:spPr>
      </p:sp>
      <p:sp>
        <p:nvSpPr>
          <p:cNvPr id="32" name="step:9:fade"/>
          <p:cNvSpPr/>
          <p:nvPr/>
        </p:nvSpPr>
        <p:spPr>
          <a:xfrm>
            <a:off x="9281160" y="4069080"/>
            <a:ext cx="2286000" cy="502920"/>
          </a:xfrm>
          <a:prstGeom prst="rect">
            <a:avLst/>
          </a:prstGeom>
          <a:solidFill>
            <a:srgbClr val="E3F1F0"/>
          </a:solidFill>
          <a:ln w="12700">
            <a:solidFill>
              <a:srgbClr val="E3F1F0"/>
            </a:solidFill>
            <a:prstDash val="solid"/>
          </a:ln>
        </p:spPr>
      </p:sp>
      <p:sp>
        <p:nvSpPr>
          <p:cNvPr id="33" name="step:9:wipeL"/>
          <p:cNvSpPr txBox="1"/>
          <p:nvPr/>
        </p:nvSpPr>
        <p:spPr>
          <a:xfrm>
            <a:off x="6172200" y="406908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Patching the base</a:t>
            </a:r>
            <a:endParaRPr lang="en-US" sz="1250" dirty="0"/>
          </a:p>
        </p:txBody>
      </p:sp>
      <p:sp>
        <p:nvSpPr>
          <p:cNvPr id="34" name="step:9:wipeL"/>
          <p:cNvSpPr txBox="1"/>
          <p:nvPr/>
        </p:nvSpPr>
        <p:spPr>
          <a:xfrm>
            <a:off x="7406640" y="406908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Rebuild and hope</a:t>
            </a:r>
            <a:endParaRPr lang="en-US" sz="1250" dirty="0"/>
          </a:p>
        </p:txBody>
      </p:sp>
      <p:sp>
        <p:nvSpPr>
          <p:cNvPr id="35" name="step:9:wipeL"/>
          <p:cNvSpPr txBox="1"/>
          <p:nvPr/>
        </p:nvSpPr>
        <p:spPr>
          <a:xfrm>
            <a:off x="9418320" y="406908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Rebase, in seconds</a:t>
            </a:r>
            <a:endParaRPr lang="en-US" sz="1250" dirty="0"/>
          </a:p>
        </p:txBody>
      </p:sp>
      <p:sp>
        <p:nvSpPr>
          <p:cNvPr id="36" name="step:9:wipeL"/>
          <p:cNvSpPr/>
          <p:nvPr/>
        </p:nvSpPr>
        <p:spPr>
          <a:xfrm>
            <a:off x="6172200" y="4069080"/>
            <a:ext cx="5394960" cy="0"/>
          </a:xfrm>
          <a:prstGeom prst="line">
            <a:avLst/>
          </a:prstGeom>
          <a:noFill/>
          <a:ln w="6350">
            <a:solidFill>
              <a:srgbClr val="E4E7EC"/>
            </a:solidFill>
            <a:prstDash val="solid"/>
          </a:ln>
        </p:spPr>
      </p:sp>
      <p:sp>
        <p:nvSpPr>
          <p:cNvPr id="37" name="step:10:fade"/>
          <p:cNvSpPr/>
          <p:nvPr/>
        </p:nvSpPr>
        <p:spPr>
          <a:xfrm>
            <a:off x="9281160" y="4572000"/>
            <a:ext cx="2286000" cy="502920"/>
          </a:xfrm>
          <a:prstGeom prst="rect">
            <a:avLst/>
          </a:prstGeom>
          <a:solidFill>
            <a:srgbClr val="E3F1F0"/>
          </a:solidFill>
          <a:ln w="12700">
            <a:solidFill>
              <a:srgbClr val="E3F1F0"/>
            </a:solidFill>
            <a:prstDash val="solid"/>
          </a:ln>
        </p:spPr>
      </p:sp>
      <p:sp>
        <p:nvSpPr>
          <p:cNvPr id="38" name="step:10:wipeL"/>
          <p:cNvSpPr txBox="1"/>
          <p:nvPr/>
        </p:nvSpPr>
        <p:spPr>
          <a:xfrm>
            <a:off x="6172200" y="457200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Consistency</a:t>
            </a:r>
            <a:endParaRPr lang="en-US" sz="1250" dirty="0"/>
          </a:p>
        </p:txBody>
      </p:sp>
      <p:sp>
        <p:nvSpPr>
          <p:cNvPr id="39" name="step:10:wipeL"/>
          <p:cNvSpPr txBox="1"/>
          <p:nvPr/>
        </p:nvSpPr>
        <p:spPr>
          <a:xfrm>
            <a:off x="7406640" y="4572000"/>
            <a:ext cx="1920240" cy="502920"/>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Per repository</a:t>
            </a:r>
            <a:endParaRPr lang="en-US" sz="1250" dirty="0"/>
          </a:p>
        </p:txBody>
      </p:sp>
      <p:sp>
        <p:nvSpPr>
          <p:cNvPr id="40" name="step:10:wipeL"/>
          <p:cNvSpPr txBox="1"/>
          <p:nvPr/>
        </p:nvSpPr>
        <p:spPr>
          <a:xfrm>
            <a:off x="9418320" y="457200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Platform-wide</a:t>
            </a:r>
            <a:endParaRPr lang="en-US" sz="1250" dirty="0"/>
          </a:p>
        </p:txBody>
      </p:sp>
      <p:sp>
        <p:nvSpPr>
          <p:cNvPr id="41" name="step:10:wipeL"/>
          <p:cNvSpPr/>
          <p:nvPr/>
        </p:nvSpPr>
        <p:spPr>
          <a:xfrm>
            <a:off x="6172200" y="4572000"/>
            <a:ext cx="5394960" cy="0"/>
          </a:xfrm>
          <a:prstGeom prst="line">
            <a:avLst/>
          </a:prstGeom>
          <a:noFill/>
          <a:ln w="6350">
            <a:solidFill>
              <a:srgbClr val="E4E7EC"/>
            </a:solidFill>
            <a:prstDash val="solid"/>
          </a:ln>
        </p:spPr>
      </p:sp>
      <p:sp>
        <p:nvSpPr>
          <p:cNvPr id="42" name="Text 38"/>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27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childTnLst>
                          </p:cTn>
                        </p:par>
                      </p:childTnLst>
                    </p:cTn>
                  </p:par>
                  <p:par>
                    <p:cTn id="14" fill="hold">
                      <p:stCondLst>
                        <p:cond delay="indefinite"/>
                      </p:stCondLst>
                      <p:childTnLst>
                        <p:par>
                          <p:cTn id="15"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350"/>
                                        <p:tgtEl>
                                          <p:spTgt spid="6"/>
                                        </p:tgtEl>
                                      </p:cBhvr>
                                    </p:animEffect>
                                  </p:childTnLst>
                                </p:cTn>
                              </p:par>
                              <p:par>
                                <p:cTn id="13" presetID="22" presetClass="entr" presetSubtype="8"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childTnLst>
                          </p:cTn>
                        </p:par>
                      </p:childTnLst>
                    </p:cTn>
                  </p:par>
                  <p:par>
                    <p:cTn id="22" fill="hold">
                      <p:stCondLst>
                        <p:cond delay="indefinite"/>
                      </p:stCondLst>
                      <p:childTnLst>
                        <p:par>
                          <p:cTn id="23" fill="hold">
                            <p:stCondLst>
                              <p:cond delay="0"/>
                            </p:stCondLst>
                            <p:childTnLst>
                              <p:par>
                                <p:cTn id="18"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350"/>
                                        <p:tgtEl>
                                          <p:spTgt spid="8"/>
                                        </p:tgtEl>
                                      </p:cBhvr>
                                    </p:animEffect>
                                  </p:childTnLst>
                                </p:cTn>
                              </p:par>
                              <p:par>
                                <p:cTn id="21" presetID="22" presetClass="entr" presetSubtype="8"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childTnLst>
                          </p:cTn>
                        </p:par>
                      </p:childTnLst>
                    </p:cTn>
                  </p:par>
                  <p:par>
                    <p:cTn id="30" fill="hold">
                      <p:stCondLst>
                        <p:cond delay="indefinite"/>
                      </p:stCondLst>
                      <p:childTnLst>
                        <p:par>
                          <p:cTn id="31" fill="hold">
                            <p:stCondLst>
                              <p:cond delay="0"/>
                            </p:stCondLst>
                            <p:childTnLst>
                              <p:par>
                                <p:cTn id="26"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350"/>
                                        <p:tgtEl>
                                          <p:spTgt spid="10"/>
                                        </p:tgtEl>
                                      </p:cBhvr>
                                    </p:animEffect>
                                  </p:childTnLst>
                                </p:cTn>
                              </p:par>
                              <p:par>
                                <p:cTn id="29"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childTnLst>
                          </p:cTn>
                        </p:par>
                      </p:childTnLst>
                    </p:cTn>
                  </p:par>
                  <p:par>
                    <p:cTn id="38" fill="hold">
                      <p:stCondLst>
                        <p:cond delay="indefinite"/>
                      </p:stCondLst>
                      <p:childTnLst>
                        <p:par>
                          <p:cTn id="39" fill="hold">
                            <p:stCondLst>
                              <p:cond delay="0"/>
                            </p:stCondLst>
                            <p:childTnLst>
                              <p:par>
                                <p:cTn id="34"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350"/>
                                        <p:tgtEl>
                                          <p:spTgt spid="12"/>
                                        </p:tgtEl>
                                      </p:cBhvr>
                                    </p:animEffect>
                                  </p:childTnLst>
                                </p:cTn>
                              </p:par>
                              <p:par>
                                <p:cTn id="37"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childTnLst>
                          </p:cTn>
                        </p:par>
                      </p:childTnLst>
                    </p:cTn>
                  </p:par>
                  <p:par>
                    <p:cTn id="46" fill="hold">
                      <p:stCondLst>
                        <p:cond delay="indefinite"/>
                      </p:stCondLst>
                      <p:childTnLst>
                        <p:par>
                          <p:cTn id="47" fill="hold">
                            <p:stCondLst>
                              <p:cond delay="0"/>
                            </p:stCondLst>
                            <p:childTnLst>
                              <p:par>
                                <p:cTn id="42"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350"/>
                                        <p:tgtEl>
                                          <p:spTgt spid="14"/>
                                        </p:tgtEl>
                                      </p:cBhvr>
                                    </p:animEffect>
                                  </p:childTnLst>
                                </p:cTn>
                              </p:par>
                              <p:par>
                                <p:cTn id="45" presetID="22" presetClass="entr" presetSubtype="8"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350"/>
                                        <p:tgtEl>
                                          <p:spTgt spid="15"/>
                                        </p:tgtEl>
                                      </p:cBhvr>
                                    </p:animEffect>
                                  </p:childTnLst>
                                </p:cTn>
                              </p:par>
                            </p:childTnLst>
                          </p:cTn>
                        </p:par>
                      </p:childTnLst>
                    </p:cTn>
                  </p:par>
                  <p:par>
                    <p:cTn id="66" fill="hold">
                      <p:stCondLst>
                        <p:cond delay="indefinite"/>
                      </p:stCondLst>
                      <p:childTnLst>
                        <p:par>
                          <p:cTn id="67" fill="hold">
                            <p:stCondLst>
                              <p:cond delay="0"/>
                            </p:stCondLst>
                            <p:childTnLst>
                              <p:par>
                                <p:cTn id="50"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00"/>
                                        <p:tgtEl>
                                          <p:spTgt spid="16"/>
                                        </p:tgtEl>
                                      </p:cBhvr>
                                    </p:animEffect>
                                  </p:childTnLst>
                                </p:cTn>
                              </p:par>
                              <p:par>
                                <p:cTn id="53"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childTnLst>
                                </p:cTn>
                              </p:par>
                              <p:par>
                                <p:cTn id="56"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00"/>
                                        <p:tgtEl>
                                          <p:spTgt spid="18"/>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350"/>
                                        <p:tgtEl>
                                          <p:spTgt spid="19"/>
                                        </p:tgtEl>
                                      </p:cBhvr>
                                    </p:animEffect>
                                  </p:childTnLst>
                                </p:cTn>
                              </p:par>
                              <p:par>
                                <p:cTn id="62" presetID="22" presetClass="entr" presetSubtype="8"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350"/>
                                        <p:tgtEl>
                                          <p:spTgt spid="20"/>
                                        </p:tgtEl>
                                      </p:cBhvr>
                                    </p:animEffect>
                                  </p:childTnLst>
                                </p:cTn>
                              </p:par>
                              <p:par>
                                <p:cTn id="65" presetID="22" presetClass="entr" presetSubtype="8"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350"/>
                                        <p:tgtEl>
                                          <p:spTgt spid="21"/>
                                        </p:tgtEl>
                                      </p:cBhvr>
                                    </p:animEffect>
                                  </p:childTnLst>
                                </p:cTn>
                              </p:par>
                            </p:childTnLst>
                          </p:cTn>
                        </p:par>
                      </p:childTnLst>
                    </p:cTn>
                  </p:par>
                  <p:par>
                    <p:cTn id="83" fill="hold">
                      <p:stCondLst>
                        <p:cond delay="indefinite"/>
                      </p:stCondLst>
                      <p:childTnLst>
                        <p:par>
                          <p:cTn id="84" fill="hold">
                            <p:stCondLst>
                              <p:cond delay="0"/>
                            </p:stCondLst>
                            <p:childTnLst>
                              <p:par>
                                <p:cTn id="70" presetID="10"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400"/>
                                        <p:tgtEl>
                                          <p:spTgt spid="22"/>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350"/>
                                        <p:tgtEl>
                                          <p:spTgt spid="2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350"/>
                                        <p:tgtEl>
                                          <p:spTgt spid="24"/>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350"/>
                                        <p:tgtEl>
                                          <p:spTgt spid="25"/>
                                        </p:tgtEl>
                                      </p:cBhvr>
                                    </p:animEffect>
                                  </p:childTnLst>
                                </p:cTn>
                              </p:par>
                              <p:par>
                                <p:cTn id="82"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35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87" presetID="10" presetClass="entr" presetSubtype="0"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400"/>
                                        <p:tgtEl>
                                          <p:spTgt spid="27"/>
                                        </p:tgtEl>
                                      </p:cBhvr>
                                    </p:animEffect>
                                  </p:childTnLst>
                                </p:cTn>
                              </p:par>
                              <p:par>
                                <p:cTn id="90" presetID="22" presetClass="entr" presetSubtype="8"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left)">
                                      <p:cBhvr>
                                        <p:cTn id="89" dur="350"/>
                                        <p:tgtEl>
                                          <p:spTgt spid="28"/>
                                        </p:tgtEl>
                                      </p:cBhvr>
                                    </p:animEffect>
                                  </p:childTnLst>
                                </p:cTn>
                              </p:par>
                              <p:par>
                                <p:cTn id="93" presetID="22" presetClass="entr" presetSubtype="8"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350"/>
                                        <p:tgtEl>
                                          <p:spTgt spid="29"/>
                                        </p:tgtEl>
                                      </p:cBhvr>
                                    </p:animEffect>
                                  </p:childTnLst>
                                </p:cTn>
                              </p:par>
                              <p:par>
                                <p:cTn id="96" presetID="22" presetClass="entr" presetSubtype="8"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350"/>
                                        <p:tgtEl>
                                          <p:spTgt spid="30"/>
                                        </p:tgtEl>
                                      </p:cBhvr>
                                    </p:animEffect>
                                  </p:childTnLst>
                                </p:cTn>
                              </p:par>
                              <p:par>
                                <p:cTn id="99" presetID="22" presetClass="entr" presetSubtype="8"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350"/>
                                        <p:tgtEl>
                                          <p:spTgt spid="31"/>
                                        </p:tgtEl>
                                      </p:cBhvr>
                                    </p:animEffect>
                                  </p:childTnLst>
                                </p:cTn>
                              </p:par>
                            </p:childTnLst>
                          </p:cTn>
                        </p:par>
                      </p:childTnLst>
                    </p:cTn>
                  </p:par>
                  <p:par>
                    <p:cTn id="117" fill="hold">
                      <p:stCondLst>
                        <p:cond delay="indefinite"/>
                      </p:stCondLst>
                      <p:childTnLst>
                        <p:par>
                          <p:cTn id="118" fill="hold">
                            <p:stCondLst>
                              <p:cond delay="0"/>
                            </p:stCondLst>
                            <p:childTnLst>
                              <p:par>
                                <p:cTn id="104" presetID="10" presetClass="entr" presetSubtype="0"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400"/>
                                        <p:tgtEl>
                                          <p:spTgt spid="32"/>
                                        </p:tgtEl>
                                      </p:cBhvr>
                                    </p:animEffect>
                                  </p:childTnLst>
                                </p:cTn>
                              </p:par>
                              <p:par>
                                <p:cTn id="107" presetID="22" presetClass="entr" presetSubtype="8" fill="hold" grpId="0" nodeType="with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wipe(left)">
                                      <p:cBhvr>
                                        <p:cTn id="106" dur="350"/>
                                        <p:tgtEl>
                                          <p:spTgt spid="33"/>
                                        </p:tgtEl>
                                      </p:cBhvr>
                                    </p:animEffect>
                                  </p:childTnLst>
                                </p:cTn>
                              </p:par>
                              <p:par>
                                <p:cTn id="110" presetID="22" presetClass="entr" presetSubtype="8"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left)">
                                      <p:cBhvr>
                                        <p:cTn id="109" dur="350"/>
                                        <p:tgtEl>
                                          <p:spTgt spid="34"/>
                                        </p:tgtEl>
                                      </p:cBhvr>
                                    </p:animEffect>
                                  </p:childTnLst>
                                </p:cTn>
                              </p:par>
                              <p:par>
                                <p:cTn id="113" presetID="22" presetClass="entr" presetSubtype="8" fill="hold" grpId="0" nodeType="with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wipe(left)">
                                      <p:cBhvr>
                                        <p:cTn id="112" dur="350"/>
                                        <p:tgtEl>
                                          <p:spTgt spid="35"/>
                                        </p:tgtEl>
                                      </p:cBhvr>
                                    </p:animEffect>
                                  </p:childTnLst>
                                </p:cTn>
                              </p:par>
                              <p:par>
                                <p:cTn id="116" presetID="22" presetClass="entr" presetSubtype="8"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left)">
                                      <p:cBhvr>
                                        <p:cTn id="115" dur="350"/>
                                        <p:tgtEl>
                                          <p:spTgt spid="36"/>
                                        </p:tgtEl>
                                      </p:cBhvr>
                                    </p:animEffect>
                                  </p:childTnLst>
                                </p:cTn>
                              </p:par>
                            </p:childTnLst>
                          </p:cTn>
                        </p:par>
                      </p:childTnLst>
                    </p:cTn>
                  </p:par>
                  <p:par>
                    <p:cTn id="134" fill="hold">
                      <p:stCondLst>
                        <p:cond delay="indefinite"/>
                      </p:stCondLst>
                      <p:childTnLst>
                        <p:par>
                          <p:cTn id="135" fill="hold">
                            <p:stCondLst>
                              <p:cond delay="0"/>
                            </p:stCondLst>
                            <p:childTnLst>
                              <p:par>
                                <p:cTn id="121" presetID="10" presetClass="entr" presetSubtype="0" fill="hold" grpId="0" nodeType="click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400"/>
                                        <p:tgtEl>
                                          <p:spTgt spid="37"/>
                                        </p:tgtEl>
                                      </p:cBhvr>
                                    </p:animEffect>
                                  </p:childTnLst>
                                </p:cTn>
                              </p:par>
                              <p:par>
                                <p:cTn id="124" presetID="22" presetClass="entr" presetSubtype="8"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wipe(left)">
                                      <p:cBhvr>
                                        <p:cTn id="123" dur="350"/>
                                        <p:tgtEl>
                                          <p:spTgt spid="38"/>
                                        </p:tgtEl>
                                      </p:cBhvr>
                                    </p:animEffect>
                                  </p:childTnLst>
                                </p:cTn>
                              </p:par>
                              <p:par>
                                <p:cTn id="127" presetID="22" presetClass="entr" presetSubtype="8" fill="hold" grpId="0" nodeType="withEffect">
                                  <p:stCondLst>
                                    <p:cond delay="0"/>
                                  </p:stCondLst>
                                  <p:childTnLst>
                                    <p:set>
                                      <p:cBhvr>
                                        <p:cTn id="125" dur="1" fill="hold">
                                          <p:stCondLst>
                                            <p:cond delay="0"/>
                                          </p:stCondLst>
                                        </p:cTn>
                                        <p:tgtEl>
                                          <p:spTgt spid="39"/>
                                        </p:tgtEl>
                                        <p:attrNameLst>
                                          <p:attrName>style.visibility</p:attrName>
                                        </p:attrNameLst>
                                      </p:cBhvr>
                                      <p:to>
                                        <p:strVal val="visible"/>
                                      </p:to>
                                    </p:set>
                                    <p:animEffect transition="in" filter="wipe(left)">
                                      <p:cBhvr>
                                        <p:cTn id="126" dur="350"/>
                                        <p:tgtEl>
                                          <p:spTgt spid="39"/>
                                        </p:tgtEl>
                                      </p:cBhvr>
                                    </p:animEffect>
                                  </p:childTnLst>
                                </p:cTn>
                              </p:par>
                              <p:par>
                                <p:cTn id="130" presetID="22" presetClass="entr" presetSubtype="8" fill="hold" grpId="0" nodeType="with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wipe(left)">
                                      <p:cBhvr>
                                        <p:cTn id="129" dur="350"/>
                                        <p:tgtEl>
                                          <p:spTgt spid="40"/>
                                        </p:tgtEl>
                                      </p:cBhvr>
                                    </p:animEffect>
                                  </p:childTnLst>
                                </p:cTn>
                              </p:par>
                              <p:par>
                                <p:cTn id="133" presetID="22" presetClass="entr" presetSubtype="8" fill="hold" grpId="0" nodeType="with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wipe(left)">
                                      <p:cBhvr>
                                        <p:cTn id="132" dur="3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Paketo: the buildpacks we run</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open-source implementation we use</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buildpack per language, plus shared ones</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Detection picks the group for you</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We mirror them into the airgap</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Python, Go and Node today</a:t>
            </a:r>
            <a:endParaRPr lang="en-US" sz="1900" dirty="0"/>
          </a:p>
        </p:txBody>
      </p:sp>
      <p:sp>
        <p:nvSpPr>
          <p:cNvPr id="15" name="step:6:fade"/>
          <p:cNvSpPr txBox="1"/>
          <p:nvPr/>
        </p:nvSpPr>
        <p:spPr>
          <a:xfrm>
            <a:off x="6172200" y="2194560"/>
            <a:ext cx="118872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BUILDPACK</a:t>
            </a:r>
            <a:endParaRPr lang="en-US" sz="900" dirty="0"/>
          </a:p>
        </p:txBody>
      </p:sp>
      <p:sp>
        <p:nvSpPr>
          <p:cNvPr id="16" name="step:6:fade"/>
          <p:cNvSpPr txBox="1"/>
          <p:nvPr/>
        </p:nvSpPr>
        <p:spPr>
          <a:xfrm>
            <a:off x="7360920" y="2194560"/>
            <a:ext cx="201168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DETECTS</a:t>
            </a:r>
            <a:endParaRPr lang="en-US" sz="900" dirty="0"/>
          </a:p>
        </p:txBody>
      </p:sp>
      <p:sp>
        <p:nvSpPr>
          <p:cNvPr id="17" name="step:6:fade"/>
          <p:cNvSpPr txBox="1"/>
          <p:nvPr/>
        </p:nvSpPr>
        <p:spPr>
          <a:xfrm>
            <a:off x="9372600" y="2194560"/>
            <a:ext cx="2194560" cy="274320"/>
          </a:xfrm>
          <a:prstGeom prst="rect">
            <a:avLst/>
          </a:prstGeom>
          <a:noFill/>
          <a:ln/>
        </p:spPr>
        <p:txBody>
          <a:bodyPr wrap="square" lIns="0" tIns="0" rIns="0" bIns="0" rtlCol="0" anchor="ctr"/>
          <a:lstStyle/>
          <a:p>
            <a:pPr indent="0" marL="0">
              <a:buNone/>
            </a:pPr>
            <a:r>
              <a:rPr lang="en-US" sz="900" spc="200" kern="0" dirty="0">
                <a:solidFill>
                  <a:srgbClr val="667085"/>
                </a:solidFill>
                <a:latin typeface="Courier New" pitchFamily="34" charset="0"/>
                <a:ea typeface="Courier New" pitchFamily="34" charset="-122"/>
                <a:cs typeface="Courier New" pitchFamily="34" charset="-120"/>
              </a:rPr>
              <a:t>GIVES YOU</a:t>
            </a:r>
            <a:endParaRPr lang="en-US" sz="900" dirty="0"/>
          </a:p>
        </p:txBody>
      </p:sp>
      <p:sp>
        <p:nvSpPr>
          <p:cNvPr id="18" name="step:6:wipeL"/>
          <p:cNvSpPr txBox="1"/>
          <p:nvPr/>
        </p:nvSpPr>
        <p:spPr>
          <a:xfrm>
            <a:off x="6172200" y="256032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paketo/python</a:t>
            </a:r>
            <a:endParaRPr lang="en-US" sz="1250" dirty="0"/>
          </a:p>
        </p:txBody>
      </p:sp>
      <p:sp>
        <p:nvSpPr>
          <p:cNvPr id="19" name="step:6:wipeL"/>
          <p:cNvSpPr txBox="1"/>
          <p:nvPr/>
        </p:nvSpPr>
        <p:spPr>
          <a:xfrm>
            <a:off x="7406640" y="256032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requirements.txt</a:t>
            </a:r>
            <a:endParaRPr lang="en-US" sz="1250" dirty="0"/>
          </a:p>
        </p:txBody>
      </p:sp>
      <p:sp>
        <p:nvSpPr>
          <p:cNvPr id="20" name="step:6:wipeL"/>
          <p:cNvSpPr txBox="1"/>
          <p:nvPr/>
        </p:nvSpPr>
        <p:spPr>
          <a:xfrm>
            <a:off x="9418320" y="256032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CPython, pip install</a:t>
            </a:r>
            <a:endParaRPr lang="en-US" sz="1250" dirty="0"/>
          </a:p>
        </p:txBody>
      </p:sp>
      <p:sp>
        <p:nvSpPr>
          <p:cNvPr id="21" name="step:7:wipeL"/>
          <p:cNvSpPr txBox="1"/>
          <p:nvPr/>
        </p:nvSpPr>
        <p:spPr>
          <a:xfrm>
            <a:off x="6172200" y="306324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paketo/go</a:t>
            </a:r>
            <a:endParaRPr lang="en-US" sz="1250" dirty="0"/>
          </a:p>
        </p:txBody>
      </p:sp>
      <p:sp>
        <p:nvSpPr>
          <p:cNvPr id="22" name="step:7:wipeL"/>
          <p:cNvSpPr txBox="1"/>
          <p:nvPr/>
        </p:nvSpPr>
        <p:spPr>
          <a:xfrm>
            <a:off x="7406640" y="306324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go.mod</a:t>
            </a:r>
            <a:endParaRPr lang="en-US" sz="1250" dirty="0"/>
          </a:p>
        </p:txBody>
      </p:sp>
      <p:sp>
        <p:nvSpPr>
          <p:cNvPr id="23" name="step:7:wipeL"/>
          <p:cNvSpPr txBox="1"/>
          <p:nvPr/>
        </p:nvSpPr>
        <p:spPr>
          <a:xfrm>
            <a:off x="9418320" y="306324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a compiled binary</a:t>
            </a:r>
            <a:endParaRPr lang="en-US" sz="1250" dirty="0"/>
          </a:p>
        </p:txBody>
      </p:sp>
      <p:sp>
        <p:nvSpPr>
          <p:cNvPr id="24" name="step:7:wipeL"/>
          <p:cNvSpPr/>
          <p:nvPr/>
        </p:nvSpPr>
        <p:spPr>
          <a:xfrm>
            <a:off x="6172200" y="3063240"/>
            <a:ext cx="5394960" cy="0"/>
          </a:xfrm>
          <a:prstGeom prst="line">
            <a:avLst/>
          </a:prstGeom>
          <a:noFill/>
          <a:ln w="6350">
            <a:solidFill>
              <a:srgbClr val="E4E7EC"/>
            </a:solidFill>
            <a:prstDash val="solid"/>
          </a:ln>
        </p:spPr>
      </p:sp>
      <p:sp>
        <p:nvSpPr>
          <p:cNvPr id="25" name="step:8:wipeL"/>
          <p:cNvSpPr txBox="1"/>
          <p:nvPr/>
        </p:nvSpPr>
        <p:spPr>
          <a:xfrm>
            <a:off x="6172200" y="356616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paketo/nodejs</a:t>
            </a:r>
            <a:endParaRPr lang="en-US" sz="1250" dirty="0"/>
          </a:p>
        </p:txBody>
      </p:sp>
      <p:sp>
        <p:nvSpPr>
          <p:cNvPr id="26" name="step:8:wipeL"/>
          <p:cNvSpPr txBox="1"/>
          <p:nvPr/>
        </p:nvSpPr>
        <p:spPr>
          <a:xfrm>
            <a:off x="7406640" y="356616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package.json</a:t>
            </a:r>
            <a:endParaRPr lang="en-US" sz="1250" dirty="0"/>
          </a:p>
        </p:txBody>
      </p:sp>
      <p:sp>
        <p:nvSpPr>
          <p:cNvPr id="27" name="step:8:wipeL"/>
          <p:cNvSpPr txBox="1"/>
          <p:nvPr/>
        </p:nvSpPr>
        <p:spPr>
          <a:xfrm>
            <a:off x="9418320" y="356616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Node, npm ci</a:t>
            </a:r>
            <a:endParaRPr lang="en-US" sz="1250" dirty="0"/>
          </a:p>
        </p:txBody>
      </p:sp>
      <p:sp>
        <p:nvSpPr>
          <p:cNvPr id="28" name="step:8:wipeL"/>
          <p:cNvSpPr/>
          <p:nvPr/>
        </p:nvSpPr>
        <p:spPr>
          <a:xfrm>
            <a:off x="6172200" y="3566160"/>
            <a:ext cx="5394960" cy="0"/>
          </a:xfrm>
          <a:prstGeom prst="line">
            <a:avLst/>
          </a:prstGeom>
          <a:noFill/>
          <a:ln w="6350">
            <a:solidFill>
              <a:srgbClr val="E4E7EC"/>
            </a:solidFill>
            <a:prstDash val="solid"/>
          </a:ln>
        </p:spPr>
      </p:sp>
      <p:sp>
        <p:nvSpPr>
          <p:cNvPr id="29" name="step:9:wipeL"/>
          <p:cNvSpPr txBox="1"/>
          <p:nvPr/>
        </p:nvSpPr>
        <p:spPr>
          <a:xfrm>
            <a:off x="6172200" y="406908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paketo/ca-certificates</a:t>
            </a:r>
            <a:endParaRPr lang="en-US" sz="1250" dirty="0"/>
          </a:p>
        </p:txBody>
      </p:sp>
      <p:sp>
        <p:nvSpPr>
          <p:cNvPr id="30" name="step:9:wipeL"/>
          <p:cNvSpPr txBox="1"/>
          <p:nvPr/>
        </p:nvSpPr>
        <p:spPr>
          <a:xfrm>
            <a:off x="7406640" y="406908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always</a:t>
            </a:r>
            <a:endParaRPr lang="en-US" sz="1250" dirty="0"/>
          </a:p>
        </p:txBody>
      </p:sp>
      <p:sp>
        <p:nvSpPr>
          <p:cNvPr id="31" name="step:9:wipeL"/>
          <p:cNvSpPr txBox="1"/>
          <p:nvPr/>
        </p:nvSpPr>
        <p:spPr>
          <a:xfrm>
            <a:off x="9418320" y="406908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our internal CA</a:t>
            </a:r>
            <a:endParaRPr lang="en-US" sz="1250" dirty="0"/>
          </a:p>
        </p:txBody>
      </p:sp>
      <p:sp>
        <p:nvSpPr>
          <p:cNvPr id="32" name="step:9:wipeL"/>
          <p:cNvSpPr/>
          <p:nvPr/>
        </p:nvSpPr>
        <p:spPr>
          <a:xfrm>
            <a:off x="6172200" y="4069080"/>
            <a:ext cx="5394960" cy="0"/>
          </a:xfrm>
          <a:prstGeom prst="line">
            <a:avLst/>
          </a:prstGeom>
          <a:noFill/>
          <a:ln w="6350">
            <a:solidFill>
              <a:srgbClr val="E4E7EC"/>
            </a:solidFill>
            <a:prstDash val="solid"/>
          </a:ln>
        </p:spPr>
      </p:sp>
      <p:sp>
        <p:nvSpPr>
          <p:cNvPr id="33" name="step:10:wipeL"/>
          <p:cNvSpPr txBox="1"/>
          <p:nvPr/>
        </p:nvSpPr>
        <p:spPr>
          <a:xfrm>
            <a:off x="6172200" y="4572000"/>
            <a:ext cx="1097280" cy="50292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paketo/procfile</a:t>
            </a:r>
            <a:endParaRPr lang="en-US" sz="1250" dirty="0"/>
          </a:p>
        </p:txBody>
      </p:sp>
      <p:sp>
        <p:nvSpPr>
          <p:cNvPr id="34" name="step:10:wipeL"/>
          <p:cNvSpPr txBox="1"/>
          <p:nvPr/>
        </p:nvSpPr>
        <p:spPr>
          <a:xfrm>
            <a:off x="7406640" y="4572000"/>
            <a:ext cx="192024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Procfile</a:t>
            </a:r>
            <a:endParaRPr lang="en-US" sz="1250" dirty="0"/>
          </a:p>
        </p:txBody>
      </p:sp>
      <p:sp>
        <p:nvSpPr>
          <p:cNvPr id="35" name="step:10:wipeL"/>
          <p:cNvSpPr txBox="1"/>
          <p:nvPr/>
        </p:nvSpPr>
        <p:spPr>
          <a:xfrm>
            <a:off x="9418320" y="4572000"/>
            <a:ext cx="2103120" cy="502920"/>
          </a:xfrm>
          <a:prstGeom prst="rect">
            <a:avLst/>
          </a:prstGeom>
          <a:noFill/>
          <a:ln/>
        </p:spPr>
        <p:txBody>
          <a:bodyPr wrap="square" lIns="0" tIns="0" rIns="0" bIns="0" rtlCol="0" anchor="ctr"/>
          <a:lstStyle/>
          <a:p>
            <a:pPr indent="0" marL="0">
              <a:buNone/>
            </a:pPr>
            <a:r>
              <a:rPr lang="en-US" sz="1250" dirty="0">
                <a:solidFill>
                  <a:srgbClr val="1B1F2A"/>
                </a:solidFill>
                <a:latin typeface="Calibri" pitchFamily="34" charset="0"/>
                <a:ea typeface="Calibri" pitchFamily="34" charset="-122"/>
                <a:cs typeface="Calibri" pitchFamily="34" charset="-120"/>
              </a:rPr>
              <a:t>the start command</a:t>
            </a:r>
            <a:endParaRPr lang="en-US" sz="1250" dirty="0"/>
          </a:p>
        </p:txBody>
      </p:sp>
      <p:sp>
        <p:nvSpPr>
          <p:cNvPr id="36" name="step:10:wipeL"/>
          <p:cNvSpPr/>
          <p:nvPr/>
        </p:nvSpPr>
        <p:spPr>
          <a:xfrm>
            <a:off x="6172200" y="4572000"/>
            <a:ext cx="5394960" cy="0"/>
          </a:xfrm>
          <a:prstGeom prst="line">
            <a:avLst/>
          </a:prstGeom>
          <a:noFill/>
          <a:ln w="6350">
            <a:solidFill>
              <a:srgbClr val="E4E7EC"/>
            </a:solidFill>
            <a:prstDash val="solid"/>
          </a:ln>
        </p:spPr>
      </p:sp>
      <p:sp>
        <p:nvSpPr>
          <p:cNvPr id="37" name="Text 34"/>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28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61" fill="hold">
                      <p:stCondLst>
                        <p:cond delay="indefinite"/>
                      </p:stCondLst>
                      <p:childTnLst>
                        <p:par>
                          <p:cTn id="62" fill="hold">
                            <p:stCondLst>
                              <p:cond delay="0"/>
                            </p:stCondLst>
                            <p:childTnLst>
                              <p:par>
                                <p:cTn id="45"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00"/>
                                        <p:tgtEl>
                                          <p:spTgt spid="15"/>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00"/>
                                        <p:tgtEl>
                                          <p:spTgt spid="16"/>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par>
                                <p:cTn id="54"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350"/>
                                        <p:tgtEl>
                                          <p:spTgt spid="18"/>
                                        </p:tgtEl>
                                      </p:cBhvr>
                                    </p:animEffect>
                                  </p:childTnLst>
                                </p:cTn>
                              </p:par>
                              <p:par>
                                <p:cTn id="57"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350"/>
                                        <p:tgtEl>
                                          <p:spTgt spid="19"/>
                                        </p:tgtEl>
                                      </p:cBhvr>
                                    </p:animEffect>
                                  </p:childTnLst>
                                </p:cTn>
                              </p:par>
                              <p:par>
                                <p:cTn id="60"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350"/>
                                        <p:tgtEl>
                                          <p:spTgt spid="20"/>
                                        </p:tgtEl>
                                      </p:cBhvr>
                                    </p:animEffect>
                                  </p:childTnLst>
                                </p:cTn>
                              </p:par>
                            </p:childTnLst>
                          </p:cTn>
                        </p:par>
                      </p:childTnLst>
                    </p:cTn>
                  </p:par>
                  <p:par>
                    <p:cTn id="75" fill="hold">
                      <p:stCondLst>
                        <p:cond delay="indefinite"/>
                      </p:stCondLst>
                      <p:childTnLst>
                        <p:par>
                          <p:cTn id="76" fill="hold">
                            <p:stCondLst>
                              <p:cond delay="0"/>
                            </p:stCondLst>
                            <p:childTnLst>
                              <p:par>
                                <p:cTn id="65" presetID="22" presetClass="entr" presetSubtype="8"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350"/>
                                        <p:tgtEl>
                                          <p:spTgt spid="21"/>
                                        </p:tgtEl>
                                      </p:cBhvr>
                                    </p:animEffect>
                                  </p:childTnLst>
                                </p:cTn>
                              </p:par>
                              <p:par>
                                <p:cTn id="68" presetID="22" presetClass="entr" presetSubtype="8"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350"/>
                                        <p:tgtEl>
                                          <p:spTgt spid="22"/>
                                        </p:tgtEl>
                                      </p:cBhvr>
                                    </p:animEffect>
                                  </p:childTnLst>
                                </p:cTn>
                              </p:par>
                              <p:par>
                                <p:cTn id="71" presetID="22" presetClass="entr" presetSubtype="8"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350"/>
                                        <p:tgtEl>
                                          <p:spTgt spid="23"/>
                                        </p:tgtEl>
                                      </p:cBhvr>
                                    </p:animEffect>
                                  </p:childTnLst>
                                </p:cTn>
                              </p:par>
                              <p:par>
                                <p:cTn id="74" presetID="22" presetClass="entr" presetSubtype="8"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ipe(left)">
                                      <p:cBhvr>
                                        <p:cTn id="73" dur="350"/>
                                        <p:tgtEl>
                                          <p:spTgt spid="24"/>
                                        </p:tgtEl>
                                      </p:cBhvr>
                                    </p:animEffect>
                                  </p:childTnLst>
                                </p:cTn>
                              </p:par>
                            </p:childTnLst>
                          </p:cTn>
                        </p:par>
                      </p:childTnLst>
                    </p:cTn>
                  </p:par>
                  <p:par>
                    <p:cTn id="89" fill="hold">
                      <p:stCondLst>
                        <p:cond delay="indefinite"/>
                      </p:stCondLst>
                      <p:childTnLst>
                        <p:par>
                          <p:cTn id="90" fill="hold">
                            <p:stCondLst>
                              <p:cond delay="0"/>
                            </p:stCondLst>
                            <p:childTnLst>
                              <p:par>
                                <p:cTn id="79" presetID="22" presetClass="entr" presetSubtype="8"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350"/>
                                        <p:tgtEl>
                                          <p:spTgt spid="25"/>
                                        </p:tgtEl>
                                      </p:cBhvr>
                                    </p:animEffect>
                                  </p:childTnLst>
                                </p:cTn>
                              </p:par>
                              <p:par>
                                <p:cTn id="82"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350"/>
                                        <p:tgtEl>
                                          <p:spTgt spid="26"/>
                                        </p:tgtEl>
                                      </p:cBhvr>
                                    </p:animEffect>
                                  </p:childTnLst>
                                </p:cTn>
                              </p:par>
                              <p:par>
                                <p:cTn id="85" presetID="22" presetClass="entr" presetSubtype="8"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350"/>
                                        <p:tgtEl>
                                          <p:spTgt spid="27"/>
                                        </p:tgtEl>
                                      </p:cBhvr>
                                    </p:animEffect>
                                  </p:childTnLst>
                                </p:cTn>
                              </p:par>
                              <p:par>
                                <p:cTn id="88" presetID="22" presetClass="entr" presetSubtype="8"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35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93" presetID="22" presetClass="entr" presetSubtype="8"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left)">
                                      <p:cBhvr>
                                        <p:cTn id="92" dur="350"/>
                                        <p:tgtEl>
                                          <p:spTgt spid="29"/>
                                        </p:tgtEl>
                                      </p:cBhvr>
                                    </p:animEffect>
                                  </p:childTnLst>
                                </p:cTn>
                              </p:par>
                              <p:par>
                                <p:cTn id="96" presetID="22" presetClass="entr" presetSubtype="8"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350"/>
                                        <p:tgtEl>
                                          <p:spTgt spid="30"/>
                                        </p:tgtEl>
                                      </p:cBhvr>
                                    </p:animEffect>
                                  </p:childTnLst>
                                </p:cTn>
                              </p:par>
                              <p:par>
                                <p:cTn id="99" presetID="22" presetClass="entr" presetSubtype="8"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left)">
                                      <p:cBhvr>
                                        <p:cTn id="98" dur="350"/>
                                        <p:tgtEl>
                                          <p:spTgt spid="31"/>
                                        </p:tgtEl>
                                      </p:cBhvr>
                                    </p:animEffect>
                                  </p:childTnLst>
                                </p:cTn>
                              </p:par>
                              <p:par>
                                <p:cTn id="102" presetID="22" presetClass="entr" presetSubtype="8"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wipe(left)">
                                      <p:cBhvr>
                                        <p:cTn id="101" dur="350"/>
                                        <p:tgtEl>
                                          <p:spTgt spid="32"/>
                                        </p:tgtEl>
                                      </p:cBhvr>
                                    </p:animEffect>
                                  </p:childTnLst>
                                </p:cTn>
                              </p:par>
                            </p:childTnLst>
                          </p:cTn>
                        </p:par>
                      </p:childTnLst>
                    </p:cTn>
                  </p:par>
                  <p:par>
                    <p:cTn id="117" fill="hold">
                      <p:stCondLst>
                        <p:cond delay="indefinite"/>
                      </p:stCondLst>
                      <p:childTnLst>
                        <p:par>
                          <p:cTn id="118" fill="hold">
                            <p:stCondLst>
                              <p:cond delay="0"/>
                            </p:stCondLst>
                            <p:childTnLst>
                              <p:par>
                                <p:cTn id="107" presetID="22" presetClass="entr" presetSubtype="8" fill="hold" grpId="0" nodeType="click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wipe(left)">
                                      <p:cBhvr>
                                        <p:cTn id="106" dur="350"/>
                                        <p:tgtEl>
                                          <p:spTgt spid="33"/>
                                        </p:tgtEl>
                                      </p:cBhvr>
                                    </p:animEffect>
                                  </p:childTnLst>
                                </p:cTn>
                              </p:par>
                              <p:par>
                                <p:cTn id="110" presetID="22" presetClass="entr" presetSubtype="8"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left)">
                                      <p:cBhvr>
                                        <p:cTn id="109" dur="350"/>
                                        <p:tgtEl>
                                          <p:spTgt spid="34"/>
                                        </p:tgtEl>
                                      </p:cBhvr>
                                    </p:animEffect>
                                  </p:childTnLst>
                                </p:cTn>
                              </p:par>
                              <p:par>
                                <p:cTn id="113" presetID="22" presetClass="entr" presetSubtype="8" fill="hold" grpId="0" nodeType="with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wipe(left)">
                                      <p:cBhvr>
                                        <p:cTn id="112" dur="350"/>
                                        <p:tgtEl>
                                          <p:spTgt spid="35"/>
                                        </p:tgtEl>
                                      </p:cBhvr>
                                    </p:animEffect>
                                  </p:childTnLst>
                                </p:cTn>
                              </p:par>
                              <p:par>
                                <p:cTn id="116" presetID="22" presetClass="entr" presetSubtype="8"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left)">
                                      <p:cBhvr>
                                        <p:cTn id="115" dur="3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kpack: buildpacks on Kubernetes</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Buildpacks need something to run them</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kpack runs them as pods, in-cluster</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You declare an Image, it builds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It rebuilds on commit or base change</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output is a digest, nothing else</a:t>
            </a:r>
            <a:endParaRPr lang="en-US" sz="1900" dirty="0"/>
          </a:p>
        </p:txBody>
      </p:sp>
      <p:sp>
        <p:nvSpPr>
          <p:cNvPr id="15" name="step:1: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6" name="step:1: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kpack</a:t>
            </a:r>
            <a:endParaRPr lang="en-US" sz="1400" dirty="0"/>
          </a:p>
        </p:txBody>
      </p:sp>
      <p:sp>
        <p:nvSpPr>
          <p:cNvPr id="17" name="step:1: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a Kubernetes controller</a:t>
            </a:r>
            <a:endParaRPr lang="en-US" sz="950" dirty="0"/>
          </a:p>
        </p:txBody>
      </p:sp>
      <p:sp>
        <p:nvSpPr>
          <p:cNvPr id="18" name="step:2: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9" name="step:2: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declarative</a:t>
            </a:r>
            <a:endParaRPr lang="en-US" sz="1400" dirty="0"/>
          </a:p>
        </p:txBody>
      </p:sp>
      <p:sp>
        <p:nvSpPr>
          <p:cNvPr id="20" name="step:2: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you write an Image, not a pipeline</a:t>
            </a:r>
            <a:endParaRPr lang="en-US" sz="950" dirty="0"/>
          </a:p>
        </p:txBody>
      </p:sp>
      <p:sp>
        <p:nvSpPr>
          <p:cNvPr id="21" name="step:3: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22" name="step:3: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in-cluster</a:t>
            </a:r>
            <a:endParaRPr lang="en-US" sz="1400" dirty="0"/>
          </a:p>
        </p:txBody>
      </p:sp>
      <p:sp>
        <p:nvSpPr>
          <p:cNvPr id="23" name="step:3: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one pod per build</a:t>
            </a:r>
            <a:endParaRPr lang="en-US" sz="950" dirty="0"/>
          </a:p>
        </p:txBody>
      </p:sp>
      <p:sp>
        <p:nvSpPr>
          <p:cNvPr id="24" name="step:4: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5" name="step:4: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rebuilds</a:t>
            </a:r>
            <a:endParaRPr lang="en-US" sz="1400" dirty="0"/>
          </a:p>
        </p:txBody>
      </p:sp>
      <p:sp>
        <p:nvSpPr>
          <p:cNvPr id="26" name="step:4: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new commit · new base · new buildpack</a:t>
            </a:r>
            <a:endParaRPr lang="en-US" sz="950" dirty="0"/>
          </a:p>
        </p:txBody>
      </p:sp>
      <p:sp>
        <p:nvSpPr>
          <p:cNvPr id="27" name="step:5: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8" name="step:5: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output</a:t>
            </a:r>
            <a:endParaRPr lang="en-US" sz="1400" dirty="0"/>
          </a:p>
        </p:txBody>
      </p:sp>
      <p:sp>
        <p:nvSpPr>
          <p:cNvPr id="29" name="step:5: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a registry digest</a:t>
            </a:r>
            <a:endParaRPr lang="en-US" sz="95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29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350"/>
                                        <p:tgtEl>
                                          <p:spTgt spid="15"/>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350"/>
                                        <p:tgtEl>
                                          <p:spTgt spid="1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350"/>
                                        <p:tgtEl>
                                          <p:spTgt spid="17"/>
                                        </p:tgtEl>
                                      </p:cBhvr>
                                    </p:animEffect>
                                  </p:childTnLst>
                                </p:cTn>
                              </p:par>
                            </p:childTnLst>
                          </p:cTn>
                        </p:par>
                      </p:childTnLst>
                    </p:cTn>
                  </p:par>
                  <p:par>
                    <p:cTn id="35" fill="hold">
                      <p:stCondLst>
                        <p:cond delay="indefinite"/>
                      </p:stCondLst>
                      <p:childTnLst>
                        <p:par>
                          <p:cTn id="36"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350"/>
                                        <p:tgtEl>
                                          <p:spTgt spid="7"/>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50"/>
                                        <p:tgtEl>
                                          <p:spTgt spid="8"/>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350"/>
                                        <p:tgtEl>
                                          <p:spTgt spid="18"/>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350"/>
                                        <p:tgtEl>
                                          <p:spTgt spid="19"/>
                                        </p:tgtEl>
                                      </p:cBhvr>
                                    </p:animEffect>
                                  </p:childTnLst>
                                </p:cTn>
                              </p:par>
                              <p:par>
                                <p:cTn id="34" presetID="22" presetClass="entr" presetSubtype="4"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down)">
                                      <p:cBhvr>
                                        <p:cTn id="33" dur="3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9"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350"/>
                                        <p:tgtEl>
                                          <p:spTgt spid="9"/>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350"/>
                                        <p:tgtEl>
                                          <p:spTgt spid="10"/>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350"/>
                                        <p:tgtEl>
                                          <p:spTgt spid="21"/>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350"/>
                                        <p:tgtEl>
                                          <p:spTgt spid="22"/>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350"/>
                                        <p:tgtEl>
                                          <p:spTgt spid="23"/>
                                        </p:tgtEl>
                                      </p:cBhvr>
                                    </p:animEffect>
                                  </p:childTnLst>
                                </p:cTn>
                              </p:par>
                            </p:childTnLst>
                          </p:cTn>
                        </p:par>
                      </p:childTnLst>
                    </p:cTn>
                  </p:par>
                  <p:par>
                    <p:cTn id="69" fill="hold">
                      <p:stCondLst>
                        <p:cond delay="indefinite"/>
                      </p:stCondLst>
                      <p:childTnLst>
                        <p:par>
                          <p:cTn id="70" fill="hold">
                            <p:stCondLst>
                              <p:cond delay="0"/>
                            </p:stCondLst>
                            <p:childTnLst>
                              <p:par>
                                <p:cTn id="56" presetID="22" presetClass="entr" presetSubtype="8"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350"/>
                                        <p:tgtEl>
                                          <p:spTgt spid="11"/>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350"/>
                                        <p:tgtEl>
                                          <p:spTgt spid="12"/>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350"/>
                                        <p:tgtEl>
                                          <p:spTgt spid="24"/>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350"/>
                                        <p:tgtEl>
                                          <p:spTgt spid="25"/>
                                        </p:tgtEl>
                                      </p:cBhvr>
                                    </p:animEffect>
                                  </p:childTnLst>
                                </p:cTn>
                              </p:par>
                              <p:par>
                                <p:cTn id="68" presetID="22" presetClass="entr" presetSubtype="4"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350"/>
                                        <p:tgtEl>
                                          <p:spTgt spid="26"/>
                                        </p:tgtEl>
                                      </p:cBhvr>
                                    </p:animEffect>
                                  </p:childTnLst>
                                </p:cTn>
                              </p:par>
                            </p:childTnLst>
                          </p:cTn>
                        </p:par>
                      </p:childTnLst>
                    </p:cTn>
                  </p:par>
                  <p:par>
                    <p:cTn id="86" fill="hold">
                      <p:stCondLst>
                        <p:cond delay="indefinite"/>
                      </p:stCondLst>
                      <p:childTnLst>
                        <p:par>
                          <p:cTn id="87" fill="hold">
                            <p:stCondLst>
                              <p:cond delay="0"/>
                            </p:stCondLst>
                            <p:childTnLst>
                              <p:par>
                                <p:cTn id="73" presetID="22" presetClass="entr" presetSubtype="8"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350"/>
                                        <p:tgtEl>
                                          <p:spTgt spid="13"/>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left)">
                                      <p:cBhvr>
                                        <p:cTn id="75" dur="350"/>
                                        <p:tgtEl>
                                          <p:spTgt spid="14"/>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par>
                                <p:cTn id="85" presetID="22" presetClass="entr" presetSubtype="4"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down)">
                                      <p:cBhvr>
                                        <p:cTn id="84"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kpack resources</a:t>
            </a:r>
            <a:endParaRPr lang="en-US" sz="3800" dirty="0"/>
          </a:p>
        </p:txBody>
      </p:sp>
      <p:sp>
        <p:nvSpPr>
          <p:cNvPr id="5" name="step:3:wipeL"/>
          <p:cNvSpPr/>
          <p:nvPr/>
        </p:nvSpPr>
        <p:spPr>
          <a:xfrm>
            <a:off x="3022769" y="2426054"/>
            <a:ext cx="833377" cy="458357"/>
          </a:xfrm>
          <a:prstGeom prst="line">
            <a:avLst/>
          </a:prstGeom>
          <a:noFill/>
          <a:ln w="15875">
            <a:solidFill>
              <a:srgbClr val="98A2B3"/>
            </a:solidFill>
            <a:prstDash val="solid"/>
            <a:tailEnd type="triangle"/>
          </a:ln>
        </p:spPr>
      </p:sp>
      <p:sp>
        <p:nvSpPr>
          <p:cNvPr id="6" name="step:3:wipeL"/>
          <p:cNvSpPr/>
          <p:nvPr/>
        </p:nvSpPr>
        <p:spPr>
          <a:xfrm flipV="1">
            <a:off x="3022769" y="2884411"/>
            <a:ext cx="833377" cy="427106"/>
          </a:xfrm>
          <a:prstGeom prst="line">
            <a:avLst/>
          </a:prstGeom>
          <a:noFill/>
          <a:ln w="15875">
            <a:solidFill>
              <a:srgbClr val="98A2B3"/>
            </a:solidFill>
            <a:prstDash val="solid"/>
            <a:tailEnd type="triangle"/>
          </a:ln>
        </p:spPr>
      </p:sp>
      <p:sp>
        <p:nvSpPr>
          <p:cNvPr id="7" name="step:4:wipeL"/>
          <p:cNvSpPr/>
          <p:nvPr/>
        </p:nvSpPr>
        <p:spPr>
          <a:xfrm flipH="1">
            <a:off x="4897868" y="3228179"/>
            <a:ext cx="104172" cy="854212"/>
          </a:xfrm>
          <a:prstGeom prst="line">
            <a:avLst/>
          </a:prstGeom>
          <a:noFill/>
          <a:ln w="15875">
            <a:solidFill>
              <a:srgbClr val="98A2B3"/>
            </a:solidFill>
            <a:prstDash val="dash"/>
            <a:tailEnd type="triangle"/>
          </a:ln>
        </p:spPr>
      </p:sp>
      <p:sp>
        <p:nvSpPr>
          <p:cNvPr id="8" name="step:5:wipeL"/>
          <p:cNvSpPr/>
          <p:nvPr/>
        </p:nvSpPr>
        <p:spPr>
          <a:xfrm flipH="1">
            <a:off x="3022769" y="4426159"/>
            <a:ext cx="833377" cy="0"/>
          </a:xfrm>
          <a:prstGeom prst="line">
            <a:avLst/>
          </a:prstGeom>
          <a:noFill/>
          <a:ln w="15875">
            <a:solidFill>
              <a:srgbClr val="98A2B3"/>
            </a:solidFill>
            <a:prstDash val="solid"/>
            <a:tailEnd type="triangle"/>
          </a:ln>
        </p:spPr>
      </p:sp>
      <p:sp>
        <p:nvSpPr>
          <p:cNvPr id="9" name="step:6:wipeL"/>
          <p:cNvSpPr/>
          <p:nvPr/>
        </p:nvSpPr>
        <p:spPr>
          <a:xfrm flipV="1">
            <a:off x="4897868" y="4769927"/>
            <a:ext cx="0" cy="666702"/>
          </a:xfrm>
          <a:prstGeom prst="line">
            <a:avLst/>
          </a:prstGeom>
          <a:noFill/>
          <a:ln w="15875">
            <a:solidFill>
              <a:srgbClr val="98A2B3"/>
            </a:solidFill>
            <a:prstDash val="dash"/>
            <a:tailEnd type="triangle"/>
          </a:ln>
        </p:spPr>
      </p:sp>
      <p:sp>
        <p:nvSpPr>
          <p:cNvPr id="10" name="step:7:wipeL"/>
          <p:cNvSpPr/>
          <p:nvPr/>
        </p:nvSpPr>
        <p:spPr>
          <a:xfrm>
            <a:off x="5939589" y="4426159"/>
            <a:ext cx="833377" cy="0"/>
          </a:xfrm>
          <a:prstGeom prst="line">
            <a:avLst/>
          </a:prstGeom>
          <a:noFill/>
          <a:ln w="15875">
            <a:solidFill>
              <a:srgbClr val="98A2B3"/>
            </a:solidFill>
            <a:prstDash val="solid"/>
            <a:tailEnd type="triangle"/>
          </a:ln>
        </p:spPr>
      </p:sp>
      <p:sp>
        <p:nvSpPr>
          <p:cNvPr id="11" name="step:8:wipeL"/>
          <p:cNvSpPr/>
          <p:nvPr/>
        </p:nvSpPr>
        <p:spPr>
          <a:xfrm>
            <a:off x="8856410" y="4426159"/>
            <a:ext cx="520861" cy="0"/>
          </a:xfrm>
          <a:prstGeom prst="line">
            <a:avLst/>
          </a:prstGeom>
          <a:noFill/>
          <a:ln w="15875">
            <a:solidFill>
              <a:srgbClr val="98A2B3"/>
            </a:solidFill>
            <a:prstDash val="solid"/>
            <a:tailEnd type="triangle"/>
          </a:ln>
        </p:spPr>
      </p:sp>
      <p:sp>
        <p:nvSpPr>
          <p:cNvPr id="12" name="step:1:wipeD"/>
          <p:cNvSpPr/>
          <p:nvPr/>
        </p:nvSpPr>
        <p:spPr>
          <a:xfrm>
            <a:off x="939326" y="2103120"/>
            <a:ext cx="2083443" cy="645867"/>
          </a:xfrm>
          <a:prstGeom prst="roundRect">
            <a:avLst>
              <a:gd name="adj" fmla="val 11326"/>
            </a:avLst>
          </a:prstGeom>
          <a:solidFill>
            <a:srgbClr val="FFFFFF"/>
          </a:solidFill>
          <a:ln w="15875">
            <a:solidFill>
              <a:srgbClr val="0B7A75"/>
            </a:solidFill>
            <a:prstDash val="solid"/>
          </a:ln>
        </p:spPr>
      </p:sp>
      <p:sp>
        <p:nvSpPr>
          <p:cNvPr id="13" name="step:1:wipeD"/>
          <p:cNvSpPr txBox="1"/>
          <p:nvPr/>
        </p:nvSpPr>
        <p:spPr>
          <a:xfrm>
            <a:off x="939326" y="2103120"/>
            <a:ext cx="2083443" cy="645867"/>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ClusterStack</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build + run base</a:t>
            </a:r>
            <a:endParaRPr lang="en-US" sz="1300" dirty="0"/>
          </a:p>
        </p:txBody>
      </p:sp>
      <p:sp>
        <p:nvSpPr>
          <p:cNvPr id="14" name="step:2:wipeD"/>
          <p:cNvSpPr/>
          <p:nvPr/>
        </p:nvSpPr>
        <p:spPr>
          <a:xfrm>
            <a:off x="939326" y="2988583"/>
            <a:ext cx="2083443" cy="645867"/>
          </a:xfrm>
          <a:prstGeom prst="roundRect">
            <a:avLst>
              <a:gd name="adj" fmla="val 11326"/>
            </a:avLst>
          </a:prstGeom>
          <a:solidFill>
            <a:srgbClr val="FFFFFF"/>
          </a:solidFill>
          <a:ln w="15875">
            <a:solidFill>
              <a:srgbClr val="0B7A75"/>
            </a:solidFill>
            <a:prstDash val="solid"/>
          </a:ln>
        </p:spPr>
      </p:sp>
      <p:sp>
        <p:nvSpPr>
          <p:cNvPr id="15" name="step:2:wipeD"/>
          <p:cNvSpPr txBox="1"/>
          <p:nvPr/>
        </p:nvSpPr>
        <p:spPr>
          <a:xfrm>
            <a:off x="939326" y="2988583"/>
            <a:ext cx="2083443" cy="645867"/>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ClusterStore</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the buildpacks</a:t>
            </a:r>
            <a:endParaRPr lang="en-US" sz="1300" dirty="0"/>
          </a:p>
        </p:txBody>
      </p:sp>
      <p:sp>
        <p:nvSpPr>
          <p:cNvPr id="16" name="step:3:wipeD"/>
          <p:cNvSpPr/>
          <p:nvPr/>
        </p:nvSpPr>
        <p:spPr>
          <a:xfrm>
            <a:off x="3856146" y="2540643"/>
            <a:ext cx="2291787" cy="687536"/>
          </a:xfrm>
          <a:prstGeom prst="roundRect">
            <a:avLst>
              <a:gd name="adj" fmla="val 10640"/>
            </a:avLst>
          </a:prstGeom>
          <a:solidFill>
            <a:srgbClr val="FFFFFF"/>
          </a:solidFill>
          <a:ln w="22225">
            <a:solidFill>
              <a:srgbClr val="E4572E"/>
            </a:solidFill>
            <a:prstDash val="solid"/>
          </a:ln>
        </p:spPr>
      </p:sp>
      <p:sp>
        <p:nvSpPr>
          <p:cNvPr id="17" name="step:3:wipeD"/>
          <p:cNvSpPr txBox="1"/>
          <p:nvPr/>
        </p:nvSpPr>
        <p:spPr>
          <a:xfrm>
            <a:off x="3856146" y="2540643"/>
            <a:ext cx="2291787" cy="687536"/>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ClusterBuilder</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stack + store, baked</a:t>
            </a:r>
            <a:endParaRPr lang="en-US" sz="1300" dirty="0"/>
          </a:p>
        </p:txBody>
      </p:sp>
      <p:sp>
        <p:nvSpPr>
          <p:cNvPr id="18" name="step:4:wipeD"/>
          <p:cNvSpPr/>
          <p:nvPr/>
        </p:nvSpPr>
        <p:spPr>
          <a:xfrm>
            <a:off x="3856146" y="4082391"/>
            <a:ext cx="2083443" cy="687536"/>
          </a:xfrm>
          <a:prstGeom prst="roundRect">
            <a:avLst>
              <a:gd name="adj" fmla="val 10640"/>
            </a:avLst>
          </a:prstGeom>
          <a:solidFill>
            <a:srgbClr val="FFFFFF"/>
          </a:solidFill>
          <a:ln w="22225">
            <a:solidFill>
              <a:srgbClr val="E4572E"/>
            </a:solidFill>
            <a:prstDash val="solid"/>
          </a:ln>
        </p:spPr>
      </p:sp>
      <p:sp>
        <p:nvSpPr>
          <p:cNvPr id="19" name="step:4:wipeD"/>
          <p:cNvSpPr txBox="1"/>
          <p:nvPr/>
        </p:nvSpPr>
        <p:spPr>
          <a:xfrm>
            <a:off x="3856146" y="4082391"/>
            <a:ext cx="2083443" cy="687536"/>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Image</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what to build</a:t>
            </a:r>
            <a:endParaRPr lang="en-US" sz="1300" dirty="0"/>
          </a:p>
        </p:txBody>
      </p:sp>
      <p:sp>
        <p:nvSpPr>
          <p:cNvPr id="20" name="step:5:wipeD"/>
          <p:cNvSpPr/>
          <p:nvPr/>
        </p:nvSpPr>
        <p:spPr>
          <a:xfrm>
            <a:off x="939326" y="4082391"/>
            <a:ext cx="2083443" cy="687536"/>
          </a:xfrm>
          <a:prstGeom prst="roundRect">
            <a:avLst>
              <a:gd name="adj" fmla="val 10640"/>
            </a:avLst>
          </a:prstGeom>
          <a:solidFill>
            <a:srgbClr val="FFFFFF"/>
          </a:solidFill>
          <a:ln w="15875">
            <a:solidFill>
              <a:srgbClr val="0B7A75"/>
            </a:solidFill>
            <a:prstDash val="solid"/>
          </a:ln>
        </p:spPr>
      </p:sp>
      <p:sp>
        <p:nvSpPr>
          <p:cNvPr id="21" name="step:5:wipeD"/>
          <p:cNvSpPr txBox="1"/>
          <p:nvPr/>
        </p:nvSpPr>
        <p:spPr>
          <a:xfrm>
            <a:off x="939326" y="4082391"/>
            <a:ext cx="2083443" cy="687536"/>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SourceResolver</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branch → commit SHA</a:t>
            </a:r>
            <a:endParaRPr lang="en-US" sz="1300" dirty="0"/>
          </a:p>
        </p:txBody>
      </p:sp>
      <p:sp>
        <p:nvSpPr>
          <p:cNvPr id="22" name="step:6:wipeD"/>
          <p:cNvSpPr/>
          <p:nvPr/>
        </p:nvSpPr>
        <p:spPr>
          <a:xfrm>
            <a:off x="3856146" y="5436629"/>
            <a:ext cx="2083443" cy="645867"/>
          </a:xfrm>
          <a:prstGeom prst="roundRect">
            <a:avLst>
              <a:gd name="adj" fmla="val 11326"/>
            </a:avLst>
          </a:prstGeom>
          <a:solidFill>
            <a:srgbClr val="FFFFFF"/>
          </a:solidFill>
          <a:ln w="15875">
            <a:solidFill>
              <a:srgbClr val="0B7A75"/>
            </a:solidFill>
            <a:prstDash val="solid"/>
          </a:ln>
        </p:spPr>
      </p:sp>
      <p:sp>
        <p:nvSpPr>
          <p:cNvPr id="23" name="step:6:wipeD"/>
          <p:cNvSpPr txBox="1"/>
          <p:nvPr/>
        </p:nvSpPr>
        <p:spPr>
          <a:xfrm>
            <a:off x="3856146" y="5436629"/>
            <a:ext cx="2083443" cy="645867"/>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Secret + SA</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git and registry</a:t>
            </a:r>
            <a:endParaRPr lang="en-US" sz="1300" dirty="0"/>
          </a:p>
        </p:txBody>
      </p:sp>
      <p:sp>
        <p:nvSpPr>
          <p:cNvPr id="24" name="step:7:wipeD"/>
          <p:cNvSpPr/>
          <p:nvPr/>
        </p:nvSpPr>
        <p:spPr>
          <a:xfrm>
            <a:off x="6772967" y="4082391"/>
            <a:ext cx="2083443" cy="687536"/>
          </a:xfrm>
          <a:prstGeom prst="roundRect">
            <a:avLst>
              <a:gd name="adj" fmla="val 10640"/>
            </a:avLst>
          </a:prstGeom>
          <a:solidFill>
            <a:srgbClr val="FFFFFF"/>
          </a:solidFill>
          <a:ln w="15875">
            <a:solidFill>
              <a:srgbClr val="0B7A75"/>
            </a:solidFill>
            <a:prstDash val="solid"/>
          </a:ln>
        </p:spPr>
      </p:sp>
      <p:sp>
        <p:nvSpPr>
          <p:cNvPr id="25" name="step:7:wipeD"/>
          <p:cNvSpPr txBox="1"/>
          <p:nvPr/>
        </p:nvSpPr>
        <p:spPr>
          <a:xfrm>
            <a:off x="6772967" y="4082391"/>
            <a:ext cx="2083443" cy="687536"/>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Build</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one attempt</a:t>
            </a:r>
            <a:endParaRPr lang="en-US" sz="1300" dirty="0"/>
          </a:p>
        </p:txBody>
      </p:sp>
      <p:sp>
        <p:nvSpPr>
          <p:cNvPr id="26" name="step:8:wipeD"/>
          <p:cNvSpPr/>
          <p:nvPr/>
        </p:nvSpPr>
        <p:spPr>
          <a:xfrm>
            <a:off x="9377270" y="4082391"/>
            <a:ext cx="1875099" cy="687536"/>
          </a:xfrm>
          <a:prstGeom prst="roundRect">
            <a:avLst>
              <a:gd name="adj" fmla="val 10640"/>
            </a:avLst>
          </a:prstGeom>
          <a:solidFill>
            <a:srgbClr val="FFFFFF"/>
          </a:solidFill>
          <a:ln w="15875">
            <a:solidFill>
              <a:srgbClr val="0B7A75"/>
            </a:solidFill>
            <a:prstDash val="solid"/>
          </a:ln>
        </p:spPr>
      </p:sp>
      <p:sp>
        <p:nvSpPr>
          <p:cNvPr id="27" name="step:8:wipeD"/>
          <p:cNvSpPr txBox="1"/>
          <p:nvPr/>
        </p:nvSpPr>
        <p:spPr>
          <a:xfrm>
            <a:off x="9377270" y="4082391"/>
            <a:ext cx="1875099" cy="687536"/>
          </a:xfrm>
          <a:prstGeom prst="rect">
            <a:avLst/>
          </a:prstGeom>
          <a:noFill/>
          <a:ln/>
        </p:spPr>
        <p:txBody>
          <a:bodyPr wrap="square" lIns="508" tIns="508" rIns="508" bIns="508" rtlCol="0" anchor="ctr"/>
          <a:lstStyle/>
          <a:p>
            <a:pPr algn="ctr" indent="0" marL="0">
              <a:buNone/>
            </a:pPr>
            <a:r>
              <a:rPr lang="en-US" sz="1300" b="1" dirty="0">
                <a:solidFill>
                  <a:srgbClr val="1B1F2A"/>
                </a:solidFill>
                <a:latin typeface="Calibri" pitchFamily="34" charset="0"/>
                <a:ea typeface="Calibri" pitchFamily="34" charset="-122"/>
                <a:cs typeface="Calibri" pitchFamily="34" charset="-120"/>
              </a:rPr>
              <a:t>Pod</a:t>
            </a:r>
            <a:endParaRPr lang="en-US" sz="1300" dirty="0"/>
          </a:p>
          <a:p>
            <a:pPr algn="ctr" indent="0" marL="0">
              <a:buNone/>
            </a:pPr>
            <a:r>
              <a:rPr lang="en-US" sz="950" dirty="0">
                <a:solidFill>
                  <a:srgbClr val="667085"/>
                </a:solidFill>
                <a:latin typeface="Courier New" pitchFamily="34" charset="0"/>
                <a:ea typeface="Courier New" pitchFamily="34" charset="-122"/>
                <a:cs typeface="Courier New" pitchFamily="34" charset="-120"/>
              </a:rPr>
              <a:t>the lifecycle runs</a:t>
            </a:r>
            <a:endParaRPr lang="en-US" sz="1300" dirty="0"/>
          </a:p>
        </p:txBody>
      </p:sp>
      <p:sp>
        <p:nvSpPr>
          <p:cNvPr id="28" name="Text 25"/>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30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wipe(down)">
                                      <p:cBhvr>
                                        <p:cTn id="4" dur="350"/>
                                        <p:tgtEl>
                                          <p:spTgt spid="12"/>
                                        </p:tgtEl>
                                      </p:cBhvr>
                                    </p:animEffect>
                                  </p:childTnLst>
                                </p:cTn>
                              </p:par>
                              <p:par>
                                <p:cTn id="8" presetID="2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350"/>
                                        <p:tgtEl>
                                          <p:spTgt spid="13"/>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350"/>
                                        <p:tgtEl>
                                          <p:spTgt spid="14"/>
                                        </p:tgtEl>
                                      </p:cBhvr>
                                    </p:animEffect>
                                  </p:childTnLst>
                                </p:cTn>
                              </p:par>
                              <p:par>
                                <p:cTn id="16"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350"/>
                                        <p:tgtEl>
                                          <p:spTgt spid="15"/>
                                        </p:tgtEl>
                                      </p:cBhvr>
                                    </p:animEffect>
                                  </p:childTnLst>
                                </p:cTn>
                              </p:par>
                            </p:childTnLst>
                          </p:cTn>
                        </p:par>
                      </p:childTnLst>
                    </p:cTn>
                  </p:par>
                  <p:par>
                    <p:cTn id="31" fill="hold">
                      <p:stCondLst>
                        <p:cond delay="indefinite"/>
                      </p:stCondLst>
                      <p:childTnLst>
                        <p:par>
                          <p:cTn id="32"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350"/>
                                        <p:tgtEl>
                                          <p:spTgt spid="5"/>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350"/>
                                        <p:tgtEl>
                                          <p:spTgt spid="6"/>
                                        </p:tgtEl>
                                      </p:cBhvr>
                                    </p:animEffect>
                                  </p:childTnLst>
                                </p:cTn>
                              </p:par>
                              <p:par>
                                <p:cTn id="27" presetID="2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350"/>
                                        <p:tgtEl>
                                          <p:spTgt spid="16"/>
                                        </p:tgtEl>
                                      </p:cBhvr>
                                    </p:animEffect>
                                  </p:childTnLst>
                                </p:cTn>
                              </p:par>
                              <p:par>
                                <p:cTn id="30" presetID="2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350"/>
                                        <p:tgtEl>
                                          <p:spTgt spid="17"/>
                                        </p:tgtEl>
                                      </p:cBhvr>
                                    </p:animEffect>
                                  </p:childTnLst>
                                </p:cTn>
                              </p:par>
                            </p:childTnLst>
                          </p:cTn>
                        </p:par>
                      </p:childTnLst>
                    </p:cTn>
                  </p:par>
                  <p:par>
                    <p:cTn id="42" fill="hold">
                      <p:stCondLst>
                        <p:cond delay="indefinite"/>
                      </p:stCondLst>
                      <p:childTnLst>
                        <p:par>
                          <p:cTn id="43" fill="hold">
                            <p:stCondLst>
                              <p:cond delay="0"/>
                            </p:stCondLst>
                            <p:childTnLst>
                              <p:par>
                                <p:cTn id="35"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350"/>
                                        <p:tgtEl>
                                          <p:spTgt spid="7"/>
                                        </p:tgtEl>
                                      </p:cBhvr>
                                    </p:animEffect>
                                  </p:childTnLst>
                                </p:cTn>
                              </p:par>
                              <p:par>
                                <p:cTn id="38" presetID="2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350"/>
                                        <p:tgtEl>
                                          <p:spTgt spid="18"/>
                                        </p:tgtEl>
                                      </p:cBhvr>
                                    </p:animEffect>
                                  </p:childTnLst>
                                </p:cTn>
                              </p:par>
                              <p:par>
                                <p:cTn id="41" presetID="22" presetClass="entr" presetSubtype="4"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350"/>
                                        <p:tgtEl>
                                          <p:spTgt spid="19"/>
                                        </p:tgtEl>
                                      </p:cBhvr>
                                    </p:animEffect>
                                  </p:childTnLst>
                                </p:cTn>
                              </p:par>
                            </p:childTnLst>
                          </p:cTn>
                        </p:par>
                      </p:childTnLst>
                    </p:cTn>
                  </p:par>
                  <p:par>
                    <p:cTn id="53" fill="hold">
                      <p:stCondLst>
                        <p:cond delay="indefinite"/>
                      </p:stCondLst>
                      <p:childTnLst>
                        <p:par>
                          <p:cTn id="54" fill="hold">
                            <p:stCondLst>
                              <p:cond delay="0"/>
                            </p:stCondLst>
                            <p:childTnLst>
                              <p:par>
                                <p:cTn id="46"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350"/>
                                        <p:tgtEl>
                                          <p:spTgt spid="8"/>
                                        </p:tgtEl>
                                      </p:cBhvr>
                                    </p:animEffect>
                                  </p:childTnLst>
                                </p:cTn>
                              </p:par>
                              <p:par>
                                <p:cTn id="49" presetID="22" presetClass="entr" presetSubtype="4"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down)">
                                      <p:cBhvr>
                                        <p:cTn id="48" dur="350"/>
                                        <p:tgtEl>
                                          <p:spTgt spid="20"/>
                                        </p:tgtEl>
                                      </p:cBhvr>
                                    </p:animEffect>
                                  </p:childTnLst>
                                </p:cTn>
                              </p:par>
                              <p:par>
                                <p:cTn id="52" presetID="22" presetClass="entr" presetSubtype="4"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down)">
                                      <p:cBhvr>
                                        <p:cTn id="51" dur="350"/>
                                        <p:tgtEl>
                                          <p:spTgt spid="21"/>
                                        </p:tgtEl>
                                      </p:cBhvr>
                                    </p:animEffect>
                                  </p:childTnLst>
                                </p:cTn>
                              </p:par>
                            </p:childTnLst>
                          </p:cTn>
                        </p:par>
                      </p:childTnLst>
                    </p:cTn>
                  </p:par>
                  <p:par>
                    <p:cTn id="64" fill="hold">
                      <p:stCondLst>
                        <p:cond delay="indefinite"/>
                      </p:stCondLst>
                      <p:childTnLst>
                        <p:par>
                          <p:cTn id="65" fill="hold">
                            <p:stCondLst>
                              <p:cond delay="0"/>
                            </p:stCondLst>
                            <p:childTnLst>
                              <p:par>
                                <p:cTn id="57" presetID="22" presetClass="entr" presetSubtype="8"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350"/>
                                        <p:tgtEl>
                                          <p:spTgt spid="9"/>
                                        </p:tgtEl>
                                      </p:cBhvr>
                                    </p:animEffect>
                                  </p:childTnLst>
                                </p:cTn>
                              </p:par>
                              <p:par>
                                <p:cTn id="60" presetID="22" presetClass="entr" presetSubtype="4"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down)">
                                      <p:cBhvr>
                                        <p:cTn id="59" dur="350"/>
                                        <p:tgtEl>
                                          <p:spTgt spid="22"/>
                                        </p:tgtEl>
                                      </p:cBhvr>
                                    </p:animEffect>
                                  </p:childTnLst>
                                </p:cTn>
                              </p:par>
                              <p:par>
                                <p:cTn id="63" presetID="22" presetClass="entr" presetSubtype="4"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350"/>
                                        <p:tgtEl>
                                          <p:spTgt spid="23"/>
                                        </p:tgtEl>
                                      </p:cBhvr>
                                    </p:animEffect>
                                  </p:childTnLst>
                                </p:cTn>
                              </p:par>
                            </p:childTnLst>
                          </p:cTn>
                        </p:par>
                      </p:childTnLst>
                    </p:cTn>
                  </p:par>
                  <p:par>
                    <p:cTn id="75" fill="hold">
                      <p:stCondLst>
                        <p:cond delay="indefinite"/>
                      </p:stCondLst>
                      <p:childTnLst>
                        <p:par>
                          <p:cTn id="76" fill="hold">
                            <p:stCondLst>
                              <p:cond delay="0"/>
                            </p:stCondLst>
                            <p:childTnLst>
                              <p:par>
                                <p:cTn id="68" presetID="22" presetClass="entr" presetSubtype="8"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left)">
                                      <p:cBhvr>
                                        <p:cTn id="67" dur="350"/>
                                        <p:tgtEl>
                                          <p:spTgt spid="10"/>
                                        </p:tgtEl>
                                      </p:cBhvr>
                                    </p:animEffect>
                                  </p:childTnLst>
                                </p:cTn>
                              </p:par>
                              <p:par>
                                <p:cTn id="71" presetID="22" presetClass="entr" presetSubtype="4"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down)">
                                      <p:cBhvr>
                                        <p:cTn id="70" dur="350"/>
                                        <p:tgtEl>
                                          <p:spTgt spid="24"/>
                                        </p:tgtEl>
                                      </p:cBhvr>
                                    </p:animEffect>
                                  </p:childTnLst>
                                </p:cTn>
                              </p:par>
                              <p:par>
                                <p:cTn id="74" presetID="22" presetClass="entr" presetSubtype="4"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down)">
                                      <p:cBhvr>
                                        <p:cTn id="73" dur="350"/>
                                        <p:tgtEl>
                                          <p:spTgt spid="25"/>
                                        </p:tgtEl>
                                      </p:cBhvr>
                                    </p:animEffect>
                                  </p:childTnLst>
                                </p:cTn>
                              </p:par>
                            </p:childTnLst>
                          </p:cTn>
                        </p:par>
                      </p:childTnLst>
                    </p:cTn>
                  </p:par>
                  <p:par>
                    <p:cTn id="86" fill="hold">
                      <p:stCondLst>
                        <p:cond delay="indefinite"/>
                      </p:stCondLst>
                      <p:childTnLst>
                        <p:par>
                          <p:cTn id="87" fill="hold">
                            <p:stCondLst>
                              <p:cond delay="0"/>
                            </p:stCondLst>
                            <p:childTnLst>
                              <p:par>
                                <p:cTn id="79" presetID="22" presetClass="entr" presetSubtype="8" fill="hold" grpId="0" nodeType="click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wipe(left)">
                                      <p:cBhvr>
                                        <p:cTn id="78" dur="350"/>
                                        <p:tgtEl>
                                          <p:spTgt spid="11"/>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down)">
                                      <p:cBhvr>
                                        <p:cTn id="81" dur="350"/>
                                        <p:tgtEl>
                                          <p:spTgt spid="26"/>
                                        </p:tgtEl>
                                      </p:cBhvr>
                                    </p:animEffect>
                                  </p:childTnLst>
                                </p:cTn>
                              </p:par>
                              <p:par>
                                <p:cTn id="85" presetID="22" presetClass="entr" presetSubtype="4"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down)">
                                      <p:cBhvr>
                                        <p:cTn id="84"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A build, phase by phase</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lifecycle runs as init containers</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Each phase is a named container</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Each phase has its own log</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Cached layers make a rerun fast</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Export assembles and pushes the image</a:t>
            </a:r>
            <a:endParaRPr lang="en-US" sz="1900" dirty="0"/>
          </a:p>
        </p:txBody>
      </p:sp>
      <p:sp>
        <p:nvSpPr>
          <p:cNvPr id="15" name="step:6:wipeD"/>
          <p:cNvSpPr/>
          <p:nvPr/>
        </p:nvSpPr>
        <p:spPr>
          <a:xfrm>
            <a:off x="6172200" y="2286000"/>
            <a:ext cx="1243584" cy="868680"/>
          </a:xfrm>
          <a:prstGeom prst="roundRect">
            <a:avLst>
              <a:gd name="adj" fmla="val 8421"/>
            </a:avLst>
          </a:prstGeom>
          <a:solidFill>
            <a:srgbClr val="FFFFFF"/>
          </a:solidFill>
          <a:ln w="15875">
            <a:solidFill>
              <a:srgbClr val="0B7A75"/>
            </a:solidFill>
            <a:prstDash val="solid"/>
          </a:ln>
        </p:spPr>
      </p:sp>
      <p:sp>
        <p:nvSpPr>
          <p:cNvPr id="16" name="step:6:wipeD"/>
          <p:cNvSpPr txBox="1"/>
          <p:nvPr/>
        </p:nvSpPr>
        <p:spPr>
          <a:xfrm>
            <a:off x="7050024" y="235915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1</a:t>
            </a:r>
            <a:endParaRPr lang="en-US" sz="850" dirty="0"/>
          </a:p>
        </p:txBody>
      </p:sp>
      <p:sp>
        <p:nvSpPr>
          <p:cNvPr id="17" name="step:6:wipeD"/>
          <p:cNvSpPr txBox="1"/>
          <p:nvPr/>
        </p:nvSpPr>
        <p:spPr>
          <a:xfrm>
            <a:off x="6281928" y="245059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prepare</a:t>
            </a:r>
            <a:endParaRPr lang="en-US" sz="1200" dirty="0"/>
          </a:p>
        </p:txBody>
      </p:sp>
      <p:sp>
        <p:nvSpPr>
          <p:cNvPr id="18" name="step:6:wipeD"/>
          <p:cNvSpPr txBox="1"/>
          <p:nvPr/>
        </p:nvSpPr>
        <p:spPr>
          <a:xfrm>
            <a:off x="6281928" y="276148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fetch the source</a:t>
            </a:r>
            <a:endParaRPr lang="en-US" sz="900" dirty="0"/>
          </a:p>
        </p:txBody>
      </p:sp>
      <p:sp>
        <p:nvSpPr>
          <p:cNvPr id="19" name="step:7:wipeD"/>
          <p:cNvSpPr/>
          <p:nvPr/>
        </p:nvSpPr>
        <p:spPr>
          <a:xfrm>
            <a:off x="7552944" y="2286000"/>
            <a:ext cx="1243584" cy="868680"/>
          </a:xfrm>
          <a:prstGeom prst="roundRect">
            <a:avLst>
              <a:gd name="adj" fmla="val 8421"/>
            </a:avLst>
          </a:prstGeom>
          <a:solidFill>
            <a:srgbClr val="FFFFFF"/>
          </a:solidFill>
          <a:ln w="15875">
            <a:solidFill>
              <a:srgbClr val="0B7A75"/>
            </a:solidFill>
            <a:prstDash val="solid"/>
          </a:ln>
        </p:spPr>
      </p:sp>
      <p:sp>
        <p:nvSpPr>
          <p:cNvPr id="20" name="step:7:wipeD"/>
          <p:cNvSpPr txBox="1"/>
          <p:nvPr/>
        </p:nvSpPr>
        <p:spPr>
          <a:xfrm>
            <a:off x="8430768" y="235915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2</a:t>
            </a:r>
            <a:endParaRPr lang="en-US" sz="850" dirty="0"/>
          </a:p>
        </p:txBody>
      </p:sp>
      <p:sp>
        <p:nvSpPr>
          <p:cNvPr id="21" name="step:7:wipeD"/>
          <p:cNvSpPr txBox="1"/>
          <p:nvPr/>
        </p:nvSpPr>
        <p:spPr>
          <a:xfrm>
            <a:off x="7662672" y="245059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analyze</a:t>
            </a:r>
            <a:endParaRPr lang="en-US" sz="1200" dirty="0"/>
          </a:p>
        </p:txBody>
      </p:sp>
      <p:sp>
        <p:nvSpPr>
          <p:cNvPr id="22" name="step:7:wipeD"/>
          <p:cNvSpPr txBox="1"/>
          <p:nvPr/>
        </p:nvSpPr>
        <p:spPr>
          <a:xfrm>
            <a:off x="7662672" y="276148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read the previous image</a:t>
            </a:r>
            <a:endParaRPr lang="en-US" sz="900" dirty="0"/>
          </a:p>
        </p:txBody>
      </p:sp>
      <p:sp>
        <p:nvSpPr>
          <p:cNvPr id="23" name="step:8:wipeD"/>
          <p:cNvSpPr/>
          <p:nvPr/>
        </p:nvSpPr>
        <p:spPr>
          <a:xfrm>
            <a:off x="8933688" y="2286000"/>
            <a:ext cx="1243584" cy="868680"/>
          </a:xfrm>
          <a:prstGeom prst="roundRect">
            <a:avLst>
              <a:gd name="adj" fmla="val 8421"/>
            </a:avLst>
          </a:prstGeom>
          <a:solidFill>
            <a:srgbClr val="FFFFFF"/>
          </a:solidFill>
          <a:ln w="15875">
            <a:solidFill>
              <a:srgbClr val="0B7A75"/>
            </a:solidFill>
            <a:prstDash val="solid"/>
          </a:ln>
        </p:spPr>
      </p:sp>
      <p:sp>
        <p:nvSpPr>
          <p:cNvPr id="24" name="step:8:wipeD"/>
          <p:cNvSpPr txBox="1"/>
          <p:nvPr/>
        </p:nvSpPr>
        <p:spPr>
          <a:xfrm>
            <a:off x="9811512" y="235915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3</a:t>
            </a:r>
            <a:endParaRPr lang="en-US" sz="850" dirty="0"/>
          </a:p>
        </p:txBody>
      </p:sp>
      <p:sp>
        <p:nvSpPr>
          <p:cNvPr id="25" name="step:8:wipeD"/>
          <p:cNvSpPr txBox="1"/>
          <p:nvPr/>
        </p:nvSpPr>
        <p:spPr>
          <a:xfrm>
            <a:off x="9043416" y="245059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detect</a:t>
            </a:r>
            <a:endParaRPr lang="en-US" sz="1200" dirty="0"/>
          </a:p>
        </p:txBody>
      </p:sp>
      <p:sp>
        <p:nvSpPr>
          <p:cNvPr id="26" name="step:8:wipeD"/>
          <p:cNvSpPr txBox="1"/>
          <p:nvPr/>
        </p:nvSpPr>
        <p:spPr>
          <a:xfrm>
            <a:off x="9043416" y="276148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pick the buildpacks</a:t>
            </a:r>
            <a:endParaRPr lang="en-US" sz="900" dirty="0"/>
          </a:p>
        </p:txBody>
      </p:sp>
      <p:sp>
        <p:nvSpPr>
          <p:cNvPr id="27" name="step:9:wipeD"/>
          <p:cNvSpPr/>
          <p:nvPr/>
        </p:nvSpPr>
        <p:spPr>
          <a:xfrm>
            <a:off x="10314432" y="2286000"/>
            <a:ext cx="1243584" cy="868680"/>
          </a:xfrm>
          <a:prstGeom prst="roundRect">
            <a:avLst>
              <a:gd name="adj" fmla="val 8421"/>
            </a:avLst>
          </a:prstGeom>
          <a:solidFill>
            <a:srgbClr val="FFFFFF"/>
          </a:solidFill>
          <a:ln w="15875">
            <a:solidFill>
              <a:srgbClr val="0B7A75"/>
            </a:solidFill>
            <a:prstDash val="solid"/>
          </a:ln>
        </p:spPr>
      </p:sp>
      <p:sp>
        <p:nvSpPr>
          <p:cNvPr id="28" name="step:9:wipeD"/>
          <p:cNvSpPr txBox="1"/>
          <p:nvPr/>
        </p:nvSpPr>
        <p:spPr>
          <a:xfrm>
            <a:off x="11192256" y="235915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4</a:t>
            </a:r>
            <a:endParaRPr lang="en-US" sz="850" dirty="0"/>
          </a:p>
        </p:txBody>
      </p:sp>
      <p:sp>
        <p:nvSpPr>
          <p:cNvPr id="29" name="step:9:wipeD"/>
          <p:cNvSpPr txBox="1"/>
          <p:nvPr/>
        </p:nvSpPr>
        <p:spPr>
          <a:xfrm>
            <a:off x="10424160" y="245059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restore</a:t>
            </a:r>
            <a:endParaRPr lang="en-US" sz="1200" dirty="0"/>
          </a:p>
        </p:txBody>
      </p:sp>
      <p:sp>
        <p:nvSpPr>
          <p:cNvPr id="30" name="step:9:wipeD"/>
          <p:cNvSpPr txBox="1"/>
          <p:nvPr/>
        </p:nvSpPr>
        <p:spPr>
          <a:xfrm>
            <a:off x="10424160" y="276148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bring back cached layers</a:t>
            </a:r>
            <a:endParaRPr lang="en-US" sz="900" dirty="0"/>
          </a:p>
        </p:txBody>
      </p:sp>
      <p:sp>
        <p:nvSpPr>
          <p:cNvPr id="31" name="step:10:wipeD"/>
          <p:cNvSpPr/>
          <p:nvPr/>
        </p:nvSpPr>
        <p:spPr>
          <a:xfrm>
            <a:off x="6172200" y="3291840"/>
            <a:ext cx="1243584" cy="868680"/>
          </a:xfrm>
          <a:prstGeom prst="roundRect">
            <a:avLst>
              <a:gd name="adj" fmla="val 8421"/>
            </a:avLst>
          </a:prstGeom>
          <a:solidFill>
            <a:srgbClr val="FFFFFF"/>
          </a:solidFill>
          <a:ln w="15875">
            <a:solidFill>
              <a:srgbClr val="0B7A75"/>
            </a:solidFill>
            <a:prstDash val="solid"/>
          </a:ln>
        </p:spPr>
      </p:sp>
      <p:sp>
        <p:nvSpPr>
          <p:cNvPr id="32" name="step:10:wipeD"/>
          <p:cNvSpPr txBox="1"/>
          <p:nvPr/>
        </p:nvSpPr>
        <p:spPr>
          <a:xfrm>
            <a:off x="7050024" y="336499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5</a:t>
            </a:r>
            <a:endParaRPr lang="en-US" sz="850" dirty="0"/>
          </a:p>
        </p:txBody>
      </p:sp>
      <p:sp>
        <p:nvSpPr>
          <p:cNvPr id="33" name="step:10:wipeD"/>
          <p:cNvSpPr txBox="1"/>
          <p:nvPr/>
        </p:nvSpPr>
        <p:spPr>
          <a:xfrm>
            <a:off x="6281928" y="345643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build</a:t>
            </a:r>
            <a:endParaRPr lang="en-US" sz="1200" dirty="0"/>
          </a:p>
        </p:txBody>
      </p:sp>
      <p:sp>
        <p:nvSpPr>
          <p:cNvPr id="34" name="step:10:wipeD"/>
          <p:cNvSpPr txBox="1"/>
          <p:nvPr/>
        </p:nvSpPr>
        <p:spPr>
          <a:xfrm>
            <a:off x="6281928" y="376732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install and compile</a:t>
            </a:r>
            <a:endParaRPr lang="en-US" sz="900" dirty="0"/>
          </a:p>
        </p:txBody>
      </p:sp>
      <p:sp>
        <p:nvSpPr>
          <p:cNvPr id="35" name="step:11:wipeD"/>
          <p:cNvSpPr/>
          <p:nvPr/>
        </p:nvSpPr>
        <p:spPr>
          <a:xfrm>
            <a:off x="7552944" y="3291840"/>
            <a:ext cx="1243584" cy="868680"/>
          </a:xfrm>
          <a:prstGeom prst="roundRect">
            <a:avLst>
              <a:gd name="adj" fmla="val 8421"/>
            </a:avLst>
          </a:prstGeom>
          <a:solidFill>
            <a:srgbClr val="FFFFFF"/>
          </a:solidFill>
          <a:ln w="15875">
            <a:solidFill>
              <a:srgbClr val="0B7A75"/>
            </a:solidFill>
            <a:prstDash val="solid"/>
          </a:ln>
        </p:spPr>
      </p:sp>
      <p:sp>
        <p:nvSpPr>
          <p:cNvPr id="36" name="step:11:wipeD"/>
          <p:cNvSpPr txBox="1"/>
          <p:nvPr/>
        </p:nvSpPr>
        <p:spPr>
          <a:xfrm>
            <a:off x="8430768" y="336499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6</a:t>
            </a:r>
            <a:endParaRPr lang="en-US" sz="850" dirty="0"/>
          </a:p>
        </p:txBody>
      </p:sp>
      <p:sp>
        <p:nvSpPr>
          <p:cNvPr id="37" name="step:11:wipeD"/>
          <p:cNvSpPr txBox="1"/>
          <p:nvPr/>
        </p:nvSpPr>
        <p:spPr>
          <a:xfrm>
            <a:off x="7662672" y="345643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export</a:t>
            </a:r>
            <a:endParaRPr lang="en-US" sz="1200" dirty="0"/>
          </a:p>
        </p:txBody>
      </p:sp>
      <p:sp>
        <p:nvSpPr>
          <p:cNvPr id="38" name="step:11:wipeD"/>
          <p:cNvSpPr txBox="1"/>
          <p:nvPr/>
        </p:nvSpPr>
        <p:spPr>
          <a:xfrm>
            <a:off x="7662672" y="376732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assemble and push</a:t>
            </a:r>
            <a:endParaRPr lang="en-US" sz="900" dirty="0"/>
          </a:p>
        </p:txBody>
      </p:sp>
      <p:sp>
        <p:nvSpPr>
          <p:cNvPr id="39" name="step:12:wipeD"/>
          <p:cNvSpPr/>
          <p:nvPr/>
        </p:nvSpPr>
        <p:spPr>
          <a:xfrm>
            <a:off x="8933688" y="3291840"/>
            <a:ext cx="1243584" cy="868680"/>
          </a:xfrm>
          <a:prstGeom prst="roundRect">
            <a:avLst>
              <a:gd name="adj" fmla="val 8421"/>
            </a:avLst>
          </a:prstGeom>
          <a:solidFill>
            <a:srgbClr val="FFFFFF"/>
          </a:solidFill>
          <a:ln w="15875">
            <a:solidFill>
              <a:srgbClr val="1B8A5A"/>
            </a:solidFill>
            <a:prstDash val="solid"/>
          </a:ln>
        </p:spPr>
      </p:sp>
      <p:sp>
        <p:nvSpPr>
          <p:cNvPr id="40" name="step:12:wipeD"/>
          <p:cNvSpPr txBox="1"/>
          <p:nvPr/>
        </p:nvSpPr>
        <p:spPr>
          <a:xfrm>
            <a:off x="9811512" y="3364992"/>
            <a:ext cx="274320" cy="228600"/>
          </a:xfrm>
          <a:prstGeom prst="rect">
            <a:avLst/>
          </a:prstGeom>
          <a:noFill/>
          <a:ln/>
        </p:spPr>
        <p:txBody>
          <a:bodyPr wrap="square" lIns="0" tIns="0" rIns="0" bIns="0" rtlCol="0" anchor="ctr"/>
          <a:lstStyle/>
          <a:p>
            <a:pPr algn="r" indent="0" marL="0">
              <a:buNone/>
            </a:pPr>
            <a:r>
              <a:rPr lang="en-US" sz="850" dirty="0">
                <a:solidFill>
                  <a:srgbClr val="667085"/>
                </a:solidFill>
                <a:latin typeface="Courier New" pitchFamily="34" charset="0"/>
                <a:ea typeface="Courier New" pitchFamily="34" charset="-122"/>
                <a:cs typeface="Courier New" pitchFamily="34" charset="-120"/>
              </a:rPr>
              <a:t>7</a:t>
            </a:r>
            <a:endParaRPr lang="en-US" sz="850" dirty="0"/>
          </a:p>
        </p:txBody>
      </p:sp>
      <p:sp>
        <p:nvSpPr>
          <p:cNvPr id="41" name="step:12:wipeD"/>
          <p:cNvSpPr txBox="1"/>
          <p:nvPr/>
        </p:nvSpPr>
        <p:spPr>
          <a:xfrm>
            <a:off x="9043416" y="3456432"/>
            <a:ext cx="1024128" cy="320040"/>
          </a:xfrm>
          <a:prstGeom prst="rect">
            <a:avLst/>
          </a:prstGeom>
          <a:noFill/>
          <a:ln/>
        </p:spPr>
        <p:txBody>
          <a:bodyPr wrap="square" lIns="0" tIns="0" rIns="0" bIns="0" rtlCol="0" anchor="ctr"/>
          <a:lstStyle/>
          <a:p>
            <a:pPr indent="0" marL="0">
              <a:buNone/>
            </a:pPr>
            <a:r>
              <a:rPr lang="en-US" sz="1200" b="1" dirty="0">
                <a:solidFill>
                  <a:srgbClr val="1B1F2A"/>
                </a:solidFill>
                <a:latin typeface="Courier New" pitchFamily="34" charset="0"/>
                <a:ea typeface="Courier New" pitchFamily="34" charset="-122"/>
                <a:cs typeface="Courier New" pitchFamily="34" charset="-120"/>
              </a:rPr>
              <a:t>completion</a:t>
            </a:r>
            <a:endParaRPr lang="en-US" sz="1200" dirty="0"/>
          </a:p>
        </p:txBody>
      </p:sp>
      <p:sp>
        <p:nvSpPr>
          <p:cNvPr id="42" name="step:12:wipeD"/>
          <p:cNvSpPr txBox="1"/>
          <p:nvPr/>
        </p:nvSpPr>
        <p:spPr>
          <a:xfrm>
            <a:off x="9043416" y="3767328"/>
            <a:ext cx="1024128" cy="36576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finish up</a:t>
            </a:r>
            <a:endParaRPr lang="en-US" sz="900" dirty="0"/>
          </a:p>
        </p:txBody>
      </p:sp>
      <p:sp>
        <p:nvSpPr>
          <p:cNvPr id="43" name="Text 40"/>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31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55" fill="hold">
                      <p:stCondLst>
                        <p:cond delay="indefinite"/>
                      </p:stCondLst>
                      <p:childTnLst>
                        <p:par>
                          <p:cTn id="56" fill="hold">
                            <p:stCondLst>
                              <p:cond delay="0"/>
                            </p:stCondLst>
                            <p:childTnLst>
                              <p:par>
                                <p:cTn id="45" presetID="2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350"/>
                                        <p:tgtEl>
                                          <p:spTgt spid="15"/>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350"/>
                                        <p:tgtEl>
                                          <p:spTgt spid="16"/>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350"/>
                                        <p:tgtEl>
                                          <p:spTgt spid="17"/>
                                        </p:tgtEl>
                                      </p:cBhvr>
                                    </p:animEffect>
                                  </p:childTnLst>
                                </p:cTn>
                              </p:par>
                              <p:par>
                                <p:cTn id="54" presetID="2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350"/>
                                        <p:tgtEl>
                                          <p:spTgt spid="18"/>
                                        </p:tgtEl>
                                      </p:cBhvr>
                                    </p:animEffect>
                                  </p:childTnLst>
                                </p:cTn>
                              </p:par>
                            </p:childTnLst>
                          </p:cTn>
                        </p:par>
                      </p:childTnLst>
                    </p:cTn>
                  </p:par>
                  <p:par>
                    <p:cTn id="69" fill="hold">
                      <p:stCondLst>
                        <p:cond delay="indefinite"/>
                      </p:stCondLst>
                      <p:childTnLst>
                        <p:par>
                          <p:cTn id="70" fill="hold">
                            <p:stCondLst>
                              <p:cond delay="0"/>
                            </p:stCondLst>
                            <p:childTnLst>
                              <p:par>
                                <p:cTn id="59" presetID="22" presetClass="entr" presetSubtype="4"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down)">
                                      <p:cBhvr>
                                        <p:cTn id="58" dur="350"/>
                                        <p:tgtEl>
                                          <p:spTgt spid="19"/>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350"/>
                                        <p:tgtEl>
                                          <p:spTgt spid="20"/>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down)">
                                      <p:cBhvr>
                                        <p:cTn id="64" dur="350"/>
                                        <p:tgtEl>
                                          <p:spTgt spid="21"/>
                                        </p:tgtEl>
                                      </p:cBhvr>
                                    </p:animEffect>
                                  </p:childTnLst>
                                </p:cTn>
                              </p:par>
                              <p:par>
                                <p:cTn id="68" presetID="2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down)">
                                      <p:cBhvr>
                                        <p:cTn id="67" dur="350"/>
                                        <p:tgtEl>
                                          <p:spTgt spid="22"/>
                                        </p:tgtEl>
                                      </p:cBhvr>
                                    </p:animEffect>
                                  </p:childTnLst>
                                </p:cTn>
                              </p:par>
                            </p:childTnLst>
                          </p:cTn>
                        </p:par>
                      </p:childTnLst>
                    </p:cTn>
                  </p:par>
                  <p:par>
                    <p:cTn id="83" fill="hold">
                      <p:stCondLst>
                        <p:cond delay="indefinite"/>
                      </p:stCondLst>
                      <p:childTnLst>
                        <p:par>
                          <p:cTn id="84" fill="hold">
                            <p:stCondLst>
                              <p:cond delay="0"/>
                            </p:stCondLst>
                            <p:childTnLst>
                              <p:par>
                                <p:cTn id="73" presetID="2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down)">
                                      <p:cBhvr>
                                        <p:cTn id="72" dur="350"/>
                                        <p:tgtEl>
                                          <p:spTgt spid="23"/>
                                        </p:tgtEl>
                                      </p:cBhvr>
                                    </p:animEffect>
                                  </p:childTnLst>
                                </p:cTn>
                              </p:par>
                              <p:par>
                                <p:cTn id="76" presetID="2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down)">
                                      <p:cBhvr>
                                        <p:cTn id="75" dur="350"/>
                                        <p:tgtEl>
                                          <p:spTgt spid="24"/>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down)">
                                      <p:cBhvr>
                                        <p:cTn id="78" dur="350"/>
                                        <p:tgtEl>
                                          <p:spTgt spid="25"/>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down)">
                                      <p:cBhvr>
                                        <p:cTn id="81" dur="350"/>
                                        <p:tgtEl>
                                          <p:spTgt spid="26"/>
                                        </p:tgtEl>
                                      </p:cBhvr>
                                    </p:animEffect>
                                  </p:childTnLst>
                                </p:cTn>
                              </p:par>
                            </p:childTnLst>
                          </p:cTn>
                        </p:par>
                      </p:childTnLst>
                    </p:cTn>
                  </p:par>
                  <p:par>
                    <p:cTn id="97" fill="hold">
                      <p:stCondLst>
                        <p:cond delay="indefinite"/>
                      </p:stCondLst>
                      <p:childTnLst>
                        <p:par>
                          <p:cTn id="98" fill="hold">
                            <p:stCondLst>
                              <p:cond delay="0"/>
                            </p:stCondLst>
                            <p:childTnLst>
                              <p:par>
                                <p:cTn id="87" presetID="22" presetClass="entr" presetSubtype="4"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wipe(down)">
                                      <p:cBhvr>
                                        <p:cTn id="86" dur="350"/>
                                        <p:tgtEl>
                                          <p:spTgt spid="27"/>
                                        </p:tgtEl>
                                      </p:cBhvr>
                                    </p:animEffect>
                                  </p:childTnLst>
                                </p:cTn>
                              </p:par>
                              <p:par>
                                <p:cTn id="90" presetID="22" presetClass="entr" presetSubtype="4"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down)">
                                      <p:cBhvr>
                                        <p:cTn id="89" dur="350"/>
                                        <p:tgtEl>
                                          <p:spTgt spid="28"/>
                                        </p:tgtEl>
                                      </p:cBhvr>
                                    </p:animEffect>
                                  </p:childTnLst>
                                </p:cTn>
                              </p:par>
                              <p:par>
                                <p:cTn id="93" presetID="22" presetClass="entr" presetSubtype="4"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wipe(down)">
                                      <p:cBhvr>
                                        <p:cTn id="92" dur="350"/>
                                        <p:tgtEl>
                                          <p:spTgt spid="29"/>
                                        </p:tgtEl>
                                      </p:cBhvr>
                                    </p:animEffect>
                                  </p:childTnLst>
                                </p:cTn>
                              </p:par>
                              <p:par>
                                <p:cTn id="96" presetID="22" presetClass="entr" presetSubtype="4"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down)">
                                      <p:cBhvr>
                                        <p:cTn id="95" dur="350"/>
                                        <p:tgtEl>
                                          <p:spTgt spid="30"/>
                                        </p:tgtEl>
                                      </p:cBhvr>
                                    </p:animEffect>
                                  </p:childTnLst>
                                </p:cTn>
                              </p:par>
                            </p:childTnLst>
                          </p:cTn>
                        </p:par>
                      </p:childTnLst>
                    </p:cTn>
                  </p:par>
                  <p:par>
                    <p:cTn id="111" fill="hold">
                      <p:stCondLst>
                        <p:cond delay="indefinite"/>
                      </p:stCondLst>
                      <p:childTnLst>
                        <p:par>
                          <p:cTn id="112" fill="hold">
                            <p:stCondLst>
                              <p:cond delay="0"/>
                            </p:stCondLst>
                            <p:childTnLst>
                              <p:par>
                                <p:cTn id="101" presetID="22" presetClass="entr" presetSubtype="4" fill="hold" grpId="0" nodeType="clickEffect">
                                  <p:stCondLst>
                                    <p:cond delay="0"/>
                                  </p:stCondLst>
                                  <p:childTnLst>
                                    <p:set>
                                      <p:cBhvr>
                                        <p:cTn id="99" dur="1" fill="hold">
                                          <p:stCondLst>
                                            <p:cond delay="0"/>
                                          </p:stCondLst>
                                        </p:cTn>
                                        <p:tgtEl>
                                          <p:spTgt spid="31"/>
                                        </p:tgtEl>
                                        <p:attrNameLst>
                                          <p:attrName>style.visibility</p:attrName>
                                        </p:attrNameLst>
                                      </p:cBhvr>
                                      <p:to>
                                        <p:strVal val="visible"/>
                                      </p:to>
                                    </p:set>
                                    <p:animEffect transition="in" filter="wipe(down)">
                                      <p:cBhvr>
                                        <p:cTn id="100" dur="350"/>
                                        <p:tgtEl>
                                          <p:spTgt spid="31"/>
                                        </p:tgtEl>
                                      </p:cBhvr>
                                    </p:animEffect>
                                  </p:childTnLst>
                                </p:cTn>
                              </p:par>
                              <p:par>
                                <p:cTn id="104" presetID="22" presetClass="entr" presetSubtype="4"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ipe(down)">
                                      <p:cBhvr>
                                        <p:cTn id="103" dur="350"/>
                                        <p:tgtEl>
                                          <p:spTgt spid="32"/>
                                        </p:tgtEl>
                                      </p:cBhvr>
                                    </p:animEffect>
                                  </p:childTnLst>
                                </p:cTn>
                              </p:par>
                              <p:par>
                                <p:cTn id="107" presetID="22" presetClass="entr" presetSubtype="4" fill="hold" grpId="0" nodeType="with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wipe(down)">
                                      <p:cBhvr>
                                        <p:cTn id="106" dur="350"/>
                                        <p:tgtEl>
                                          <p:spTgt spid="33"/>
                                        </p:tgtEl>
                                      </p:cBhvr>
                                    </p:animEffect>
                                  </p:childTnLst>
                                </p:cTn>
                              </p:par>
                              <p:par>
                                <p:cTn id="110" presetID="22" presetClass="entr" presetSubtype="4"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down)">
                                      <p:cBhvr>
                                        <p:cTn id="109" dur="350"/>
                                        <p:tgtEl>
                                          <p:spTgt spid="34"/>
                                        </p:tgtEl>
                                      </p:cBhvr>
                                    </p:animEffect>
                                  </p:childTnLst>
                                </p:cTn>
                              </p:par>
                            </p:childTnLst>
                          </p:cTn>
                        </p:par>
                      </p:childTnLst>
                    </p:cTn>
                  </p:par>
                  <p:par>
                    <p:cTn id="125" fill="hold">
                      <p:stCondLst>
                        <p:cond delay="indefinite"/>
                      </p:stCondLst>
                      <p:childTnLst>
                        <p:par>
                          <p:cTn id="126" fill="hold">
                            <p:stCondLst>
                              <p:cond delay="0"/>
                            </p:stCondLst>
                            <p:childTnLst>
                              <p:par>
                                <p:cTn id="115" presetID="22" presetClass="entr" presetSubtype="4" fill="hold" grpId="0" nodeType="click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wipe(down)">
                                      <p:cBhvr>
                                        <p:cTn id="114" dur="350"/>
                                        <p:tgtEl>
                                          <p:spTgt spid="35"/>
                                        </p:tgtEl>
                                      </p:cBhvr>
                                    </p:animEffect>
                                  </p:childTnLst>
                                </p:cTn>
                              </p:par>
                              <p:par>
                                <p:cTn id="118" presetID="22" presetClass="entr" presetSubtype="4"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wipe(down)">
                                      <p:cBhvr>
                                        <p:cTn id="117" dur="350"/>
                                        <p:tgtEl>
                                          <p:spTgt spid="36"/>
                                        </p:tgtEl>
                                      </p:cBhvr>
                                    </p:animEffect>
                                  </p:childTnLst>
                                </p:cTn>
                              </p:par>
                              <p:par>
                                <p:cTn id="121" presetID="22" presetClass="entr" presetSubtype="4"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wipe(down)">
                                      <p:cBhvr>
                                        <p:cTn id="120" dur="350"/>
                                        <p:tgtEl>
                                          <p:spTgt spid="37"/>
                                        </p:tgtEl>
                                      </p:cBhvr>
                                    </p:animEffect>
                                  </p:childTnLst>
                                </p:cTn>
                              </p:par>
                              <p:par>
                                <p:cTn id="124" presetID="22" presetClass="entr" presetSubtype="4"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wipe(down)">
                                      <p:cBhvr>
                                        <p:cTn id="123" dur="350"/>
                                        <p:tgtEl>
                                          <p:spTgt spid="38"/>
                                        </p:tgtEl>
                                      </p:cBhvr>
                                    </p:animEffect>
                                  </p:childTnLst>
                                </p:cTn>
                              </p:par>
                            </p:childTnLst>
                          </p:cTn>
                        </p:par>
                      </p:childTnLst>
                    </p:cTn>
                  </p:par>
                  <p:par>
                    <p:cTn id="139" fill="hold">
                      <p:stCondLst>
                        <p:cond delay="indefinite"/>
                      </p:stCondLst>
                      <p:childTnLst>
                        <p:par>
                          <p:cTn id="140" fill="hold">
                            <p:stCondLst>
                              <p:cond delay="0"/>
                            </p:stCondLst>
                            <p:childTnLst>
                              <p:par>
                                <p:cTn id="129" presetID="22" presetClass="entr" presetSubtype="4" fill="hold" grpId="0" nodeType="clickEffect">
                                  <p:stCondLst>
                                    <p:cond delay="0"/>
                                  </p:stCondLst>
                                  <p:childTnLst>
                                    <p:set>
                                      <p:cBhvr>
                                        <p:cTn id="127" dur="1" fill="hold">
                                          <p:stCondLst>
                                            <p:cond delay="0"/>
                                          </p:stCondLst>
                                        </p:cTn>
                                        <p:tgtEl>
                                          <p:spTgt spid="39"/>
                                        </p:tgtEl>
                                        <p:attrNameLst>
                                          <p:attrName>style.visibility</p:attrName>
                                        </p:attrNameLst>
                                      </p:cBhvr>
                                      <p:to>
                                        <p:strVal val="visible"/>
                                      </p:to>
                                    </p:set>
                                    <p:animEffect transition="in" filter="wipe(down)">
                                      <p:cBhvr>
                                        <p:cTn id="128" dur="350"/>
                                        <p:tgtEl>
                                          <p:spTgt spid="39"/>
                                        </p:tgtEl>
                                      </p:cBhvr>
                                    </p:animEffect>
                                  </p:childTnLst>
                                </p:cTn>
                              </p:par>
                              <p:par>
                                <p:cTn id="132" presetID="22" presetClass="entr" presetSubtype="4" fill="hold" grpId="0" nodeType="withEffect">
                                  <p:stCondLst>
                                    <p:cond delay="0"/>
                                  </p:stCondLst>
                                  <p:childTnLst>
                                    <p:set>
                                      <p:cBhvr>
                                        <p:cTn id="130" dur="1" fill="hold">
                                          <p:stCondLst>
                                            <p:cond delay="0"/>
                                          </p:stCondLst>
                                        </p:cTn>
                                        <p:tgtEl>
                                          <p:spTgt spid="40"/>
                                        </p:tgtEl>
                                        <p:attrNameLst>
                                          <p:attrName>style.visibility</p:attrName>
                                        </p:attrNameLst>
                                      </p:cBhvr>
                                      <p:to>
                                        <p:strVal val="visible"/>
                                      </p:to>
                                    </p:set>
                                    <p:animEffect transition="in" filter="wipe(down)">
                                      <p:cBhvr>
                                        <p:cTn id="131" dur="350"/>
                                        <p:tgtEl>
                                          <p:spTgt spid="40"/>
                                        </p:tgtEl>
                                      </p:cBhvr>
                                    </p:animEffect>
                                  </p:childTnLst>
                                </p:cTn>
                              </p:par>
                              <p:par>
                                <p:cTn id="135" presetID="22" presetClass="entr" presetSubtype="4" fill="hold" grpId="0" nodeType="withEffect">
                                  <p:stCondLst>
                                    <p:cond delay="0"/>
                                  </p:stCondLst>
                                  <p:childTnLst>
                                    <p:set>
                                      <p:cBhvr>
                                        <p:cTn id="133" dur="1" fill="hold">
                                          <p:stCondLst>
                                            <p:cond delay="0"/>
                                          </p:stCondLst>
                                        </p:cTn>
                                        <p:tgtEl>
                                          <p:spTgt spid="41"/>
                                        </p:tgtEl>
                                        <p:attrNameLst>
                                          <p:attrName>style.visibility</p:attrName>
                                        </p:attrNameLst>
                                      </p:cBhvr>
                                      <p:to>
                                        <p:strVal val="visible"/>
                                      </p:to>
                                    </p:set>
                                    <p:animEffect transition="in" filter="wipe(down)">
                                      <p:cBhvr>
                                        <p:cTn id="134" dur="350"/>
                                        <p:tgtEl>
                                          <p:spTgt spid="41"/>
                                        </p:tgtEl>
                                      </p:cBhvr>
                                    </p:animEffect>
                                  </p:childTnLst>
                                </p:cTn>
                              </p:par>
                              <p:par>
                                <p:cTn id="138" presetID="22" presetClass="entr" presetSubtype="4" fill="hold" grpId="0" nodeType="withEffect">
                                  <p:stCondLst>
                                    <p:cond delay="0"/>
                                  </p:stCondLst>
                                  <p:childTnLst>
                                    <p:set>
                                      <p:cBhvr>
                                        <p:cTn id="136" dur="1" fill="hold">
                                          <p:stCondLst>
                                            <p:cond delay="0"/>
                                          </p:stCondLst>
                                        </p:cTn>
                                        <p:tgtEl>
                                          <p:spTgt spid="42"/>
                                        </p:tgtEl>
                                        <p:attrNameLst>
                                          <p:attrName>style.visibility</p:attrName>
                                        </p:attrNameLst>
                                      </p:cBhvr>
                                      <p:to>
                                        <p:strVal val="visible"/>
                                      </p:to>
                                    </p:set>
                                    <p:animEffect transition="in" filter="wipe(down)">
                                      <p:cBhvr>
                                        <p:cTn id="137" dur="3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Our kpack chart</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Not a fork, a Helm chart</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Packages upstream kpack faithfully</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CRDs as templates, for the webhook</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Creates the cluster build content</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Mirror scripts for the airgap</a:t>
            </a:r>
            <a:endParaRPr lang="en-US" sz="1900" dirty="0"/>
          </a:p>
        </p:txBody>
      </p:sp>
      <p:sp>
        <p:nvSpPr>
          <p:cNvPr id="15" name="step:6:wipeD"/>
          <p:cNvSpPr/>
          <p:nvPr/>
        </p:nvSpPr>
        <p:spPr>
          <a:xfrm>
            <a:off x="6172200" y="2011680"/>
            <a:ext cx="5394960" cy="704088"/>
          </a:xfrm>
          <a:prstGeom prst="roundRect">
            <a:avLst>
              <a:gd name="adj" fmla="val 10390"/>
            </a:avLst>
          </a:prstGeom>
          <a:solidFill>
            <a:srgbClr val="FFFFFF"/>
          </a:solidFill>
          <a:ln w="22225">
            <a:solidFill>
              <a:srgbClr val="E4572E"/>
            </a:solidFill>
            <a:prstDash val="solid"/>
          </a:ln>
        </p:spPr>
      </p:sp>
      <p:sp>
        <p:nvSpPr>
          <p:cNvPr id="16" name="step:6:wipeD"/>
          <p:cNvSpPr txBox="1"/>
          <p:nvPr/>
        </p:nvSpPr>
        <p:spPr>
          <a:xfrm>
            <a:off x="6355080" y="2011680"/>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the chart</a:t>
            </a:r>
            <a:endParaRPr lang="en-US" sz="1400" dirty="0"/>
          </a:p>
        </p:txBody>
      </p:sp>
      <p:sp>
        <p:nvSpPr>
          <p:cNvPr id="17" name="step:6:wipeD"/>
          <p:cNvSpPr txBox="1"/>
          <p:nvPr/>
        </p:nvSpPr>
        <p:spPr>
          <a:xfrm>
            <a:off x="8549640" y="2011680"/>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upstream kpack 0.18</a:t>
            </a:r>
            <a:endParaRPr lang="en-US" sz="950" dirty="0"/>
          </a:p>
        </p:txBody>
      </p:sp>
      <p:sp>
        <p:nvSpPr>
          <p:cNvPr id="18" name="step:7:wipeD"/>
          <p:cNvSpPr/>
          <p:nvPr/>
        </p:nvSpPr>
        <p:spPr>
          <a:xfrm>
            <a:off x="6172200" y="2825496"/>
            <a:ext cx="5394960" cy="704088"/>
          </a:xfrm>
          <a:prstGeom prst="roundRect">
            <a:avLst>
              <a:gd name="adj" fmla="val 10390"/>
            </a:avLst>
          </a:prstGeom>
          <a:solidFill>
            <a:srgbClr val="FFFFFF"/>
          </a:solidFill>
          <a:ln w="15875">
            <a:solidFill>
              <a:srgbClr val="0B7A75"/>
            </a:solidFill>
            <a:prstDash val="solid"/>
          </a:ln>
        </p:spPr>
      </p:sp>
      <p:sp>
        <p:nvSpPr>
          <p:cNvPr id="19" name="step:7:wipeD"/>
          <p:cNvSpPr txBox="1"/>
          <p:nvPr/>
        </p:nvSpPr>
        <p:spPr>
          <a:xfrm>
            <a:off x="6355080" y="2825496"/>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CRDs</a:t>
            </a:r>
            <a:endParaRPr lang="en-US" sz="1400" dirty="0"/>
          </a:p>
        </p:txBody>
      </p:sp>
      <p:sp>
        <p:nvSpPr>
          <p:cNvPr id="20" name="step:7:wipeD"/>
          <p:cNvSpPr txBox="1"/>
          <p:nvPr/>
        </p:nvSpPr>
        <p:spPr>
          <a:xfrm>
            <a:off x="8549640" y="2825496"/>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templated, not an untouched crds/</a:t>
            </a:r>
            <a:endParaRPr lang="en-US" sz="950" dirty="0"/>
          </a:p>
        </p:txBody>
      </p:sp>
      <p:sp>
        <p:nvSpPr>
          <p:cNvPr id="21" name="step:8:wipeD"/>
          <p:cNvSpPr/>
          <p:nvPr/>
        </p:nvSpPr>
        <p:spPr>
          <a:xfrm>
            <a:off x="6172200" y="3639312"/>
            <a:ext cx="5394960" cy="704088"/>
          </a:xfrm>
          <a:prstGeom prst="roundRect">
            <a:avLst>
              <a:gd name="adj" fmla="val 10390"/>
            </a:avLst>
          </a:prstGeom>
          <a:solidFill>
            <a:srgbClr val="FFFFFF"/>
          </a:solidFill>
          <a:ln w="15875">
            <a:solidFill>
              <a:srgbClr val="0B7A75"/>
            </a:solidFill>
            <a:prstDash val="solid"/>
          </a:ln>
        </p:spPr>
      </p:sp>
      <p:sp>
        <p:nvSpPr>
          <p:cNvPr id="22" name="step:8:wipeD"/>
          <p:cNvSpPr txBox="1"/>
          <p:nvPr/>
        </p:nvSpPr>
        <p:spPr>
          <a:xfrm>
            <a:off x="6355080" y="3639312"/>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clusterBuild</a:t>
            </a:r>
            <a:endParaRPr lang="en-US" sz="1400" dirty="0"/>
          </a:p>
        </p:txBody>
      </p:sp>
      <p:sp>
        <p:nvSpPr>
          <p:cNvPr id="23" name="step:8:wipeD"/>
          <p:cNvSpPr txBox="1"/>
          <p:nvPr/>
        </p:nvSpPr>
        <p:spPr>
          <a:xfrm>
            <a:off x="8549640" y="3639312"/>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ClusterStack + ClusterStore</a:t>
            </a:r>
            <a:endParaRPr lang="en-US" sz="950" dirty="0"/>
          </a:p>
        </p:txBody>
      </p:sp>
      <p:sp>
        <p:nvSpPr>
          <p:cNvPr id="24" name="step:9:wipeD"/>
          <p:cNvSpPr/>
          <p:nvPr/>
        </p:nvSpPr>
        <p:spPr>
          <a:xfrm>
            <a:off x="6172200" y="4453128"/>
            <a:ext cx="5394960" cy="704088"/>
          </a:xfrm>
          <a:prstGeom prst="roundRect">
            <a:avLst>
              <a:gd name="adj" fmla="val 10390"/>
            </a:avLst>
          </a:prstGeom>
          <a:solidFill>
            <a:srgbClr val="FFFFFF"/>
          </a:solidFill>
          <a:ln w="15875">
            <a:solidFill>
              <a:srgbClr val="0B7A75"/>
            </a:solidFill>
            <a:prstDash val="solid"/>
          </a:ln>
        </p:spPr>
      </p:sp>
      <p:sp>
        <p:nvSpPr>
          <p:cNvPr id="25" name="step:9:wipeD"/>
          <p:cNvSpPr txBox="1"/>
          <p:nvPr/>
        </p:nvSpPr>
        <p:spPr>
          <a:xfrm>
            <a:off x="6355080" y="4453128"/>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credentials</a:t>
            </a:r>
            <a:endParaRPr lang="en-US" sz="1400" dirty="0"/>
          </a:p>
        </p:txBody>
      </p:sp>
      <p:sp>
        <p:nvSpPr>
          <p:cNvPr id="26" name="step:9:wipeD"/>
          <p:cNvSpPr txBox="1"/>
          <p:nvPr/>
        </p:nvSpPr>
        <p:spPr>
          <a:xfrm>
            <a:off x="8549640" y="4453128"/>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projected by external-secrets</a:t>
            </a:r>
            <a:endParaRPr lang="en-US" sz="950" dirty="0"/>
          </a:p>
        </p:txBody>
      </p:sp>
      <p:sp>
        <p:nvSpPr>
          <p:cNvPr id="27" name="step:10:wipeD"/>
          <p:cNvSpPr/>
          <p:nvPr/>
        </p:nvSpPr>
        <p:spPr>
          <a:xfrm>
            <a:off x="6172200" y="5266944"/>
            <a:ext cx="5394960" cy="704088"/>
          </a:xfrm>
          <a:prstGeom prst="roundRect">
            <a:avLst>
              <a:gd name="adj" fmla="val 10390"/>
            </a:avLst>
          </a:prstGeom>
          <a:solidFill>
            <a:srgbClr val="FFFFFF"/>
          </a:solidFill>
          <a:ln w="15875">
            <a:solidFill>
              <a:srgbClr val="0B7A75"/>
            </a:solidFill>
            <a:prstDash val="solid"/>
          </a:ln>
        </p:spPr>
      </p:sp>
      <p:sp>
        <p:nvSpPr>
          <p:cNvPr id="28" name="step:10:wipeD"/>
          <p:cNvSpPr txBox="1"/>
          <p:nvPr/>
        </p:nvSpPr>
        <p:spPr>
          <a:xfrm>
            <a:off x="6355080" y="5266944"/>
            <a:ext cx="2377440" cy="704088"/>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scripts/mirror</a:t>
            </a:r>
            <a:endParaRPr lang="en-US" sz="1400" dirty="0"/>
          </a:p>
        </p:txBody>
      </p:sp>
      <p:sp>
        <p:nvSpPr>
          <p:cNvPr id="29" name="step:10:wipeD"/>
          <p:cNvSpPr txBox="1"/>
          <p:nvPr/>
        </p:nvSpPr>
        <p:spPr>
          <a:xfrm>
            <a:off x="8549640" y="5266944"/>
            <a:ext cx="2834640" cy="704088"/>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images, buildpackages, runtimes</a:t>
            </a:r>
            <a:endParaRPr lang="en-US" sz="950" dirty="0"/>
          </a:p>
        </p:txBody>
      </p:sp>
      <p:sp>
        <p:nvSpPr>
          <p:cNvPr id="30" name="Text 2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32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52" fill="hold">
                      <p:stCondLst>
                        <p:cond delay="indefinite"/>
                      </p:stCondLst>
                      <p:childTnLst>
                        <p:par>
                          <p:cTn id="53" fill="hold">
                            <p:stCondLst>
                              <p:cond delay="0"/>
                            </p:stCondLst>
                            <p:childTnLst>
                              <p:par>
                                <p:cTn id="45" presetID="2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350"/>
                                        <p:tgtEl>
                                          <p:spTgt spid="15"/>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350"/>
                                        <p:tgtEl>
                                          <p:spTgt spid="16"/>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350"/>
                                        <p:tgtEl>
                                          <p:spTgt spid="17"/>
                                        </p:tgtEl>
                                      </p:cBhvr>
                                    </p:animEffect>
                                  </p:childTnLst>
                                </p:cTn>
                              </p:par>
                            </p:childTnLst>
                          </p:cTn>
                        </p:par>
                      </p:childTnLst>
                    </p:cTn>
                  </p:par>
                  <p:par>
                    <p:cTn id="63" fill="hold">
                      <p:stCondLst>
                        <p:cond delay="indefinite"/>
                      </p:stCondLst>
                      <p:childTnLst>
                        <p:par>
                          <p:cTn id="64" fill="hold">
                            <p:stCondLst>
                              <p:cond delay="0"/>
                            </p:stCondLst>
                            <p:childTnLst>
                              <p:par>
                                <p:cTn id="56" presetID="22" presetClass="entr" presetSubtype="4"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350"/>
                                        <p:tgtEl>
                                          <p:spTgt spid="18"/>
                                        </p:tgtEl>
                                      </p:cBhvr>
                                    </p:animEffect>
                                  </p:childTnLst>
                                </p:cTn>
                              </p:par>
                              <p:par>
                                <p:cTn id="59" presetID="22" presetClass="entr" presetSubtype="4"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down)">
                                      <p:cBhvr>
                                        <p:cTn id="58" dur="350"/>
                                        <p:tgtEl>
                                          <p:spTgt spid="19"/>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350"/>
                                        <p:tgtEl>
                                          <p:spTgt spid="20"/>
                                        </p:tgtEl>
                                      </p:cBhvr>
                                    </p:animEffect>
                                  </p:childTnLst>
                                </p:cTn>
                              </p:par>
                            </p:childTnLst>
                          </p:cTn>
                        </p:par>
                      </p:childTnLst>
                    </p:cTn>
                  </p:par>
                  <p:par>
                    <p:cTn id="74" fill="hold">
                      <p:stCondLst>
                        <p:cond delay="indefinite"/>
                      </p:stCondLst>
                      <p:childTnLst>
                        <p:par>
                          <p:cTn id="75" fill="hold">
                            <p:stCondLst>
                              <p:cond delay="0"/>
                            </p:stCondLst>
                            <p:childTnLst>
                              <p:par>
                                <p:cTn id="67" presetID="22" presetClass="entr" presetSubtype="4"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down)">
                                      <p:cBhvr>
                                        <p:cTn id="66" dur="350"/>
                                        <p:tgtEl>
                                          <p:spTgt spid="21"/>
                                        </p:tgtEl>
                                      </p:cBhvr>
                                    </p:animEffect>
                                  </p:childTnLst>
                                </p:cTn>
                              </p:par>
                              <p:par>
                                <p:cTn id="70" presetID="22" presetClass="entr" presetSubtype="4"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down)">
                                      <p:cBhvr>
                                        <p:cTn id="69" dur="350"/>
                                        <p:tgtEl>
                                          <p:spTgt spid="22"/>
                                        </p:tgtEl>
                                      </p:cBhvr>
                                    </p:animEffect>
                                  </p:childTnLst>
                                </p:cTn>
                              </p:par>
                              <p:par>
                                <p:cTn id="73" presetID="2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down)">
                                      <p:cBhvr>
                                        <p:cTn id="72" dur="350"/>
                                        <p:tgtEl>
                                          <p:spTgt spid="23"/>
                                        </p:tgtEl>
                                      </p:cBhvr>
                                    </p:animEffect>
                                  </p:childTnLst>
                                </p:cTn>
                              </p:par>
                            </p:childTnLst>
                          </p:cTn>
                        </p:par>
                      </p:childTnLst>
                    </p:cTn>
                  </p:par>
                  <p:par>
                    <p:cTn id="85" fill="hold">
                      <p:stCondLst>
                        <p:cond delay="indefinite"/>
                      </p:stCondLst>
                      <p:childTnLst>
                        <p:par>
                          <p:cTn id="86" fill="hold">
                            <p:stCondLst>
                              <p:cond delay="0"/>
                            </p:stCondLst>
                            <p:childTnLst>
                              <p:par>
                                <p:cTn id="78" presetID="22" presetClass="entr" presetSubtype="4"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down)">
                                      <p:cBhvr>
                                        <p:cTn id="77" dur="350"/>
                                        <p:tgtEl>
                                          <p:spTgt spid="24"/>
                                        </p:tgtEl>
                                      </p:cBhvr>
                                    </p:animEffect>
                                  </p:childTnLst>
                                </p:cTn>
                              </p:par>
                              <p:par>
                                <p:cTn id="81" presetID="22" presetClass="entr" presetSubtype="4"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down)">
                                      <p:cBhvr>
                                        <p:cTn id="80" dur="350"/>
                                        <p:tgtEl>
                                          <p:spTgt spid="25"/>
                                        </p:tgtEl>
                                      </p:cBhvr>
                                    </p:animEffect>
                                  </p:childTnLst>
                                </p:cTn>
                              </p:par>
                              <p:par>
                                <p:cTn id="84" presetID="2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wipe(down)">
                                      <p:cBhvr>
                                        <p:cTn id="83" dur="350"/>
                                        <p:tgtEl>
                                          <p:spTgt spid="26"/>
                                        </p:tgtEl>
                                      </p:cBhvr>
                                    </p:animEffect>
                                  </p:childTnLst>
                                </p:cTn>
                              </p:par>
                            </p:childTnLst>
                          </p:cTn>
                        </p:par>
                      </p:childTnLst>
                    </p:cTn>
                  </p:par>
                  <p:par>
                    <p:cTn id="96" fill="hold">
                      <p:stCondLst>
                        <p:cond delay="indefinite"/>
                      </p:stCondLst>
                      <p:childTnLst>
                        <p:par>
                          <p:cTn id="97" fill="hold">
                            <p:stCondLst>
                              <p:cond delay="0"/>
                            </p:stCondLst>
                            <p:childTnLst>
                              <p:par>
                                <p:cTn id="89" presetID="2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wipe(down)">
                                      <p:cBhvr>
                                        <p:cTn id="88" dur="350"/>
                                        <p:tgtEl>
                                          <p:spTgt spid="27"/>
                                        </p:tgtEl>
                                      </p:cBhvr>
                                    </p:animEffect>
                                  </p:childTnLst>
                                </p:cTn>
                              </p:par>
                              <p:par>
                                <p:cTn id="92" presetID="2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down)">
                                      <p:cBhvr>
                                        <p:cTn id="91" dur="350"/>
                                        <p:tgtEl>
                                          <p:spTgt spid="28"/>
                                        </p:tgtEl>
                                      </p:cBhvr>
                                    </p:animEffect>
                                  </p:childTnLst>
                                </p:cTn>
                              </p:par>
                              <p:par>
                                <p:cTn id="95" presetID="22" presetClass="entr" presetSubtype="4"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wipe(down)">
                                      <p:cBhvr>
                                        <p:cTn id="94"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How the API uses kpack</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API declares, it never builds</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One Image per function, per region</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git Secret for the clone</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build ServiceAccount for the registry</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Owned by the Knative Service</a:t>
            </a:r>
            <a:endParaRPr lang="en-US" sz="1900" dirty="0"/>
          </a:p>
        </p:txBody>
      </p:sp>
      <p:sp>
        <p:nvSpPr>
          <p:cNvPr id="15" name="step:2:wipeL"/>
          <p:cNvSpPr/>
          <p:nvPr/>
        </p:nvSpPr>
        <p:spPr>
          <a:xfrm flipH="1">
            <a:off x="7071360" y="2641092"/>
            <a:ext cx="1798320" cy="719328"/>
          </a:xfrm>
          <a:prstGeom prst="line">
            <a:avLst/>
          </a:prstGeom>
          <a:noFill/>
          <a:ln w="15875">
            <a:solidFill>
              <a:srgbClr val="98A2B3"/>
            </a:solidFill>
            <a:prstDash val="solid"/>
            <a:tailEnd type="triangle"/>
          </a:ln>
        </p:spPr>
      </p:sp>
      <p:sp>
        <p:nvSpPr>
          <p:cNvPr id="16" name="step:3:wipeL"/>
          <p:cNvSpPr/>
          <p:nvPr/>
        </p:nvSpPr>
        <p:spPr>
          <a:xfrm>
            <a:off x="8869680" y="2641092"/>
            <a:ext cx="0" cy="719328"/>
          </a:xfrm>
          <a:prstGeom prst="line">
            <a:avLst/>
          </a:prstGeom>
          <a:noFill/>
          <a:ln w="15875">
            <a:solidFill>
              <a:srgbClr val="98A2B3"/>
            </a:solidFill>
            <a:prstDash val="solid"/>
            <a:tailEnd type="triangle"/>
          </a:ln>
        </p:spPr>
      </p:sp>
      <p:sp>
        <p:nvSpPr>
          <p:cNvPr id="17" name="step:4:wipeL"/>
          <p:cNvSpPr/>
          <p:nvPr/>
        </p:nvSpPr>
        <p:spPr>
          <a:xfrm>
            <a:off x="8869680" y="2641092"/>
            <a:ext cx="1798320" cy="719328"/>
          </a:xfrm>
          <a:prstGeom prst="line">
            <a:avLst/>
          </a:prstGeom>
          <a:noFill/>
          <a:ln w="15875">
            <a:solidFill>
              <a:srgbClr val="98A2B3"/>
            </a:solidFill>
            <a:prstDash val="solid"/>
            <a:tailEnd type="triangle"/>
          </a:ln>
        </p:spPr>
      </p:sp>
      <p:sp>
        <p:nvSpPr>
          <p:cNvPr id="18" name="step:5:wipeL"/>
          <p:cNvSpPr/>
          <p:nvPr/>
        </p:nvSpPr>
        <p:spPr>
          <a:xfrm>
            <a:off x="7071360" y="3935882"/>
            <a:ext cx="1798320" cy="773278"/>
          </a:xfrm>
          <a:prstGeom prst="line">
            <a:avLst/>
          </a:prstGeom>
          <a:noFill/>
          <a:ln w="15875">
            <a:solidFill>
              <a:srgbClr val="98A2B3"/>
            </a:solidFill>
            <a:prstDash val="solid"/>
            <a:tailEnd type="triangle"/>
          </a:ln>
        </p:spPr>
      </p:sp>
      <p:sp>
        <p:nvSpPr>
          <p:cNvPr id="19" name="step:1:wipeD"/>
          <p:cNvSpPr/>
          <p:nvPr/>
        </p:nvSpPr>
        <p:spPr>
          <a:xfrm>
            <a:off x="7880604" y="2101596"/>
            <a:ext cx="1978152" cy="539496"/>
          </a:xfrm>
          <a:prstGeom prst="roundRect">
            <a:avLst>
              <a:gd name="adj" fmla="val 13559"/>
            </a:avLst>
          </a:prstGeom>
          <a:solidFill>
            <a:srgbClr val="FFFFFF"/>
          </a:solidFill>
          <a:ln w="22225">
            <a:solidFill>
              <a:srgbClr val="E4572E"/>
            </a:solidFill>
            <a:prstDash val="solid"/>
          </a:ln>
        </p:spPr>
      </p:sp>
      <p:sp>
        <p:nvSpPr>
          <p:cNvPr id="20" name="step:1:wipeD"/>
          <p:cNvSpPr txBox="1"/>
          <p:nvPr/>
        </p:nvSpPr>
        <p:spPr>
          <a:xfrm>
            <a:off x="7880604" y="2101596"/>
            <a:ext cx="1978152" cy="539496"/>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API</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writes manifests only</a:t>
            </a:r>
            <a:endParaRPr lang="en-US" sz="1200" dirty="0"/>
          </a:p>
        </p:txBody>
      </p:sp>
      <p:sp>
        <p:nvSpPr>
          <p:cNvPr id="21" name="step:2:wipeD"/>
          <p:cNvSpPr/>
          <p:nvPr/>
        </p:nvSpPr>
        <p:spPr>
          <a:xfrm>
            <a:off x="6262116" y="3360420"/>
            <a:ext cx="1618488" cy="575462"/>
          </a:xfrm>
          <a:prstGeom prst="roundRect">
            <a:avLst>
              <a:gd name="adj" fmla="val 12712"/>
            </a:avLst>
          </a:prstGeom>
          <a:solidFill>
            <a:srgbClr val="FFFFFF"/>
          </a:solidFill>
          <a:ln w="15875">
            <a:solidFill>
              <a:srgbClr val="0B7A75"/>
            </a:solidFill>
            <a:prstDash val="solid"/>
          </a:ln>
        </p:spPr>
      </p:sp>
      <p:sp>
        <p:nvSpPr>
          <p:cNvPr id="22" name="step:2:wipeD"/>
          <p:cNvSpPr txBox="1"/>
          <p:nvPr/>
        </p:nvSpPr>
        <p:spPr>
          <a:xfrm>
            <a:off x="6262116" y="3360420"/>
            <a:ext cx="1618488"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kpack Image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named for the function</a:t>
            </a:r>
            <a:endParaRPr lang="en-US" sz="1200" dirty="0"/>
          </a:p>
        </p:txBody>
      </p:sp>
      <p:sp>
        <p:nvSpPr>
          <p:cNvPr id="23" name="step:3:wipeD"/>
          <p:cNvSpPr/>
          <p:nvPr/>
        </p:nvSpPr>
        <p:spPr>
          <a:xfrm>
            <a:off x="8060436" y="3360420"/>
            <a:ext cx="1618488" cy="575462"/>
          </a:xfrm>
          <a:prstGeom prst="roundRect">
            <a:avLst>
              <a:gd name="adj" fmla="val 12712"/>
            </a:avLst>
          </a:prstGeom>
          <a:solidFill>
            <a:srgbClr val="FFFFFF"/>
          </a:solidFill>
          <a:ln w="15875">
            <a:solidFill>
              <a:srgbClr val="0B7A75"/>
            </a:solidFill>
            <a:prstDash val="solid"/>
          </a:ln>
        </p:spPr>
      </p:sp>
      <p:sp>
        <p:nvSpPr>
          <p:cNvPr id="24" name="step:3:wipeD"/>
          <p:cNvSpPr txBox="1"/>
          <p:nvPr/>
        </p:nvSpPr>
        <p:spPr>
          <a:xfrm>
            <a:off x="8060436" y="3360420"/>
            <a:ext cx="1618488"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git Secret</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clone credentials</a:t>
            </a:r>
            <a:endParaRPr lang="en-US" sz="1200" dirty="0"/>
          </a:p>
        </p:txBody>
      </p:sp>
      <p:sp>
        <p:nvSpPr>
          <p:cNvPr id="25" name="step:4:wipeD"/>
          <p:cNvSpPr/>
          <p:nvPr/>
        </p:nvSpPr>
        <p:spPr>
          <a:xfrm>
            <a:off x="9858756" y="3360420"/>
            <a:ext cx="1618488" cy="575462"/>
          </a:xfrm>
          <a:prstGeom prst="roundRect">
            <a:avLst>
              <a:gd name="adj" fmla="val 12712"/>
            </a:avLst>
          </a:prstGeom>
          <a:solidFill>
            <a:srgbClr val="FFFFFF"/>
          </a:solidFill>
          <a:ln w="15875">
            <a:solidFill>
              <a:srgbClr val="0B7A75"/>
            </a:solidFill>
            <a:prstDash val="solid"/>
          </a:ln>
        </p:spPr>
      </p:sp>
      <p:sp>
        <p:nvSpPr>
          <p:cNvPr id="26" name="step:4:wipeD"/>
          <p:cNvSpPr txBox="1"/>
          <p:nvPr/>
        </p:nvSpPr>
        <p:spPr>
          <a:xfrm>
            <a:off x="9858756" y="3360420"/>
            <a:ext cx="1618488"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build SA</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registry credentials</a:t>
            </a:r>
            <a:endParaRPr lang="en-US" sz="1200" dirty="0"/>
          </a:p>
        </p:txBody>
      </p:sp>
      <p:sp>
        <p:nvSpPr>
          <p:cNvPr id="27" name="step:5:wipeD"/>
          <p:cNvSpPr/>
          <p:nvPr/>
        </p:nvSpPr>
        <p:spPr>
          <a:xfrm>
            <a:off x="7880604" y="4709160"/>
            <a:ext cx="1978152" cy="575462"/>
          </a:xfrm>
          <a:prstGeom prst="roundRect">
            <a:avLst>
              <a:gd name="adj" fmla="val 12712"/>
            </a:avLst>
          </a:prstGeom>
          <a:solidFill>
            <a:srgbClr val="FFFFFF"/>
          </a:solidFill>
          <a:ln w="15875">
            <a:solidFill>
              <a:srgbClr val="0B7A75"/>
            </a:solidFill>
            <a:prstDash val="solid"/>
          </a:ln>
        </p:spPr>
      </p:sp>
      <p:sp>
        <p:nvSpPr>
          <p:cNvPr id="28" name="step:5:wipeD"/>
          <p:cNvSpPr txBox="1"/>
          <p:nvPr/>
        </p:nvSpPr>
        <p:spPr>
          <a:xfrm>
            <a:off x="7880604" y="4709160"/>
            <a:ext cx="1978152" cy="57546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region registry</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{group}/{name}:{branch}</a:t>
            </a:r>
            <a:endParaRPr lang="en-US" sz="1200" dirty="0"/>
          </a:p>
        </p:txBody>
      </p:sp>
      <p:sp>
        <p:nvSpPr>
          <p:cNvPr id="29" name="Text 2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33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350"/>
                                        <p:tgtEl>
                                          <p:spTgt spid="19"/>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350"/>
                                        <p:tgtEl>
                                          <p:spTgt spid="20"/>
                                        </p:tgtEl>
                                      </p:cBhvr>
                                    </p:animEffect>
                                  </p:childTnLst>
                                </p:cTn>
                              </p:par>
                            </p:childTnLst>
                          </p:cTn>
                        </p:par>
                      </p:childTnLst>
                    </p:cTn>
                  </p:par>
                  <p:par>
                    <p:cTn id="32" fill="hold">
                      <p:stCondLst>
                        <p:cond delay="indefinite"/>
                      </p:stCondLst>
                      <p:childTnLst>
                        <p:par>
                          <p:cTn id="33"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350"/>
                                        <p:tgtEl>
                                          <p:spTgt spid="7"/>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50"/>
                                        <p:tgtEl>
                                          <p:spTgt spid="8"/>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350"/>
                                        <p:tgtEl>
                                          <p:spTgt spid="15"/>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350"/>
                                        <p:tgtEl>
                                          <p:spTgt spid="21"/>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down)">
                                      <p:cBhvr>
                                        <p:cTn id="30" dur="350"/>
                                        <p:tgtEl>
                                          <p:spTgt spid="22"/>
                                        </p:tgtEl>
                                      </p:cBhvr>
                                    </p:animEffect>
                                  </p:childTnLst>
                                </p:cTn>
                              </p:par>
                            </p:childTnLst>
                          </p:cTn>
                        </p:par>
                      </p:childTnLst>
                    </p:cTn>
                  </p:par>
                  <p:par>
                    <p:cTn id="49" fill="hold">
                      <p:stCondLst>
                        <p:cond delay="indefinite"/>
                      </p:stCondLst>
                      <p:childTnLst>
                        <p:par>
                          <p:cTn id="50" fill="hold">
                            <p:stCondLst>
                              <p:cond delay="0"/>
                            </p:stCondLst>
                            <p:childTnLst>
                              <p:par>
                                <p:cTn id="36" presetID="2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350"/>
                                        <p:tgtEl>
                                          <p:spTgt spid="9"/>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350"/>
                                        <p:tgtEl>
                                          <p:spTgt spid="10"/>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350"/>
                                        <p:tgtEl>
                                          <p:spTgt spid="16"/>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down)">
                                      <p:cBhvr>
                                        <p:cTn id="44" dur="350"/>
                                        <p:tgtEl>
                                          <p:spTgt spid="23"/>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350"/>
                                        <p:tgtEl>
                                          <p:spTgt spid="24"/>
                                        </p:tgtEl>
                                      </p:cBhvr>
                                    </p:animEffect>
                                  </p:childTnLst>
                                </p:cTn>
                              </p:par>
                            </p:childTnLst>
                          </p:cTn>
                        </p:par>
                      </p:childTnLst>
                    </p:cTn>
                  </p:par>
                  <p:par>
                    <p:cTn id="66" fill="hold">
                      <p:stCondLst>
                        <p:cond delay="indefinite"/>
                      </p:stCondLst>
                      <p:childTnLst>
                        <p:par>
                          <p:cTn id="67"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350"/>
                                        <p:tgtEl>
                                          <p:spTgt spid="11"/>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350"/>
                                        <p:tgtEl>
                                          <p:spTgt spid="12"/>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350"/>
                                        <p:tgtEl>
                                          <p:spTgt spid="17"/>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down)">
                                      <p:cBhvr>
                                        <p:cTn id="61" dur="350"/>
                                        <p:tgtEl>
                                          <p:spTgt spid="25"/>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down)">
                                      <p:cBhvr>
                                        <p:cTn id="64" dur="350"/>
                                        <p:tgtEl>
                                          <p:spTgt spid="26"/>
                                        </p:tgtEl>
                                      </p:cBhvr>
                                    </p:animEffect>
                                  </p:childTnLst>
                                </p:cTn>
                              </p:par>
                            </p:childTnLst>
                          </p:cTn>
                        </p:par>
                      </p:childTnLst>
                    </p:cTn>
                  </p:par>
                  <p:par>
                    <p:cTn id="83" fill="hold">
                      <p:stCondLst>
                        <p:cond delay="indefinite"/>
                      </p:stCondLst>
                      <p:childTnLst>
                        <p:par>
                          <p:cTn id="84" fill="hold">
                            <p:stCondLst>
                              <p:cond delay="0"/>
                            </p:stCondLst>
                            <p:childTnLst>
                              <p:par>
                                <p:cTn id="70" presetID="22" presetClass="entr" presetSubtype="8"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350"/>
                                        <p:tgtEl>
                                          <p:spTgt spid="13"/>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350"/>
                                        <p:tgtEl>
                                          <p:spTgt spid="14"/>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350"/>
                                        <p:tgtEl>
                                          <p:spTgt spid="18"/>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FUNCTIONS &amp; BUILDS</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The build controller</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Watches Image.status.latestImage</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Applies the digest onto the Service</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Both ends stay in one region</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Only ever writes digests</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Ships with no web stack</a:t>
            </a:r>
            <a:endParaRPr lang="en-US" sz="1900" dirty="0"/>
          </a:p>
        </p:txBody>
      </p:sp>
      <p:sp>
        <p:nvSpPr>
          <p:cNvPr id="15" name="step:2:wipeL"/>
          <p:cNvSpPr/>
          <p:nvPr/>
        </p:nvSpPr>
        <p:spPr>
          <a:xfrm>
            <a:off x="7790688" y="2865882"/>
            <a:ext cx="359664" cy="0"/>
          </a:xfrm>
          <a:prstGeom prst="line">
            <a:avLst/>
          </a:prstGeom>
          <a:noFill/>
          <a:ln w="15875">
            <a:solidFill>
              <a:srgbClr val="98A2B3"/>
            </a:solidFill>
            <a:prstDash val="solid"/>
            <a:tailEnd type="triangle"/>
          </a:ln>
        </p:spPr>
      </p:sp>
      <p:sp>
        <p:nvSpPr>
          <p:cNvPr id="16" name="step:3:wipeL"/>
          <p:cNvSpPr/>
          <p:nvPr/>
        </p:nvSpPr>
        <p:spPr>
          <a:xfrm>
            <a:off x="9589008" y="2865882"/>
            <a:ext cx="359664" cy="0"/>
          </a:xfrm>
          <a:prstGeom prst="line">
            <a:avLst/>
          </a:prstGeom>
          <a:noFill/>
          <a:ln w="15875">
            <a:solidFill>
              <a:srgbClr val="98A2B3"/>
            </a:solidFill>
            <a:prstDash val="solid"/>
            <a:tailEnd type="triangle"/>
          </a:ln>
        </p:spPr>
      </p:sp>
      <p:sp>
        <p:nvSpPr>
          <p:cNvPr id="17" name="step:4:wipeL"/>
          <p:cNvSpPr/>
          <p:nvPr/>
        </p:nvSpPr>
        <p:spPr>
          <a:xfrm flipV="1">
            <a:off x="7071360" y="3180588"/>
            <a:ext cx="0" cy="989076"/>
          </a:xfrm>
          <a:prstGeom prst="line">
            <a:avLst/>
          </a:prstGeom>
          <a:noFill/>
          <a:ln w="15875">
            <a:solidFill>
              <a:srgbClr val="98A2B3"/>
            </a:solidFill>
            <a:prstDash val="dash"/>
            <a:tailEnd type="triangle"/>
          </a:ln>
        </p:spPr>
      </p:sp>
      <p:sp>
        <p:nvSpPr>
          <p:cNvPr id="18" name="step:5:wipeL"/>
          <p:cNvSpPr/>
          <p:nvPr/>
        </p:nvSpPr>
        <p:spPr>
          <a:xfrm>
            <a:off x="10668000" y="3180588"/>
            <a:ext cx="0" cy="989076"/>
          </a:xfrm>
          <a:prstGeom prst="line">
            <a:avLst/>
          </a:prstGeom>
          <a:noFill/>
          <a:ln w="15875">
            <a:solidFill>
              <a:srgbClr val="98A2B3"/>
            </a:solidFill>
            <a:prstDash val="solid"/>
            <a:tailEnd type="triangle"/>
          </a:ln>
        </p:spPr>
      </p:sp>
      <p:sp>
        <p:nvSpPr>
          <p:cNvPr id="19" name="step:1:wipeD"/>
          <p:cNvSpPr/>
          <p:nvPr/>
        </p:nvSpPr>
        <p:spPr>
          <a:xfrm>
            <a:off x="6352032" y="2551176"/>
            <a:ext cx="1438656" cy="629412"/>
          </a:xfrm>
          <a:prstGeom prst="roundRect">
            <a:avLst>
              <a:gd name="adj" fmla="val 11622"/>
            </a:avLst>
          </a:prstGeom>
          <a:solidFill>
            <a:srgbClr val="FFFFFF"/>
          </a:solidFill>
          <a:ln w="15875">
            <a:solidFill>
              <a:srgbClr val="0B7A75"/>
            </a:solidFill>
            <a:prstDash val="solid"/>
          </a:ln>
        </p:spPr>
      </p:sp>
      <p:sp>
        <p:nvSpPr>
          <p:cNvPr id="20" name="step:1:wipeD"/>
          <p:cNvSpPr txBox="1"/>
          <p:nvPr/>
        </p:nvSpPr>
        <p:spPr>
          <a:xfrm>
            <a:off x="6352032" y="2551176"/>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kpack Image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latestImage changes</a:t>
            </a:r>
            <a:endParaRPr lang="en-US" sz="1200" dirty="0"/>
          </a:p>
        </p:txBody>
      </p:sp>
      <p:sp>
        <p:nvSpPr>
          <p:cNvPr id="21" name="step:2:wipeD"/>
          <p:cNvSpPr/>
          <p:nvPr/>
        </p:nvSpPr>
        <p:spPr>
          <a:xfrm>
            <a:off x="8150352" y="2551176"/>
            <a:ext cx="1438656" cy="629412"/>
          </a:xfrm>
          <a:prstGeom prst="roundRect">
            <a:avLst>
              <a:gd name="adj" fmla="val 11622"/>
            </a:avLst>
          </a:prstGeom>
          <a:solidFill>
            <a:srgbClr val="FFFFFF"/>
          </a:solidFill>
          <a:ln w="22225">
            <a:solidFill>
              <a:srgbClr val="E4572E"/>
            </a:solidFill>
            <a:prstDash val="solid"/>
          </a:ln>
        </p:spPr>
      </p:sp>
      <p:sp>
        <p:nvSpPr>
          <p:cNvPr id="22" name="step:2:wipeD"/>
          <p:cNvSpPr txBox="1"/>
          <p:nvPr/>
        </p:nvSpPr>
        <p:spPr>
          <a:xfrm>
            <a:off x="8150352" y="2551176"/>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build controller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watch</a:t>
            </a:r>
            <a:endParaRPr lang="en-US" sz="1200" dirty="0"/>
          </a:p>
        </p:txBody>
      </p:sp>
      <p:sp>
        <p:nvSpPr>
          <p:cNvPr id="23" name="step:3:wipeD"/>
          <p:cNvSpPr/>
          <p:nvPr/>
        </p:nvSpPr>
        <p:spPr>
          <a:xfrm>
            <a:off x="9948672" y="2551176"/>
            <a:ext cx="1438656" cy="629412"/>
          </a:xfrm>
          <a:prstGeom prst="roundRect">
            <a:avLst>
              <a:gd name="adj" fmla="val 11622"/>
            </a:avLst>
          </a:prstGeom>
          <a:solidFill>
            <a:srgbClr val="FFFFFF"/>
          </a:solidFill>
          <a:ln w="15875">
            <a:solidFill>
              <a:srgbClr val="0B7A75"/>
            </a:solidFill>
            <a:prstDash val="solid"/>
          </a:ln>
        </p:spPr>
      </p:sp>
      <p:sp>
        <p:nvSpPr>
          <p:cNvPr id="24" name="step:3:wipeD"/>
          <p:cNvSpPr txBox="1"/>
          <p:nvPr/>
        </p:nvSpPr>
        <p:spPr>
          <a:xfrm>
            <a:off x="9948672" y="2551176"/>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Knative Service</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image @sha256</a:t>
            </a:r>
            <a:endParaRPr lang="en-US" sz="1200" dirty="0"/>
          </a:p>
        </p:txBody>
      </p:sp>
      <p:sp>
        <p:nvSpPr>
          <p:cNvPr id="25" name="step:4:wipeD"/>
          <p:cNvSpPr/>
          <p:nvPr/>
        </p:nvSpPr>
        <p:spPr>
          <a:xfrm>
            <a:off x="6352032" y="4169664"/>
            <a:ext cx="1438656" cy="629412"/>
          </a:xfrm>
          <a:prstGeom prst="roundRect">
            <a:avLst>
              <a:gd name="adj" fmla="val 11622"/>
            </a:avLst>
          </a:prstGeom>
          <a:solidFill>
            <a:srgbClr val="FFFFFF"/>
          </a:solidFill>
          <a:ln w="15875">
            <a:solidFill>
              <a:srgbClr val="0B7A75"/>
            </a:solidFill>
            <a:prstDash val="solid"/>
          </a:ln>
        </p:spPr>
      </p:sp>
      <p:sp>
        <p:nvSpPr>
          <p:cNvPr id="26" name="step:4:wipeD"/>
          <p:cNvSpPr txBox="1"/>
          <p:nvPr/>
        </p:nvSpPr>
        <p:spPr>
          <a:xfrm>
            <a:off x="6352032" y="4169664"/>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region registry</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the digest lives here</a:t>
            </a:r>
            <a:endParaRPr lang="en-US" sz="1200" dirty="0"/>
          </a:p>
        </p:txBody>
      </p:sp>
      <p:sp>
        <p:nvSpPr>
          <p:cNvPr id="27" name="step:5:wipeD"/>
          <p:cNvSpPr/>
          <p:nvPr/>
        </p:nvSpPr>
        <p:spPr>
          <a:xfrm>
            <a:off x="9948672" y="4169664"/>
            <a:ext cx="1438656" cy="629412"/>
          </a:xfrm>
          <a:prstGeom prst="roundRect">
            <a:avLst>
              <a:gd name="adj" fmla="val 11622"/>
            </a:avLst>
          </a:prstGeom>
          <a:solidFill>
            <a:srgbClr val="FFFFFF"/>
          </a:solidFill>
          <a:ln w="15875">
            <a:solidFill>
              <a:srgbClr val="0B7A75"/>
            </a:solidFill>
            <a:prstDash val="solid"/>
          </a:ln>
        </p:spPr>
      </p:sp>
      <p:sp>
        <p:nvSpPr>
          <p:cNvPr id="28" name="step:5:wipeD"/>
          <p:cNvSpPr txBox="1"/>
          <p:nvPr/>
        </p:nvSpPr>
        <p:spPr>
          <a:xfrm>
            <a:off x="9948672" y="4169664"/>
            <a:ext cx="1438656"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new Revision</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Knative rolls it out</a:t>
            </a:r>
            <a:endParaRPr lang="en-US" sz="1200" dirty="0"/>
          </a:p>
        </p:txBody>
      </p:sp>
      <p:sp>
        <p:nvSpPr>
          <p:cNvPr id="29" name="Text 26"/>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34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par>
                                <p:cTn id="11" presetID="2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350"/>
                                        <p:tgtEl>
                                          <p:spTgt spid="19"/>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350"/>
                                        <p:tgtEl>
                                          <p:spTgt spid="20"/>
                                        </p:tgtEl>
                                      </p:cBhvr>
                                    </p:animEffect>
                                  </p:childTnLst>
                                </p:cTn>
                              </p:par>
                            </p:childTnLst>
                          </p:cTn>
                        </p:par>
                      </p:childTnLst>
                    </p:cTn>
                  </p:par>
                  <p:par>
                    <p:cTn id="32" fill="hold">
                      <p:stCondLst>
                        <p:cond delay="indefinite"/>
                      </p:stCondLst>
                      <p:childTnLst>
                        <p:par>
                          <p:cTn id="33" fill="hold">
                            <p:stCondLst>
                              <p:cond delay="0"/>
                            </p:stCondLst>
                            <p:childTnLst>
                              <p:par>
                                <p:cTn id="19"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350"/>
                                        <p:tgtEl>
                                          <p:spTgt spid="7"/>
                                        </p:tgtEl>
                                      </p:cBhvr>
                                    </p:animEffect>
                                  </p:childTnLst>
                                </p:cTn>
                              </p:par>
                              <p:par>
                                <p:cTn id="22"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350"/>
                                        <p:tgtEl>
                                          <p:spTgt spid="8"/>
                                        </p:tgtEl>
                                      </p:cBhvr>
                                    </p:animEffect>
                                  </p:childTnLst>
                                </p:cTn>
                              </p:par>
                              <p:par>
                                <p:cTn id="25" presetID="22" presetClass="entr" presetSubtype="8"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350"/>
                                        <p:tgtEl>
                                          <p:spTgt spid="15"/>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350"/>
                                        <p:tgtEl>
                                          <p:spTgt spid="21"/>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down)">
                                      <p:cBhvr>
                                        <p:cTn id="30" dur="350"/>
                                        <p:tgtEl>
                                          <p:spTgt spid="22"/>
                                        </p:tgtEl>
                                      </p:cBhvr>
                                    </p:animEffect>
                                  </p:childTnLst>
                                </p:cTn>
                              </p:par>
                            </p:childTnLst>
                          </p:cTn>
                        </p:par>
                      </p:childTnLst>
                    </p:cTn>
                  </p:par>
                  <p:par>
                    <p:cTn id="49" fill="hold">
                      <p:stCondLst>
                        <p:cond delay="indefinite"/>
                      </p:stCondLst>
                      <p:childTnLst>
                        <p:par>
                          <p:cTn id="50" fill="hold">
                            <p:stCondLst>
                              <p:cond delay="0"/>
                            </p:stCondLst>
                            <p:childTnLst>
                              <p:par>
                                <p:cTn id="36" presetID="22" presetClass="entr" presetSubtype="8"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350"/>
                                        <p:tgtEl>
                                          <p:spTgt spid="9"/>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350"/>
                                        <p:tgtEl>
                                          <p:spTgt spid="10"/>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350"/>
                                        <p:tgtEl>
                                          <p:spTgt spid="16"/>
                                        </p:tgtEl>
                                      </p:cBhvr>
                                    </p:animEffect>
                                  </p:childTnLst>
                                </p:cTn>
                              </p:par>
                              <p:par>
                                <p:cTn id="45" presetID="22" presetClass="entr" presetSubtype="4"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down)">
                                      <p:cBhvr>
                                        <p:cTn id="44" dur="350"/>
                                        <p:tgtEl>
                                          <p:spTgt spid="23"/>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350"/>
                                        <p:tgtEl>
                                          <p:spTgt spid="24"/>
                                        </p:tgtEl>
                                      </p:cBhvr>
                                    </p:animEffect>
                                  </p:childTnLst>
                                </p:cTn>
                              </p:par>
                            </p:childTnLst>
                          </p:cTn>
                        </p:par>
                      </p:childTnLst>
                    </p:cTn>
                  </p:par>
                  <p:par>
                    <p:cTn id="66" fill="hold">
                      <p:stCondLst>
                        <p:cond delay="indefinite"/>
                      </p:stCondLst>
                      <p:childTnLst>
                        <p:par>
                          <p:cTn id="67"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350"/>
                                        <p:tgtEl>
                                          <p:spTgt spid="11"/>
                                        </p:tgtEl>
                                      </p:cBhvr>
                                    </p:animEffect>
                                  </p:childTnLst>
                                </p:cTn>
                              </p:par>
                              <p:par>
                                <p:cTn id="56" presetID="22" presetClass="entr" presetSubtype="8"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350"/>
                                        <p:tgtEl>
                                          <p:spTgt spid="12"/>
                                        </p:tgtEl>
                                      </p:cBhvr>
                                    </p:animEffect>
                                  </p:childTnLst>
                                </p:cTn>
                              </p:par>
                              <p:par>
                                <p:cTn id="59"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350"/>
                                        <p:tgtEl>
                                          <p:spTgt spid="17"/>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down)">
                                      <p:cBhvr>
                                        <p:cTn id="61" dur="350"/>
                                        <p:tgtEl>
                                          <p:spTgt spid="25"/>
                                        </p:tgtEl>
                                      </p:cBhvr>
                                    </p:animEffect>
                                  </p:childTnLst>
                                </p:cTn>
                              </p:par>
                              <p:par>
                                <p:cTn id="65" presetID="22" presetClass="entr" presetSubtype="4"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down)">
                                      <p:cBhvr>
                                        <p:cTn id="64" dur="350"/>
                                        <p:tgtEl>
                                          <p:spTgt spid="26"/>
                                        </p:tgtEl>
                                      </p:cBhvr>
                                    </p:animEffect>
                                  </p:childTnLst>
                                </p:cTn>
                              </p:par>
                            </p:childTnLst>
                          </p:cTn>
                        </p:par>
                      </p:childTnLst>
                    </p:cTn>
                  </p:par>
                  <p:par>
                    <p:cTn id="83" fill="hold">
                      <p:stCondLst>
                        <p:cond delay="indefinite"/>
                      </p:stCondLst>
                      <p:childTnLst>
                        <p:par>
                          <p:cTn id="84" fill="hold">
                            <p:stCondLst>
                              <p:cond delay="0"/>
                            </p:stCondLst>
                            <p:childTnLst>
                              <p:par>
                                <p:cTn id="70" presetID="22" presetClass="entr" presetSubtype="8"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350"/>
                                        <p:tgtEl>
                                          <p:spTgt spid="13"/>
                                        </p:tgtEl>
                                      </p:cBhvr>
                                    </p:animEffect>
                                  </p:childTnLst>
                                </p:cTn>
                              </p:par>
                              <p:par>
                                <p:cTn id="73" presetID="22" presetClass="entr" presetSubtype="8"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350"/>
                                        <p:tgtEl>
                                          <p:spTgt spid="14"/>
                                        </p:tgtEl>
                                      </p:cBhvr>
                                    </p:animEffect>
                                  </p:childTnLst>
                                </p:cTn>
                              </p:par>
                              <p:par>
                                <p:cTn id="76" presetID="22" presetClass="entr" presetSubtype="8"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350"/>
                                        <p:tgtEl>
                                          <p:spTgt spid="18"/>
                                        </p:tgtEl>
                                      </p:cBhvr>
                                    </p:animEffect>
                                  </p:childTnLst>
                                </p:cTn>
                              </p:par>
                              <p:par>
                                <p:cTn id="79" presetID="2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down)">
                                      <p:cBhvr>
                                        <p:cTn id="78" dur="350"/>
                                        <p:tgtEl>
                                          <p:spTgt spid="27"/>
                                        </p:tgtEl>
                                      </p:cBhvr>
                                    </p:animEffect>
                                  </p:childTnLst>
                                </p:cTn>
                              </p:par>
                              <p:par>
                                <p:cTn id="82" presetID="22" presetClass="entr" presetSubtype="4"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down)">
                                      <p:cBhvr>
                                        <p:cTn id="81"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4572E"/>
        </a:solidFill>
      </p:bgPr>
    </p:bg>
    <p:spTree>
      <p:nvGrpSpPr>
        <p:cNvPr id="1" name=""/>
        <p:cNvGrpSpPr/>
        <p:nvPr/>
      </p:nvGrpSpPr>
      <p:grpSpPr>
        <a:xfrm>
          <a:off x="0" y="0"/>
          <a:ext cx="0" cy="0"/>
          <a:chOff x="0" y="0"/>
          <a:chExt cx="0" cy="0"/>
        </a:xfrm>
      </p:grpSpPr>
      <p:sp>
        <p:nvSpPr>
          <p:cNvPr id="2" name="auto:0:wipeL"/>
          <p:cNvSpPr txBox="1"/>
          <p:nvPr/>
        </p:nvSpPr>
        <p:spPr>
          <a:xfrm>
            <a:off x="640080" y="2194560"/>
            <a:ext cx="10515600" cy="1463040"/>
          </a:xfrm>
          <a:prstGeom prst="rect">
            <a:avLst/>
          </a:prstGeom>
          <a:noFill/>
          <a:ln/>
        </p:spPr>
        <p:txBody>
          <a:bodyPr wrap="square" lIns="0" tIns="0" rIns="0" bIns="0" rtlCol="0" anchor="ctr"/>
          <a:lstStyle/>
          <a:p>
            <a:pPr indent="0" marL="0">
              <a:buNone/>
            </a:pPr>
            <a:r>
              <a:rPr lang="en-US" sz="6400" b="1" dirty="0">
                <a:solidFill>
                  <a:srgbClr val="FFFFFF"/>
                </a:solidFill>
                <a:latin typeface="Century Schoolbook" pitchFamily="34" charset="0"/>
                <a:ea typeface="Century Schoolbook" pitchFamily="34" charset="-122"/>
                <a:cs typeface="Century Schoolbook" pitchFamily="34" charset="-120"/>
              </a:rPr>
              <a:t>Portal &amp; the future</a:t>
            </a:r>
            <a:endParaRPr lang="en-US" sz="6400" dirty="0"/>
          </a:p>
        </p:txBody>
      </p:sp>
      <p:sp>
        <p:nvSpPr>
          <p:cNvPr id="3" name="auto:1:fade"/>
          <p:cNvSpPr txBox="1"/>
          <p:nvPr/>
        </p:nvSpPr>
        <p:spPr>
          <a:xfrm>
            <a:off x="640080" y="3749040"/>
            <a:ext cx="9144000" cy="548640"/>
          </a:xfrm>
          <a:prstGeom prst="rect">
            <a:avLst/>
          </a:prstGeom>
          <a:noFill/>
          <a:ln/>
        </p:spPr>
        <p:txBody>
          <a:bodyPr wrap="square" lIns="0" tIns="0" rIns="0" bIns="0" rtlCol="0" anchor="ctr"/>
          <a:lstStyle/>
          <a:p>
            <a:pPr indent="0" marL="0">
              <a:buNone/>
            </a:pPr>
            <a:r>
              <a:rPr lang="en-US" sz="2200" i="1" dirty="0">
                <a:solidFill>
                  <a:srgbClr val="FFFFFF"/>
                </a:solidFill>
                <a:latin typeface="Century Schoolbook" pitchFamily="34" charset="0"/>
                <a:ea typeface="Century Schoolbook" pitchFamily="34" charset="-122"/>
                <a:cs typeface="Century Schoolbook" pitchFamily="34" charset="-120"/>
              </a:rPr>
              <a:t>A console, and a library for the next API.</a:t>
            </a:r>
            <a:endParaRPr lang="en-US" sz="2200" dirty="0"/>
          </a:p>
        </p:txBody>
      </p:sp>
      <p:sp>
        <p:nvSpPr>
          <p:cNvPr id="4" name="Text 2"/>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35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350"/>
                                        <p:tgtEl>
                                          <p:spTgt spid="2"/>
                                        </p:tgtEl>
                                      </p:cBhvr>
                                    </p:animEffect>
                                  </p:childTnLst>
                                </p:cTn>
                              </p:par>
                              <p:par>
                                <p:cTn id="8" presetID="10" presetClass="entr" presetSubtype="0" fill="hold" grpId="0" nodeType="withEffect">
                                  <p:stCondLst>
                                    <p:cond delay="8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PORTAL &amp; THE FUTURE</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How the portal wires it</a:t>
            </a:r>
            <a:endParaRPr lang="en-US" sz="3800" dirty="0"/>
          </a:p>
        </p:txBody>
      </p:sp>
      <p:sp>
        <p:nvSpPr>
          <p:cNvPr id="5" name="step:1:wipeL"/>
          <p:cNvSpPr/>
          <p:nvPr/>
        </p:nvSpPr>
        <p:spPr>
          <a:xfrm>
            <a:off x="640080" y="2366772"/>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Next.js 16, server components</a:t>
            </a:r>
            <a:endParaRPr lang="en-US" sz="1700" dirty="0"/>
          </a:p>
        </p:txBody>
      </p:sp>
      <p:sp>
        <p:nvSpPr>
          <p:cNvPr id="7" name="step:2:wipeL"/>
          <p:cNvSpPr/>
          <p:nvPr/>
        </p:nvSpPr>
        <p:spPr>
          <a:xfrm>
            <a:off x="640080" y="3022092"/>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5844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Keycloak token stays server-side</a:t>
            </a:r>
            <a:endParaRPr lang="en-US" sz="1700" dirty="0"/>
          </a:p>
        </p:txBody>
      </p:sp>
      <p:sp>
        <p:nvSpPr>
          <p:cNvPr id="9" name="step:3:wipeL"/>
          <p:cNvSpPr/>
          <p:nvPr/>
        </p:nvSpPr>
        <p:spPr>
          <a:xfrm>
            <a:off x="640080" y="367741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376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The SSO group is the project</a:t>
            </a:r>
            <a:endParaRPr lang="en-US" sz="1700" dirty="0"/>
          </a:p>
        </p:txBody>
      </p:sp>
      <p:sp>
        <p:nvSpPr>
          <p:cNvPr id="11" name="step:4:wipeL"/>
          <p:cNvSpPr/>
          <p:nvPr/>
        </p:nvSpPr>
        <p:spPr>
          <a:xfrm>
            <a:off x="640080" y="4332732"/>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6908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Forms are built from /info</a:t>
            </a:r>
            <a:endParaRPr lang="en-US" sz="1700" dirty="0"/>
          </a:p>
        </p:txBody>
      </p:sp>
      <p:sp>
        <p:nvSpPr>
          <p:cNvPr id="13" name="step:5:wipeL"/>
          <p:cNvSpPr/>
          <p:nvPr/>
        </p:nvSpPr>
        <p:spPr>
          <a:xfrm>
            <a:off x="640080" y="4988052"/>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2440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Live logs over SSE tickets</a:t>
            </a:r>
            <a:endParaRPr lang="en-US" sz="1700" dirty="0"/>
          </a:p>
        </p:txBody>
      </p:sp>
      <p:sp>
        <p:nvSpPr>
          <p:cNvPr id="15" name="step:6:wipeL"/>
          <p:cNvSpPr/>
          <p:nvPr/>
        </p:nvSpPr>
        <p:spPr>
          <a:xfrm>
            <a:off x="640080" y="5643372"/>
            <a:ext cx="118872" cy="118872"/>
          </a:xfrm>
          <a:prstGeom prst="rect">
            <a:avLst/>
          </a:prstGeom>
          <a:solidFill>
            <a:srgbClr val="E4572E"/>
          </a:solidFill>
          <a:ln w="12700">
            <a:solidFill>
              <a:srgbClr val="E4572E"/>
            </a:solidFill>
            <a:prstDash val="solid"/>
          </a:ln>
        </p:spPr>
      </p:sp>
      <p:sp>
        <p:nvSpPr>
          <p:cNvPr id="16" name="step:6:wipeL"/>
          <p:cNvSpPr txBox="1"/>
          <p:nvPr/>
        </p:nvSpPr>
        <p:spPr>
          <a:xfrm>
            <a:off x="960120" y="5379720"/>
            <a:ext cx="4983480" cy="655320"/>
          </a:xfrm>
          <a:prstGeom prst="rect">
            <a:avLst/>
          </a:prstGeom>
          <a:noFill/>
          <a:ln/>
        </p:spPr>
        <p:txBody>
          <a:bodyPr wrap="square" lIns="0" tIns="0" rIns="0" bIns="0" rtlCol="0" anchor="ctr"/>
          <a:lstStyle/>
          <a:p>
            <a:pPr indent="0" marL="0">
              <a:lnSpc>
                <a:spcPct val="100000"/>
              </a:lnSpc>
              <a:buNone/>
            </a:pPr>
            <a:r>
              <a:rPr lang="en-US" sz="1700" dirty="0">
                <a:solidFill>
                  <a:srgbClr val="1B1F2A"/>
                </a:solidFill>
                <a:latin typeface="Calibri" pitchFamily="34" charset="0"/>
                <a:ea typeface="Calibri" pitchFamily="34" charset="-122"/>
                <a:cs typeface="Calibri" pitchFamily="34" charset="-120"/>
              </a:rPr>
              <a:t>Airgap-native: no CDN, no fonts</a:t>
            </a:r>
            <a:endParaRPr lang="en-US" sz="1700" dirty="0"/>
          </a:p>
        </p:txBody>
      </p:sp>
      <p:sp>
        <p:nvSpPr>
          <p:cNvPr id="17" name="auto:0:wipeL"/>
          <p:cNvSpPr/>
          <p:nvPr/>
        </p:nvSpPr>
        <p:spPr>
          <a:xfrm>
            <a:off x="7700772" y="2865882"/>
            <a:ext cx="494538" cy="0"/>
          </a:xfrm>
          <a:prstGeom prst="line">
            <a:avLst/>
          </a:prstGeom>
          <a:noFill/>
          <a:ln w="15875">
            <a:solidFill>
              <a:srgbClr val="98A2B3"/>
            </a:solidFill>
            <a:prstDash val="solid"/>
            <a:tailEnd type="triangle"/>
          </a:ln>
        </p:spPr>
      </p:sp>
      <p:sp>
        <p:nvSpPr>
          <p:cNvPr id="18" name="auto:1:wipeL"/>
          <p:cNvSpPr/>
          <p:nvPr/>
        </p:nvSpPr>
        <p:spPr>
          <a:xfrm>
            <a:off x="9544050" y="2865882"/>
            <a:ext cx="494538" cy="0"/>
          </a:xfrm>
          <a:prstGeom prst="line">
            <a:avLst/>
          </a:prstGeom>
          <a:noFill/>
          <a:ln w="15875">
            <a:solidFill>
              <a:srgbClr val="98A2B3"/>
            </a:solidFill>
            <a:prstDash val="solid"/>
            <a:tailEnd type="triangle"/>
          </a:ln>
        </p:spPr>
      </p:sp>
      <p:sp>
        <p:nvSpPr>
          <p:cNvPr id="19" name="auto:2:wipeL"/>
          <p:cNvSpPr/>
          <p:nvPr/>
        </p:nvSpPr>
        <p:spPr>
          <a:xfrm>
            <a:off x="8869680" y="3180588"/>
            <a:ext cx="0" cy="899160"/>
          </a:xfrm>
          <a:prstGeom prst="line">
            <a:avLst/>
          </a:prstGeom>
          <a:noFill/>
          <a:ln w="15875">
            <a:solidFill>
              <a:srgbClr val="98A2B3"/>
            </a:solidFill>
            <a:prstDash val="dash"/>
            <a:tailEnd type="triangle"/>
          </a:ln>
        </p:spPr>
      </p:sp>
      <p:sp>
        <p:nvSpPr>
          <p:cNvPr id="20" name="auto:3:wipeL"/>
          <p:cNvSpPr/>
          <p:nvPr/>
        </p:nvSpPr>
        <p:spPr>
          <a:xfrm flipV="1">
            <a:off x="7700772" y="2865882"/>
            <a:ext cx="2337816" cy="1528572"/>
          </a:xfrm>
          <a:prstGeom prst="line">
            <a:avLst/>
          </a:prstGeom>
          <a:noFill/>
          <a:ln w="15875">
            <a:solidFill>
              <a:srgbClr val="98A2B3"/>
            </a:solidFill>
            <a:prstDash val="dash"/>
            <a:tailEnd type="triangle"/>
          </a:ln>
        </p:spPr>
      </p:sp>
      <p:sp>
        <p:nvSpPr>
          <p:cNvPr id="21" name="auto:4:wipeL"/>
          <p:cNvSpPr/>
          <p:nvPr/>
        </p:nvSpPr>
        <p:spPr>
          <a:xfrm>
            <a:off x="7026402" y="3180588"/>
            <a:ext cx="0" cy="899160"/>
          </a:xfrm>
          <a:prstGeom prst="line">
            <a:avLst/>
          </a:prstGeom>
          <a:noFill/>
          <a:ln w="15875">
            <a:solidFill>
              <a:srgbClr val="98A2B3"/>
            </a:solidFill>
            <a:prstDash val="dash"/>
            <a:tailEnd type="triangle"/>
          </a:ln>
        </p:spPr>
      </p:sp>
      <p:sp>
        <p:nvSpPr>
          <p:cNvPr id="22" name="auto:5:wipeD"/>
          <p:cNvSpPr/>
          <p:nvPr/>
        </p:nvSpPr>
        <p:spPr>
          <a:xfrm>
            <a:off x="6352032" y="2551176"/>
            <a:ext cx="1348740" cy="629412"/>
          </a:xfrm>
          <a:prstGeom prst="roundRect">
            <a:avLst>
              <a:gd name="adj" fmla="val 11622"/>
            </a:avLst>
          </a:prstGeom>
          <a:solidFill>
            <a:srgbClr val="FFFFFF"/>
          </a:solidFill>
          <a:ln w="15875">
            <a:solidFill>
              <a:srgbClr val="0B7A75"/>
            </a:solidFill>
            <a:prstDash val="solid"/>
          </a:ln>
        </p:spPr>
      </p:sp>
      <p:sp>
        <p:nvSpPr>
          <p:cNvPr id="23" name="auto:6:wipeD"/>
          <p:cNvSpPr txBox="1"/>
          <p:nvPr/>
        </p:nvSpPr>
        <p:spPr>
          <a:xfrm>
            <a:off x="6352032" y="2551176"/>
            <a:ext cx="134874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Browser</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React 19</a:t>
            </a:r>
            <a:endParaRPr lang="en-US" sz="1200" dirty="0"/>
          </a:p>
        </p:txBody>
      </p:sp>
      <p:sp>
        <p:nvSpPr>
          <p:cNvPr id="24" name="auto:7:wipeD"/>
          <p:cNvSpPr/>
          <p:nvPr/>
        </p:nvSpPr>
        <p:spPr>
          <a:xfrm>
            <a:off x="8195310" y="2551176"/>
            <a:ext cx="1348740" cy="629412"/>
          </a:xfrm>
          <a:prstGeom prst="roundRect">
            <a:avLst>
              <a:gd name="adj" fmla="val 11622"/>
            </a:avLst>
          </a:prstGeom>
          <a:solidFill>
            <a:srgbClr val="FFFFFF"/>
          </a:solidFill>
          <a:ln w="22225">
            <a:solidFill>
              <a:srgbClr val="E4572E"/>
            </a:solidFill>
            <a:prstDash val="solid"/>
          </a:ln>
        </p:spPr>
      </p:sp>
      <p:sp>
        <p:nvSpPr>
          <p:cNvPr id="25" name="auto:8:wipeD"/>
          <p:cNvSpPr txBox="1"/>
          <p:nvPr/>
        </p:nvSpPr>
        <p:spPr>
          <a:xfrm>
            <a:off x="8195310" y="2551176"/>
            <a:ext cx="134874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Portal</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server actions</a:t>
            </a:r>
            <a:endParaRPr lang="en-US" sz="1200" dirty="0"/>
          </a:p>
        </p:txBody>
      </p:sp>
      <p:sp>
        <p:nvSpPr>
          <p:cNvPr id="26" name="auto:9:wipeD"/>
          <p:cNvSpPr/>
          <p:nvPr/>
        </p:nvSpPr>
        <p:spPr>
          <a:xfrm>
            <a:off x="10038588" y="2551176"/>
            <a:ext cx="1348740" cy="629412"/>
          </a:xfrm>
          <a:prstGeom prst="roundRect">
            <a:avLst>
              <a:gd name="adj" fmla="val 11622"/>
            </a:avLst>
          </a:prstGeom>
          <a:solidFill>
            <a:srgbClr val="FFFFFF"/>
          </a:solidFill>
          <a:ln w="15875">
            <a:solidFill>
              <a:srgbClr val="0B7A75"/>
            </a:solidFill>
            <a:prstDash val="solid"/>
          </a:ln>
        </p:spPr>
      </p:sp>
      <p:sp>
        <p:nvSpPr>
          <p:cNvPr id="27" name="auto:10:wipeD"/>
          <p:cNvSpPr txBox="1"/>
          <p:nvPr/>
        </p:nvSpPr>
        <p:spPr>
          <a:xfrm>
            <a:off x="10038588" y="2551176"/>
            <a:ext cx="134874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Serverless API</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/api/serverless/v1</a:t>
            </a:r>
            <a:endParaRPr lang="en-US" sz="1200" dirty="0"/>
          </a:p>
        </p:txBody>
      </p:sp>
      <p:sp>
        <p:nvSpPr>
          <p:cNvPr id="28" name="auto:11:wipeD"/>
          <p:cNvSpPr/>
          <p:nvPr/>
        </p:nvSpPr>
        <p:spPr>
          <a:xfrm>
            <a:off x="6352032" y="4079748"/>
            <a:ext cx="1348740" cy="629412"/>
          </a:xfrm>
          <a:prstGeom prst="roundRect">
            <a:avLst>
              <a:gd name="adj" fmla="val 11622"/>
            </a:avLst>
          </a:prstGeom>
          <a:solidFill>
            <a:srgbClr val="FFFFFF"/>
          </a:solidFill>
          <a:ln w="15875">
            <a:solidFill>
              <a:srgbClr val="0B7A75"/>
            </a:solidFill>
            <a:prstDash val="solid"/>
          </a:ln>
        </p:spPr>
      </p:sp>
      <p:sp>
        <p:nvSpPr>
          <p:cNvPr id="29" name="auto:12:wipeD"/>
          <p:cNvSpPr txBox="1"/>
          <p:nvPr/>
        </p:nvSpPr>
        <p:spPr>
          <a:xfrm>
            <a:off x="6352032" y="4079748"/>
            <a:ext cx="134874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?ticket=</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60 s, one path</a:t>
            </a:r>
            <a:endParaRPr lang="en-US" sz="1200" dirty="0"/>
          </a:p>
        </p:txBody>
      </p:sp>
      <p:sp>
        <p:nvSpPr>
          <p:cNvPr id="30" name="auto:13:wipeD"/>
          <p:cNvSpPr/>
          <p:nvPr/>
        </p:nvSpPr>
        <p:spPr>
          <a:xfrm>
            <a:off x="8195310" y="4079748"/>
            <a:ext cx="1348740" cy="629412"/>
          </a:xfrm>
          <a:prstGeom prst="roundRect">
            <a:avLst>
              <a:gd name="adj" fmla="val 11622"/>
            </a:avLst>
          </a:prstGeom>
          <a:solidFill>
            <a:srgbClr val="FFFFFF"/>
          </a:solidFill>
          <a:ln w="15875">
            <a:solidFill>
              <a:srgbClr val="0B7A75"/>
            </a:solidFill>
            <a:prstDash val="solid"/>
          </a:ln>
        </p:spPr>
      </p:sp>
      <p:sp>
        <p:nvSpPr>
          <p:cNvPr id="31" name="auto:14:wipeD"/>
          <p:cNvSpPr txBox="1"/>
          <p:nvPr/>
        </p:nvSpPr>
        <p:spPr>
          <a:xfrm>
            <a:off x="8195310" y="4079748"/>
            <a:ext cx="1348740" cy="629412"/>
          </a:xfrm>
          <a:prstGeom prst="rect">
            <a:avLst/>
          </a:prstGeom>
          <a:noFill/>
          <a:ln/>
        </p:spPr>
        <p:txBody>
          <a:bodyPr wrap="square" lIns="508" tIns="508" rIns="508" bIns="508" rtlCol="0" anchor="ctr"/>
          <a:lstStyle/>
          <a:p>
            <a:pPr algn="ctr" indent="0" marL="0">
              <a:buNone/>
            </a:pPr>
            <a:r>
              <a:rPr lang="en-US" sz="1200" b="1" dirty="0">
                <a:solidFill>
                  <a:srgbClr val="1B1F2A"/>
                </a:solidFill>
                <a:latin typeface="Calibri" pitchFamily="34" charset="0"/>
                <a:ea typeface="Calibri" pitchFamily="34" charset="-122"/>
                <a:cs typeface="Calibri" pitchFamily="34" charset="-120"/>
              </a:rPr>
              <a:t>Keycloak</a:t>
            </a:r>
            <a:endParaRPr lang="en-US" sz="1200" dirty="0"/>
          </a:p>
          <a:p>
            <a:pPr algn="ctr" indent="0" marL="0">
              <a:buNone/>
            </a:pPr>
            <a:r>
              <a:rPr lang="en-US" sz="850" dirty="0">
                <a:solidFill>
                  <a:srgbClr val="667085"/>
                </a:solidFill>
                <a:latin typeface="Courier New" pitchFamily="34" charset="0"/>
                <a:ea typeface="Courier New" pitchFamily="34" charset="-122"/>
                <a:cs typeface="Courier New" pitchFamily="34" charset="-120"/>
              </a:rPr>
              <a:t>OIDC, groups claim</a:t>
            </a:r>
            <a:endParaRPr lang="en-US" sz="1200" dirty="0"/>
          </a:p>
        </p:txBody>
      </p:sp>
      <p:sp>
        <p:nvSpPr>
          <p:cNvPr id="32" name="Text 29"/>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36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9" fill="hold">
                            <p:stCondLst>
                              <p:cond delay="0"/>
                            </p:stCondLst>
                            <p:childTnLst>
                              <p:par>
                                <p:cTn id="5" presetID="22" presetClass="entr" presetSubtype="8" fill="hold" grpId="0" nodeType="after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wipe(left)">
                                      <p:cBhvr>
                                        <p:cTn id="4" dur="350"/>
                                        <p:tgtEl>
                                          <p:spTgt spid="17"/>
                                        </p:tgtEl>
                                      </p:cBhvr>
                                    </p:animEffect>
                                  </p:childTnLst>
                                </p:cTn>
                              </p:par>
                              <p:par>
                                <p:cTn id="8" presetID="22" presetClass="entr" presetSubtype="8" fill="hold" grpId="0" nodeType="withEffect">
                                  <p:stCondLst>
                                    <p:cond delay="8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350"/>
                                        <p:tgtEl>
                                          <p:spTgt spid="18"/>
                                        </p:tgtEl>
                                      </p:cBhvr>
                                    </p:animEffect>
                                  </p:childTnLst>
                                </p:cTn>
                              </p:par>
                              <p:par>
                                <p:cTn id="11" presetID="22" presetClass="entr" presetSubtype="8" fill="hold" grpId="0" nodeType="withEffect">
                                  <p:stCondLst>
                                    <p:cond delay="16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350"/>
                                        <p:tgtEl>
                                          <p:spTgt spid="19"/>
                                        </p:tgtEl>
                                      </p:cBhvr>
                                    </p:animEffect>
                                  </p:childTnLst>
                                </p:cTn>
                              </p:par>
                              <p:par>
                                <p:cTn id="14" presetID="22" presetClass="entr" presetSubtype="8" fill="hold" grpId="0" nodeType="withEffect">
                                  <p:stCondLst>
                                    <p:cond delay="24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350"/>
                                        <p:tgtEl>
                                          <p:spTgt spid="20"/>
                                        </p:tgtEl>
                                      </p:cBhvr>
                                    </p:animEffect>
                                  </p:childTnLst>
                                </p:cTn>
                              </p:par>
                              <p:par>
                                <p:cTn id="17" presetID="22" presetClass="entr" presetSubtype="8" fill="hold" grpId="0" nodeType="withEffect">
                                  <p:stCondLst>
                                    <p:cond delay="32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350"/>
                                        <p:tgtEl>
                                          <p:spTgt spid="21"/>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350"/>
                                        <p:tgtEl>
                                          <p:spTgt spid="22"/>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350"/>
                                        <p:tgtEl>
                                          <p:spTgt spid="23"/>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350"/>
                                        <p:tgtEl>
                                          <p:spTgt spid="24"/>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350"/>
                                        <p:tgtEl>
                                          <p:spTgt spid="25"/>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6"/>
                                        </p:tgtEl>
                                        <p:attrNameLst>
                                          <p:attrName>style.visibility</p:attrName>
                                        </p:attrNameLst>
                                      </p:cBhvr>
                                      <p:to>
                                        <p:strVal val="visible"/>
                                      </p:to>
                                    </p:set>
                                    <p:animEffect transition="in" filter="wipe(down)">
                                      <p:cBhvr>
                                        <p:cTn id="31" dur="350"/>
                                        <p:tgtEl>
                                          <p:spTgt spid="26"/>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7"/>
                                        </p:tgtEl>
                                        <p:attrNameLst>
                                          <p:attrName>style.visibility</p:attrName>
                                        </p:attrNameLst>
                                      </p:cBhvr>
                                      <p:to>
                                        <p:strVal val="visible"/>
                                      </p:to>
                                    </p:set>
                                    <p:animEffect transition="in" filter="wipe(down)">
                                      <p:cBhvr>
                                        <p:cTn id="34" dur="350"/>
                                        <p:tgtEl>
                                          <p:spTgt spid="27"/>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350"/>
                                        <p:tgtEl>
                                          <p:spTgt spid="28"/>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350"/>
                                        <p:tgtEl>
                                          <p:spTgt spid="29"/>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30"/>
                                        </p:tgtEl>
                                        <p:attrNameLst>
                                          <p:attrName>style.visibility</p:attrName>
                                        </p:attrNameLst>
                                      </p:cBhvr>
                                      <p:to>
                                        <p:strVal val="visible"/>
                                      </p:to>
                                    </p:set>
                                    <p:animEffect transition="in" filter="wipe(down)">
                                      <p:cBhvr>
                                        <p:cTn id="43" dur="350"/>
                                        <p:tgtEl>
                                          <p:spTgt spid="30"/>
                                        </p:tgtEl>
                                      </p:cBhvr>
                                    </p:animEffect>
                                  </p:childTnLst>
                                </p:cTn>
                              </p:par>
                              <p:par>
                                <p:cTn id="47" presetID="22" presetClass="entr" presetSubtype="4" fill="hold" grpId="0" nodeType="withEffect">
                                  <p:stCondLst>
                                    <p:cond delay="1120"/>
                                  </p:stCondLst>
                                  <p:childTnLst>
                                    <p:set>
                                      <p:cBhvr>
                                        <p:cTn id="45" dur="1" fill="hold">
                                          <p:stCondLst>
                                            <p:cond delay="0"/>
                                          </p:stCondLst>
                                        </p:cTn>
                                        <p:tgtEl>
                                          <p:spTgt spid="31"/>
                                        </p:tgtEl>
                                        <p:attrNameLst>
                                          <p:attrName>style.visibility</p:attrName>
                                        </p:attrNameLst>
                                      </p:cBhvr>
                                      <p:to>
                                        <p:strVal val="visible"/>
                                      </p:to>
                                    </p:set>
                                    <p:animEffect transition="in" filter="wipe(down)">
                                      <p:cBhvr>
                                        <p:cTn id="46" dur="350"/>
                                        <p:tgtEl>
                                          <p:spTgt spid="31"/>
                                        </p:tgtEl>
                                      </p:cBhvr>
                                    </p:animEffect>
                                  </p:childTnLst>
                                </p:cTn>
                              </p:par>
                            </p:childTnLst>
                          </p:cTn>
                        </p:par>
                      </p:childTnLst>
                    </p:cTn>
                  </p:par>
                  <p:par>
                    <p:cTn id="56" fill="hold">
                      <p:stCondLst>
                        <p:cond delay="indefinite"/>
                      </p:stCondLst>
                      <p:childTnLst>
                        <p:par>
                          <p:cTn id="57" fill="hold">
                            <p:stCondLst>
                              <p:cond delay="0"/>
                            </p:stCondLst>
                            <p:childTnLst>
                              <p:par>
                                <p:cTn id="52" presetID="22" presetClass="entr" presetSubtype="8"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350"/>
                                        <p:tgtEl>
                                          <p:spTgt spid="5"/>
                                        </p:tgtEl>
                                      </p:cBhvr>
                                    </p:animEffect>
                                  </p:childTnLst>
                                </p:cTn>
                              </p:par>
                              <p:par>
                                <p:cTn id="55" presetID="22" presetClass="entr" presetSubtype="8"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350"/>
                                        <p:tgtEl>
                                          <p:spTgt spid="6"/>
                                        </p:tgtEl>
                                      </p:cBhvr>
                                    </p:animEffect>
                                  </p:childTnLst>
                                </p:cTn>
                              </p:par>
                            </p:childTnLst>
                          </p:cTn>
                        </p:par>
                      </p:childTnLst>
                    </p:cTn>
                  </p:par>
                  <p:par>
                    <p:cTn id="64" fill="hold">
                      <p:stCondLst>
                        <p:cond delay="indefinite"/>
                      </p:stCondLst>
                      <p:childTnLst>
                        <p:par>
                          <p:cTn id="65" fill="hold">
                            <p:stCondLst>
                              <p:cond delay="0"/>
                            </p:stCondLst>
                            <p:childTnLst>
                              <p:par>
                                <p:cTn id="60" presetID="22" presetClass="entr" presetSubtype="8"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350"/>
                                        <p:tgtEl>
                                          <p:spTgt spid="7"/>
                                        </p:tgtEl>
                                      </p:cBhvr>
                                    </p:animEffect>
                                  </p:childTnLst>
                                </p:cTn>
                              </p:par>
                              <p:par>
                                <p:cTn id="63" presetID="22" presetClass="entr" presetSubtype="8" fill="hold" grpId="0"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350"/>
                                        <p:tgtEl>
                                          <p:spTgt spid="8"/>
                                        </p:tgtEl>
                                      </p:cBhvr>
                                    </p:animEffect>
                                  </p:childTnLst>
                                </p:cTn>
                              </p:par>
                            </p:childTnLst>
                          </p:cTn>
                        </p:par>
                      </p:childTnLst>
                    </p:cTn>
                  </p:par>
                  <p:par>
                    <p:cTn id="72" fill="hold">
                      <p:stCondLst>
                        <p:cond delay="indefinite"/>
                      </p:stCondLst>
                      <p:childTnLst>
                        <p:par>
                          <p:cTn id="73" fill="hold">
                            <p:stCondLst>
                              <p:cond delay="0"/>
                            </p:stCondLst>
                            <p:childTnLst>
                              <p:par>
                                <p:cTn id="68" presetID="22" presetClass="entr" presetSubtype="8"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350"/>
                                        <p:tgtEl>
                                          <p:spTgt spid="9"/>
                                        </p:tgtEl>
                                      </p:cBhvr>
                                    </p:animEffect>
                                  </p:childTnLst>
                                </p:cTn>
                              </p:par>
                              <p:par>
                                <p:cTn id="71" presetID="22" presetClass="entr" presetSubtype="8" fill="hold" grpId="0"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wipe(left)">
                                      <p:cBhvr>
                                        <p:cTn id="70" dur="350"/>
                                        <p:tgtEl>
                                          <p:spTgt spid="10"/>
                                        </p:tgtEl>
                                      </p:cBhvr>
                                    </p:animEffect>
                                  </p:childTnLst>
                                </p:cTn>
                              </p:par>
                            </p:childTnLst>
                          </p:cTn>
                        </p:par>
                      </p:childTnLst>
                    </p:cTn>
                  </p:par>
                  <p:par>
                    <p:cTn id="80" fill="hold">
                      <p:stCondLst>
                        <p:cond delay="indefinite"/>
                      </p:stCondLst>
                      <p:childTnLst>
                        <p:par>
                          <p:cTn id="81" fill="hold">
                            <p:stCondLst>
                              <p:cond delay="0"/>
                            </p:stCondLst>
                            <p:childTnLst>
                              <p:par>
                                <p:cTn id="76" presetID="22" presetClass="entr" presetSubtype="8"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350"/>
                                        <p:tgtEl>
                                          <p:spTgt spid="11"/>
                                        </p:tgtEl>
                                      </p:cBhvr>
                                    </p:animEffect>
                                  </p:childTnLst>
                                </p:cTn>
                              </p:par>
                              <p:par>
                                <p:cTn id="79" presetID="22" presetClass="entr" presetSubtype="8"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wipe(left)">
                                      <p:cBhvr>
                                        <p:cTn id="78" dur="350"/>
                                        <p:tgtEl>
                                          <p:spTgt spid="12"/>
                                        </p:tgtEl>
                                      </p:cBhvr>
                                    </p:animEffect>
                                  </p:childTnLst>
                                </p:cTn>
                              </p:par>
                            </p:childTnLst>
                          </p:cTn>
                        </p:par>
                      </p:childTnLst>
                    </p:cTn>
                  </p:par>
                  <p:par>
                    <p:cTn id="88" fill="hold">
                      <p:stCondLst>
                        <p:cond delay="indefinite"/>
                      </p:stCondLst>
                      <p:childTnLst>
                        <p:par>
                          <p:cTn id="89" fill="hold">
                            <p:stCondLst>
                              <p:cond delay="0"/>
                            </p:stCondLst>
                            <p:childTnLst>
                              <p:par>
                                <p:cTn id="84" presetID="22" presetClass="entr" presetSubtype="8"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wipe(left)">
                                      <p:cBhvr>
                                        <p:cTn id="83" dur="350"/>
                                        <p:tgtEl>
                                          <p:spTgt spid="13"/>
                                        </p:tgtEl>
                                      </p:cBhvr>
                                    </p:animEffect>
                                  </p:childTnLst>
                                </p:cTn>
                              </p:par>
                              <p:par>
                                <p:cTn id="87" presetID="22" presetClass="entr" presetSubtype="8" fill="hold" grpId="0"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wipe(left)">
                                      <p:cBhvr>
                                        <p:cTn id="86" dur="350"/>
                                        <p:tgtEl>
                                          <p:spTgt spid="14"/>
                                        </p:tgtEl>
                                      </p:cBhvr>
                                    </p:animEffect>
                                  </p:childTnLst>
                                </p:cTn>
                              </p:par>
                            </p:childTnLst>
                          </p:cTn>
                        </p:par>
                      </p:childTnLst>
                    </p:cTn>
                  </p:par>
                  <p:par>
                    <p:cTn id="96" fill="hold">
                      <p:stCondLst>
                        <p:cond delay="indefinite"/>
                      </p:stCondLst>
                      <p:childTnLst>
                        <p:par>
                          <p:cTn id="97" fill="hold">
                            <p:stCondLst>
                              <p:cond delay="0"/>
                            </p:stCondLst>
                            <p:childTnLst>
                              <p:par>
                                <p:cTn id="92" presetID="22" presetClass="entr" presetSubtype="8" fill="hold" grpId="0"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wipe(left)">
                                      <p:cBhvr>
                                        <p:cTn id="91" dur="350"/>
                                        <p:tgtEl>
                                          <p:spTgt spid="15"/>
                                        </p:tgtEl>
                                      </p:cBhvr>
                                    </p:animEffect>
                                  </p:childTnLst>
                                </p:cTn>
                              </p:par>
                              <p:par>
                                <p:cTn id="95" presetID="22" presetClass="entr" presetSubtype="8" fill="hold" grpId="0" nodeType="with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wipe(left)">
                                      <p:cBhvr>
                                        <p:cTn id="94"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PORTAL &amp; THE FUTURE</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A console, not a Serverless UI</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Serverless is live, Compute is next</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An offering is data, not code</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The shell is already generic</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Next: shared layer, generated client</a:t>
            </a:r>
            <a:endParaRPr lang="en-US" sz="1900" dirty="0"/>
          </a:p>
        </p:txBody>
      </p:sp>
      <p:sp>
        <p:nvSpPr>
          <p:cNvPr id="13" name="auto:0:wipeD"/>
          <p:cNvSpPr/>
          <p:nvPr/>
        </p:nvSpPr>
        <p:spPr>
          <a:xfrm>
            <a:off x="6172200" y="2286000"/>
            <a:ext cx="1261872" cy="658368"/>
          </a:xfrm>
          <a:prstGeom prst="roundRect">
            <a:avLst>
              <a:gd name="adj" fmla="val 11111"/>
            </a:avLst>
          </a:prstGeom>
          <a:solidFill>
            <a:srgbClr val="FFFFFF"/>
          </a:solidFill>
          <a:ln w="12700">
            <a:solidFill>
              <a:srgbClr val="E4572E"/>
            </a:solidFill>
            <a:prstDash val="solid"/>
          </a:ln>
        </p:spPr>
      </p:sp>
      <p:sp>
        <p:nvSpPr>
          <p:cNvPr id="14" name="auto:1:wipeD"/>
          <p:cNvSpPr txBox="1"/>
          <p:nvPr/>
        </p:nvSpPr>
        <p:spPr>
          <a:xfrm>
            <a:off x="6281928" y="2286000"/>
            <a:ext cx="1042416" cy="658368"/>
          </a:xfrm>
          <a:prstGeom prst="rect">
            <a:avLst/>
          </a:prstGeom>
          <a:noFill/>
          <a:ln/>
        </p:spPr>
        <p:txBody>
          <a:bodyPr wrap="square" lIns="0" tIns="0" rIns="0" bIns="0" rtlCol="0" anchor="ctr"/>
          <a:lstStyle/>
          <a:p>
            <a:pPr indent="0" marL="0">
              <a:buNone/>
            </a:pPr>
            <a:r>
              <a:rPr lang="en-US" sz="1050" b="1" dirty="0">
                <a:solidFill>
                  <a:srgbClr val="1B1F2A"/>
                </a:solidFill>
                <a:latin typeface="Calibri" pitchFamily="34" charset="0"/>
                <a:ea typeface="Calibri" pitchFamily="34" charset="-122"/>
                <a:cs typeface="Calibri" pitchFamily="34" charset="-120"/>
              </a:rPr>
              <a:t>Compute</a:t>
            </a:r>
            <a:endParaRPr lang="en-US" sz="1050" dirty="0"/>
          </a:p>
        </p:txBody>
      </p:sp>
      <p:sp>
        <p:nvSpPr>
          <p:cNvPr id="15" name="auto:2:wipeD"/>
          <p:cNvSpPr txBox="1"/>
          <p:nvPr/>
        </p:nvSpPr>
        <p:spPr>
          <a:xfrm>
            <a:off x="6885432" y="2340864"/>
            <a:ext cx="457200" cy="182880"/>
          </a:xfrm>
          <a:prstGeom prst="rect">
            <a:avLst/>
          </a:prstGeom>
          <a:noFill/>
          <a:ln/>
        </p:spPr>
        <p:txBody>
          <a:bodyPr wrap="square" lIns="0" tIns="0" rIns="0" bIns="0" rtlCol="0" anchor="ctr"/>
          <a:lstStyle/>
          <a:p>
            <a:pPr algn="r" indent="0" marL="0">
              <a:buNone/>
            </a:pPr>
            <a:r>
              <a:rPr lang="en-US" sz="750" b="1" dirty="0">
                <a:solidFill>
                  <a:srgbClr val="E4572E"/>
                </a:solidFill>
                <a:latin typeface="Courier New" pitchFamily="34" charset="0"/>
                <a:ea typeface="Courier New" pitchFamily="34" charset="-122"/>
                <a:cs typeface="Courier New" pitchFamily="34" charset="-120"/>
              </a:rPr>
              <a:t>NEXT</a:t>
            </a:r>
            <a:endParaRPr lang="en-US" sz="750" dirty="0"/>
          </a:p>
        </p:txBody>
      </p:sp>
      <p:sp>
        <p:nvSpPr>
          <p:cNvPr id="16" name="auto:3:wipeD"/>
          <p:cNvSpPr/>
          <p:nvPr/>
        </p:nvSpPr>
        <p:spPr>
          <a:xfrm>
            <a:off x="7543800" y="2286000"/>
            <a:ext cx="1261872" cy="658368"/>
          </a:xfrm>
          <a:prstGeom prst="roundRect">
            <a:avLst>
              <a:gd name="adj" fmla="val 11111"/>
            </a:avLst>
          </a:prstGeom>
          <a:solidFill>
            <a:srgbClr val="E4572E"/>
          </a:solidFill>
          <a:ln w="12700">
            <a:solidFill>
              <a:srgbClr val="E4572E"/>
            </a:solidFill>
            <a:prstDash val="solid"/>
          </a:ln>
        </p:spPr>
      </p:sp>
      <p:sp>
        <p:nvSpPr>
          <p:cNvPr id="17" name="auto:4:wipeD"/>
          <p:cNvSpPr txBox="1"/>
          <p:nvPr/>
        </p:nvSpPr>
        <p:spPr>
          <a:xfrm>
            <a:off x="7653528" y="2286000"/>
            <a:ext cx="1042416" cy="6583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Serverless</a:t>
            </a:r>
            <a:endParaRPr lang="en-US" sz="1050" dirty="0"/>
          </a:p>
        </p:txBody>
      </p:sp>
      <p:sp>
        <p:nvSpPr>
          <p:cNvPr id="18" name="auto:5:wipeD"/>
          <p:cNvSpPr txBox="1"/>
          <p:nvPr/>
        </p:nvSpPr>
        <p:spPr>
          <a:xfrm>
            <a:off x="8257032" y="2340864"/>
            <a:ext cx="457200" cy="182880"/>
          </a:xfrm>
          <a:prstGeom prst="rect">
            <a:avLst/>
          </a:prstGeom>
          <a:noFill/>
          <a:ln/>
        </p:spPr>
        <p:txBody>
          <a:bodyPr wrap="square" lIns="0" tIns="0" rIns="0" bIns="0" rtlCol="0" anchor="ctr"/>
          <a:lstStyle/>
          <a:p>
            <a:pPr algn="r" indent="0" marL="0">
              <a:buNone/>
            </a:pPr>
            <a:r>
              <a:rPr lang="en-US" sz="750" b="1" dirty="0">
                <a:solidFill>
                  <a:srgbClr val="FFFFFF"/>
                </a:solidFill>
                <a:latin typeface="Courier New" pitchFamily="34" charset="0"/>
                <a:ea typeface="Courier New" pitchFamily="34" charset="-122"/>
                <a:cs typeface="Courier New" pitchFamily="34" charset="-120"/>
              </a:rPr>
              <a:t>LIVE</a:t>
            </a:r>
            <a:endParaRPr lang="en-US" sz="750" dirty="0"/>
          </a:p>
        </p:txBody>
      </p:sp>
      <p:sp>
        <p:nvSpPr>
          <p:cNvPr id="19" name="auto:6:wipeD"/>
          <p:cNvSpPr/>
          <p:nvPr/>
        </p:nvSpPr>
        <p:spPr>
          <a:xfrm>
            <a:off x="8915400" y="2286000"/>
            <a:ext cx="1261872" cy="658368"/>
          </a:xfrm>
          <a:prstGeom prst="roundRect">
            <a:avLst>
              <a:gd name="adj" fmla="val 11111"/>
            </a:avLst>
          </a:prstGeom>
          <a:solidFill>
            <a:srgbClr val="F4F5F7"/>
          </a:solidFill>
          <a:ln w="12700">
            <a:solidFill>
              <a:srgbClr val="E4E7EC"/>
            </a:solidFill>
            <a:prstDash val="solid"/>
          </a:ln>
        </p:spPr>
      </p:sp>
      <p:sp>
        <p:nvSpPr>
          <p:cNvPr id="20" name="auto:7:wipeD"/>
          <p:cNvSpPr txBox="1"/>
          <p:nvPr/>
        </p:nvSpPr>
        <p:spPr>
          <a:xfrm>
            <a:off x="9025128" y="2286000"/>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Databases</a:t>
            </a:r>
            <a:endParaRPr lang="en-US" sz="1050" dirty="0"/>
          </a:p>
        </p:txBody>
      </p:sp>
      <p:sp>
        <p:nvSpPr>
          <p:cNvPr id="21" name="auto:8:wipeD"/>
          <p:cNvSpPr/>
          <p:nvPr/>
        </p:nvSpPr>
        <p:spPr>
          <a:xfrm>
            <a:off x="10287000" y="2286000"/>
            <a:ext cx="1261872" cy="658368"/>
          </a:xfrm>
          <a:prstGeom prst="roundRect">
            <a:avLst>
              <a:gd name="adj" fmla="val 11111"/>
            </a:avLst>
          </a:prstGeom>
          <a:solidFill>
            <a:srgbClr val="F4F5F7"/>
          </a:solidFill>
          <a:ln w="12700">
            <a:solidFill>
              <a:srgbClr val="E4E7EC"/>
            </a:solidFill>
            <a:prstDash val="solid"/>
          </a:ln>
        </p:spPr>
      </p:sp>
      <p:sp>
        <p:nvSpPr>
          <p:cNvPr id="22" name="auto:9:wipeD"/>
          <p:cNvSpPr txBox="1"/>
          <p:nvPr/>
        </p:nvSpPr>
        <p:spPr>
          <a:xfrm>
            <a:off x="10396728" y="2286000"/>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Networking</a:t>
            </a:r>
            <a:endParaRPr lang="en-US" sz="1050" dirty="0"/>
          </a:p>
        </p:txBody>
      </p:sp>
      <p:sp>
        <p:nvSpPr>
          <p:cNvPr id="23" name="auto:10:wipeD"/>
          <p:cNvSpPr/>
          <p:nvPr/>
        </p:nvSpPr>
        <p:spPr>
          <a:xfrm>
            <a:off x="6172200" y="3054096"/>
            <a:ext cx="1261872" cy="658368"/>
          </a:xfrm>
          <a:prstGeom prst="roundRect">
            <a:avLst>
              <a:gd name="adj" fmla="val 11111"/>
            </a:avLst>
          </a:prstGeom>
          <a:solidFill>
            <a:srgbClr val="F4F5F7"/>
          </a:solidFill>
          <a:ln w="12700">
            <a:solidFill>
              <a:srgbClr val="E4E7EC"/>
            </a:solidFill>
            <a:prstDash val="solid"/>
          </a:ln>
        </p:spPr>
      </p:sp>
      <p:sp>
        <p:nvSpPr>
          <p:cNvPr id="24" name="auto:11:wipeD"/>
          <p:cNvSpPr txBox="1"/>
          <p:nvPr/>
        </p:nvSpPr>
        <p:spPr>
          <a:xfrm>
            <a:off x="6281928" y="3054096"/>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Object Storage</a:t>
            </a:r>
            <a:endParaRPr lang="en-US" sz="1050" dirty="0"/>
          </a:p>
        </p:txBody>
      </p:sp>
      <p:sp>
        <p:nvSpPr>
          <p:cNvPr id="25" name="auto:12:wipeD"/>
          <p:cNvSpPr/>
          <p:nvPr/>
        </p:nvSpPr>
        <p:spPr>
          <a:xfrm>
            <a:off x="7543800" y="3054096"/>
            <a:ext cx="1261872" cy="658368"/>
          </a:xfrm>
          <a:prstGeom prst="roundRect">
            <a:avLst>
              <a:gd name="adj" fmla="val 11111"/>
            </a:avLst>
          </a:prstGeom>
          <a:solidFill>
            <a:srgbClr val="F4F5F7"/>
          </a:solidFill>
          <a:ln w="12700">
            <a:solidFill>
              <a:srgbClr val="E4E7EC"/>
            </a:solidFill>
            <a:prstDash val="solid"/>
          </a:ln>
        </p:spPr>
      </p:sp>
      <p:sp>
        <p:nvSpPr>
          <p:cNvPr id="26" name="auto:13:wipeD"/>
          <p:cNvSpPr txBox="1"/>
          <p:nvPr/>
        </p:nvSpPr>
        <p:spPr>
          <a:xfrm>
            <a:off x="7653528" y="3054096"/>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Observability</a:t>
            </a:r>
            <a:endParaRPr lang="en-US" sz="1050" dirty="0"/>
          </a:p>
        </p:txBody>
      </p:sp>
      <p:sp>
        <p:nvSpPr>
          <p:cNvPr id="27" name="auto:14:wipeD"/>
          <p:cNvSpPr/>
          <p:nvPr/>
        </p:nvSpPr>
        <p:spPr>
          <a:xfrm>
            <a:off x="8915400" y="3054096"/>
            <a:ext cx="1261872" cy="658368"/>
          </a:xfrm>
          <a:prstGeom prst="roundRect">
            <a:avLst>
              <a:gd name="adj" fmla="val 11111"/>
            </a:avLst>
          </a:prstGeom>
          <a:solidFill>
            <a:srgbClr val="F4F5F7"/>
          </a:solidFill>
          <a:ln w="12700">
            <a:solidFill>
              <a:srgbClr val="E4E7EC"/>
            </a:solidFill>
            <a:prstDash val="solid"/>
          </a:ln>
        </p:spPr>
      </p:sp>
      <p:sp>
        <p:nvSpPr>
          <p:cNvPr id="28" name="auto:15:wipeD"/>
          <p:cNvSpPr txBox="1"/>
          <p:nvPr/>
        </p:nvSpPr>
        <p:spPr>
          <a:xfrm>
            <a:off x="9025128" y="3054096"/>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Data Integration</a:t>
            </a:r>
            <a:endParaRPr lang="en-US" sz="1050" dirty="0"/>
          </a:p>
        </p:txBody>
      </p:sp>
      <p:sp>
        <p:nvSpPr>
          <p:cNvPr id="29" name="auto:16:wipeD"/>
          <p:cNvSpPr/>
          <p:nvPr/>
        </p:nvSpPr>
        <p:spPr>
          <a:xfrm>
            <a:off x="10287000" y="3054096"/>
            <a:ext cx="1261872" cy="658368"/>
          </a:xfrm>
          <a:prstGeom prst="roundRect">
            <a:avLst>
              <a:gd name="adj" fmla="val 11111"/>
            </a:avLst>
          </a:prstGeom>
          <a:solidFill>
            <a:srgbClr val="F4F5F7"/>
          </a:solidFill>
          <a:ln w="12700">
            <a:solidFill>
              <a:srgbClr val="E4E7EC"/>
            </a:solidFill>
            <a:prstDash val="solid"/>
          </a:ln>
        </p:spPr>
      </p:sp>
      <p:sp>
        <p:nvSpPr>
          <p:cNvPr id="30" name="auto:17:wipeD"/>
          <p:cNvSpPr txBox="1"/>
          <p:nvPr/>
        </p:nvSpPr>
        <p:spPr>
          <a:xfrm>
            <a:off x="10396728" y="3054096"/>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Data Analytics</a:t>
            </a:r>
            <a:endParaRPr lang="en-US" sz="1050" dirty="0"/>
          </a:p>
        </p:txBody>
      </p:sp>
      <p:sp>
        <p:nvSpPr>
          <p:cNvPr id="31" name="auto:18:wipeD"/>
          <p:cNvSpPr/>
          <p:nvPr/>
        </p:nvSpPr>
        <p:spPr>
          <a:xfrm>
            <a:off x="6172200" y="3822192"/>
            <a:ext cx="1261872" cy="658368"/>
          </a:xfrm>
          <a:prstGeom prst="roundRect">
            <a:avLst>
              <a:gd name="adj" fmla="val 11111"/>
            </a:avLst>
          </a:prstGeom>
          <a:solidFill>
            <a:srgbClr val="FFFFFF"/>
          </a:solidFill>
          <a:ln w="12700">
            <a:solidFill>
              <a:srgbClr val="E4572E"/>
            </a:solidFill>
            <a:prstDash val="solid"/>
          </a:ln>
        </p:spPr>
      </p:sp>
      <p:sp>
        <p:nvSpPr>
          <p:cNvPr id="32" name="auto:19:wipeD"/>
          <p:cNvSpPr txBox="1"/>
          <p:nvPr/>
        </p:nvSpPr>
        <p:spPr>
          <a:xfrm>
            <a:off x="6281928" y="3822192"/>
            <a:ext cx="1042416" cy="658368"/>
          </a:xfrm>
          <a:prstGeom prst="rect">
            <a:avLst/>
          </a:prstGeom>
          <a:noFill/>
          <a:ln/>
        </p:spPr>
        <p:txBody>
          <a:bodyPr wrap="square" lIns="0" tIns="0" rIns="0" bIns="0" rtlCol="0" anchor="ctr"/>
          <a:lstStyle/>
          <a:p>
            <a:pPr indent="0" marL="0">
              <a:buNone/>
            </a:pPr>
            <a:r>
              <a:rPr lang="en-US" sz="1050" b="1" dirty="0">
                <a:solidFill>
                  <a:srgbClr val="1B1F2A"/>
                </a:solidFill>
                <a:latin typeface="Calibri" pitchFamily="34" charset="0"/>
                <a:ea typeface="Calibri" pitchFamily="34" charset="-122"/>
                <a:cs typeface="Calibri" pitchFamily="34" charset="-120"/>
              </a:rPr>
              <a:t>Dev Tools</a:t>
            </a:r>
            <a:endParaRPr lang="en-US" sz="1050" dirty="0"/>
          </a:p>
        </p:txBody>
      </p:sp>
      <p:sp>
        <p:nvSpPr>
          <p:cNvPr id="33" name="auto:20:wipeD"/>
          <p:cNvSpPr txBox="1"/>
          <p:nvPr/>
        </p:nvSpPr>
        <p:spPr>
          <a:xfrm>
            <a:off x="6885432" y="3877056"/>
            <a:ext cx="457200" cy="182880"/>
          </a:xfrm>
          <a:prstGeom prst="rect">
            <a:avLst/>
          </a:prstGeom>
          <a:noFill/>
          <a:ln/>
        </p:spPr>
        <p:txBody>
          <a:bodyPr wrap="square" lIns="0" tIns="0" rIns="0" bIns="0" rtlCol="0" anchor="ctr"/>
          <a:lstStyle/>
          <a:p>
            <a:pPr algn="r" indent="0" marL="0">
              <a:buNone/>
            </a:pPr>
            <a:r>
              <a:rPr lang="en-US" sz="750" b="1" dirty="0">
                <a:solidFill>
                  <a:srgbClr val="E4572E"/>
                </a:solidFill>
                <a:latin typeface="Courier New" pitchFamily="34" charset="0"/>
                <a:ea typeface="Courier New" pitchFamily="34" charset="-122"/>
                <a:cs typeface="Courier New" pitchFamily="34" charset="-120"/>
              </a:rPr>
              <a:t>NEXT</a:t>
            </a:r>
            <a:endParaRPr lang="en-US" sz="750" dirty="0"/>
          </a:p>
        </p:txBody>
      </p:sp>
      <p:sp>
        <p:nvSpPr>
          <p:cNvPr id="34" name="auto:21:wipeD"/>
          <p:cNvSpPr/>
          <p:nvPr/>
        </p:nvSpPr>
        <p:spPr>
          <a:xfrm>
            <a:off x="7543800" y="3822192"/>
            <a:ext cx="1261872" cy="658368"/>
          </a:xfrm>
          <a:prstGeom prst="roundRect">
            <a:avLst>
              <a:gd name="adj" fmla="val 11111"/>
            </a:avLst>
          </a:prstGeom>
          <a:solidFill>
            <a:srgbClr val="F4F5F7"/>
          </a:solidFill>
          <a:ln w="12700">
            <a:solidFill>
              <a:srgbClr val="E4E7EC"/>
            </a:solidFill>
            <a:prstDash val="solid"/>
          </a:ln>
        </p:spPr>
      </p:sp>
      <p:sp>
        <p:nvSpPr>
          <p:cNvPr id="35" name="auto:22:wipeD"/>
          <p:cNvSpPr txBox="1"/>
          <p:nvPr/>
        </p:nvSpPr>
        <p:spPr>
          <a:xfrm>
            <a:off x="7653528" y="3822192"/>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Machine Learning</a:t>
            </a:r>
            <a:endParaRPr lang="en-US" sz="1050" dirty="0"/>
          </a:p>
        </p:txBody>
      </p:sp>
      <p:sp>
        <p:nvSpPr>
          <p:cNvPr id="36" name="auto:23:wipeD"/>
          <p:cNvSpPr/>
          <p:nvPr/>
        </p:nvSpPr>
        <p:spPr>
          <a:xfrm>
            <a:off x="8915400" y="3822192"/>
            <a:ext cx="1261872" cy="658368"/>
          </a:xfrm>
          <a:prstGeom prst="roundRect">
            <a:avLst>
              <a:gd name="adj" fmla="val 11111"/>
            </a:avLst>
          </a:prstGeom>
          <a:solidFill>
            <a:srgbClr val="F4F5F7"/>
          </a:solidFill>
          <a:ln w="12700">
            <a:solidFill>
              <a:srgbClr val="E4E7EC"/>
            </a:solidFill>
            <a:prstDash val="solid"/>
          </a:ln>
        </p:spPr>
      </p:sp>
      <p:sp>
        <p:nvSpPr>
          <p:cNvPr id="37" name="auto:24:wipeD"/>
          <p:cNvSpPr txBox="1"/>
          <p:nvPr/>
        </p:nvSpPr>
        <p:spPr>
          <a:xfrm>
            <a:off x="9025128" y="3822192"/>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Security</a:t>
            </a:r>
            <a:endParaRPr lang="en-US" sz="1050" dirty="0"/>
          </a:p>
        </p:txBody>
      </p:sp>
      <p:sp>
        <p:nvSpPr>
          <p:cNvPr id="38" name="auto:25:wipeD"/>
          <p:cNvSpPr/>
          <p:nvPr/>
        </p:nvSpPr>
        <p:spPr>
          <a:xfrm>
            <a:off x="10287000" y="3822192"/>
            <a:ext cx="1261872" cy="658368"/>
          </a:xfrm>
          <a:prstGeom prst="roundRect">
            <a:avLst>
              <a:gd name="adj" fmla="val 11111"/>
            </a:avLst>
          </a:prstGeom>
          <a:solidFill>
            <a:srgbClr val="F4F5F7"/>
          </a:solidFill>
          <a:ln w="12700">
            <a:solidFill>
              <a:srgbClr val="E4E7EC"/>
            </a:solidFill>
            <a:prstDash val="solid"/>
          </a:ln>
        </p:spPr>
      </p:sp>
      <p:sp>
        <p:nvSpPr>
          <p:cNvPr id="39" name="auto:26:wipeD"/>
          <p:cNvSpPr txBox="1"/>
          <p:nvPr/>
        </p:nvSpPr>
        <p:spPr>
          <a:xfrm>
            <a:off x="10396728" y="3822192"/>
            <a:ext cx="1042416" cy="658368"/>
          </a:xfrm>
          <a:prstGeom prst="rect">
            <a:avLst/>
          </a:prstGeom>
          <a:noFill/>
          <a:ln/>
        </p:spPr>
        <p:txBody>
          <a:bodyPr wrap="square" lIns="0" tIns="0" rIns="0" bIns="0" rtlCol="0" anchor="ctr"/>
          <a:lstStyle/>
          <a:p>
            <a:pPr indent="0" marL="0">
              <a:buNone/>
            </a:pPr>
            <a:r>
              <a:rPr lang="en-US" sz="1050" b="1" dirty="0">
                <a:solidFill>
                  <a:srgbClr val="667085"/>
                </a:solidFill>
                <a:latin typeface="Calibri" pitchFamily="34" charset="0"/>
                <a:ea typeface="Calibri" pitchFamily="34" charset="-122"/>
                <a:cs typeface="Calibri" pitchFamily="34" charset="-120"/>
              </a:rPr>
              <a:t>…as data</a:t>
            </a:r>
            <a:endParaRPr lang="en-US" sz="1050" dirty="0"/>
          </a:p>
        </p:txBody>
      </p:sp>
      <p:sp>
        <p:nvSpPr>
          <p:cNvPr id="40" name="Text 37"/>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37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85" fill="hold">
                            <p:stCondLst>
                              <p:cond delay="0"/>
                            </p:stCondLst>
                            <p:childTnLst>
                              <p:par>
                                <p:cTn id="5" presetID="22" presetClass="entr" presetSubtype="4" fill="hold" grpId="0" nodeType="after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down)">
                                      <p:cBhvr>
                                        <p:cTn id="4" dur="350"/>
                                        <p:tgtEl>
                                          <p:spTgt spid="13"/>
                                        </p:tgtEl>
                                      </p:cBhvr>
                                    </p:animEffect>
                                  </p:childTnLst>
                                </p:cTn>
                              </p:par>
                              <p:par>
                                <p:cTn id="8" presetID="22" presetClass="entr" presetSubtype="4" fill="hold" grpId="0" nodeType="withEffect">
                                  <p:stCondLst>
                                    <p:cond delay="8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350"/>
                                        <p:tgtEl>
                                          <p:spTgt spid="14"/>
                                        </p:tgtEl>
                                      </p:cBhvr>
                                    </p:animEffect>
                                  </p:childTnLst>
                                </p:cTn>
                              </p:par>
                              <p:par>
                                <p:cTn id="11" presetID="22" presetClass="entr" presetSubtype="4" fill="hold" grpId="0" nodeType="withEffect">
                                  <p:stCondLst>
                                    <p:cond delay="16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350"/>
                                        <p:tgtEl>
                                          <p:spTgt spid="15"/>
                                        </p:tgtEl>
                                      </p:cBhvr>
                                    </p:animEffect>
                                  </p:childTnLst>
                                </p:cTn>
                              </p:par>
                              <p:par>
                                <p:cTn id="14" presetID="22" presetClass="entr" presetSubtype="4" fill="hold" grpId="0" nodeType="withEffect">
                                  <p:stCondLst>
                                    <p:cond delay="24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350"/>
                                        <p:tgtEl>
                                          <p:spTgt spid="16"/>
                                        </p:tgtEl>
                                      </p:cBhvr>
                                    </p:animEffect>
                                  </p:childTnLst>
                                </p:cTn>
                              </p:par>
                              <p:par>
                                <p:cTn id="17" presetID="22" presetClass="entr" presetSubtype="4" fill="hold" grpId="0" nodeType="withEffect">
                                  <p:stCondLst>
                                    <p:cond delay="32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350"/>
                                        <p:tgtEl>
                                          <p:spTgt spid="17"/>
                                        </p:tgtEl>
                                      </p:cBhvr>
                                    </p:animEffect>
                                  </p:childTnLst>
                                </p:cTn>
                              </p:par>
                              <p:par>
                                <p:cTn id="20" presetID="22" presetClass="entr" presetSubtype="4" fill="hold" grpId="0" nodeType="withEffect">
                                  <p:stCondLst>
                                    <p:cond delay="40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350"/>
                                        <p:tgtEl>
                                          <p:spTgt spid="18"/>
                                        </p:tgtEl>
                                      </p:cBhvr>
                                    </p:animEffect>
                                  </p:childTnLst>
                                </p:cTn>
                              </p:par>
                              <p:par>
                                <p:cTn id="23" presetID="22" presetClass="entr" presetSubtype="4" fill="hold" grpId="0" nodeType="withEffect">
                                  <p:stCondLst>
                                    <p:cond delay="48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350"/>
                                        <p:tgtEl>
                                          <p:spTgt spid="19"/>
                                        </p:tgtEl>
                                      </p:cBhvr>
                                    </p:animEffect>
                                  </p:childTnLst>
                                </p:cTn>
                              </p:par>
                              <p:par>
                                <p:cTn id="26" presetID="22" presetClass="entr" presetSubtype="4" fill="hold" grpId="0" nodeType="withEffect">
                                  <p:stCondLst>
                                    <p:cond delay="560"/>
                                  </p:stCondLst>
                                  <p:childTnLst>
                                    <p:set>
                                      <p:cBhvr>
                                        <p:cTn id="24" dur="1" fill="hold">
                                          <p:stCondLst>
                                            <p:cond delay="0"/>
                                          </p:stCondLst>
                                        </p:cTn>
                                        <p:tgtEl>
                                          <p:spTgt spid="20"/>
                                        </p:tgtEl>
                                        <p:attrNameLst>
                                          <p:attrName>style.visibility</p:attrName>
                                        </p:attrNameLst>
                                      </p:cBhvr>
                                      <p:to>
                                        <p:strVal val="visible"/>
                                      </p:to>
                                    </p:set>
                                    <p:animEffect transition="in" filter="wipe(down)">
                                      <p:cBhvr>
                                        <p:cTn id="25" dur="350"/>
                                        <p:tgtEl>
                                          <p:spTgt spid="20"/>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21"/>
                                        </p:tgtEl>
                                        <p:attrNameLst>
                                          <p:attrName>style.visibility</p:attrName>
                                        </p:attrNameLst>
                                      </p:cBhvr>
                                      <p:to>
                                        <p:strVal val="visible"/>
                                      </p:to>
                                    </p:set>
                                    <p:animEffect transition="in" filter="wipe(down)">
                                      <p:cBhvr>
                                        <p:cTn id="28" dur="350"/>
                                        <p:tgtEl>
                                          <p:spTgt spid="21"/>
                                        </p:tgtEl>
                                      </p:cBhvr>
                                    </p:animEffect>
                                  </p:childTnLst>
                                </p:cTn>
                              </p:par>
                              <p:par>
                                <p:cTn id="32" presetID="22" presetClass="entr" presetSubtype="4" fill="hold" grpId="0" nodeType="withEffect">
                                  <p:stCondLst>
                                    <p:cond delay="72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350"/>
                                        <p:tgtEl>
                                          <p:spTgt spid="22"/>
                                        </p:tgtEl>
                                      </p:cBhvr>
                                    </p:animEffect>
                                  </p:childTnLst>
                                </p:cTn>
                              </p:par>
                              <p:par>
                                <p:cTn id="35" presetID="22" presetClass="entr" presetSubtype="4" fill="hold" grpId="0" nodeType="withEffect">
                                  <p:stCondLst>
                                    <p:cond delay="800"/>
                                  </p:stCondLst>
                                  <p:childTnLst>
                                    <p:set>
                                      <p:cBhvr>
                                        <p:cTn id="33" dur="1" fill="hold">
                                          <p:stCondLst>
                                            <p:cond delay="0"/>
                                          </p:stCondLst>
                                        </p:cTn>
                                        <p:tgtEl>
                                          <p:spTgt spid="23"/>
                                        </p:tgtEl>
                                        <p:attrNameLst>
                                          <p:attrName>style.visibility</p:attrName>
                                        </p:attrNameLst>
                                      </p:cBhvr>
                                      <p:to>
                                        <p:strVal val="visible"/>
                                      </p:to>
                                    </p:set>
                                    <p:animEffect transition="in" filter="wipe(down)">
                                      <p:cBhvr>
                                        <p:cTn id="34" dur="350"/>
                                        <p:tgtEl>
                                          <p:spTgt spid="23"/>
                                        </p:tgtEl>
                                      </p:cBhvr>
                                    </p:animEffect>
                                  </p:childTnLst>
                                </p:cTn>
                              </p:par>
                              <p:par>
                                <p:cTn id="38" presetID="22" presetClass="entr" presetSubtype="4" fill="hold" grpId="0" nodeType="withEffect">
                                  <p:stCondLst>
                                    <p:cond delay="88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350"/>
                                        <p:tgtEl>
                                          <p:spTgt spid="24"/>
                                        </p:tgtEl>
                                      </p:cBhvr>
                                    </p:animEffect>
                                  </p:childTnLst>
                                </p:cTn>
                              </p:par>
                              <p:par>
                                <p:cTn id="41" presetID="22" presetClass="entr" presetSubtype="4" fill="hold" grpId="0" nodeType="withEffect">
                                  <p:stCondLst>
                                    <p:cond delay="96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350"/>
                                        <p:tgtEl>
                                          <p:spTgt spid="25"/>
                                        </p:tgtEl>
                                      </p:cBhvr>
                                    </p:animEffect>
                                  </p:childTnLst>
                                </p:cTn>
                              </p:par>
                              <p:par>
                                <p:cTn id="44" presetID="22" presetClass="entr" presetSubtype="4" fill="hold" grpId="0" nodeType="withEffect">
                                  <p:stCondLst>
                                    <p:cond delay="104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350"/>
                                        <p:tgtEl>
                                          <p:spTgt spid="26"/>
                                        </p:tgtEl>
                                      </p:cBhvr>
                                    </p:animEffect>
                                  </p:childTnLst>
                                </p:cTn>
                              </p:par>
                              <p:par>
                                <p:cTn id="47" presetID="22" presetClass="entr" presetSubtype="4" fill="hold" grpId="0" nodeType="withEffect">
                                  <p:stCondLst>
                                    <p:cond delay="112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350"/>
                                        <p:tgtEl>
                                          <p:spTgt spid="27"/>
                                        </p:tgtEl>
                                      </p:cBhvr>
                                    </p:animEffect>
                                  </p:childTnLst>
                                </p:cTn>
                              </p:par>
                              <p:par>
                                <p:cTn id="50" presetID="22" presetClass="entr" presetSubtype="4" fill="hold" grpId="0" nodeType="withEffect">
                                  <p:stCondLst>
                                    <p:cond delay="120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350"/>
                                        <p:tgtEl>
                                          <p:spTgt spid="28"/>
                                        </p:tgtEl>
                                      </p:cBhvr>
                                    </p:animEffect>
                                  </p:childTnLst>
                                </p:cTn>
                              </p:par>
                              <p:par>
                                <p:cTn id="53" presetID="22" presetClass="entr" presetSubtype="4" fill="hold" grpId="0" nodeType="withEffect">
                                  <p:stCondLst>
                                    <p:cond delay="1280"/>
                                  </p:stCondLst>
                                  <p:childTnLst>
                                    <p:set>
                                      <p:cBhvr>
                                        <p:cTn id="51" dur="1" fill="hold">
                                          <p:stCondLst>
                                            <p:cond delay="0"/>
                                          </p:stCondLst>
                                        </p:cTn>
                                        <p:tgtEl>
                                          <p:spTgt spid="29"/>
                                        </p:tgtEl>
                                        <p:attrNameLst>
                                          <p:attrName>style.visibility</p:attrName>
                                        </p:attrNameLst>
                                      </p:cBhvr>
                                      <p:to>
                                        <p:strVal val="visible"/>
                                      </p:to>
                                    </p:set>
                                    <p:animEffect transition="in" filter="wipe(down)">
                                      <p:cBhvr>
                                        <p:cTn id="52" dur="350"/>
                                        <p:tgtEl>
                                          <p:spTgt spid="29"/>
                                        </p:tgtEl>
                                      </p:cBhvr>
                                    </p:animEffect>
                                  </p:childTnLst>
                                </p:cTn>
                              </p:par>
                              <p:par>
                                <p:cTn id="56" presetID="22" presetClass="entr" presetSubtype="4" fill="hold" grpId="0" nodeType="withEffect">
                                  <p:stCondLst>
                                    <p:cond delay="1360"/>
                                  </p:stCondLst>
                                  <p:childTnLst>
                                    <p:set>
                                      <p:cBhvr>
                                        <p:cTn id="54" dur="1" fill="hold">
                                          <p:stCondLst>
                                            <p:cond delay="0"/>
                                          </p:stCondLst>
                                        </p:cTn>
                                        <p:tgtEl>
                                          <p:spTgt spid="30"/>
                                        </p:tgtEl>
                                        <p:attrNameLst>
                                          <p:attrName>style.visibility</p:attrName>
                                        </p:attrNameLst>
                                      </p:cBhvr>
                                      <p:to>
                                        <p:strVal val="visible"/>
                                      </p:to>
                                    </p:set>
                                    <p:animEffect transition="in" filter="wipe(down)">
                                      <p:cBhvr>
                                        <p:cTn id="55" dur="350"/>
                                        <p:tgtEl>
                                          <p:spTgt spid="30"/>
                                        </p:tgtEl>
                                      </p:cBhvr>
                                    </p:animEffect>
                                  </p:childTnLst>
                                </p:cTn>
                              </p:par>
                              <p:par>
                                <p:cTn id="59" presetID="22" presetClass="entr" presetSubtype="4" fill="hold" grpId="0" nodeType="withEffect">
                                  <p:stCondLst>
                                    <p:cond delay="1440"/>
                                  </p:stCondLst>
                                  <p:childTnLst>
                                    <p:set>
                                      <p:cBhvr>
                                        <p:cTn id="57" dur="1" fill="hold">
                                          <p:stCondLst>
                                            <p:cond delay="0"/>
                                          </p:stCondLst>
                                        </p:cTn>
                                        <p:tgtEl>
                                          <p:spTgt spid="31"/>
                                        </p:tgtEl>
                                        <p:attrNameLst>
                                          <p:attrName>style.visibility</p:attrName>
                                        </p:attrNameLst>
                                      </p:cBhvr>
                                      <p:to>
                                        <p:strVal val="visible"/>
                                      </p:to>
                                    </p:set>
                                    <p:animEffect transition="in" filter="wipe(down)">
                                      <p:cBhvr>
                                        <p:cTn id="58" dur="350"/>
                                        <p:tgtEl>
                                          <p:spTgt spid="31"/>
                                        </p:tgtEl>
                                      </p:cBhvr>
                                    </p:animEffect>
                                  </p:childTnLst>
                                </p:cTn>
                              </p:par>
                              <p:par>
                                <p:cTn id="62" presetID="22" presetClass="entr" presetSubtype="4" fill="hold" grpId="0" nodeType="withEffect">
                                  <p:stCondLst>
                                    <p:cond delay="1520"/>
                                  </p:stCondLst>
                                  <p:childTnLst>
                                    <p:set>
                                      <p:cBhvr>
                                        <p:cTn id="60" dur="1" fill="hold">
                                          <p:stCondLst>
                                            <p:cond delay="0"/>
                                          </p:stCondLst>
                                        </p:cTn>
                                        <p:tgtEl>
                                          <p:spTgt spid="32"/>
                                        </p:tgtEl>
                                        <p:attrNameLst>
                                          <p:attrName>style.visibility</p:attrName>
                                        </p:attrNameLst>
                                      </p:cBhvr>
                                      <p:to>
                                        <p:strVal val="visible"/>
                                      </p:to>
                                    </p:set>
                                    <p:animEffect transition="in" filter="wipe(down)">
                                      <p:cBhvr>
                                        <p:cTn id="61" dur="350"/>
                                        <p:tgtEl>
                                          <p:spTgt spid="32"/>
                                        </p:tgtEl>
                                      </p:cBhvr>
                                    </p:animEffect>
                                  </p:childTnLst>
                                </p:cTn>
                              </p:par>
                              <p:par>
                                <p:cTn id="65" presetID="22" presetClass="entr" presetSubtype="4" fill="hold" grpId="0" nodeType="withEffect">
                                  <p:stCondLst>
                                    <p:cond delay="1600"/>
                                  </p:stCondLst>
                                  <p:childTnLst>
                                    <p:set>
                                      <p:cBhvr>
                                        <p:cTn id="63" dur="1" fill="hold">
                                          <p:stCondLst>
                                            <p:cond delay="0"/>
                                          </p:stCondLst>
                                        </p:cTn>
                                        <p:tgtEl>
                                          <p:spTgt spid="33"/>
                                        </p:tgtEl>
                                        <p:attrNameLst>
                                          <p:attrName>style.visibility</p:attrName>
                                        </p:attrNameLst>
                                      </p:cBhvr>
                                      <p:to>
                                        <p:strVal val="visible"/>
                                      </p:to>
                                    </p:set>
                                    <p:animEffect transition="in" filter="wipe(down)">
                                      <p:cBhvr>
                                        <p:cTn id="64" dur="350"/>
                                        <p:tgtEl>
                                          <p:spTgt spid="33"/>
                                        </p:tgtEl>
                                      </p:cBhvr>
                                    </p:animEffect>
                                  </p:childTnLst>
                                </p:cTn>
                              </p:par>
                              <p:par>
                                <p:cTn id="68" presetID="22" presetClass="entr" presetSubtype="4" fill="hold" grpId="0" nodeType="withEffect">
                                  <p:stCondLst>
                                    <p:cond delay="1680"/>
                                  </p:stCondLst>
                                  <p:childTnLst>
                                    <p:set>
                                      <p:cBhvr>
                                        <p:cTn id="66" dur="1" fill="hold">
                                          <p:stCondLst>
                                            <p:cond delay="0"/>
                                          </p:stCondLst>
                                        </p:cTn>
                                        <p:tgtEl>
                                          <p:spTgt spid="34"/>
                                        </p:tgtEl>
                                        <p:attrNameLst>
                                          <p:attrName>style.visibility</p:attrName>
                                        </p:attrNameLst>
                                      </p:cBhvr>
                                      <p:to>
                                        <p:strVal val="visible"/>
                                      </p:to>
                                    </p:set>
                                    <p:animEffect transition="in" filter="wipe(down)">
                                      <p:cBhvr>
                                        <p:cTn id="67" dur="350"/>
                                        <p:tgtEl>
                                          <p:spTgt spid="34"/>
                                        </p:tgtEl>
                                      </p:cBhvr>
                                    </p:animEffect>
                                  </p:childTnLst>
                                </p:cTn>
                              </p:par>
                              <p:par>
                                <p:cTn id="71" presetID="22" presetClass="entr" presetSubtype="4" fill="hold" grpId="0" nodeType="withEffect">
                                  <p:stCondLst>
                                    <p:cond delay="1760"/>
                                  </p:stCondLst>
                                  <p:childTnLst>
                                    <p:set>
                                      <p:cBhvr>
                                        <p:cTn id="69" dur="1" fill="hold">
                                          <p:stCondLst>
                                            <p:cond delay="0"/>
                                          </p:stCondLst>
                                        </p:cTn>
                                        <p:tgtEl>
                                          <p:spTgt spid="35"/>
                                        </p:tgtEl>
                                        <p:attrNameLst>
                                          <p:attrName>style.visibility</p:attrName>
                                        </p:attrNameLst>
                                      </p:cBhvr>
                                      <p:to>
                                        <p:strVal val="visible"/>
                                      </p:to>
                                    </p:set>
                                    <p:animEffect transition="in" filter="wipe(down)">
                                      <p:cBhvr>
                                        <p:cTn id="70" dur="350"/>
                                        <p:tgtEl>
                                          <p:spTgt spid="35"/>
                                        </p:tgtEl>
                                      </p:cBhvr>
                                    </p:animEffect>
                                  </p:childTnLst>
                                </p:cTn>
                              </p:par>
                              <p:par>
                                <p:cTn id="74" presetID="22" presetClass="entr" presetSubtype="4" fill="hold" grpId="0" nodeType="withEffect">
                                  <p:stCondLst>
                                    <p:cond delay="1840"/>
                                  </p:stCondLst>
                                  <p:childTnLst>
                                    <p:set>
                                      <p:cBhvr>
                                        <p:cTn id="72" dur="1" fill="hold">
                                          <p:stCondLst>
                                            <p:cond delay="0"/>
                                          </p:stCondLst>
                                        </p:cTn>
                                        <p:tgtEl>
                                          <p:spTgt spid="36"/>
                                        </p:tgtEl>
                                        <p:attrNameLst>
                                          <p:attrName>style.visibility</p:attrName>
                                        </p:attrNameLst>
                                      </p:cBhvr>
                                      <p:to>
                                        <p:strVal val="visible"/>
                                      </p:to>
                                    </p:set>
                                    <p:animEffect transition="in" filter="wipe(down)">
                                      <p:cBhvr>
                                        <p:cTn id="73" dur="350"/>
                                        <p:tgtEl>
                                          <p:spTgt spid="36"/>
                                        </p:tgtEl>
                                      </p:cBhvr>
                                    </p:animEffect>
                                  </p:childTnLst>
                                </p:cTn>
                              </p:par>
                              <p:par>
                                <p:cTn id="77" presetID="22" presetClass="entr" presetSubtype="4" fill="hold" grpId="0" nodeType="withEffect">
                                  <p:stCondLst>
                                    <p:cond delay="1920"/>
                                  </p:stCondLst>
                                  <p:childTnLst>
                                    <p:set>
                                      <p:cBhvr>
                                        <p:cTn id="75" dur="1" fill="hold">
                                          <p:stCondLst>
                                            <p:cond delay="0"/>
                                          </p:stCondLst>
                                        </p:cTn>
                                        <p:tgtEl>
                                          <p:spTgt spid="37"/>
                                        </p:tgtEl>
                                        <p:attrNameLst>
                                          <p:attrName>style.visibility</p:attrName>
                                        </p:attrNameLst>
                                      </p:cBhvr>
                                      <p:to>
                                        <p:strVal val="visible"/>
                                      </p:to>
                                    </p:set>
                                    <p:animEffect transition="in" filter="wipe(down)">
                                      <p:cBhvr>
                                        <p:cTn id="76" dur="350"/>
                                        <p:tgtEl>
                                          <p:spTgt spid="37"/>
                                        </p:tgtEl>
                                      </p:cBhvr>
                                    </p:animEffect>
                                  </p:childTnLst>
                                </p:cTn>
                              </p:par>
                              <p:par>
                                <p:cTn id="80" presetID="22" presetClass="entr" presetSubtype="4" fill="hold" grpId="0" nodeType="withEffect">
                                  <p:stCondLst>
                                    <p:cond delay="2000"/>
                                  </p:stCondLst>
                                  <p:childTnLst>
                                    <p:set>
                                      <p:cBhvr>
                                        <p:cTn id="78" dur="1" fill="hold">
                                          <p:stCondLst>
                                            <p:cond delay="0"/>
                                          </p:stCondLst>
                                        </p:cTn>
                                        <p:tgtEl>
                                          <p:spTgt spid="38"/>
                                        </p:tgtEl>
                                        <p:attrNameLst>
                                          <p:attrName>style.visibility</p:attrName>
                                        </p:attrNameLst>
                                      </p:cBhvr>
                                      <p:to>
                                        <p:strVal val="visible"/>
                                      </p:to>
                                    </p:set>
                                    <p:animEffect transition="in" filter="wipe(down)">
                                      <p:cBhvr>
                                        <p:cTn id="79" dur="350"/>
                                        <p:tgtEl>
                                          <p:spTgt spid="38"/>
                                        </p:tgtEl>
                                      </p:cBhvr>
                                    </p:animEffect>
                                  </p:childTnLst>
                                </p:cTn>
                              </p:par>
                              <p:par>
                                <p:cTn id="83" presetID="22" presetClass="entr" presetSubtype="4" fill="hold" grpId="0" nodeType="withEffect">
                                  <p:stCondLst>
                                    <p:cond delay="2080"/>
                                  </p:stCondLst>
                                  <p:childTnLst>
                                    <p:set>
                                      <p:cBhvr>
                                        <p:cTn id="81" dur="1" fill="hold">
                                          <p:stCondLst>
                                            <p:cond delay="0"/>
                                          </p:stCondLst>
                                        </p:cTn>
                                        <p:tgtEl>
                                          <p:spTgt spid="39"/>
                                        </p:tgtEl>
                                        <p:attrNameLst>
                                          <p:attrName>style.visibility</p:attrName>
                                        </p:attrNameLst>
                                      </p:cBhvr>
                                      <p:to>
                                        <p:strVal val="visible"/>
                                      </p:to>
                                    </p:set>
                                    <p:animEffect transition="in" filter="wipe(down)">
                                      <p:cBhvr>
                                        <p:cTn id="82" dur="350"/>
                                        <p:tgtEl>
                                          <p:spTgt spid="39"/>
                                        </p:tgtEl>
                                      </p:cBhvr>
                                    </p:animEffect>
                                  </p:childTnLst>
                                </p:cTn>
                              </p:par>
                            </p:childTnLst>
                          </p:cTn>
                        </p:par>
                      </p:childTnLst>
                    </p:cTn>
                  </p:par>
                  <p:par>
                    <p:cTn id="92" fill="hold">
                      <p:stCondLst>
                        <p:cond delay="indefinite"/>
                      </p:stCondLst>
                      <p:childTnLst>
                        <p:par>
                          <p:cTn id="93" fill="hold">
                            <p:stCondLst>
                              <p:cond delay="0"/>
                            </p:stCondLst>
                            <p:childTnLst>
                              <p:par>
                                <p:cTn id="88" presetID="22" presetClass="entr" presetSubtype="8"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wipe(left)">
                                      <p:cBhvr>
                                        <p:cTn id="87" dur="350"/>
                                        <p:tgtEl>
                                          <p:spTgt spid="5"/>
                                        </p:tgtEl>
                                      </p:cBhvr>
                                    </p:animEffect>
                                  </p:childTnLst>
                                </p:cTn>
                              </p:par>
                              <p:par>
                                <p:cTn id="91" presetID="22" presetClass="entr" presetSubtype="8" fill="hold" grpId="0" nodeType="with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wipe(left)">
                                      <p:cBhvr>
                                        <p:cTn id="90" dur="350"/>
                                        <p:tgtEl>
                                          <p:spTgt spid="6"/>
                                        </p:tgtEl>
                                      </p:cBhvr>
                                    </p:animEffect>
                                  </p:childTnLst>
                                </p:cTn>
                              </p:par>
                            </p:childTnLst>
                          </p:cTn>
                        </p:par>
                      </p:childTnLst>
                    </p:cTn>
                  </p:par>
                  <p:par>
                    <p:cTn id="100" fill="hold">
                      <p:stCondLst>
                        <p:cond delay="indefinite"/>
                      </p:stCondLst>
                      <p:childTnLst>
                        <p:par>
                          <p:cTn id="101" fill="hold">
                            <p:stCondLst>
                              <p:cond delay="0"/>
                            </p:stCondLst>
                            <p:childTnLst>
                              <p:par>
                                <p:cTn id="96" presetID="22" presetClass="entr" presetSubtype="8" fill="hold" grpId="0" nodeType="clickEffect">
                                  <p:stCondLst>
                                    <p:cond delay="0"/>
                                  </p:stCondLst>
                                  <p:childTnLst>
                                    <p:set>
                                      <p:cBhvr>
                                        <p:cTn id="94" dur="1" fill="hold">
                                          <p:stCondLst>
                                            <p:cond delay="0"/>
                                          </p:stCondLst>
                                        </p:cTn>
                                        <p:tgtEl>
                                          <p:spTgt spid="7"/>
                                        </p:tgtEl>
                                        <p:attrNameLst>
                                          <p:attrName>style.visibility</p:attrName>
                                        </p:attrNameLst>
                                      </p:cBhvr>
                                      <p:to>
                                        <p:strVal val="visible"/>
                                      </p:to>
                                    </p:set>
                                    <p:animEffect transition="in" filter="wipe(left)">
                                      <p:cBhvr>
                                        <p:cTn id="95" dur="350"/>
                                        <p:tgtEl>
                                          <p:spTgt spid="7"/>
                                        </p:tgtEl>
                                      </p:cBhvr>
                                    </p:animEffect>
                                  </p:childTnLst>
                                </p:cTn>
                              </p:par>
                              <p:par>
                                <p:cTn id="99" presetID="22" presetClass="entr" presetSubtype="8" fill="hold" grpId="0" nodeType="with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wipe(left)">
                                      <p:cBhvr>
                                        <p:cTn id="98" dur="350"/>
                                        <p:tgtEl>
                                          <p:spTgt spid="8"/>
                                        </p:tgtEl>
                                      </p:cBhvr>
                                    </p:animEffect>
                                  </p:childTnLst>
                                </p:cTn>
                              </p:par>
                            </p:childTnLst>
                          </p:cTn>
                        </p:par>
                      </p:childTnLst>
                    </p:cTn>
                  </p:par>
                  <p:par>
                    <p:cTn id="108" fill="hold">
                      <p:stCondLst>
                        <p:cond delay="indefinite"/>
                      </p:stCondLst>
                      <p:childTnLst>
                        <p:par>
                          <p:cTn id="109" fill="hold">
                            <p:stCondLst>
                              <p:cond delay="0"/>
                            </p:stCondLst>
                            <p:childTnLst>
                              <p:par>
                                <p:cTn id="104" presetID="22" presetClass="entr" presetSubtype="8" fill="hold" grpId="0" nodeType="clickEffect">
                                  <p:stCondLst>
                                    <p:cond delay="0"/>
                                  </p:stCondLst>
                                  <p:childTnLst>
                                    <p:set>
                                      <p:cBhvr>
                                        <p:cTn id="102" dur="1" fill="hold">
                                          <p:stCondLst>
                                            <p:cond delay="0"/>
                                          </p:stCondLst>
                                        </p:cTn>
                                        <p:tgtEl>
                                          <p:spTgt spid="9"/>
                                        </p:tgtEl>
                                        <p:attrNameLst>
                                          <p:attrName>style.visibility</p:attrName>
                                        </p:attrNameLst>
                                      </p:cBhvr>
                                      <p:to>
                                        <p:strVal val="visible"/>
                                      </p:to>
                                    </p:set>
                                    <p:animEffect transition="in" filter="wipe(left)">
                                      <p:cBhvr>
                                        <p:cTn id="103" dur="350"/>
                                        <p:tgtEl>
                                          <p:spTgt spid="9"/>
                                        </p:tgtEl>
                                      </p:cBhvr>
                                    </p:animEffect>
                                  </p:childTnLst>
                                </p:cTn>
                              </p:par>
                              <p:par>
                                <p:cTn id="107" presetID="22" presetClass="entr" presetSubtype="8" fill="hold" grpId="0" nodeType="withEffect">
                                  <p:stCondLst>
                                    <p:cond delay="0"/>
                                  </p:stCondLst>
                                  <p:childTnLst>
                                    <p:set>
                                      <p:cBhvr>
                                        <p:cTn id="105" dur="1" fill="hold">
                                          <p:stCondLst>
                                            <p:cond delay="0"/>
                                          </p:stCondLst>
                                        </p:cTn>
                                        <p:tgtEl>
                                          <p:spTgt spid="10"/>
                                        </p:tgtEl>
                                        <p:attrNameLst>
                                          <p:attrName>style.visibility</p:attrName>
                                        </p:attrNameLst>
                                      </p:cBhvr>
                                      <p:to>
                                        <p:strVal val="visible"/>
                                      </p:to>
                                    </p:set>
                                    <p:animEffect transition="in" filter="wipe(left)">
                                      <p:cBhvr>
                                        <p:cTn id="106" dur="350"/>
                                        <p:tgtEl>
                                          <p:spTgt spid="10"/>
                                        </p:tgtEl>
                                      </p:cBhvr>
                                    </p:animEffect>
                                  </p:childTnLst>
                                </p:cTn>
                              </p:par>
                            </p:childTnLst>
                          </p:cTn>
                        </p:par>
                      </p:childTnLst>
                    </p:cTn>
                  </p:par>
                  <p:par>
                    <p:cTn id="116" fill="hold">
                      <p:stCondLst>
                        <p:cond delay="indefinite"/>
                      </p:stCondLst>
                      <p:childTnLst>
                        <p:par>
                          <p:cTn id="117" fill="hold">
                            <p:stCondLst>
                              <p:cond delay="0"/>
                            </p:stCondLst>
                            <p:childTnLst>
                              <p:par>
                                <p:cTn id="112" presetID="22" presetClass="entr" presetSubtype="8" fill="hold" grpId="0" nodeType="clickEffect">
                                  <p:stCondLst>
                                    <p:cond delay="0"/>
                                  </p:stCondLst>
                                  <p:childTnLst>
                                    <p:set>
                                      <p:cBhvr>
                                        <p:cTn id="110" dur="1" fill="hold">
                                          <p:stCondLst>
                                            <p:cond delay="0"/>
                                          </p:stCondLst>
                                        </p:cTn>
                                        <p:tgtEl>
                                          <p:spTgt spid="11"/>
                                        </p:tgtEl>
                                        <p:attrNameLst>
                                          <p:attrName>style.visibility</p:attrName>
                                        </p:attrNameLst>
                                      </p:cBhvr>
                                      <p:to>
                                        <p:strVal val="visible"/>
                                      </p:to>
                                    </p:set>
                                    <p:animEffect transition="in" filter="wipe(left)">
                                      <p:cBhvr>
                                        <p:cTn id="111" dur="350"/>
                                        <p:tgtEl>
                                          <p:spTgt spid="11"/>
                                        </p:tgtEl>
                                      </p:cBhvr>
                                    </p:animEffect>
                                  </p:childTnLst>
                                </p:cTn>
                              </p:par>
                              <p:par>
                                <p:cTn id="115" presetID="22" presetClass="entr" presetSubtype="8" fill="hold" grpId="0" nodeType="with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wipe(left)">
                                      <p:cBhvr>
                                        <p:cTn id="114" dur="3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PORTAL &amp; THE FUTURE</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3800" b="1" dirty="0">
                <a:solidFill>
                  <a:srgbClr val="1B1F2A"/>
                </a:solidFill>
                <a:latin typeface="Century Schoolbook" pitchFamily="34" charset="0"/>
                <a:ea typeface="Century Schoolbook" pitchFamily="34" charset="-122"/>
                <a:cs typeface="Century Schoolbook" pitchFamily="34" charset="-120"/>
              </a:rPr>
              <a:t>cloudlet-apis: start at step five</a:t>
            </a:r>
            <a:endParaRPr lang="en-US" sz="3800" dirty="0"/>
          </a:p>
        </p:txBody>
      </p:sp>
      <p:sp>
        <p:nvSpPr>
          <p:cNvPr id="5" name="step:1:wipeL"/>
          <p:cNvSpPr/>
          <p:nvPr/>
        </p:nvSpPr>
        <p:spPr>
          <a:xfrm>
            <a:off x="640080" y="2368296"/>
            <a:ext cx="118872" cy="118872"/>
          </a:xfrm>
          <a:prstGeom prst="rect">
            <a:avLst/>
          </a:prstGeom>
          <a:solidFill>
            <a:srgbClr val="E4572E"/>
          </a:solidFill>
          <a:ln w="12700">
            <a:solidFill>
              <a:srgbClr val="E4572E"/>
            </a:solidFill>
            <a:prstDash val="solid"/>
          </a:ln>
        </p:spPr>
      </p:sp>
      <p:sp>
        <p:nvSpPr>
          <p:cNvPr id="6" name="step:1:wipeL"/>
          <p:cNvSpPr txBox="1"/>
          <p:nvPr/>
        </p:nvSpPr>
        <p:spPr>
          <a:xfrm>
            <a:off x="960120" y="2103120"/>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Extracted from the Serverless API</a:t>
            </a:r>
            <a:endParaRPr lang="en-US" sz="1900" dirty="0"/>
          </a:p>
        </p:txBody>
      </p:sp>
      <p:sp>
        <p:nvSpPr>
          <p:cNvPr id="7" name="step:2:wipeL"/>
          <p:cNvSpPr/>
          <p:nvPr/>
        </p:nvSpPr>
        <p:spPr>
          <a:xfrm>
            <a:off x="640080" y="3026664"/>
            <a:ext cx="118872" cy="118872"/>
          </a:xfrm>
          <a:prstGeom prst="rect">
            <a:avLst/>
          </a:prstGeom>
          <a:solidFill>
            <a:srgbClr val="E4572E"/>
          </a:solidFill>
          <a:ln w="12700">
            <a:solidFill>
              <a:srgbClr val="E4572E"/>
            </a:solidFill>
            <a:prstDash val="solid"/>
          </a:ln>
        </p:spPr>
      </p:sp>
      <p:sp>
        <p:nvSpPr>
          <p:cNvPr id="8" name="step:2:wipeL"/>
          <p:cNvSpPr txBox="1"/>
          <p:nvPr/>
        </p:nvSpPr>
        <p:spPr>
          <a:xfrm>
            <a:off x="960120" y="2761488"/>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core, web and auth extras</a:t>
            </a:r>
            <a:endParaRPr lang="en-US" sz="1900" dirty="0"/>
          </a:p>
        </p:txBody>
      </p:sp>
      <p:sp>
        <p:nvSpPr>
          <p:cNvPr id="9" name="step:3:wipeL"/>
          <p:cNvSpPr/>
          <p:nvPr/>
        </p:nvSpPr>
        <p:spPr>
          <a:xfrm>
            <a:off x="640080" y="3685032"/>
            <a:ext cx="118872" cy="118872"/>
          </a:xfrm>
          <a:prstGeom prst="rect">
            <a:avLst/>
          </a:prstGeom>
          <a:solidFill>
            <a:srgbClr val="E4572E"/>
          </a:solidFill>
          <a:ln w="12700">
            <a:solidFill>
              <a:srgbClr val="E4572E"/>
            </a:solidFill>
            <a:prstDash val="solid"/>
          </a:ln>
        </p:spPr>
      </p:sp>
      <p:sp>
        <p:nvSpPr>
          <p:cNvPr id="10" name="step:3:wipeL"/>
          <p:cNvSpPr txBox="1"/>
          <p:nvPr/>
        </p:nvSpPr>
        <p:spPr>
          <a:xfrm>
            <a:off x="960120" y="3419856"/>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Layering enforced by tests</a:t>
            </a:r>
            <a:endParaRPr lang="en-US" sz="1900" dirty="0"/>
          </a:p>
        </p:txBody>
      </p:sp>
      <p:sp>
        <p:nvSpPr>
          <p:cNvPr id="11" name="step:4:wipeL"/>
          <p:cNvSpPr/>
          <p:nvPr/>
        </p:nvSpPr>
        <p:spPr>
          <a:xfrm>
            <a:off x="640080" y="4343400"/>
            <a:ext cx="118872" cy="118872"/>
          </a:xfrm>
          <a:prstGeom prst="rect">
            <a:avLst/>
          </a:prstGeom>
          <a:solidFill>
            <a:srgbClr val="E4572E"/>
          </a:solidFill>
          <a:ln w="12700">
            <a:solidFill>
              <a:srgbClr val="E4572E"/>
            </a:solidFill>
            <a:prstDash val="solid"/>
          </a:ln>
        </p:spPr>
      </p:sp>
      <p:sp>
        <p:nvSpPr>
          <p:cNvPr id="12" name="step:4:wipeL"/>
          <p:cNvSpPr txBox="1"/>
          <p:nvPr/>
        </p:nvSpPr>
        <p:spPr>
          <a:xfrm>
            <a:off x="960120" y="4078224"/>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A new API wires in five steps</a:t>
            </a:r>
            <a:endParaRPr lang="en-US" sz="1900" dirty="0"/>
          </a:p>
        </p:txBody>
      </p:sp>
      <p:sp>
        <p:nvSpPr>
          <p:cNvPr id="13" name="step:5:wipeL"/>
          <p:cNvSpPr/>
          <p:nvPr/>
        </p:nvSpPr>
        <p:spPr>
          <a:xfrm>
            <a:off x="640080" y="5001768"/>
            <a:ext cx="118872" cy="118872"/>
          </a:xfrm>
          <a:prstGeom prst="rect">
            <a:avLst/>
          </a:prstGeom>
          <a:solidFill>
            <a:srgbClr val="E4572E"/>
          </a:solidFill>
          <a:ln w="12700">
            <a:solidFill>
              <a:srgbClr val="E4572E"/>
            </a:solidFill>
            <a:prstDash val="solid"/>
          </a:ln>
        </p:spPr>
      </p:sp>
      <p:sp>
        <p:nvSpPr>
          <p:cNvPr id="14" name="step:5:wipeL"/>
          <p:cNvSpPr txBox="1"/>
          <p:nvPr/>
        </p:nvSpPr>
        <p:spPr>
          <a:xfrm>
            <a:off x="960120" y="4736592"/>
            <a:ext cx="4983480" cy="658368"/>
          </a:xfrm>
          <a:prstGeom prst="rect">
            <a:avLst/>
          </a:prstGeom>
          <a:noFill/>
          <a:ln/>
        </p:spPr>
        <p:txBody>
          <a:bodyPr wrap="square" lIns="0" tIns="0" rIns="0" bIns="0" rtlCol="0" anchor="ctr"/>
          <a:lstStyle/>
          <a:p>
            <a:pPr indent="0" marL="0">
              <a:lnSpc>
                <a:spcPct val="100000"/>
              </a:lnSpc>
              <a:buNone/>
            </a:pPr>
            <a:r>
              <a:rPr lang="en-US" sz="1900" dirty="0">
                <a:solidFill>
                  <a:srgbClr val="1B1F2A"/>
                </a:solidFill>
                <a:latin typeface="Calibri" pitchFamily="34" charset="0"/>
                <a:ea typeface="Calibri" pitchFamily="34" charset="-122"/>
                <a:cs typeface="Calibri" pitchFamily="34" charset="-120"/>
              </a:rPr>
              <a:t>Same group rules everywhere</a:t>
            </a:r>
            <a:endParaRPr lang="en-US" sz="1900" dirty="0"/>
          </a:p>
        </p:txBody>
      </p:sp>
      <p:sp>
        <p:nvSpPr>
          <p:cNvPr id="15" name="step:6:wipeD"/>
          <p:cNvSpPr/>
          <p:nvPr/>
        </p:nvSpPr>
        <p:spPr>
          <a:xfrm>
            <a:off x="6172200" y="2011680"/>
            <a:ext cx="5394960" cy="713232"/>
          </a:xfrm>
          <a:prstGeom prst="roundRect">
            <a:avLst>
              <a:gd name="adj" fmla="val 10256"/>
            </a:avLst>
          </a:prstGeom>
          <a:solidFill>
            <a:srgbClr val="FFFFFF"/>
          </a:solidFill>
          <a:ln w="22225">
            <a:solidFill>
              <a:srgbClr val="E4572E"/>
            </a:solidFill>
            <a:prstDash val="solid"/>
          </a:ln>
        </p:spPr>
      </p:sp>
      <p:sp>
        <p:nvSpPr>
          <p:cNvPr id="16" name="step:6:wipeD"/>
          <p:cNvSpPr txBox="1"/>
          <p:nvPr/>
        </p:nvSpPr>
        <p:spPr>
          <a:xfrm>
            <a:off x="6355080" y="2011680"/>
            <a:ext cx="2377440" cy="713232"/>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[auth]</a:t>
            </a:r>
            <a:endParaRPr lang="en-US" sz="1400" dirty="0"/>
          </a:p>
        </p:txBody>
      </p:sp>
      <p:sp>
        <p:nvSpPr>
          <p:cNvPr id="17" name="step:6:wipeD"/>
          <p:cNvSpPr txBox="1"/>
          <p:nvPr/>
        </p:nvSpPr>
        <p:spPr>
          <a:xfrm>
            <a:off x="8549640" y="2011680"/>
            <a:ext cx="2834640" cy="713232"/>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OIDC · admin key · token proxy · tickets</a:t>
            </a:r>
            <a:endParaRPr lang="en-US" sz="950" dirty="0"/>
          </a:p>
        </p:txBody>
      </p:sp>
      <p:sp>
        <p:nvSpPr>
          <p:cNvPr id="18" name="step:7:wipeD"/>
          <p:cNvSpPr/>
          <p:nvPr/>
        </p:nvSpPr>
        <p:spPr>
          <a:xfrm>
            <a:off x="6172200" y="2834640"/>
            <a:ext cx="5394960" cy="713232"/>
          </a:xfrm>
          <a:prstGeom prst="roundRect">
            <a:avLst>
              <a:gd name="adj" fmla="val 10256"/>
            </a:avLst>
          </a:prstGeom>
          <a:solidFill>
            <a:srgbClr val="FFFFFF"/>
          </a:solidFill>
          <a:ln w="15875">
            <a:solidFill>
              <a:srgbClr val="0B7A75"/>
            </a:solidFill>
            <a:prstDash val="solid"/>
          </a:ln>
        </p:spPr>
      </p:sp>
      <p:sp>
        <p:nvSpPr>
          <p:cNvPr id="19" name="step:7:wipeD"/>
          <p:cNvSpPr txBox="1"/>
          <p:nvPr/>
        </p:nvSpPr>
        <p:spPr>
          <a:xfrm>
            <a:off x="6355080" y="2834640"/>
            <a:ext cx="2377440" cy="713232"/>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[web]</a:t>
            </a:r>
            <a:endParaRPr lang="en-US" sz="1400" dirty="0"/>
          </a:p>
        </p:txBody>
      </p:sp>
      <p:sp>
        <p:nvSpPr>
          <p:cNvPr id="20" name="step:7:wipeD"/>
          <p:cNvSpPr txBox="1"/>
          <p:nvPr/>
        </p:nvSpPr>
        <p:spPr>
          <a:xfrm>
            <a:off x="8549640" y="2834640"/>
            <a:ext cx="2834640" cy="713232"/>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health · error envelope · offline docs</a:t>
            </a:r>
            <a:endParaRPr lang="en-US" sz="950" dirty="0"/>
          </a:p>
        </p:txBody>
      </p:sp>
      <p:sp>
        <p:nvSpPr>
          <p:cNvPr id="21" name="step:8:wipeD"/>
          <p:cNvSpPr/>
          <p:nvPr/>
        </p:nvSpPr>
        <p:spPr>
          <a:xfrm>
            <a:off x="6172200" y="3657600"/>
            <a:ext cx="5394960" cy="713232"/>
          </a:xfrm>
          <a:prstGeom prst="roundRect">
            <a:avLst>
              <a:gd name="adj" fmla="val 10256"/>
            </a:avLst>
          </a:prstGeom>
          <a:solidFill>
            <a:srgbClr val="FFFFFF"/>
          </a:solidFill>
          <a:ln w="15875">
            <a:solidFill>
              <a:srgbClr val="0B7A75"/>
            </a:solidFill>
            <a:prstDash val="solid"/>
          </a:ln>
        </p:spPr>
      </p:sp>
      <p:sp>
        <p:nvSpPr>
          <p:cNvPr id="22" name="step:8:wipeD"/>
          <p:cNvSpPr txBox="1"/>
          <p:nvPr/>
        </p:nvSpPr>
        <p:spPr>
          <a:xfrm>
            <a:off x="6355080" y="3657600"/>
            <a:ext cx="2377440" cy="713232"/>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core</a:t>
            </a:r>
            <a:endParaRPr lang="en-US" sz="1400" dirty="0"/>
          </a:p>
        </p:txBody>
      </p:sp>
      <p:sp>
        <p:nvSpPr>
          <p:cNvPr id="23" name="step:8:wipeD"/>
          <p:cNvSpPr txBox="1"/>
          <p:nvPr/>
        </p:nvSpPr>
        <p:spPr>
          <a:xfrm>
            <a:off x="8549640" y="3657600"/>
            <a:ext cx="2834640" cy="713232"/>
          </a:xfrm>
          <a:prstGeom prst="rect">
            <a:avLst/>
          </a:prstGeom>
          <a:noFill/>
          <a:ln/>
        </p:spPr>
        <p:txBody>
          <a:bodyPr wrap="square" lIns="0" tIns="0" rIns="0" bIns="0" rtlCol="0" anchor="ctr"/>
          <a:lstStyle/>
          <a:p>
            <a:pPr algn="r" indent="0" marL="0">
              <a:buNone/>
            </a:pPr>
            <a:r>
              <a:rPr lang="en-US" sz="950" dirty="0">
                <a:solidFill>
                  <a:srgbClr val="667085"/>
                </a:solidFill>
                <a:latin typeface="Courier New" pitchFamily="34" charset="0"/>
                <a:ea typeface="Courier New" pitchFamily="34" charset="-122"/>
                <a:cs typeface="Courier New" pitchFamily="34" charset="-120"/>
              </a:rPr>
              <a:t>errors · names · logging · request id</a:t>
            </a:r>
            <a:endParaRPr lang="en-US" sz="950" dirty="0"/>
          </a:p>
        </p:txBody>
      </p:sp>
      <p:sp>
        <p:nvSpPr>
          <p:cNvPr id="24" name="Text 21"/>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38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350"/>
                                        <p:tgtEl>
                                          <p:spTgt spid="5"/>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50"/>
                                        <p:tgtEl>
                                          <p:spTgt spid="6"/>
                                        </p:tgtEl>
                                      </p:cBhvr>
                                    </p:animEffect>
                                  </p:childTnLst>
                                </p:cTn>
                              </p:par>
                            </p:childTnLst>
                          </p:cTn>
                        </p:par>
                      </p:childTnLst>
                    </p:cTn>
                  </p:par>
                  <p:par>
                    <p:cTn id="17" fill="hold">
                      <p:stCondLst>
                        <p:cond delay="indefinite"/>
                      </p:stCondLst>
                      <p:childTnLst>
                        <p:par>
                          <p:cTn id="18"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350"/>
                                        <p:tgtEl>
                                          <p:spTgt spid="8"/>
                                        </p:tgtEl>
                                      </p:cBhvr>
                                    </p:animEffect>
                                  </p:childTnLst>
                                </p:cTn>
                              </p:par>
                            </p:childTnLst>
                          </p:cTn>
                        </p:par>
                      </p:childTnLst>
                    </p:cTn>
                  </p:par>
                  <p:par>
                    <p:cTn id="25" fill="hold">
                      <p:stCondLst>
                        <p:cond delay="indefinite"/>
                      </p:stCondLst>
                      <p:childTnLst>
                        <p:par>
                          <p:cTn id="26"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350"/>
                                        <p:tgtEl>
                                          <p:spTgt spid="9"/>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350"/>
                                        <p:tgtEl>
                                          <p:spTgt spid="10"/>
                                        </p:tgtEl>
                                      </p:cBhvr>
                                    </p:animEffect>
                                  </p:childTnLst>
                                </p:cTn>
                              </p:par>
                            </p:childTnLst>
                          </p:cTn>
                        </p:par>
                      </p:childTnLst>
                    </p:cTn>
                  </p:par>
                  <p:par>
                    <p:cTn id="33" fill="hold">
                      <p:stCondLst>
                        <p:cond delay="indefinite"/>
                      </p:stCondLst>
                      <p:childTnLst>
                        <p:par>
                          <p:cTn id="34"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350"/>
                                        <p:tgtEl>
                                          <p:spTgt spid="11"/>
                                        </p:tgtEl>
                                      </p:cBhvr>
                                    </p:animEffect>
                                  </p:childTnLst>
                                </p:cTn>
                              </p:par>
                              <p:par>
                                <p:cTn id="32"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350"/>
                                        <p:tgtEl>
                                          <p:spTgt spid="12"/>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350"/>
                                        <p:tgtEl>
                                          <p:spTgt spid="13"/>
                                        </p:tgtEl>
                                      </p:cBhvr>
                                    </p:animEffect>
                                  </p:childTnLst>
                                </p:cTn>
                              </p:par>
                              <p:par>
                                <p:cTn id="40"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350"/>
                                        <p:tgtEl>
                                          <p:spTgt spid="14"/>
                                        </p:tgtEl>
                                      </p:cBhvr>
                                    </p:animEffect>
                                  </p:childTnLst>
                                </p:cTn>
                              </p:par>
                            </p:childTnLst>
                          </p:cTn>
                        </p:par>
                      </p:childTnLst>
                    </p:cTn>
                  </p:par>
                  <p:par>
                    <p:cTn id="52" fill="hold">
                      <p:stCondLst>
                        <p:cond delay="indefinite"/>
                      </p:stCondLst>
                      <p:childTnLst>
                        <p:par>
                          <p:cTn id="53" fill="hold">
                            <p:stCondLst>
                              <p:cond delay="0"/>
                            </p:stCondLst>
                            <p:childTnLst>
                              <p:par>
                                <p:cTn id="45" presetID="2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350"/>
                                        <p:tgtEl>
                                          <p:spTgt spid="15"/>
                                        </p:tgtEl>
                                      </p:cBhvr>
                                    </p:animEffect>
                                  </p:childTnLst>
                                </p:cTn>
                              </p:par>
                              <p:par>
                                <p:cTn id="48" presetID="2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350"/>
                                        <p:tgtEl>
                                          <p:spTgt spid="16"/>
                                        </p:tgtEl>
                                      </p:cBhvr>
                                    </p:animEffect>
                                  </p:childTnLst>
                                </p:cTn>
                              </p:par>
                              <p:par>
                                <p:cTn id="51"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350"/>
                                        <p:tgtEl>
                                          <p:spTgt spid="17"/>
                                        </p:tgtEl>
                                      </p:cBhvr>
                                    </p:animEffect>
                                  </p:childTnLst>
                                </p:cTn>
                              </p:par>
                            </p:childTnLst>
                          </p:cTn>
                        </p:par>
                      </p:childTnLst>
                    </p:cTn>
                  </p:par>
                  <p:par>
                    <p:cTn id="63" fill="hold">
                      <p:stCondLst>
                        <p:cond delay="indefinite"/>
                      </p:stCondLst>
                      <p:childTnLst>
                        <p:par>
                          <p:cTn id="64" fill="hold">
                            <p:stCondLst>
                              <p:cond delay="0"/>
                            </p:stCondLst>
                            <p:childTnLst>
                              <p:par>
                                <p:cTn id="56" presetID="22" presetClass="entr" presetSubtype="4"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350"/>
                                        <p:tgtEl>
                                          <p:spTgt spid="18"/>
                                        </p:tgtEl>
                                      </p:cBhvr>
                                    </p:animEffect>
                                  </p:childTnLst>
                                </p:cTn>
                              </p:par>
                              <p:par>
                                <p:cTn id="59" presetID="22" presetClass="entr" presetSubtype="4"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down)">
                                      <p:cBhvr>
                                        <p:cTn id="58" dur="350"/>
                                        <p:tgtEl>
                                          <p:spTgt spid="19"/>
                                        </p:tgtEl>
                                      </p:cBhvr>
                                    </p:animEffect>
                                  </p:childTnLst>
                                </p:cTn>
                              </p:par>
                              <p:par>
                                <p:cTn id="62" presetID="22" presetClass="entr" presetSubtype="4"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350"/>
                                        <p:tgtEl>
                                          <p:spTgt spid="20"/>
                                        </p:tgtEl>
                                      </p:cBhvr>
                                    </p:animEffect>
                                  </p:childTnLst>
                                </p:cTn>
                              </p:par>
                            </p:childTnLst>
                          </p:cTn>
                        </p:par>
                      </p:childTnLst>
                    </p:cTn>
                  </p:par>
                  <p:par>
                    <p:cTn id="74" fill="hold">
                      <p:stCondLst>
                        <p:cond delay="indefinite"/>
                      </p:stCondLst>
                      <p:childTnLst>
                        <p:par>
                          <p:cTn id="75" fill="hold">
                            <p:stCondLst>
                              <p:cond delay="0"/>
                            </p:stCondLst>
                            <p:childTnLst>
                              <p:par>
                                <p:cTn id="67" presetID="22" presetClass="entr" presetSubtype="4"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down)">
                                      <p:cBhvr>
                                        <p:cTn id="66" dur="350"/>
                                        <p:tgtEl>
                                          <p:spTgt spid="21"/>
                                        </p:tgtEl>
                                      </p:cBhvr>
                                    </p:animEffect>
                                  </p:childTnLst>
                                </p:cTn>
                              </p:par>
                              <p:par>
                                <p:cTn id="70" presetID="22" presetClass="entr" presetSubtype="4"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down)">
                                      <p:cBhvr>
                                        <p:cTn id="69" dur="350"/>
                                        <p:tgtEl>
                                          <p:spTgt spid="22"/>
                                        </p:tgtEl>
                                      </p:cBhvr>
                                    </p:animEffect>
                                  </p:childTnLst>
                                </p:cTn>
                              </p:par>
                              <p:par>
                                <p:cTn id="73" presetID="2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down)">
                                      <p:cBhvr>
                                        <p:cTn id="72"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502920"/>
            <a:ext cx="9144000" cy="274320"/>
          </a:xfrm>
          <a:prstGeom prst="rect">
            <a:avLst/>
          </a:prstGeom>
          <a:noFill/>
          <a:ln/>
        </p:spPr>
        <p:txBody>
          <a:bodyPr wrap="square" lIns="0" tIns="0" rIns="0" bIns="0" rtlCol="0" anchor="ctr"/>
          <a:lstStyle/>
          <a:p>
            <a:pPr indent="0" marL="0">
              <a:buNone/>
            </a:pPr>
            <a:r>
              <a:rPr lang="en-US" sz="1100" b="1" spc="300" kern="0" dirty="0">
                <a:solidFill>
                  <a:srgbClr val="E4572E"/>
                </a:solidFill>
                <a:latin typeface="Courier New" pitchFamily="34" charset="0"/>
                <a:ea typeface="Courier New" pitchFamily="34" charset="-122"/>
                <a:cs typeface="Courier New" pitchFamily="34" charset="-120"/>
              </a:rPr>
              <a:t>WHAT WE BUILT</a:t>
            </a:r>
            <a:endParaRPr lang="en-US" sz="1100" dirty="0"/>
          </a:p>
        </p:txBody>
      </p:sp>
      <p:sp>
        <p:nvSpPr>
          <p:cNvPr id="4" name="Text 1"/>
          <p:cNvSpPr txBox="1"/>
          <p:nvPr/>
        </p:nvSpPr>
        <p:spPr>
          <a:xfrm>
            <a:off x="640080" y="822960"/>
            <a:ext cx="10515600" cy="914400"/>
          </a:xfrm>
          <a:prstGeom prst="rect">
            <a:avLst/>
          </a:prstGeom>
          <a:noFill/>
          <a:ln/>
        </p:spPr>
        <p:txBody>
          <a:bodyPr wrap="square" lIns="0" tIns="0" rIns="0" bIns="0" rtlCol="0" anchor="ctr"/>
          <a:lstStyle/>
          <a:p>
            <a:pPr indent="0" marL="0">
              <a:buNone/>
            </a:pPr>
            <a:r>
              <a:rPr lang="en-US" sz="4200" b="1" dirty="0">
                <a:solidFill>
                  <a:srgbClr val="1B1F2A"/>
                </a:solidFill>
                <a:latin typeface="Century Schoolbook" pitchFamily="34" charset="0"/>
                <a:ea typeface="Century Schoolbook" pitchFamily="34" charset="-122"/>
                <a:cs typeface="Century Schoolbook" pitchFamily="34" charset="-120"/>
              </a:rPr>
              <a:t>Code in, a running service out.</a:t>
            </a:r>
            <a:endParaRPr lang="en-US" sz="4200" dirty="0"/>
          </a:p>
        </p:txBody>
      </p:sp>
      <p:sp>
        <p:nvSpPr>
          <p:cNvPr id="5" name="step:1:zoom"/>
          <p:cNvSpPr txBox="1"/>
          <p:nvPr/>
        </p:nvSpPr>
        <p:spPr>
          <a:xfrm>
            <a:off x="640080"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4</a:t>
            </a:r>
            <a:endParaRPr lang="en-US" sz="4800" dirty="0"/>
          </a:p>
        </p:txBody>
      </p:sp>
      <p:sp>
        <p:nvSpPr>
          <p:cNvPr id="6" name="step:1:fade"/>
          <p:cNvSpPr txBox="1"/>
          <p:nvPr/>
        </p:nvSpPr>
        <p:spPr>
          <a:xfrm>
            <a:off x="640080"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repositories</a:t>
            </a:r>
            <a:endParaRPr lang="en-US" sz="1050" dirty="0"/>
          </a:p>
        </p:txBody>
      </p:sp>
      <p:sp>
        <p:nvSpPr>
          <p:cNvPr id="7" name="step:2:zoom"/>
          <p:cNvSpPr txBox="1"/>
          <p:nvPr/>
        </p:nvSpPr>
        <p:spPr>
          <a:xfrm>
            <a:off x="2496769"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3</a:t>
            </a:r>
            <a:endParaRPr lang="en-US" sz="4800" dirty="0"/>
          </a:p>
        </p:txBody>
      </p:sp>
      <p:sp>
        <p:nvSpPr>
          <p:cNvPr id="8" name="step:2:fade"/>
          <p:cNvSpPr txBox="1"/>
          <p:nvPr/>
        </p:nvSpPr>
        <p:spPr>
          <a:xfrm>
            <a:off x="2496769"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services</a:t>
            </a:r>
            <a:endParaRPr lang="en-US" sz="1050" dirty="0"/>
          </a:p>
        </p:txBody>
      </p:sp>
      <p:sp>
        <p:nvSpPr>
          <p:cNvPr id="9" name="step:3:zoom"/>
          <p:cNvSpPr txBox="1"/>
          <p:nvPr/>
        </p:nvSpPr>
        <p:spPr>
          <a:xfrm>
            <a:off x="4353458"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23</a:t>
            </a:r>
            <a:endParaRPr lang="en-US" sz="4800" dirty="0"/>
          </a:p>
        </p:txBody>
      </p:sp>
      <p:sp>
        <p:nvSpPr>
          <p:cNvPr id="10" name="step:3:fade"/>
          <p:cNvSpPr txBox="1"/>
          <p:nvPr/>
        </p:nvSpPr>
        <p:spPr>
          <a:xfrm>
            <a:off x="4353458"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endpoints</a:t>
            </a:r>
            <a:endParaRPr lang="en-US" sz="1050" dirty="0"/>
          </a:p>
        </p:txBody>
      </p:sp>
      <p:sp>
        <p:nvSpPr>
          <p:cNvPr id="11" name="step:4:zoom"/>
          <p:cNvSpPr txBox="1"/>
          <p:nvPr/>
        </p:nvSpPr>
        <p:spPr>
          <a:xfrm>
            <a:off x="6210148"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2</a:t>
            </a:r>
            <a:endParaRPr lang="en-US" sz="4800" dirty="0"/>
          </a:p>
        </p:txBody>
      </p:sp>
      <p:sp>
        <p:nvSpPr>
          <p:cNvPr id="12" name="step:4:fade"/>
          <p:cNvSpPr txBox="1"/>
          <p:nvPr/>
        </p:nvSpPr>
        <p:spPr>
          <a:xfrm>
            <a:off x="6210148"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regions</a:t>
            </a:r>
            <a:endParaRPr lang="en-US" sz="1050" dirty="0"/>
          </a:p>
        </p:txBody>
      </p:sp>
      <p:sp>
        <p:nvSpPr>
          <p:cNvPr id="13" name="step:5:zoom"/>
          <p:cNvSpPr txBox="1"/>
          <p:nvPr/>
        </p:nvSpPr>
        <p:spPr>
          <a:xfrm>
            <a:off x="8066837"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3</a:t>
            </a:r>
            <a:endParaRPr lang="en-US" sz="4800" dirty="0"/>
          </a:p>
        </p:txBody>
      </p:sp>
      <p:sp>
        <p:nvSpPr>
          <p:cNvPr id="14" name="step:5:fade"/>
          <p:cNvSpPr txBox="1"/>
          <p:nvPr/>
        </p:nvSpPr>
        <p:spPr>
          <a:xfrm>
            <a:off x="8066837"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runtimes</a:t>
            </a:r>
            <a:endParaRPr lang="en-US" sz="1050" dirty="0"/>
          </a:p>
        </p:txBody>
      </p:sp>
      <p:sp>
        <p:nvSpPr>
          <p:cNvPr id="15" name="step:6:zoom"/>
          <p:cNvSpPr txBox="1"/>
          <p:nvPr/>
        </p:nvSpPr>
        <p:spPr>
          <a:xfrm>
            <a:off x="9923526" y="2011680"/>
            <a:ext cx="1628089" cy="914400"/>
          </a:xfrm>
          <a:prstGeom prst="rect">
            <a:avLst/>
          </a:prstGeom>
          <a:noFill/>
          <a:ln/>
        </p:spPr>
        <p:txBody>
          <a:bodyPr wrap="square" lIns="0" tIns="0" rIns="0" bIns="0" rtlCol="0" anchor="b"/>
          <a:lstStyle/>
          <a:p>
            <a:pPr indent="0" marL="0">
              <a:buNone/>
            </a:pPr>
            <a:r>
              <a:rPr lang="en-US" sz="4800" b="1" dirty="0">
                <a:solidFill>
                  <a:srgbClr val="E4572E"/>
                </a:solidFill>
                <a:latin typeface="Century Schoolbook" pitchFamily="34" charset="0"/>
                <a:ea typeface="Century Schoolbook" pitchFamily="34" charset="-122"/>
                <a:cs typeface="Century Schoolbook" pitchFamily="34" charset="-120"/>
              </a:rPr>
              <a:t>0</a:t>
            </a:r>
            <a:endParaRPr lang="en-US" sz="4800" dirty="0"/>
          </a:p>
        </p:txBody>
      </p:sp>
      <p:sp>
        <p:nvSpPr>
          <p:cNvPr id="16" name="step:6:fade"/>
          <p:cNvSpPr txBox="1"/>
          <p:nvPr/>
        </p:nvSpPr>
        <p:spPr>
          <a:xfrm>
            <a:off x="9923526" y="2944368"/>
            <a:ext cx="1628089" cy="320040"/>
          </a:xfrm>
          <a:prstGeom prst="rect">
            <a:avLst/>
          </a:prstGeom>
          <a:noFill/>
          <a:ln/>
        </p:spPr>
        <p:txBody>
          <a:bodyPr wrap="square" lIns="0" tIns="0" rIns="0" bIns="0" rtlCol="0" anchor="ctr"/>
          <a:lstStyle/>
          <a:p>
            <a:pPr indent="0" marL="0">
              <a:buNone/>
            </a:pPr>
            <a:r>
              <a:rPr lang="en-US" sz="1050" dirty="0">
                <a:solidFill>
                  <a:srgbClr val="667085"/>
                </a:solidFill>
                <a:latin typeface="Courier New" pitchFamily="34" charset="0"/>
                <a:ea typeface="Courier New" pitchFamily="34" charset="-122"/>
                <a:cs typeface="Courier New" pitchFamily="34" charset="-120"/>
              </a:rPr>
              <a:t>kubectl</a:t>
            </a:r>
            <a:endParaRPr lang="en-US" sz="1050" dirty="0"/>
          </a:p>
        </p:txBody>
      </p:sp>
      <p:sp>
        <p:nvSpPr>
          <p:cNvPr id="17" name="step:7:wipeL"/>
          <p:cNvSpPr/>
          <p:nvPr/>
        </p:nvSpPr>
        <p:spPr>
          <a:xfrm>
            <a:off x="640080" y="3922776"/>
            <a:ext cx="109728" cy="109728"/>
          </a:xfrm>
          <a:prstGeom prst="rect">
            <a:avLst/>
          </a:prstGeom>
          <a:solidFill>
            <a:srgbClr val="E4572E"/>
          </a:solidFill>
          <a:ln w="12700">
            <a:solidFill>
              <a:srgbClr val="E4572E"/>
            </a:solidFill>
            <a:prstDash val="solid"/>
          </a:ln>
        </p:spPr>
      </p:sp>
      <p:sp>
        <p:nvSpPr>
          <p:cNvPr id="18" name="step:7:wipeL"/>
          <p:cNvSpPr txBox="1"/>
          <p:nvPr/>
        </p:nvSpPr>
        <p:spPr>
          <a:xfrm>
            <a:off x="932688" y="3749040"/>
            <a:ext cx="7772400" cy="457200"/>
          </a:xfrm>
          <a:prstGeom prst="rect">
            <a:avLst/>
          </a:prstGeom>
          <a:noFill/>
          <a:ln/>
        </p:spPr>
        <p:txBody>
          <a:bodyPr wrap="square" lIns="0" tIns="0" rIns="0" bIns="0" rtlCol="0" anchor="ctr"/>
          <a:lstStyle/>
          <a:p>
            <a:pPr indent="0" marL="0">
              <a:buNone/>
            </a:pPr>
            <a:r>
              <a:rPr lang="en-US" sz="1800" dirty="0">
                <a:solidFill>
                  <a:srgbClr val="1B1F2A"/>
                </a:solidFill>
                <a:latin typeface="Calibri" pitchFamily="34" charset="0"/>
                <a:ea typeface="Calibri" pitchFamily="34" charset="-122"/>
                <a:cs typeface="Calibri" pitchFamily="34" charset="-120"/>
              </a:rPr>
              <a:t>Operator owns Knative; we own the contract</a:t>
            </a:r>
            <a:endParaRPr lang="en-US" sz="1800" dirty="0"/>
          </a:p>
        </p:txBody>
      </p:sp>
      <p:sp>
        <p:nvSpPr>
          <p:cNvPr id="19" name="step:8:wipeL"/>
          <p:cNvSpPr/>
          <p:nvPr/>
        </p:nvSpPr>
        <p:spPr>
          <a:xfrm>
            <a:off x="640080" y="4425696"/>
            <a:ext cx="109728" cy="109728"/>
          </a:xfrm>
          <a:prstGeom prst="rect">
            <a:avLst/>
          </a:prstGeom>
          <a:solidFill>
            <a:srgbClr val="E4572E"/>
          </a:solidFill>
          <a:ln w="12700">
            <a:solidFill>
              <a:srgbClr val="E4572E"/>
            </a:solidFill>
            <a:prstDash val="solid"/>
          </a:ln>
        </p:spPr>
      </p:sp>
      <p:sp>
        <p:nvSpPr>
          <p:cNvPr id="20" name="step:8:wipeL"/>
          <p:cNvSpPr txBox="1"/>
          <p:nvPr/>
        </p:nvSpPr>
        <p:spPr>
          <a:xfrm>
            <a:off x="932688" y="4251960"/>
            <a:ext cx="7772400" cy="457200"/>
          </a:xfrm>
          <a:prstGeom prst="rect">
            <a:avLst/>
          </a:prstGeom>
          <a:noFill/>
          <a:ln/>
        </p:spPr>
        <p:txBody>
          <a:bodyPr wrap="square" lIns="0" tIns="0" rIns="0" bIns="0" rtlCol="0" anchor="ctr"/>
          <a:lstStyle/>
          <a:p>
            <a:pPr indent="0" marL="0">
              <a:buNone/>
            </a:pPr>
            <a:r>
              <a:rPr lang="en-US" sz="1800" dirty="0">
                <a:solidFill>
                  <a:srgbClr val="1B1F2A"/>
                </a:solidFill>
                <a:latin typeface="Calibri" pitchFamily="34" charset="0"/>
                <a:ea typeface="Calibri" pitchFamily="34" charset="-122"/>
                <a:cs typeface="Calibri" pitchFamily="34" charset="-120"/>
              </a:rPr>
              <a:t>Deterministic specs, so no leader</a:t>
            </a:r>
            <a:endParaRPr lang="en-US" sz="1800" dirty="0"/>
          </a:p>
        </p:txBody>
      </p:sp>
      <p:sp>
        <p:nvSpPr>
          <p:cNvPr id="21" name="step:9:wipeL"/>
          <p:cNvSpPr/>
          <p:nvPr/>
        </p:nvSpPr>
        <p:spPr>
          <a:xfrm>
            <a:off x="640080" y="4928616"/>
            <a:ext cx="109728" cy="109728"/>
          </a:xfrm>
          <a:prstGeom prst="rect">
            <a:avLst/>
          </a:prstGeom>
          <a:solidFill>
            <a:srgbClr val="E4572E"/>
          </a:solidFill>
          <a:ln w="12700">
            <a:solidFill>
              <a:srgbClr val="E4572E"/>
            </a:solidFill>
            <a:prstDash val="solid"/>
          </a:ln>
        </p:spPr>
      </p:sp>
      <p:sp>
        <p:nvSpPr>
          <p:cNvPr id="22" name="step:9:wipeL"/>
          <p:cNvSpPr txBox="1"/>
          <p:nvPr/>
        </p:nvSpPr>
        <p:spPr>
          <a:xfrm>
            <a:off x="932688" y="4754880"/>
            <a:ext cx="7772400" cy="457200"/>
          </a:xfrm>
          <a:prstGeom prst="rect">
            <a:avLst/>
          </a:prstGeom>
          <a:noFill/>
          <a:ln/>
        </p:spPr>
        <p:txBody>
          <a:bodyPr wrap="square" lIns="0" tIns="0" rIns="0" bIns="0" rtlCol="0" anchor="ctr"/>
          <a:lstStyle/>
          <a:p>
            <a:pPr indent="0" marL="0">
              <a:buNone/>
            </a:pPr>
            <a:r>
              <a:rPr lang="en-US" sz="1800" dirty="0">
                <a:solidFill>
                  <a:srgbClr val="1B1F2A"/>
                </a:solidFill>
                <a:latin typeface="Calibri" pitchFamily="34" charset="0"/>
                <a:ea typeface="Calibri" pitchFamily="34" charset="-122"/>
                <a:cs typeface="Calibri" pitchFamily="34" charset="-120"/>
              </a:rPr>
              <a:t>Builds declared, watched, rolled in</a:t>
            </a:r>
            <a:endParaRPr lang="en-US" sz="1800" dirty="0"/>
          </a:p>
        </p:txBody>
      </p:sp>
      <p:sp>
        <p:nvSpPr>
          <p:cNvPr id="23" name="step:10:wipeL"/>
          <p:cNvSpPr/>
          <p:nvPr/>
        </p:nvSpPr>
        <p:spPr>
          <a:xfrm>
            <a:off x="640080" y="5431536"/>
            <a:ext cx="109728" cy="109728"/>
          </a:xfrm>
          <a:prstGeom prst="rect">
            <a:avLst/>
          </a:prstGeom>
          <a:solidFill>
            <a:srgbClr val="E4572E"/>
          </a:solidFill>
          <a:ln w="12700">
            <a:solidFill>
              <a:srgbClr val="E4572E"/>
            </a:solidFill>
            <a:prstDash val="solid"/>
          </a:ln>
        </p:spPr>
      </p:sp>
      <p:sp>
        <p:nvSpPr>
          <p:cNvPr id="24" name="step:10:wipeL"/>
          <p:cNvSpPr txBox="1"/>
          <p:nvPr/>
        </p:nvSpPr>
        <p:spPr>
          <a:xfrm>
            <a:off x="932688" y="5257800"/>
            <a:ext cx="7772400" cy="457200"/>
          </a:xfrm>
          <a:prstGeom prst="rect">
            <a:avLst/>
          </a:prstGeom>
          <a:noFill/>
          <a:ln/>
        </p:spPr>
        <p:txBody>
          <a:bodyPr wrap="square" lIns="0" tIns="0" rIns="0" bIns="0" rtlCol="0" anchor="ctr"/>
          <a:lstStyle/>
          <a:p>
            <a:pPr indent="0" marL="0">
              <a:buNone/>
            </a:pPr>
            <a:r>
              <a:rPr lang="en-US" sz="1800" dirty="0">
                <a:solidFill>
                  <a:srgbClr val="1B1F2A"/>
                </a:solidFill>
                <a:latin typeface="Calibri" pitchFamily="34" charset="0"/>
                <a:ea typeface="Calibri" pitchFamily="34" charset="-122"/>
                <a:cs typeface="Calibri" pitchFamily="34" charset="-120"/>
              </a:rPr>
              <a:t>The second product is cheaper</a:t>
            </a:r>
            <a:endParaRPr lang="en-US" sz="1800" dirty="0"/>
          </a:p>
        </p:txBody>
      </p:sp>
      <p:sp>
        <p:nvSpPr>
          <p:cNvPr id="25" name="step:11:zoom"/>
          <p:cNvSpPr txBox="1"/>
          <p:nvPr/>
        </p:nvSpPr>
        <p:spPr>
          <a:xfrm>
            <a:off x="7772400" y="5303520"/>
            <a:ext cx="3749040" cy="640080"/>
          </a:xfrm>
          <a:prstGeom prst="rect">
            <a:avLst/>
          </a:prstGeom>
          <a:noFill/>
          <a:ln/>
        </p:spPr>
        <p:txBody>
          <a:bodyPr wrap="square" lIns="0" tIns="0" rIns="0" bIns="0" rtlCol="0" anchor="ctr"/>
          <a:lstStyle/>
          <a:p>
            <a:pPr algn="r" indent="0" marL="0">
              <a:buNone/>
            </a:pPr>
            <a:r>
              <a:rPr lang="en-US" sz="2600" b="1" dirty="0">
                <a:solidFill>
                  <a:srgbClr val="1B1F2A"/>
                </a:solidFill>
                <a:latin typeface="Century Schoolbook" pitchFamily="34" charset="0"/>
                <a:ea typeface="Century Schoolbook" pitchFamily="34" charset="-122"/>
                <a:cs typeface="Century Schoolbook" pitchFamily="34" charset="-120"/>
              </a:rPr>
              <a:t>Thank you. Questions?</a:t>
            </a:r>
            <a:endParaRPr lang="en-US" sz="2600" dirty="0"/>
          </a:p>
        </p:txBody>
      </p:sp>
      <p:sp>
        <p:nvSpPr>
          <p:cNvPr id="26" name="Text 23"/>
          <p:cNvSpPr txBox="1"/>
          <p:nvPr/>
        </p:nvSpPr>
        <p:spPr>
          <a:xfrm>
            <a:off x="640080" y="6263640"/>
            <a:ext cx="1828800" cy="274320"/>
          </a:xfrm>
          <a:prstGeom prst="rect">
            <a:avLst/>
          </a:prstGeom>
          <a:noFill/>
          <a:ln/>
        </p:spPr>
        <p:txBody>
          <a:bodyPr wrap="square" lIns="0" tIns="0" rIns="0" bIns="0" rtlCol="0" anchor="ctr"/>
          <a:lstStyle/>
          <a:p>
            <a:pPr indent="0" marL="0">
              <a:buNone/>
            </a:pPr>
            <a:r>
              <a:rPr lang="en-US" sz="1000" dirty="0">
                <a:solidFill>
                  <a:srgbClr val="667085"/>
                </a:solidFill>
                <a:latin typeface="Courier New" pitchFamily="34" charset="0"/>
                <a:ea typeface="Courier New" pitchFamily="34" charset="-122"/>
                <a:cs typeface="Courier New" pitchFamily="34" charset="-120"/>
              </a:rPr>
              <a:t>39 / 39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6" presetID="53"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50"/>
                                        <p:tgtEl>
                                          <p:spTgt spid="5"/>
                                        </p:tgtEl>
                                      </p:cBhvr>
                                    </p:animEffect>
                                    <p:animScale>
                                      <p:cBhvr>
                                        <p:cTn id="5" dur="450" fill="hold"/>
                                        <p:tgtEl>
                                          <p:spTgt spid="5"/>
                                        </p:tgtEl>
                                      </p:cBhvr>
                                      <p:from x="60000" y="60000"/>
                                      <p:to x="100000" y="100000"/>
                                    </p:animScale>
                                  </p:childTnLst>
                                </p:cTn>
                              </p:par>
                              <p:par>
                                <p:cTn id="9"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childTnLst>
                    </p:cTn>
                  </p:par>
                  <p:par>
                    <p:cTn id="19" fill="hold">
                      <p:stCondLst>
                        <p:cond delay="indefinite"/>
                      </p:stCondLst>
                      <p:childTnLst>
                        <p:par>
                          <p:cTn id="20" fill="hold">
                            <p:stCondLst>
                              <p:cond delay="0"/>
                            </p:stCondLst>
                            <p:childTnLst>
                              <p:par>
                                <p:cTn id="15" presetID="53"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animScale>
                                      <p:cBhvr>
                                        <p:cTn id="14" dur="450" fill="hold"/>
                                        <p:tgtEl>
                                          <p:spTgt spid="7"/>
                                        </p:tgtEl>
                                      </p:cBhvr>
                                      <p:from x="60000" y="60000"/>
                                      <p:to x="100000" y="100000"/>
                                    </p:animScale>
                                  </p:childTnLst>
                                </p:cTn>
                              </p:par>
                              <p:par>
                                <p:cTn id="18"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childTnLst>
                          </p:cTn>
                        </p:par>
                      </p:childTnLst>
                    </p:cTn>
                  </p:par>
                  <p:par>
                    <p:cTn id="28" fill="hold">
                      <p:stCondLst>
                        <p:cond delay="indefinite"/>
                      </p:stCondLst>
                      <p:childTnLst>
                        <p:par>
                          <p:cTn id="29" fill="hold">
                            <p:stCondLst>
                              <p:cond delay="0"/>
                            </p:stCondLst>
                            <p:childTnLst>
                              <p:par>
                                <p:cTn id="24" presetID="53"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Scale>
                                      <p:cBhvr>
                                        <p:cTn id="23" dur="450" fill="hold"/>
                                        <p:tgtEl>
                                          <p:spTgt spid="9"/>
                                        </p:tgtEl>
                                      </p:cBhvr>
                                      <p:from x="60000" y="60000"/>
                                      <p:to x="100000" y="100000"/>
                                    </p:animScale>
                                  </p:childTnLst>
                                </p:cTn>
                              </p:par>
                              <p:par>
                                <p:cTn id="27"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3" presetID="53"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animScale>
                                      <p:cBhvr>
                                        <p:cTn id="32" dur="450" fill="hold"/>
                                        <p:tgtEl>
                                          <p:spTgt spid="11"/>
                                        </p:tgtEl>
                                      </p:cBhvr>
                                      <p:from x="60000" y="60000"/>
                                      <p:to x="100000" y="100000"/>
                                    </p:animScale>
                                  </p:childTnLst>
                                </p:cTn>
                              </p:par>
                              <p:par>
                                <p:cTn id="36"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2" presetID="53"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animScale>
                                      <p:cBhvr>
                                        <p:cTn id="41" dur="450" fill="hold"/>
                                        <p:tgtEl>
                                          <p:spTgt spid="13"/>
                                        </p:tgtEl>
                                      </p:cBhvr>
                                      <p:from x="60000" y="60000"/>
                                      <p:to x="100000" y="100000"/>
                                    </p:animScale>
                                  </p:childTnLst>
                                </p:cTn>
                              </p:par>
                              <p:par>
                                <p:cTn id="45"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1" presetID="53"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Scale>
                                      <p:cBhvr>
                                        <p:cTn id="50" dur="450" fill="hold"/>
                                        <p:tgtEl>
                                          <p:spTgt spid="15"/>
                                        </p:tgtEl>
                                      </p:cBhvr>
                                      <p:from x="60000" y="60000"/>
                                      <p:to x="100000" y="100000"/>
                                    </p:animScale>
                                  </p:childTnLst>
                                </p:cTn>
                              </p:par>
                              <p:par>
                                <p:cTn id="54"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00"/>
                                        <p:tgtEl>
                                          <p:spTgt spid="16"/>
                                        </p:tgtEl>
                                      </p:cBhvr>
                                    </p:animEffect>
                                  </p:childTnLst>
                                </p:cTn>
                              </p:par>
                            </p:childTnLst>
                          </p:cTn>
                        </p:par>
                      </p:childTnLst>
                    </p:cTn>
                  </p:par>
                  <p:par>
                    <p:cTn id="63" fill="hold">
                      <p:stCondLst>
                        <p:cond delay="indefinite"/>
                      </p:stCondLst>
                      <p:childTnLst>
                        <p:par>
                          <p:cTn id="64" fill="hold">
                            <p:stCondLst>
                              <p:cond delay="0"/>
                            </p:stCondLst>
                            <p:childTnLst>
                              <p:par>
                                <p:cTn id="59" presetID="22" presetClass="entr" presetSubtype="8"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350"/>
                                        <p:tgtEl>
                                          <p:spTgt spid="17"/>
                                        </p:tgtEl>
                                      </p:cBhvr>
                                    </p:animEffect>
                                  </p:childTnLst>
                                </p:cTn>
                              </p:par>
                              <p:par>
                                <p:cTn id="62" presetID="22" presetClass="entr" presetSubtype="8"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350"/>
                                        <p:tgtEl>
                                          <p:spTgt spid="18"/>
                                        </p:tgtEl>
                                      </p:cBhvr>
                                    </p:animEffect>
                                  </p:childTnLst>
                                </p:cTn>
                              </p:par>
                            </p:childTnLst>
                          </p:cTn>
                        </p:par>
                      </p:childTnLst>
                    </p:cTn>
                  </p:par>
                  <p:par>
                    <p:cTn id="71" fill="hold">
                      <p:stCondLst>
                        <p:cond delay="indefinite"/>
                      </p:stCondLst>
                      <p:childTnLst>
                        <p:par>
                          <p:cTn id="72" fill="hold">
                            <p:stCondLst>
                              <p:cond delay="0"/>
                            </p:stCondLst>
                            <p:childTnLst>
                              <p:par>
                                <p:cTn id="67"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350"/>
                                        <p:tgtEl>
                                          <p:spTgt spid="19"/>
                                        </p:tgtEl>
                                      </p:cBhvr>
                                    </p:animEffect>
                                  </p:childTnLst>
                                </p:cTn>
                              </p:par>
                              <p:par>
                                <p:cTn id="70" presetID="22" presetClass="entr" presetSubtype="8"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350"/>
                                        <p:tgtEl>
                                          <p:spTgt spid="20"/>
                                        </p:tgtEl>
                                      </p:cBhvr>
                                    </p:animEffect>
                                  </p:childTnLst>
                                </p:cTn>
                              </p:par>
                            </p:childTnLst>
                          </p:cTn>
                        </p:par>
                      </p:childTnLst>
                    </p:cTn>
                  </p:par>
                  <p:par>
                    <p:cTn id="79" fill="hold">
                      <p:stCondLst>
                        <p:cond delay="indefinite"/>
                      </p:stCondLst>
                      <p:childTnLst>
                        <p:par>
                          <p:cTn id="80" fill="hold">
                            <p:stCondLst>
                              <p:cond delay="0"/>
                            </p:stCondLst>
                            <p:childTnLst>
                              <p:par>
                                <p:cTn id="75" presetID="22" presetClass="entr" presetSubtype="8" fill="hold" grpId="0" nodeType="click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350"/>
                                        <p:tgtEl>
                                          <p:spTgt spid="21"/>
                                        </p:tgtEl>
                                      </p:cBhvr>
                                    </p:animEffect>
                                  </p:childTnLst>
                                </p:cTn>
                              </p:par>
                              <p:par>
                                <p:cTn id="78" presetID="22" presetClass="entr" presetSubtype="8"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350"/>
                                        <p:tgtEl>
                                          <p:spTgt spid="22"/>
                                        </p:tgtEl>
                                      </p:cBhvr>
                                    </p:animEffect>
                                  </p:childTnLst>
                                </p:cTn>
                              </p:par>
                            </p:childTnLst>
                          </p:cTn>
                        </p:par>
                      </p:childTnLst>
                    </p:cTn>
                  </p:par>
                  <p:par>
                    <p:cTn id="87" fill="hold">
                      <p:stCondLst>
                        <p:cond delay="indefinite"/>
                      </p:stCondLst>
                      <p:childTnLst>
                        <p:par>
                          <p:cTn id="88" fill="hold">
                            <p:stCondLst>
                              <p:cond delay="0"/>
                            </p:stCondLst>
                            <p:childTnLst>
                              <p:par>
                                <p:cTn id="83" presetID="22" presetClass="entr" presetSubtype="8"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350"/>
                                        <p:tgtEl>
                                          <p:spTgt spid="23"/>
                                        </p:tgtEl>
                                      </p:cBhvr>
                                    </p:animEffect>
                                  </p:childTnLst>
                                </p:cTn>
                              </p:par>
                              <p:par>
                                <p:cTn id="86" presetID="22" presetClass="entr" presetSubtype="8"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ipe(left)">
                                      <p:cBhvr>
                                        <p:cTn id="85" dur="350"/>
                                        <p:tgtEl>
                                          <p:spTgt spid="24"/>
                                        </p:tgtEl>
                                      </p:cBhvr>
                                    </p:animEffect>
                                  </p:childTnLst>
                                </p:cTn>
                              </p:par>
                            </p:childTnLst>
                          </p:cTn>
                        </p:par>
                      </p:childTnLst>
                    </p:cTn>
                  </p:par>
                  <p:par>
                    <p:cTn id="93" fill="hold">
                      <p:stCondLst>
                        <p:cond delay="indefinite"/>
                      </p:stCondLst>
                      <p:childTnLst>
                        <p:par>
                          <p:cTn id="94" fill="hold">
                            <p:stCondLst>
                              <p:cond delay="0"/>
                            </p:stCondLst>
                            <p:childTnLst>
                              <p:par>
                                <p:cTn id="92" presetID="53" presetClass="entr" presetSubtype="0" fill="hold" grpId="0"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450"/>
                                        <p:tgtEl>
                                          <p:spTgt spid="25"/>
                                        </p:tgtEl>
                                      </p:cBhvr>
                                    </p:animEffect>
                                    <p:animScale>
                                      <p:cBhvr>
                                        <p:cTn id="91" dur="450" fill="hold"/>
                                        <p:tgtEl>
                                          <p:spTgt spid="25"/>
                                        </p:tgtEl>
                                      </p:cBhvr>
                                      <p:from x="60000" y="6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Knative to the Portal</dc:title>
  <dc:subject>PptxGenJS Presentation</dc:subject>
  <dc:creator>PptxGenJS</dc:creator>
  <cp:lastModifiedBy>PptxGenJS</cp:lastModifiedBy>
  <cp:revision>1</cp:revision>
  <dcterms:created xsi:type="dcterms:W3CDTF">2026-09-05T00:00:34Z</dcterms:created>
  <dcterms:modified xsi:type="dcterms:W3CDTF">2026-09-05T00:00:34Z</dcterms:modified>
</cp:coreProperties>
</file>