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one-sentence promise: a developer gives us code or an image and gets a running, addressable service in both regions without ever seeing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is the vocabulary. The API is the contract. Functions and builds is where most of the engineering went. Portal and future is what the platform becomes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Serverless is a billing and operations model, not a technology. Scale to zero is the defining property: an idle workload costs nothing and needs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owns a Configuration and a Route. Every change to the Configuration stamps an immutable Revision. The KPA scales revisions on concurrency, including to zero; the Activator buffers requests while a revision wakes. DomainMapping lets us give one workload the same host in both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Red Hat's packaging of Knative. One KnativeServing CR, reconciled by the operator, upgraded through OLM. Kourier is the ingress; Routes are created for us. The catalog mirrors with oc-mirror, which is what makes it viable in an airgap.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about ownership. Upstream would mean maintaining the install, the ingress, the Routes and the mirror ourselves, with community support. The chart assumes the operator's conventions and the API holds no routes RBAC. Recorded in docs/DEPLOYING.md and the locked decisions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is a FastAPI control plane. Every write validates synchronously then returns 202 with a statusUrl; the status vocabulary is closed and published on /info so no client hardcodes it. One Helm chart, rendered by ArgoCD once per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path /api/serverless/v1. The SSO group is a path segment, so authorization is a path check against the groups claim. Ten endpoints per offering, two public info endpoints, one ticket mint. The Authorization header carries either a Keycloak JWT or the static admin key. EventSource cannot send headers, hence the 60-second HMAC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map to CPU request-only and memory request equals limit. Concurrency and rps use the KPA and can scale to zero; cpu and memory switch to HPA. Failed always carries a machine-readable reason. PUT is a full replace but keeps redacted secrets when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kubeconfig and no service-account path. cert-manager issues an ACME client certificate; its CN is a DNS name because ACME only issues to DNS identities, and that CN is the Kubernetes user RBAC binds. The API server address is derived from the region's cluster name. Every write is a server-side apply with force, so retries heal partial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OpenShift clusters trusting the same CA. The API runs in both; DNS fronts the active one. A deploy fans out to both concurrently and rolls up per-region results. No leader election: specs contain no timestamps, UUIDs or counters, so two writers converge. Each region builds into its own registry. The Knative Service and its annotations are the replicated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 separation is the reason: namespace and RBAC creation is cluster-scoped power the internet-facing API must not hold. Namespace per SSO group, identical in both clusters, rendered from region-neutral templates. Provision is called before every deploy and fails closed. Reconcile is local-cluster only so the regions never fight. The stamp protocol makes a converge crash-safe.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container is run this image. A function is here is my repo, which means a build: asynchronous, retried, observable per phase, and fired automatically when a stack or buildpack is patched. That last property is why kpack was chosen over Tekton or func.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Dockerfile: Paketo buildpacks detect the language from the repo. Rebase swaps the run image without a rebuild. Our kpack repo is not a fork; it is a Helm chart packaging upstream 0.18 with the airgap pieces. The serverless chart composes the three ClusterBuilders because composing is a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SourceResolver to Build to Pod. The CNB lifecycle runs as named init containers, so every phase has its own log. Five build reasons; BUILDPACK and STACK fire with no user action. Images go to the region registry; the layer cache is a registry tag. A Kyverno policy injects the CA into initContainers.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declares a build and walks away. The build controller watches kpack Images in its own region and, when latestImage changes, server-side applies the live Knative Service with the digest. Exactly one writer per phase, and the controller only ever writes digests. It ships without a web stack, and CI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16 with server components and server actions in front of the API. The user's Keycloak token stays in the encrypted session and is forwarded server-side. The SSO group is the project. Forms are built from /info; the create flow turns 202 into a tracker toast. Live logs and stats stream over SSE using re-minted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already names ten future offerings; Serverless is live and Object Storage has its env hook. Adding an offering is data, not code. The shell is generic; the serverless tree is the only product-specific part. Next: a shared resource layer and a generated TypeScript client so the contract stops being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cloudlet-apis is the shared Python library extracted from the Serverless API: core, web and auth as install extras, with layering enforced by tests. A new API wires it in five steps and inherits the security review. Two APIs normalizing groups differently is an authorization bug. Next extraction candidates: the mTLS multi-cluster client and the region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takeaways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1828800"/>
            <a:ext cx="7315200" cy="320040"/>
          </a:xfrm>
          <a:prstGeom prst="rect">
            <a:avLst/>
          </a:prstGeom>
          <a:noFill/>
          <a:ln/>
        </p:spPr>
        <p:txBody>
          <a:bodyPr wrap="square" lIns="0" tIns="0" rIns="0" bIns="0" rtlCol="0" anchor="ctr"/>
          <a:lstStyle/>
          <a:p>
            <a:pPr indent="0" marL="0">
              <a:buNone/>
            </a:pPr>
            <a:r>
              <a:rPr lang="en-US" sz="1200" b="1" spc="400" kern="0" dirty="0">
                <a:solidFill>
                  <a:srgbClr val="E4572E"/>
                </a:solidFill>
                <a:latin typeface="Courier New" pitchFamily="34" charset="0"/>
                <a:ea typeface="Courier New" pitchFamily="34" charset="-122"/>
                <a:cs typeface="Courier New" pitchFamily="34" charset="-120"/>
              </a:rPr>
              <a:t>CLOUDLET'S SERVERLESS</a:t>
            </a:r>
            <a:endParaRPr lang="en-US" sz="1200" dirty="0"/>
          </a:p>
        </p:txBody>
      </p:sp>
      <p:sp>
        <p:nvSpPr>
          <p:cNvPr id="4" name="Text 1"/>
          <p:cNvSpPr txBox="1"/>
          <p:nvPr/>
        </p:nvSpPr>
        <p:spPr>
          <a:xfrm>
            <a:off x="640080" y="2194560"/>
            <a:ext cx="8686800" cy="1828800"/>
          </a:xfrm>
          <a:prstGeom prst="rect">
            <a:avLst/>
          </a:prstGeom>
          <a:noFill/>
          <a:ln/>
        </p:spPr>
        <p:txBody>
          <a:bodyPr wrap="square" lIns="0" tIns="0" rIns="0" bIns="0" rtlCol="0" anchor="ctr"/>
          <a:lstStyle/>
          <a:p>
            <a:pPr indent="0" marL="0">
              <a:lnSpc>
                <a:spcPct val="95000"/>
              </a:lnSpc>
              <a:buNone/>
            </a:pPr>
            <a:r>
              <a:rPr lang="en-US" sz="6600" b="1" dirty="0">
                <a:solidFill>
                  <a:srgbClr val="1B1F2A"/>
                </a:solidFill>
                <a:latin typeface="Century Schoolbook" pitchFamily="34" charset="0"/>
                <a:ea typeface="Century Schoolbook" pitchFamily="34" charset="-122"/>
                <a:cs typeface="Century Schoolbook" pitchFamily="34" charset="-120"/>
              </a:rPr>
              <a:t>From Knative to the Portal</a:t>
            </a:r>
            <a:endParaRPr lang="en-US" sz="6600" dirty="0"/>
          </a:p>
        </p:txBody>
      </p:sp>
      <p:sp>
        <p:nvSpPr>
          <p:cNvPr id="5" name="Text 2"/>
          <p:cNvSpPr txBox="1"/>
          <p:nvPr/>
        </p:nvSpPr>
        <p:spPr>
          <a:xfrm>
            <a:off x="640080" y="4114800"/>
            <a:ext cx="7315200" cy="548640"/>
          </a:xfrm>
          <a:prstGeom prst="rect">
            <a:avLst/>
          </a:prstGeom>
          <a:noFill/>
          <a:ln/>
        </p:spPr>
        <p:txBody>
          <a:bodyPr wrap="square" lIns="0" tIns="0" rIns="0" bIns="0" rtlCol="0" anchor="ctr"/>
          <a:lstStyle/>
          <a:p>
            <a:pPr indent="0" marL="0">
              <a:buNone/>
            </a:pPr>
            <a:r>
              <a:rPr lang="en-US" sz="2400" i="1" dirty="0">
                <a:solidFill>
                  <a:srgbClr val="667085"/>
                </a:solidFill>
                <a:latin typeface="Century Schoolbook" pitchFamily="34" charset="0"/>
                <a:ea typeface="Century Schoolbook" pitchFamily="34" charset="-122"/>
                <a:cs typeface="Century Schoolbook" pitchFamily="34" charset="-120"/>
              </a:rPr>
              <a:t>What we built, and why.</a:t>
            </a:r>
            <a:endParaRPr lang="en-US" sz="2400" dirty="0"/>
          </a:p>
        </p:txBody>
      </p:sp>
      <p:sp>
        <p:nvSpPr>
          <p:cNvPr id="6" name="Text 3"/>
          <p:cNvSpPr txBox="1"/>
          <p:nvPr/>
        </p:nvSpPr>
        <p:spPr>
          <a:xfrm>
            <a:off x="640080" y="4937760"/>
            <a:ext cx="5486400" cy="320040"/>
          </a:xfrm>
          <a:prstGeom prst="rect">
            <a:avLst/>
          </a:prstGeom>
          <a:noFill/>
          <a:ln/>
        </p:spPr>
        <p:txBody>
          <a:bodyPr wrap="square" lIns="0" tIns="0" rIns="0" bIns="0" rtlCol="0" anchor="ctr"/>
          <a:lstStyle/>
          <a:p>
            <a:pPr indent="0" marL="0">
              <a:buNone/>
            </a:pPr>
            <a:r>
              <a:rPr lang="en-US" sz="1100" dirty="0">
                <a:solidFill>
                  <a:srgbClr val="667085"/>
                </a:solidFill>
                <a:latin typeface="Courier New" pitchFamily="34" charset="0"/>
                <a:ea typeface="Courier New" pitchFamily="34" charset="-122"/>
                <a:cs typeface="Courier New" pitchFamily="34" charset="-120"/>
              </a:rPr>
              <a:t>Team review · September 2026</a:t>
            </a:r>
            <a:endParaRPr lang="en-US" sz="1100" dirty="0"/>
          </a:p>
        </p:txBody>
      </p:sp>
      <p:sp>
        <p:nvSpPr>
          <p:cNvPr id="7" name="Shape 4"/>
          <p:cNvSpPr/>
          <p:nvPr/>
        </p:nvSpPr>
        <p:spPr>
          <a:xfrm>
            <a:off x="8961120" y="2331720"/>
            <a:ext cx="2194560" cy="2194560"/>
          </a:xfrm>
          <a:prstGeom prst="ellipse">
            <a:avLst/>
          </a:prstGeom>
          <a:solidFill>
            <a:srgbClr val="FFFFFF">
              <a:alpha val="0"/>
            </a:srgbClr>
          </a:solidFill>
          <a:ln w="19050">
            <a:solidFill>
              <a:srgbClr val="E4572E">
                <a:alpha val="70000"/>
              </a:srgbClr>
            </a:solidFill>
            <a:prstDash val="solid"/>
          </a:ln>
        </p:spPr>
      </p:sp>
      <p:sp>
        <p:nvSpPr>
          <p:cNvPr id="8" name="Shape 5"/>
          <p:cNvSpPr/>
          <p:nvPr/>
        </p:nvSpPr>
        <p:spPr>
          <a:xfrm>
            <a:off x="9281160" y="2651760"/>
            <a:ext cx="1554480" cy="1554480"/>
          </a:xfrm>
          <a:prstGeom prst="ellipse">
            <a:avLst/>
          </a:prstGeom>
          <a:solidFill>
            <a:srgbClr val="FFFFFF">
              <a:alpha val="0"/>
            </a:srgbClr>
          </a:solidFill>
          <a:ln w="19050">
            <a:solidFill>
              <a:srgbClr val="E4572E">
                <a:alpha val="45000"/>
              </a:srgbClr>
            </a:solidFill>
            <a:prstDash val="solid"/>
          </a:ln>
        </p:spPr>
      </p:sp>
      <p:sp>
        <p:nvSpPr>
          <p:cNvPr id="9" name="Shape 6"/>
          <p:cNvSpPr/>
          <p:nvPr/>
        </p:nvSpPr>
        <p:spPr>
          <a:xfrm>
            <a:off x="9601200" y="2971800"/>
            <a:ext cx="914400" cy="914400"/>
          </a:xfrm>
          <a:prstGeom prst="ellipse">
            <a:avLst/>
          </a:prstGeom>
          <a:solidFill>
            <a:srgbClr val="FFFFFF">
              <a:alpha val="0"/>
            </a:srgbClr>
          </a:solidFill>
          <a:ln w="19050">
            <a:solidFill>
              <a:srgbClr val="E4572E">
                <a:alpha val="20000"/>
              </a:srgbClr>
            </a:solidFill>
            <a:prstDash val="solid"/>
          </a:ln>
        </p:spPr>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TODAY</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we'll talk about</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Serverless, Knative and the Operator</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API: contract, mTLS, two regions</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Functions: buildpacks, kpack, build controller</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portal and cloudlet-apis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Where we go next</a:t>
            </a:r>
            <a:endParaRPr lang="en-US" sz="1900" dirty="0"/>
          </a:p>
        </p:txBody>
      </p:sp>
      <p:sp>
        <p:nvSpPr>
          <p:cNvPr id="15" name="Text 12"/>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23</a:t>
            </a:r>
            <a:endParaRPr lang="en-US" sz="5400" dirty="0"/>
          </a:p>
        </p:txBody>
      </p:sp>
      <p:sp>
        <p:nvSpPr>
          <p:cNvPr id="16" name="Text 13"/>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slides · four topics · one platform</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02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is serverless?</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You bring code, not servers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to zero when idle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out when traffic arrives</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Pay for requests, not hours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Nothing to patch, nothing to plan</a:t>
            </a:r>
            <a:endParaRPr lang="en-US" sz="1900" dirty="0"/>
          </a:p>
        </p:txBody>
      </p:sp>
      <p:sp>
        <p:nvSpPr>
          <p:cNvPr id="15" name="Text 12"/>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0 → N → 0</a:t>
            </a:r>
            <a:endParaRPr lang="en-US" sz="5400" dirty="0"/>
          </a:p>
        </p:txBody>
      </p:sp>
      <p:sp>
        <p:nvSpPr>
          <p:cNvPr id="16" name="Text 13"/>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replicas follow traffic</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03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is Knative?</a:t>
            </a:r>
            <a:endParaRPr lang="en-US" sz="3800" dirty="0"/>
          </a:p>
        </p:txBody>
      </p:sp>
      <p:sp>
        <p:nvSpPr>
          <p:cNvPr id="5" name="step:1"/>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Kubernetes building blocks for serverless</a:t>
            </a:r>
            <a:endParaRPr lang="en-US" sz="1700" dirty="0"/>
          </a:p>
        </p:txBody>
      </p:sp>
      <p:sp>
        <p:nvSpPr>
          <p:cNvPr id="7" name="step:2"/>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Service owns Configuration and Route</a:t>
            </a:r>
            <a:endParaRPr lang="en-US" sz="1700" dirty="0"/>
          </a:p>
        </p:txBody>
      </p:sp>
      <p:sp>
        <p:nvSpPr>
          <p:cNvPr id="9" name="step:3"/>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Every change is an immutable Revision</a:t>
            </a:r>
            <a:endParaRPr lang="en-US" sz="1700" dirty="0"/>
          </a:p>
        </p:txBody>
      </p:sp>
      <p:sp>
        <p:nvSpPr>
          <p:cNvPr id="11" name="step:4"/>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KPA: concurrency in, replicas out</a:t>
            </a:r>
            <a:endParaRPr lang="en-US" sz="1700" dirty="0"/>
          </a:p>
        </p:txBody>
      </p:sp>
      <p:sp>
        <p:nvSpPr>
          <p:cNvPr id="13" name="step:5"/>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Activator wakes revisions from zero</a:t>
            </a:r>
            <a:endParaRPr lang="en-US" sz="1700" dirty="0"/>
          </a:p>
        </p:txBody>
      </p:sp>
      <p:sp>
        <p:nvSpPr>
          <p:cNvPr id="15" name="step:6"/>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DomainMapping: your own hostname</a:t>
            </a:r>
            <a:endParaRPr lang="en-US" sz="1700" dirty="0"/>
          </a:p>
        </p:txBody>
      </p:sp>
      <p:sp>
        <p:nvSpPr>
          <p:cNvPr id="17" name="Shape 14"/>
          <p:cNvSpPr/>
          <p:nvPr/>
        </p:nvSpPr>
        <p:spPr>
          <a:xfrm flipH="1">
            <a:off x="7431024" y="2677058"/>
            <a:ext cx="1438656" cy="593446"/>
          </a:xfrm>
          <a:prstGeom prst="line">
            <a:avLst/>
          </a:prstGeom>
          <a:noFill/>
          <a:ln w="15875">
            <a:solidFill>
              <a:srgbClr val="98A2B3"/>
            </a:solidFill>
            <a:prstDash val="solid"/>
            <a:tailEnd type="triangle"/>
          </a:ln>
        </p:spPr>
      </p:sp>
      <p:sp>
        <p:nvSpPr>
          <p:cNvPr id="18" name="Shape 15"/>
          <p:cNvSpPr/>
          <p:nvPr/>
        </p:nvSpPr>
        <p:spPr>
          <a:xfrm>
            <a:off x="8869680" y="2677058"/>
            <a:ext cx="1438656" cy="593446"/>
          </a:xfrm>
          <a:prstGeom prst="line">
            <a:avLst/>
          </a:prstGeom>
          <a:noFill/>
          <a:ln w="15875">
            <a:solidFill>
              <a:srgbClr val="98A2B3"/>
            </a:solidFill>
            <a:prstDash val="solid"/>
            <a:tailEnd type="triangle"/>
          </a:ln>
        </p:spPr>
      </p:sp>
      <p:sp>
        <p:nvSpPr>
          <p:cNvPr id="19" name="Shape 16"/>
          <p:cNvSpPr/>
          <p:nvPr/>
        </p:nvSpPr>
        <p:spPr>
          <a:xfrm>
            <a:off x="7431024" y="3845966"/>
            <a:ext cx="0" cy="593446"/>
          </a:xfrm>
          <a:prstGeom prst="line">
            <a:avLst/>
          </a:prstGeom>
          <a:noFill/>
          <a:ln w="15875">
            <a:solidFill>
              <a:srgbClr val="98A2B3"/>
            </a:solidFill>
            <a:prstDash val="solid"/>
            <a:tailEnd type="triangle"/>
          </a:ln>
        </p:spPr>
      </p:sp>
      <p:sp>
        <p:nvSpPr>
          <p:cNvPr id="20" name="Shape 17"/>
          <p:cNvSpPr/>
          <p:nvPr/>
        </p:nvSpPr>
        <p:spPr>
          <a:xfrm flipH="1">
            <a:off x="8510016" y="4727143"/>
            <a:ext cx="719328" cy="0"/>
          </a:xfrm>
          <a:prstGeom prst="line">
            <a:avLst/>
          </a:prstGeom>
          <a:noFill/>
          <a:ln w="15875">
            <a:solidFill>
              <a:srgbClr val="98A2B3"/>
            </a:solidFill>
            <a:prstDash val="dash"/>
            <a:tailEnd type="triangle"/>
          </a:ln>
        </p:spPr>
      </p:sp>
      <p:sp>
        <p:nvSpPr>
          <p:cNvPr id="21" name="Shape 18"/>
          <p:cNvSpPr/>
          <p:nvPr/>
        </p:nvSpPr>
        <p:spPr>
          <a:xfrm>
            <a:off x="7700772" y="2101596"/>
            <a:ext cx="2337816" cy="575462"/>
          </a:xfrm>
          <a:prstGeom prst="roundRect">
            <a:avLst>
              <a:gd name="adj" fmla="val 12712"/>
            </a:avLst>
          </a:prstGeom>
          <a:solidFill>
            <a:srgbClr val="FFFFFF"/>
          </a:solidFill>
          <a:ln w="22225">
            <a:solidFill>
              <a:srgbClr val="E4572E"/>
            </a:solidFill>
            <a:prstDash val="solid"/>
          </a:ln>
        </p:spPr>
      </p:sp>
      <p:sp>
        <p:nvSpPr>
          <p:cNvPr id="22" name="Text 19"/>
          <p:cNvSpPr txBox="1"/>
          <p:nvPr/>
        </p:nvSpPr>
        <p:spPr>
          <a:xfrm>
            <a:off x="7700772" y="2101596"/>
            <a:ext cx="2337816"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one object you write</a:t>
            </a:r>
            <a:endParaRPr lang="en-US" sz="1200" dirty="0"/>
          </a:p>
        </p:txBody>
      </p:sp>
      <p:sp>
        <p:nvSpPr>
          <p:cNvPr id="23" name="Shape 20"/>
          <p:cNvSpPr/>
          <p:nvPr/>
        </p:nvSpPr>
        <p:spPr>
          <a:xfrm>
            <a:off x="6352032" y="3270504"/>
            <a:ext cx="2157984" cy="575462"/>
          </a:xfrm>
          <a:prstGeom prst="roundRect">
            <a:avLst>
              <a:gd name="adj" fmla="val 12712"/>
            </a:avLst>
          </a:prstGeom>
          <a:solidFill>
            <a:srgbClr val="FFFFFF"/>
          </a:solidFill>
          <a:ln w="15875">
            <a:solidFill>
              <a:srgbClr val="0B7A75"/>
            </a:solidFill>
            <a:prstDash val="solid"/>
          </a:ln>
        </p:spPr>
      </p:sp>
      <p:sp>
        <p:nvSpPr>
          <p:cNvPr id="24" name="Text 21"/>
          <p:cNvSpPr txBox="1"/>
          <p:nvPr/>
        </p:nvSpPr>
        <p:spPr>
          <a:xfrm>
            <a:off x="6352032"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Configuration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desired state</a:t>
            </a:r>
            <a:endParaRPr lang="en-US" sz="1200" dirty="0"/>
          </a:p>
        </p:txBody>
      </p:sp>
      <p:sp>
        <p:nvSpPr>
          <p:cNvPr id="25" name="Shape 22"/>
          <p:cNvSpPr/>
          <p:nvPr/>
        </p:nvSpPr>
        <p:spPr>
          <a:xfrm>
            <a:off x="9229344" y="3270504"/>
            <a:ext cx="2157984" cy="575462"/>
          </a:xfrm>
          <a:prstGeom prst="roundRect">
            <a:avLst>
              <a:gd name="adj" fmla="val 12712"/>
            </a:avLst>
          </a:prstGeom>
          <a:solidFill>
            <a:srgbClr val="FFFFFF"/>
          </a:solidFill>
          <a:ln w="15875">
            <a:solidFill>
              <a:srgbClr val="0B7A75"/>
            </a:solidFill>
            <a:prstDash val="solid"/>
          </a:ln>
        </p:spPr>
      </p:sp>
      <p:sp>
        <p:nvSpPr>
          <p:cNvPr id="26" name="Text 23"/>
          <p:cNvSpPr txBox="1"/>
          <p:nvPr/>
        </p:nvSpPr>
        <p:spPr>
          <a:xfrm>
            <a:off x="9229344"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Route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traffic → revisions</a:t>
            </a:r>
            <a:endParaRPr lang="en-US" sz="1200" dirty="0"/>
          </a:p>
        </p:txBody>
      </p:sp>
      <p:sp>
        <p:nvSpPr>
          <p:cNvPr id="27" name="Shape 24"/>
          <p:cNvSpPr/>
          <p:nvPr/>
        </p:nvSpPr>
        <p:spPr>
          <a:xfrm>
            <a:off x="6352032" y="4439412"/>
            <a:ext cx="2157984" cy="575462"/>
          </a:xfrm>
          <a:prstGeom prst="roundRect">
            <a:avLst>
              <a:gd name="adj" fmla="val 12712"/>
            </a:avLst>
          </a:prstGeom>
          <a:solidFill>
            <a:srgbClr val="FFFFFF"/>
          </a:solidFill>
          <a:ln w="15875">
            <a:solidFill>
              <a:srgbClr val="0B7A75"/>
            </a:solidFill>
            <a:prstDash val="solid"/>
          </a:ln>
        </p:spPr>
      </p:sp>
      <p:sp>
        <p:nvSpPr>
          <p:cNvPr id="28" name="Text 25"/>
          <p:cNvSpPr txBox="1"/>
          <p:nvPr/>
        </p:nvSpPr>
        <p:spPr>
          <a:xfrm>
            <a:off x="6352032"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immutable snapshot</a:t>
            </a:r>
            <a:endParaRPr lang="en-US" sz="1200" dirty="0"/>
          </a:p>
        </p:txBody>
      </p:sp>
      <p:sp>
        <p:nvSpPr>
          <p:cNvPr id="29" name="Shape 26"/>
          <p:cNvSpPr/>
          <p:nvPr/>
        </p:nvSpPr>
        <p:spPr>
          <a:xfrm>
            <a:off x="9229344" y="4439412"/>
            <a:ext cx="2157984" cy="575462"/>
          </a:xfrm>
          <a:prstGeom prst="roundRect">
            <a:avLst>
              <a:gd name="adj" fmla="val 12712"/>
            </a:avLst>
          </a:prstGeom>
          <a:solidFill>
            <a:srgbClr val="FFFFFF"/>
          </a:solidFill>
          <a:ln w="15875">
            <a:solidFill>
              <a:srgbClr val="0B7A75"/>
            </a:solidFill>
            <a:prstDash val="solid"/>
          </a:ln>
        </p:spPr>
      </p:sp>
      <p:sp>
        <p:nvSpPr>
          <p:cNvPr id="30" name="Text 27"/>
          <p:cNvSpPr txBox="1"/>
          <p:nvPr/>
        </p:nvSpPr>
        <p:spPr>
          <a:xfrm>
            <a:off x="9229344"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Autoscaler (KPA)</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0 … N replicas</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04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OpenShift Serverless Operator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Red Hat's supported Knative distribution</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KnativeServing custom resource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OLM installs it and upgrades it</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Kourier ingress, Routes created for you</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Catalog mirrors with oc-mirror</a:t>
            </a:r>
            <a:endParaRPr lang="en-US" sz="1900" dirty="0"/>
          </a:p>
        </p:txBody>
      </p:sp>
      <p:sp>
        <p:nvSpPr>
          <p:cNvPr id="15" name="Shape 12"/>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Text 13"/>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 Serving</a:t>
            </a:r>
            <a:endParaRPr lang="en-US" sz="1400" dirty="0"/>
          </a:p>
        </p:txBody>
      </p:sp>
      <p:sp>
        <p:nvSpPr>
          <p:cNvPr id="17" name="Text 14"/>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Service · Revision · Route · DomainMapping</a:t>
            </a:r>
            <a:endParaRPr lang="en-US" sz="950" dirty="0"/>
          </a:p>
        </p:txBody>
      </p:sp>
      <p:sp>
        <p:nvSpPr>
          <p:cNvPr id="18" name="Shape 15"/>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Text 16"/>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KnativeServing CR</a:t>
            </a:r>
            <a:endParaRPr lang="en-US" sz="1400" dirty="0"/>
          </a:p>
        </p:txBody>
      </p:sp>
      <p:sp>
        <p:nvSpPr>
          <p:cNvPr id="20" name="Text 17"/>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document</a:t>
            </a:r>
            <a:endParaRPr lang="en-US" sz="950" dirty="0"/>
          </a:p>
        </p:txBody>
      </p:sp>
      <p:sp>
        <p:nvSpPr>
          <p:cNvPr id="21" name="Shape 18"/>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Text 19"/>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Serverless Operator</a:t>
            </a:r>
            <a:endParaRPr lang="en-US" sz="1400" dirty="0"/>
          </a:p>
        </p:txBody>
      </p:sp>
      <p:sp>
        <p:nvSpPr>
          <p:cNvPr id="23" name="Text 20"/>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reconciles, upgrades</a:t>
            </a:r>
            <a:endParaRPr lang="en-US" sz="950" dirty="0"/>
          </a:p>
        </p:txBody>
      </p:sp>
      <p:sp>
        <p:nvSpPr>
          <p:cNvPr id="24" name="Shape 21"/>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Text 22"/>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Operator Lifecycle Manager</a:t>
            </a:r>
            <a:endParaRPr lang="en-US" sz="1400" dirty="0"/>
          </a:p>
        </p:txBody>
      </p:sp>
      <p:sp>
        <p:nvSpPr>
          <p:cNvPr id="26" name="Text 23"/>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Subscription → catalog</a:t>
            </a:r>
            <a:endParaRPr lang="en-US" sz="950" dirty="0"/>
          </a:p>
        </p:txBody>
      </p:sp>
      <p:sp>
        <p:nvSpPr>
          <p:cNvPr id="27" name="Shape 24"/>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Text 25"/>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OpenShift</a:t>
            </a:r>
            <a:endParaRPr lang="en-US" sz="1400" dirty="0"/>
          </a:p>
        </p:txBody>
      </p:sp>
      <p:sp>
        <p:nvSpPr>
          <p:cNvPr id="29" name="Text 26"/>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cluster per region</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05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the Operator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alternative made us own more</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never create a Route ourselves</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Airgap needs one supported mirror path</a:t>
            </a:r>
            <a:endParaRPr lang="en-US" sz="1900" dirty="0"/>
          </a:p>
        </p:txBody>
      </p:sp>
      <p:sp>
        <p:nvSpPr>
          <p:cNvPr id="11" name="Shape 8"/>
          <p:cNvSpPr/>
          <p:nvPr/>
        </p:nvSpPr>
        <p:spPr>
          <a:xfrm>
            <a:off x="9281160" y="2514600"/>
            <a:ext cx="2286000" cy="2560320"/>
          </a:xfrm>
          <a:prstGeom prst="rect">
            <a:avLst/>
          </a:prstGeom>
          <a:solidFill>
            <a:srgbClr val="E3F1F0"/>
          </a:solidFill>
          <a:ln w="12700">
            <a:solidFill>
              <a:srgbClr val="E3F1F0"/>
            </a:solidFill>
            <a:prstDash val="solid"/>
          </a:ln>
        </p:spPr>
      </p:sp>
      <p:sp>
        <p:nvSpPr>
          <p:cNvPr id="12" name="Text 9"/>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UPSTREAM KNATIVE</a:t>
            </a:r>
            <a:endParaRPr lang="en-US" sz="900" dirty="0"/>
          </a:p>
        </p:txBody>
      </p:sp>
      <p:sp>
        <p:nvSpPr>
          <p:cNvPr id="13" name="Text 10"/>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SERVERLESS OPERATOR</a:t>
            </a:r>
            <a:endParaRPr lang="en-US" sz="900" dirty="0"/>
          </a:p>
        </p:txBody>
      </p:sp>
      <p:sp>
        <p:nvSpPr>
          <p:cNvPr id="14" name="Text 11"/>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Upgrades</a:t>
            </a:r>
            <a:endParaRPr lang="en-US" sz="1250" dirty="0"/>
          </a:p>
        </p:txBody>
      </p:sp>
      <p:sp>
        <p:nvSpPr>
          <p:cNvPr id="15" name="Text 12"/>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YAML we maintain</a:t>
            </a:r>
            <a:endParaRPr lang="en-US" sz="1250" dirty="0"/>
          </a:p>
        </p:txBody>
      </p:sp>
      <p:sp>
        <p:nvSpPr>
          <p:cNvPr id="16" name="Text 13"/>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OLM, from the catalog</a:t>
            </a:r>
            <a:endParaRPr lang="en-US" sz="1250" dirty="0"/>
          </a:p>
        </p:txBody>
      </p:sp>
      <p:sp>
        <p:nvSpPr>
          <p:cNvPr id="17" name="Text 14"/>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Ingress</a:t>
            </a:r>
            <a:endParaRPr lang="en-US" sz="1250" dirty="0"/>
          </a:p>
        </p:txBody>
      </p:sp>
      <p:sp>
        <p:nvSpPr>
          <p:cNvPr id="18" name="Text 15"/>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Run it ourselves</a:t>
            </a:r>
            <a:endParaRPr lang="en-US" sz="1250" dirty="0"/>
          </a:p>
        </p:txBody>
      </p:sp>
      <p:sp>
        <p:nvSpPr>
          <p:cNvPr id="19" name="Text 16"/>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Kourier, managed</a:t>
            </a:r>
            <a:endParaRPr lang="en-US" sz="1250" dirty="0"/>
          </a:p>
        </p:txBody>
      </p:sp>
      <p:sp>
        <p:nvSpPr>
          <p:cNvPr id="20" name="Shape 17"/>
          <p:cNvSpPr/>
          <p:nvPr/>
        </p:nvSpPr>
        <p:spPr>
          <a:xfrm>
            <a:off x="6172200" y="3063240"/>
            <a:ext cx="5394960" cy="0"/>
          </a:xfrm>
          <a:prstGeom prst="line">
            <a:avLst/>
          </a:prstGeom>
          <a:noFill/>
          <a:ln w="6350">
            <a:solidFill>
              <a:srgbClr val="E4E7EC"/>
            </a:solidFill>
            <a:prstDash val="solid"/>
          </a:ln>
        </p:spPr>
      </p:sp>
      <p:sp>
        <p:nvSpPr>
          <p:cNvPr id="21" name="Text 18"/>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Routes, TLS</a:t>
            </a:r>
            <a:endParaRPr lang="en-US" sz="1250" dirty="0"/>
          </a:p>
        </p:txBody>
      </p:sp>
      <p:sp>
        <p:nvSpPr>
          <p:cNvPr id="22" name="Text 19"/>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Hand-made, RBAC</a:t>
            </a:r>
            <a:endParaRPr lang="en-US" sz="1250" dirty="0"/>
          </a:p>
        </p:txBody>
      </p:sp>
      <p:sp>
        <p:nvSpPr>
          <p:cNvPr id="23" name="Text 20"/>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Created for us</a:t>
            </a:r>
            <a:endParaRPr lang="en-US" sz="1250" dirty="0"/>
          </a:p>
        </p:txBody>
      </p:sp>
      <p:sp>
        <p:nvSpPr>
          <p:cNvPr id="24" name="Shape 21"/>
          <p:cNvSpPr/>
          <p:nvPr/>
        </p:nvSpPr>
        <p:spPr>
          <a:xfrm>
            <a:off x="6172200" y="3566160"/>
            <a:ext cx="5394960" cy="0"/>
          </a:xfrm>
          <a:prstGeom prst="line">
            <a:avLst/>
          </a:prstGeom>
          <a:noFill/>
          <a:ln w="6350">
            <a:solidFill>
              <a:srgbClr val="E4E7EC"/>
            </a:solidFill>
            <a:prstDash val="solid"/>
          </a:ln>
        </p:spPr>
      </p:sp>
      <p:sp>
        <p:nvSpPr>
          <p:cNvPr id="25" name="Text 22"/>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Airgap</a:t>
            </a:r>
            <a:endParaRPr lang="en-US" sz="1250" dirty="0"/>
          </a:p>
        </p:txBody>
      </p:sp>
      <p:sp>
        <p:nvSpPr>
          <p:cNvPr id="26" name="Text 23"/>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Image by image</a:t>
            </a:r>
            <a:endParaRPr lang="en-US" sz="1250" dirty="0"/>
          </a:p>
        </p:txBody>
      </p:sp>
      <p:sp>
        <p:nvSpPr>
          <p:cNvPr id="27" name="Text 24"/>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oc-mirror, once</a:t>
            </a:r>
            <a:endParaRPr lang="en-US" sz="1250" dirty="0"/>
          </a:p>
        </p:txBody>
      </p:sp>
      <p:sp>
        <p:nvSpPr>
          <p:cNvPr id="28" name="Shape 25"/>
          <p:cNvSpPr/>
          <p:nvPr/>
        </p:nvSpPr>
        <p:spPr>
          <a:xfrm>
            <a:off x="6172200" y="4069080"/>
            <a:ext cx="5394960" cy="0"/>
          </a:xfrm>
          <a:prstGeom prst="line">
            <a:avLst/>
          </a:prstGeom>
          <a:noFill/>
          <a:ln w="6350">
            <a:solidFill>
              <a:srgbClr val="E4E7EC"/>
            </a:solidFill>
            <a:prstDash val="solid"/>
          </a:ln>
        </p:spPr>
      </p:sp>
      <p:sp>
        <p:nvSpPr>
          <p:cNvPr id="29" name="Text 26"/>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Support</a:t>
            </a:r>
            <a:endParaRPr lang="en-US" sz="1250" dirty="0"/>
          </a:p>
        </p:txBody>
      </p:sp>
      <p:sp>
        <p:nvSpPr>
          <p:cNvPr id="30" name="Text 27"/>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Community</a:t>
            </a:r>
            <a:endParaRPr lang="en-US" sz="1250" dirty="0"/>
          </a:p>
        </p:txBody>
      </p:sp>
      <p:sp>
        <p:nvSpPr>
          <p:cNvPr id="31" name="Text 28"/>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Red Hat</a:t>
            </a:r>
            <a:endParaRPr lang="en-US" sz="1250" dirty="0"/>
          </a:p>
        </p:txBody>
      </p:sp>
      <p:sp>
        <p:nvSpPr>
          <p:cNvPr id="32" name="Shape 29"/>
          <p:cNvSpPr/>
          <p:nvPr/>
        </p:nvSpPr>
        <p:spPr>
          <a:xfrm>
            <a:off x="6172200" y="4572000"/>
            <a:ext cx="5394960" cy="0"/>
          </a:xfrm>
          <a:prstGeom prst="line">
            <a:avLst/>
          </a:prstGeom>
          <a:noFill/>
          <a:ln w="6350">
            <a:solidFill>
              <a:srgbClr val="E4E7EC"/>
            </a:solidFill>
            <a:prstDash val="solid"/>
          </a:ln>
        </p:spPr>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06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4572E"/>
        </a:solidFill>
      </p:bgPr>
    </p:bg>
    <p:spTree>
      <p:nvGrpSpPr>
        <p:cNvPr id="1" name=""/>
        <p:cNvGrpSpPr/>
        <p:nvPr/>
      </p:nvGrpSpPr>
      <p:grpSpPr>
        <a:xfrm>
          <a:off x="0" y="0"/>
          <a:ext cx="0" cy="0"/>
          <a:chOff x="0" y="0"/>
          <a:chExt cx="0" cy="0"/>
        </a:xfrm>
      </p:grpSpPr>
      <p:sp>
        <p:nvSpPr>
          <p:cNvPr id="2" name="Text 0"/>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The API</a:t>
            </a:r>
            <a:endParaRPr lang="en-US" sz="6400" dirty="0"/>
          </a:p>
        </p:txBody>
      </p:sp>
      <p:sp>
        <p:nvSpPr>
          <p:cNvPr id="3" name="Text 1"/>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One HTTP call, a workload on every cluster.</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07 / 23</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call, every cluster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Functions from git, containers from images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Validate now, answer 202, poll status</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Closed status vocabulary, published on /info</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FastAPI, Pydantic, cloudlet-apis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Helm chart, rendered per region</a:t>
            </a:r>
            <a:endParaRPr lang="en-US" sz="1900" dirty="0"/>
          </a:p>
        </p:txBody>
      </p:sp>
      <p:sp>
        <p:nvSpPr>
          <p:cNvPr id="15" name="Text 12"/>
          <p:cNvSpPr txBox="1"/>
          <p:nvPr/>
        </p:nvSpPr>
        <p:spPr>
          <a:xfrm>
            <a:off x="61722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16" name="Text 13"/>
          <p:cNvSpPr txBox="1"/>
          <p:nvPr/>
        </p:nvSpPr>
        <p:spPr>
          <a:xfrm>
            <a:off x="61722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offerings</a:t>
            </a:r>
            <a:endParaRPr lang="en-US" sz="1050" dirty="0"/>
          </a:p>
        </p:txBody>
      </p:sp>
      <p:sp>
        <p:nvSpPr>
          <p:cNvPr id="17" name="Text 14"/>
          <p:cNvSpPr txBox="1"/>
          <p:nvPr/>
        </p:nvSpPr>
        <p:spPr>
          <a:xfrm>
            <a:off x="89154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202</a:t>
            </a:r>
            <a:endParaRPr lang="en-US" sz="5400" dirty="0"/>
          </a:p>
        </p:txBody>
      </p:sp>
      <p:sp>
        <p:nvSpPr>
          <p:cNvPr id="18" name="Text 15"/>
          <p:cNvSpPr txBox="1"/>
          <p:nvPr/>
        </p:nvSpPr>
        <p:spPr>
          <a:xfrm>
            <a:off x="89154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every write</a:t>
            </a:r>
            <a:endParaRPr lang="en-US" sz="1050" dirty="0"/>
          </a:p>
        </p:txBody>
      </p:sp>
      <p:sp>
        <p:nvSpPr>
          <p:cNvPr id="19" name="Text 16"/>
          <p:cNvSpPr txBox="1"/>
          <p:nvPr/>
        </p:nvSpPr>
        <p:spPr>
          <a:xfrm>
            <a:off x="61722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0</a:t>
            </a:r>
            <a:endParaRPr lang="en-US" sz="5400" dirty="0"/>
          </a:p>
        </p:txBody>
      </p:sp>
      <p:sp>
        <p:nvSpPr>
          <p:cNvPr id="20" name="Text 17"/>
          <p:cNvSpPr txBox="1"/>
          <p:nvPr/>
        </p:nvSpPr>
        <p:spPr>
          <a:xfrm>
            <a:off x="61722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 for users</a:t>
            </a:r>
            <a:endParaRPr lang="en-US" sz="1050" dirty="0"/>
          </a:p>
        </p:txBody>
      </p:sp>
      <p:sp>
        <p:nvSpPr>
          <p:cNvPr id="21" name="Text 18"/>
          <p:cNvSpPr txBox="1"/>
          <p:nvPr/>
        </p:nvSpPr>
        <p:spPr>
          <a:xfrm>
            <a:off x="89154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22" name="Text 19"/>
          <p:cNvSpPr txBox="1"/>
          <p:nvPr/>
        </p:nvSpPr>
        <p:spPr>
          <a:xfrm>
            <a:off x="89154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 per deploy</a:t>
            </a:r>
            <a:endParaRPr lang="en-US" sz="1050" dirty="0"/>
          </a:p>
        </p:txBody>
      </p:sp>
      <p:sp>
        <p:nvSpPr>
          <p:cNvPr id="23" name="Text 2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08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endpoint structure</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23 endpoints under one base path</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group is in the path</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OIDC token or admin key</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Streams use short-lived tickets</a:t>
            </a:r>
            <a:endParaRPr lang="en-US" sz="1900" dirty="0"/>
          </a:p>
        </p:txBody>
      </p:sp>
      <p:sp>
        <p:nvSpPr>
          <p:cNvPr id="13" name="Shape 10"/>
          <p:cNvSpPr/>
          <p:nvPr/>
        </p:nvSpPr>
        <p:spPr>
          <a:xfrm>
            <a:off x="6172200" y="2194560"/>
            <a:ext cx="5394960" cy="3291840"/>
          </a:xfrm>
          <a:prstGeom prst="roundRect">
            <a:avLst>
              <a:gd name="adj" fmla="val 2778"/>
            </a:avLst>
          </a:prstGeom>
          <a:solidFill>
            <a:srgbClr val="F4F5F7"/>
          </a:solidFill>
          <a:ln w="12700">
            <a:solidFill>
              <a:srgbClr val="F4F5F7"/>
            </a:solidFill>
            <a:prstDash val="solid"/>
          </a:ln>
        </p:spPr>
      </p:sp>
      <p:sp>
        <p:nvSpPr>
          <p:cNvPr id="14" name="Text 11"/>
          <p:cNvSpPr txBox="1"/>
          <p:nvPr/>
        </p:nvSpPr>
        <p:spPr>
          <a:xfrm>
            <a:off x="6400800" y="2377440"/>
            <a:ext cx="5029200" cy="2926080"/>
          </a:xfrm>
          <a:prstGeom prst="rect">
            <a:avLst/>
          </a:prstGeom>
          <a:noFill/>
          <a:ln/>
        </p:spPr>
        <p:txBody>
          <a:bodyPr wrap="square" lIns="0" tIns="0" rIns="0" bIns="0" rtlCol="0" anchor="t"/>
          <a:lstStyle/>
          <a:p>
            <a:pPr indent="0" marL="0">
              <a:lnSpc>
                <a:spcPct val="135000"/>
              </a:lnSpc>
              <a:buNone/>
            </a:pPr>
            <a:r>
              <a:rPr lang="en-US" sz="1150" b="1" dirty="0">
                <a:solidFill>
                  <a:srgbClr val="E4572E"/>
                </a:solidFill>
                <a:latin typeface="Courier New" pitchFamily="34" charset="0"/>
                <a:ea typeface="Courier New" pitchFamily="34" charset="-122"/>
                <a:cs typeface="Courier New" pitchFamily="34" charset="-120"/>
              </a:rPr>
              <a:t>/api/serverless/v1</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/groups/{group}/functions</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POST · GET · PUT · DELETE</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/{name}/build · /stats · /pods · /logs</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/groups/{group}/containers  →  /pull</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/functions/info · /containers/info</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/stream-tickets</a:t>
            </a:r>
            <a:endParaRPr lang="en-US" sz="1150" dirty="0"/>
          </a:p>
        </p:txBody>
      </p:sp>
      <p:sp>
        <p:nvSpPr>
          <p:cNvPr id="15" name="Text 1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09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Anatomy of a workload</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Identity: name, hostname, regions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Source: git repo or image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Runtime: env, files, port, size</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Scaling: min, max, metric, target</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Response: same shape, secrets redacted</a:t>
            </a:r>
            <a:endParaRPr lang="en-US" sz="1900" dirty="0"/>
          </a:p>
        </p:txBody>
      </p:sp>
      <p:sp>
        <p:nvSpPr>
          <p:cNvPr id="15" name="Shape 12"/>
          <p:cNvSpPr/>
          <p:nvPr/>
        </p:nvSpPr>
        <p:spPr>
          <a:xfrm>
            <a:off x="6172200" y="2286000"/>
            <a:ext cx="1051560" cy="384048"/>
          </a:xfrm>
          <a:prstGeom prst="roundRect">
            <a:avLst>
              <a:gd name="adj" fmla="val 14286"/>
            </a:avLst>
          </a:prstGeom>
          <a:solidFill>
            <a:srgbClr val="FFFFFF"/>
          </a:solidFill>
          <a:ln w="15875">
            <a:solidFill>
              <a:srgbClr val="0B7A75"/>
            </a:solidFill>
            <a:prstDash val="solid"/>
          </a:ln>
        </p:spPr>
      </p:sp>
      <p:sp>
        <p:nvSpPr>
          <p:cNvPr id="16" name="Text 13"/>
          <p:cNvSpPr txBox="1"/>
          <p:nvPr/>
        </p:nvSpPr>
        <p:spPr>
          <a:xfrm>
            <a:off x="6172200"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Pending</a:t>
            </a:r>
            <a:endParaRPr lang="en-US" sz="1200" dirty="0"/>
          </a:p>
        </p:txBody>
      </p:sp>
      <p:sp>
        <p:nvSpPr>
          <p:cNvPr id="17" name="Shape 14"/>
          <p:cNvSpPr/>
          <p:nvPr/>
        </p:nvSpPr>
        <p:spPr>
          <a:xfrm>
            <a:off x="7223760" y="2478024"/>
            <a:ext cx="256032" cy="0"/>
          </a:xfrm>
          <a:prstGeom prst="line">
            <a:avLst/>
          </a:prstGeom>
          <a:noFill/>
          <a:ln w="15875">
            <a:solidFill>
              <a:srgbClr val="98A2B3"/>
            </a:solidFill>
            <a:prstDash val="solid"/>
            <a:tailEnd type="triangle"/>
          </a:ln>
        </p:spPr>
      </p:sp>
      <p:sp>
        <p:nvSpPr>
          <p:cNvPr id="18" name="Shape 15"/>
          <p:cNvSpPr/>
          <p:nvPr/>
        </p:nvSpPr>
        <p:spPr>
          <a:xfrm>
            <a:off x="7479792" y="2286000"/>
            <a:ext cx="1051560" cy="384048"/>
          </a:xfrm>
          <a:prstGeom prst="roundRect">
            <a:avLst>
              <a:gd name="adj" fmla="val 14286"/>
            </a:avLst>
          </a:prstGeom>
          <a:solidFill>
            <a:srgbClr val="FFFFFF"/>
          </a:solidFill>
          <a:ln w="15875">
            <a:solidFill>
              <a:srgbClr val="0B7A75"/>
            </a:solidFill>
            <a:prstDash val="solid"/>
          </a:ln>
        </p:spPr>
      </p:sp>
      <p:sp>
        <p:nvSpPr>
          <p:cNvPr id="19" name="Text 16"/>
          <p:cNvSpPr txBox="1"/>
          <p:nvPr/>
        </p:nvSpPr>
        <p:spPr>
          <a:xfrm>
            <a:off x="7479792"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Building</a:t>
            </a:r>
            <a:endParaRPr lang="en-US" sz="1200" dirty="0"/>
          </a:p>
        </p:txBody>
      </p:sp>
      <p:sp>
        <p:nvSpPr>
          <p:cNvPr id="20" name="Shape 17"/>
          <p:cNvSpPr/>
          <p:nvPr/>
        </p:nvSpPr>
        <p:spPr>
          <a:xfrm>
            <a:off x="8531352" y="2478024"/>
            <a:ext cx="256032" cy="0"/>
          </a:xfrm>
          <a:prstGeom prst="line">
            <a:avLst/>
          </a:prstGeom>
          <a:noFill/>
          <a:ln w="15875">
            <a:solidFill>
              <a:srgbClr val="98A2B3"/>
            </a:solidFill>
            <a:prstDash val="solid"/>
            <a:tailEnd type="triangle"/>
          </a:ln>
        </p:spPr>
      </p:sp>
      <p:sp>
        <p:nvSpPr>
          <p:cNvPr id="21" name="Shape 18"/>
          <p:cNvSpPr/>
          <p:nvPr/>
        </p:nvSpPr>
        <p:spPr>
          <a:xfrm>
            <a:off x="8787384" y="2286000"/>
            <a:ext cx="1051560" cy="384048"/>
          </a:xfrm>
          <a:prstGeom prst="roundRect">
            <a:avLst>
              <a:gd name="adj" fmla="val 14286"/>
            </a:avLst>
          </a:prstGeom>
          <a:solidFill>
            <a:srgbClr val="FFFFFF"/>
          </a:solidFill>
          <a:ln w="15875">
            <a:solidFill>
              <a:srgbClr val="0B7A75"/>
            </a:solidFill>
            <a:prstDash val="solid"/>
          </a:ln>
        </p:spPr>
      </p:sp>
      <p:sp>
        <p:nvSpPr>
          <p:cNvPr id="22" name="Text 19"/>
          <p:cNvSpPr txBox="1"/>
          <p:nvPr/>
        </p:nvSpPr>
        <p:spPr>
          <a:xfrm>
            <a:off x="8787384"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Deploying</a:t>
            </a:r>
            <a:endParaRPr lang="en-US" sz="1200" dirty="0"/>
          </a:p>
        </p:txBody>
      </p:sp>
      <p:sp>
        <p:nvSpPr>
          <p:cNvPr id="23" name="Shape 20"/>
          <p:cNvSpPr/>
          <p:nvPr/>
        </p:nvSpPr>
        <p:spPr>
          <a:xfrm>
            <a:off x="9838944" y="2478024"/>
            <a:ext cx="256032" cy="0"/>
          </a:xfrm>
          <a:prstGeom prst="line">
            <a:avLst/>
          </a:prstGeom>
          <a:noFill/>
          <a:ln w="15875">
            <a:solidFill>
              <a:srgbClr val="98A2B3"/>
            </a:solidFill>
            <a:prstDash val="solid"/>
            <a:tailEnd type="triangle"/>
          </a:ln>
        </p:spPr>
      </p:sp>
      <p:sp>
        <p:nvSpPr>
          <p:cNvPr id="24" name="Shape 21"/>
          <p:cNvSpPr/>
          <p:nvPr/>
        </p:nvSpPr>
        <p:spPr>
          <a:xfrm>
            <a:off x="10094976" y="2286000"/>
            <a:ext cx="1051560" cy="384048"/>
          </a:xfrm>
          <a:prstGeom prst="roundRect">
            <a:avLst>
              <a:gd name="adj" fmla="val 14286"/>
            </a:avLst>
          </a:prstGeom>
          <a:solidFill>
            <a:srgbClr val="1B8A5A"/>
          </a:solidFill>
          <a:ln w="15875">
            <a:solidFill>
              <a:srgbClr val="1B8A5A"/>
            </a:solidFill>
            <a:prstDash val="solid"/>
          </a:ln>
        </p:spPr>
      </p:sp>
      <p:sp>
        <p:nvSpPr>
          <p:cNvPr id="25" name="Text 22"/>
          <p:cNvSpPr txBox="1"/>
          <p:nvPr/>
        </p:nvSpPr>
        <p:spPr>
          <a:xfrm>
            <a:off x="10094976" y="2286000"/>
            <a:ext cx="1051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Ready</a:t>
            </a:r>
            <a:endParaRPr lang="en-US" sz="1200" dirty="0"/>
          </a:p>
        </p:txBody>
      </p:sp>
      <p:sp>
        <p:nvSpPr>
          <p:cNvPr id="26" name="Shape 23"/>
          <p:cNvSpPr/>
          <p:nvPr/>
        </p:nvSpPr>
        <p:spPr>
          <a:xfrm>
            <a:off x="6172200" y="3063240"/>
            <a:ext cx="1051560" cy="384048"/>
          </a:xfrm>
          <a:prstGeom prst="roundRect">
            <a:avLst>
              <a:gd name="adj" fmla="val 14286"/>
            </a:avLst>
          </a:prstGeom>
          <a:solidFill>
            <a:srgbClr val="FFFFFF"/>
          </a:solidFill>
          <a:ln w="15875">
            <a:solidFill>
              <a:srgbClr val="C0392B"/>
            </a:solidFill>
            <a:prstDash val="solid"/>
          </a:ln>
        </p:spPr>
      </p:sp>
      <p:sp>
        <p:nvSpPr>
          <p:cNvPr id="27" name="Text 24"/>
          <p:cNvSpPr txBox="1"/>
          <p:nvPr/>
        </p:nvSpPr>
        <p:spPr>
          <a:xfrm>
            <a:off x="6172200" y="3063240"/>
            <a:ext cx="1051560" cy="384048"/>
          </a:xfrm>
          <a:prstGeom prst="rect">
            <a:avLst/>
          </a:prstGeom>
          <a:noFill/>
          <a:ln/>
        </p:spPr>
        <p:txBody>
          <a:bodyPr wrap="square" lIns="0" tIns="0" rIns="0" bIns="0" rtlCol="0" anchor="ctr"/>
          <a:lstStyle/>
          <a:p>
            <a:pPr algn="ctr" indent="0" marL="0">
              <a:buNone/>
            </a:pPr>
            <a:r>
              <a:rPr lang="en-US" sz="1200" b="1" dirty="0">
                <a:solidFill>
                  <a:srgbClr val="C0392B"/>
                </a:solidFill>
                <a:latin typeface="Calibri" pitchFamily="34" charset="0"/>
                <a:ea typeface="Calibri" pitchFamily="34" charset="-122"/>
                <a:cs typeface="Calibri" pitchFamily="34" charset="-120"/>
              </a:rPr>
              <a:t>Failed</a:t>
            </a:r>
            <a:endParaRPr lang="en-US" sz="1200" dirty="0"/>
          </a:p>
        </p:txBody>
      </p:sp>
      <p:sp>
        <p:nvSpPr>
          <p:cNvPr id="28" name="Text 25"/>
          <p:cNvSpPr txBox="1"/>
          <p:nvPr/>
        </p:nvSpPr>
        <p:spPr>
          <a:xfrm>
            <a:off x="7360920" y="3063240"/>
            <a:ext cx="2743200" cy="384048"/>
          </a:xfrm>
          <a:prstGeom prst="rect">
            <a:avLst/>
          </a:prstGeom>
          <a:noFill/>
          <a:ln/>
        </p:spPr>
        <p:txBody>
          <a:bodyPr wrap="square" lIns="0" tIns="0" rIns="0" bIns="0" rtlCol="0" anchor="ctr"/>
          <a:lstStyle/>
          <a:p>
            <a:pPr indent="0" marL="0">
              <a:buNone/>
            </a:pPr>
            <a:r>
              <a:rPr lang="en-US" sz="1200" dirty="0">
                <a:solidFill>
                  <a:srgbClr val="667085"/>
                </a:solidFill>
                <a:latin typeface="Calibri" pitchFamily="34" charset="0"/>
                <a:ea typeface="Calibri" pitchFamily="34" charset="-122"/>
                <a:cs typeface="Calibri" pitchFamily="34" charset="-120"/>
              </a:rPr>
              <a:t>with a reason:</a:t>
            </a:r>
            <a:endParaRPr lang="en-US" sz="1200" dirty="0"/>
          </a:p>
        </p:txBody>
      </p:sp>
      <p:sp>
        <p:nvSpPr>
          <p:cNvPr id="29" name="Shape 26"/>
          <p:cNvSpPr/>
          <p:nvPr/>
        </p:nvSpPr>
        <p:spPr>
          <a:xfrm>
            <a:off x="6172200" y="3657600"/>
            <a:ext cx="1007669" cy="310896"/>
          </a:xfrm>
          <a:prstGeom prst="roundRect">
            <a:avLst>
              <a:gd name="adj" fmla="val 14706"/>
            </a:avLst>
          </a:prstGeom>
          <a:solidFill>
            <a:srgbClr val="FFFFFF"/>
          </a:solidFill>
          <a:ln w="9525">
            <a:solidFill>
              <a:srgbClr val="E4E7EC"/>
            </a:solidFill>
            <a:prstDash val="solid"/>
          </a:ln>
        </p:spPr>
      </p:sp>
      <p:sp>
        <p:nvSpPr>
          <p:cNvPr id="30" name="Text 27"/>
          <p:cNvSpPr txBox="1"/>
          <p:nvPr/>
        </p:nvSpPr>
        <p:spPr>
          <a:xfrm>
            <a:off x="6172200"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BuildFailed</a:t>
            </a:r>
            <a:endParaRPr lang="en-US" sz="950" dirty="0"/>
          </a:p>
        </p:txBody>
      </p:sp>
      <p:sp>
        <p:nvSpPr>
          <p:cNvPr id="31" name="Shape 28"/>
          <p:cNvSpPr/>
          <p:nvPr/>
        </p:nvSpPr>
        <p:spPr>
          <a:xfrm>
            <a:off x="7289597" y="3657600"/>
            <a:ext cx="1307592" cy="310896"/>
          </a:xfrm>
          <a:prstGeom prst="roundRect">
            <a:avLst>
              <a:gd name="adj" fmla="val 14706"/>
            </a:avLst>
          </a:prstGeom>
          <a:solidFill>
            <a:srgbClr val="FFFFFF"/>
          </a:solidFill>
          <a:ln w="9525">
            <a:solidFill>
              <a:srgbClr val="E4E7EC"/>
            </a:solidFill>
            <a:prstDash val="solid"/>
          </a:ln>
        </p:spPr>
      </p:sp>
      <p:sp>
        <p:nvSpPr>
          <p:cNvPr id="32" name="Text 29"/>
          <p:cNvSpPr txBox="1"/>
          <p:nvPr/>
        </p:nvSpPr>
        <p:spPr>
          <a:xfrm>
            <a:off x="7289597" y="3657600"/>
            <a:ext cx="1307592"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ImagePullFailed</a:t>
            </a:r>
            <a:endParaRPr lang="en-US" sz="950" dirty="0"/>
          </a:p>
        </p:txBody>
      </p:sp>
      <p:sp>
        <p:nvSpPr>
          <p:cNvPr id="33" name="Shape 30"/>
          <p:cNvSpPr/>
          <p:nvPr/>
        </p:nvSpPr>
        <p:spPr>
          <a:xfrm>
            <a:off x="8706917" y="3657600"/>
            <a:ext cx="1082650" cy="310896"/>
          </a:xfrm>
          <a:prstGeom prst="roundRect">
            <a:avLst>
              <a:gd name="adj" fmla="val 14706"/>
            </a:avLst>
          </a:prstGeom>
          <a:solidFill>
            <a:srgbClr val="FFFFFF"/>
          </a:solidFill>
          <a:ln w="9525">
            <a:solidFill>
              <a:srgbClr val="E4E7EC"/>
            </a:solidFill>
            <a:prstDash val="solid"/>
          </a:ln>
        </p:spPr>
      </p:sp>
      <p:sp>
        <p:nvSpPr>
          <p:cNvPr id="34" name="Text 31"/>
          <p:cNvSpPr txBox="1"/>
          <p:nvPr/>
        </p:nvSpPr>
        <p:spPr>
          <a:xfrm>
            <a:off x="8706917" y="3657600"/>
            <a:ext cx="1082650"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CrashLooping</a:t>
            </a:r>
            <a:endParaRPr lang="en-US" sz="950" dirty="0"/>
          </a:p>
        </p:txBody>
      </p:sp>
      <p:sp>
        <p:nvSpPr>
          <p:cNvPr id="35" name="Shape 32"/>
          <p:cNvSpPr/>
          <p:nvPr/>
        </p:nvSpPr>
        <p:spPr>
          <a:xfrm>
            <a:off x="9899294" y="3657600"/>
            <a:ext cx="1007669" cy="310896"/>
          </a:xfrm>
          <a:prstGeom prst="roundRect">
            <a:avLst>
              <a:gd name="adj" fmla="val 14706"/>
            </a:avLst>
          </a:prstGeom>
          <a:solidFill>
            <a:srgbClr val="FFFFFF"/>
          </a:solidFill>
          <a:ln w="9525">
            <a:solidFill>
              <a:srgbClr val="E4E7EC"/>
            </a:solidFill>
            <a:prstDash val="solid"/>
          </a:ln>
        </p:spPr>
      </p:sp>
      <p:sp>
        <p:nvSpPr>
          <p:cNvPr id="36" name="Text 33"/>
          <p:cNvSpPr txBox="1"/>
          <p:nvPr/>
        </p:nvSpPr>
        <p:spPr>
          <a:xfrm>
            <a:off x="9899294"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ConfigError</a:t>
            </a:r>
            <a:endParaRPr lang="en-US" sz="950" dirty="0"/>
          </a:p>
        </p:txBody>
      </p:sp>
      <p:sp>
        <p:nvSpPr>
          <p:cNvPr id="37" name="Shape 34"/>
          <p:cNvSpPr/>
          <p:nvPr/>
        </p:nvSpPr>
        <p:spPr>
          <a:xfrm>
            <a:off x="6172200" y="4059936"/>
            <a:ext cx="1982419" cy="310896"/>
          </a:xfrm>
          <a:prstGeom prst="roundRect">
            <a:avLst>
              <a:gd name="adj" fmla="val 14706"/>
            </a:avLst>
          </a:prstGeom>
          <a:solidFill>
            <a:srgbClr val="FFFFFF"/>
          </a:solidFill>
          <a:ln w="9525">
            <a:solidFill>
              <a:srgbClr val="E4E7EC"/>
            </a:solidFill>
            <a:prstDash val="solid"/>
          </a:ln>
        </p:spPr>
      </p:sp>
      <p:sp>
        <p:nvSpPr>
          <p:cNvPr id="38" name="Text 35"/>
          <p:cNvSpPr txBox="1"/>
          <p:nvPr/>
        </p:nvSpPr>
        <p:spPr>
          <a:xfrm>
            <a:off x="6172200" y="4059936"/>
            <a:ext cx="198241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ProgressDeadlineExceeded</a:t>
            </a:r>
            <a:endParaRPr lang="en-US" sz="9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10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Talking to the cluster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Client certificate mTLS, always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kubeconfig, no service-account token</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certificate's CN is the user</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Address derived from the region name</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write is server-side apply</a:t>
            </a:r>
            <a:endParaRPr lang="en-US" sz="1900" dirty="0"/>
          </a:p>
        </p:txBody>
      </p:sp>
      <p:sp>
        <p:nvSpPr>
          <p:cNvPr id="15" name="Shape 12"/>
          <p:cNvSpPr/>
          <p:nvPr/>
        </p:nvSpPr>
        <p:spPr>
          <a:xfrm>
            <a:off x="8599932" y="2686050"/>
            <a:ext cx="539496" cy="0"/>
          </a:xfrm>
          <a:prstGeom prst="line">
            <a:avLst/>
          </a:prstGeom>
          <a:noFill/>
          <a:ln w="15875">
            <a:solidFill>
              <a:srgbClr val="98A2B3"/>
            </a:solidFill>
            <a:prstDash val="solid"/>
            <a:tailEnd type="triangle"/>
          </a:ln>
        </p:spPr>
      </p:sp>
      <p:sp>
        <p:nvSpPr>
          <p:cNvPr id="16" name="Shape 13"/>
          <p:cNvSpPr/>
          <p:nvPr/>
        </p:nvSpPr>
        <p:spPr>
          <a:xfrm>
            <a:off x="10263378" y="3000756"/>
            <a:ext cx="0" cy="809244"/>
          </a:xfrm>
          <a:prstGeom prst="line">
            <a:avLst/>
          </a:prstGeom>
          <a:noFill/>
          <a:ln w="15875">
            <a:solidFill>
              <a:srgbClr val="98A2B3"/>
            </a:solidFill>
            <a:prstDash val="solid"/>
            <a:tailEnd type="triangle"/>
          </a:ln>
        </p:spPr>
      </p:sp>
      <p:sp>
        <p:nvSpPr>
          <p:cNvPr id="17" name="Shape 14"/>
          <p:cNvSpPr/>
          <p:nvPr/>
        </p:nvSpPr>
        <p:spPr>
          <a:xfrm flipH="1">
            <a:off x="8599932" y="4124706"/>
            <a:ext cx="539496" cy="0"/>
          </a:xfrm>
          <a:prstGeom prst="line">
            <a:avLst/>
          </a:prstGeom>
          <a:noFill/>
          <a:ln w="15875">
            <a:solidFill>
              <a:srgbClr val="98A2B3"/>
            </a:solidFill>
            <a:prstDash val="solid"/>
            <a:tailEnd type="triangle"/>
          </a:ln>
        </p:spPr>
      </p:sp>
      <p:sp>
        <p:nvSpPr>
          <p:cNvPr id="18" name="Shape 15"/>
          <p:cNvSpPr/>
          <p:nvPr/>
        </p:nvSpPr>
        <p:spPr>
          <a:xfrm flipH="1" flipV="1">
            <a:off x="7475982" y="4439412"/>
            <a:ext cx="1393698" cy="539496"/>
          </a:xfrm>
          <a:prstGeom prst="line">
            <a:avLst/>
          </a:prstGeom>
          <a:noFill/>
          <a:ln w="15875">
            <a:solidFill>
              <a:srgbClr val="98A2B3"/>
            </a:solidFill>
            <a:prstDash val="dash"/>
            <a:tailEnd type="triangle"/>
          </a:ln>
        </p:spPr>
      </p:sp>
      <p:sp>
        <p:nvSpPr>
          <p:cNvPr id="19" name="Shape 16"/>
          <p:cNvSpPr/>
          <p:nvPr/>
        </p:nvSpPr>
        <p:spPr>
          <a:xfrm>
            <a:off x="6352032" y="2371344"/>
            <a:ext cx="2247900" cy="629412"/>
          </a:xfrm>
          <a:prstGeom prst="roundRect">
            <a:avLst>
              <a:gd name="adj" fmla="val 11622"/>
            </a:avLst>
          </a:prstGeom>
          <a:solidFill>
            <a:srgbClr val="FFFFFF"/>
          </a:solidFill>
          <a:ln w="15875">
            <a:solidFill>
              <a:srgbClr val="0B7A75"/>
            </a:solidFill>
            <a:prstDash val="solid"/>
          </a:ln>
        </p:spPr>
      </p:sp>
      <p:sp>
        <p:nvSpPr>
          <p:cNvPr id="20" name="Text 17"/>
          <p:cNvSpPr txBox="1"/>
          <p:nvPr/>
        </p:nvSpPr>
        <p:spPr>
          <a:xfrm>
            <a:off x="6352032"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cert-manager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ACME, internal CA</a:t>
            </a:r>
            <a:endParaRPr lang="en-US" sz="1200" dirty="0"/>
          </a:p>
        </p:txBody>
      </p:sp>
      <p:sp>
        <p:nvSpPr>
          <p:cNvPr id="21" name="Shape 18"/>
          <p:cNvSpPr/>
          <p:nvPr/>
        </p:nvSpPr>
        <p:spPr>
          <a:xfrm>
            <a:off x="9139428" y="2371344"/>
            <a:ext cx="2247900" cy="629412"/>
          </a:xfrm>
          <a:prstGeom prst="roundRect">
            <a:avLst>
              <a:gd name="adj" fmla="val 11622"/>
            </a:avLst>
          </a:prstGeom>
          <a:solidFill>
            <a:srgbClr val="FFFFFF"/>
          </a:solidFill>
          <a:ln w="15875">
            <a:solidFill>
              <a:srgbClr val="0B7A75"/>
            </a:solidFill>
            <a:prstDash val="solid"/>
          </a:ln>
        </p:spPr>
      </p:sp>
      <p:sp>
        <p:nvSpPr>
          <p:cNvPr id="22" name="Text 19"/>
          <p:cNvSpPr txBox="1"/>
          <p:nvPr/>
        </p:nvSpPr>
        <p:spPr>
          <a:xfrm>
            <a:off x="9139428"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pod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tls.crt + tls.key</a:t>
            </a:r>
            <a:endParaRPr lang="en-US" sz="1200" dirty="0"/>
          </a:p>
        </p:txBody>
      </p:sp>
      <p:sp>
        <p:nvSpPr>
          <p:cNvPr id="23" name="Shape 20"/>
          <p:cNvSpPr/>
          <p:nvPr/>
        </p:nvSpPr>
        <p:spPr>
          <a:xfrm>
            <a:off x="9139428" y="3810000"/>
            <a:ext cx="2247900" cy="629412"/>
          </a:xfrm>
          <a:prstGeom prst="roundRect">
            <a:avLst>
              <a:gd name="adj" fmla="val 11622"/>
            </a:avLst>
          </a:prstGeom>
          <a:solidFill>
            <a:srgbClr val="FFFFFF"/>
          </a:solidFill>
          <a:ln w="15875">
            <a:solidFill>
              <a:srgbClr val="0B7A75"/>
            </a:solidFill>
            <a:prstDash val="solid"/>
          </a:ln>
        </p:spPr>
      </p:sp>
      <p:sp>
        <p:nvSpPr>
          <p:cNvPr id="24" name="Text 21"/>
          <p:cNvSpPr txBox="1"/>
          <p:nvPr/>
        </p:nvSpPr>
        <p:spPr>
          <a:xfrm>
            <a:off x="9139428"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server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api.{cluster}.{domain}:6443</a:t>
            </a:r>
            <a:endParaRPr lang="en-US" sz="1200" dirty="0"/>
          </a:p>
        </p:txBody>
      </p:sp>
      <p:sp>
        <p:nvSpPr>
          <p:cNvPr id="25" name="Shape 22"/>
          <p:cNvSpPr/>
          <p:nvPr/>
        </p:nvSpPr>
        <p:spPr>
          <a:xfrm>
            <a:off x="6352032" y="3810000"/>
            <a:ext cx="2247900" cy="629412"/>
          </a:xfrm>
          <a:prstGeom prst="roundRect">
            <a:avLst>
              <a:gd name="adj" fmla="val 11622"/>
            </a:avLst>
          </a:prstGeom>
          <a:solidFill>
            <a:srgbClr val="FFFFFF"/>
          </a:solidFill>
          <a:ln w="15875">
            <a:solidFill>
              <a:srgbClr val="0B7A75"/>
            </a:solidFill>
            <a:prstDash val="solid"/>
          </a:ln>
        </p:spPr>
      </p:sp>
      <p:sp>
        <p:nvSpPr>
          <p:cNvPr id="26" name="Text 23"/>
          <p:cNvSpPr txBox="1"/>
          <p:nvPr/>
        </p:nvSpPr>
        <p:spPr>
          <a:xfrm>
            <a:off x="6352032"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RBAC</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per tenant namespace</a:t>
            </a:r>
            <a:endParaRPr lang="en-US" sz="1200" dirty="0"/>
          </a:p>
        </p:txBody>
      </p:sp>
      <p:sp>
        <p:nvSpPr>
          <p:cNvPr id="27" name="Shape 24"/>
          <p:cNvSpPr/>
          <p:nvPr/>
        </p:nvSpPr>
        <p:spPr>
          <a:xfrm>
            <a:off x="6711696" y="4978908"/>
            <a:ext cx="4315968" cy="503530"/>
          </a:xfrm>
          <a:prstGeom prst="roundRect">
            <a:avLst>
              <a:gd name="adj" fmla="val 14528"/>
            </a:avLst>
          </a:prstGeom>
          <a:solidFill>
            <a:srgbClr val="FFFFFF"/>
          </a:solidFill>
          <a:ln w="22225">
            <a:solidFill>
              <a:srgbClr val="E4572E"/>
            </a:solidFill>
            <a:prstDash val="solid"/>
          </a:ln>
        </p:spPr>
      </p:sp>
      <p:sp>
        <p:nvSpPr>
          <p:cNvPr id="28" name="Text 25"/>
          <p:cNvSpPr txBox="1"/>
          <p:nvPr/>
        </p:nvSpPr>
        <p:spPr>
          <a:xfrm>
            <a:off x="6711696" y="4978908"/>
            <a:ext cx="4315968"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CN = serverless-api.clients.{domain}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Kubernetes user</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11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Active/active, two regions</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API runs in both regions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deploy fans out to both</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leader election, deterministic specs</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region builds what it runs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State lives in the Knative Service</a:t>
            </a:r>
            <a:endParaRPr lang="en-US" sz="1900" dirty="0"/>
          </a:p>
        </p:txBody>
      </p:sp>
      <p:sp>
        <p:nvSpPr>
          <p:cNvPr id="15" name="Shape 12"/>
          <p:cNvSpPr/>
          <p:nvPr/>
        </p:nvSpPr>
        <p:spPr>
          <a:xfrm flipH="1">
            <a:off x="7520940" y="2641092"/>
            <a:ext cx="1348740" cy="719328"/>
          </a:xfrm>
          <a:prstGeom prst="line">
            <a:avLst/>
          </a:prstGeom>
          <a:noFill/>
          <a:ln w="15875">
            <a:solidFill>
              <a:srgbClr val="98A2B3"/>
            </a:solidFill>
            <a:prstDash val="solid"/>
            <a:tailEnd type="triangle"/>
          </a:ln>
        </p:spPr>
      </p:sp>
      <p:sp>
        <p:nvSpPr>
          <p:cNvPr id="16" name="Shape 13"/>
          <p:cNvSpPr/>
          <p:nvPr/>
        </p:nvSpPr>
        <p:spPr>
          <a:xfrm>
            <a:off x="8869680" y="2641092"/>
            <a:ext cx="1348740" cy="719328"/>
          </a:xfrm>
          <a:prstGeom prst="line">
            <a:avLst/>
          </a:prstGeom>
          <a:noFill/>
          <a:ln w="15875">
            <a:solidFill>
              <a:srgbClr val="98A2B3"/>
            </a:solidFill>
            <a:prstDash val="solid"/>
            <a:tailEnd type="triangle"/>
          </a:ln>
        </p:spPr>
      </p:sp>
      <p:sp>
        <p:nvSpPr>
          <p:cNvPr id="17" name="Shape 14"/>
          <p:cNvSpPr/>
          <p:nvPr/>
        </p:nvSpPr>
        <p:spPr>
          <a:xfrm>
            <a:off x="8689848" y="3899916"/>
            <a:ext cx="359664" cy="0"/>
          </a:xfrm>
          <a:prstGeom prst="line">
            <a:avLst/>
          </a:prstGeom>
          <a:noFill/>
          <a:ln w="15875">
            <a:solidFill>
              <a:srgbClr val="98A2B3"/>
            </a:solidFill>
            <a:prstDash val="dash"/>
            <a:tailEnd type="triangle"/>
          </a:ln>
        </p:spPr>
      </p:sp>
      <p:sp>
        <p:nvSpPr>
          <p:cNvPr id="18" name="Shape 15"/>
          <p:cNvSpPr/>
          <p:nvPr/>
        </p:nvSpPr>
        <p:spPr>
          <a:xfrm>
            <a:off x="7520940" y="4439412"/>
            <a:ext cx="1348740" cy="629412"/>
          </a:xfrm>
          <a:prstGeom prst="line">
            <a:avLst/>
          </a:prstGeom>
          <a:noFill/>
          <a:ln w="15875">
            <a:solidFill>
              <a:srgbClr val="98A2B3"/>
            </a:solidFill>
            <a:prstDash val="dash"/>
            <a:tailEnd type="triangle"/>
          </a:ln>
        </p:spPr>
      </p:sp>
      <p:sp>
        <p:nvSpPr>
          <p:cNvPr id="19" name="Shape 16"/>
          <p:cNvSpPr/>
          <p:nvPr/>
        </p:nvSpPr>
        <p:spPr>
          <a:xfrm flipH="1">
            <a:off x="8869680" y="4439412"/>
            <a:ext cx="1348740" cy="629412"/>
          </a:xfrm>
          <a:prstGeom prst="line">
            <a:avLst/>
          </a:prstGeom>
          <a:noFill/>
          <a:ln w="15875">
            <a:solidFill>
              <a:srgbClr val="98A2B3"/>
            </a:solidFill>
            <a:prstDash val="dash"/>
            <a:tailEnd type="triangle"/>
          </a:ln>
        </p:spPr>
      </p:sp>
      <p:sp>
        <p:nvSpPr>
          <p:cNvPr id="20" name="Shape 17"/>
          <p:cNvSpPr/>
          <p:nvPr/>
        </p:nvSpPr>
        <p:spPr>
          <a:xfrm>
            <a:off x="7520940" y="2101596"/>
            <a:ext cx="2697480" cy="539496"/>
          </a:xfrm>
          <a:prstGeom prst="roundRect">
            <a:avLst>
              <a:gd name="adj" fmla="val 13559"/>
            </a:avLst>
          </a:prstGeom>
          <a:solidFill>
            <a:srgbClr val="FFFFFF"/>
          </a:solidFill>
          <a:ln w="22225">
            <a:solidFill>
              <a:srgbClr val="E4572E"/>
            </a:solidFill>
            <a:prstDash val="solid"/>
          </a:ln>
        </p:spPr>
      </p:sp>
      <p:sp>
        <p:nvSpPr>
          <p:cNvPr id="21" name="Text 18"/>
          <p:cNvSpPr txBox="1"/>
          <p:nvPr/>
        </p:nvSpPr>
        <p:spPr>
          <a:xfrm>
            <a:off x="7520940" y="2101596"/>
            <a:ext cx="2697480"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DNS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*.serverless.{domain} → active region</a:t>
            </a:r>
            <a:endParaRPr lang="en-US" sz="1200" dirty="0"/>
          </a:p>
        </p:txBody>
      </p:sp>
      <p:sp>
        <p:nvSpPr>
          <p:cNvPr id="22" name="Shape 19"/>
          <p:cNvSpPr/>
          <p:nvPr/>
        </p:nvSpPr>
        <p:spPr>
          <a:xfrm>
            <a:off x="6352032" y="3360420"/>
            <a:ext cx="2337816" cy="1078992"/>
          </a:xfrm>
          <a:prstGeom prst="roundRect">
            <a:avLst>
              <a:gd name="adj" fmla="val 6780"/>
            </a:avLst>
          </a:prstGeom>
          <a:solidFill>
            <a:srgbClr val="FFFFFF"/>
          </a:solidFill>
          <a:ln w="15875">
            <a:solidFill>
              <a:srgbClr val="0B7A75"/>
            </a:solidFill>
            <a:prstDash val="solid"/>
          </a:ln>
        </p:spPr>
      </p:sp>
      <p:sp>
        <p:nvSpPr>
          <p:cNvPr id="23" name="Text 20"/>
          <p:cNvSpPr txBox="1"/>
          <p:nvPr/>
        </p:nvSpPr>
        <p:spPr>
          <a:xfrm>
            <a:off x="635203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4" name="Shape 21"/>
          <p:cNvSpPr/>
          <p:nvPr/>
        </p:nvSpPr>
        <p:spPr>
          <a:xfrm>
            <a:off x="9049512" y="3360420"/>
            <a:ext cx="2337816" cy="1078992"/>
          </a:xfrm>
          <a:prstGeom prst="roundRect">
            <a:avLst>
              <a:gd name="adj" fmla="val 6780"/>
            </a:avLst>
          </a:prstGeom>
          <a:solidFill>
            <a:srgbClr val="FFFFFF"/>
          </a:solidFill>
          <a:ln w="15875">
            <a:solidFill>
              <a:srgbClr val="0B7A75"/>
            </a:solidFill>
            <a:prstDash val="solid"/>
          </a:ln>
        </p:spPr>
      </p:sp>
      <p:sp>
        <p:nvSpPr>
          <p:cNvPr id="25" name="Text 22"/>
          <p:cNvSpPr txBox="1"/>
          <p:nvPr/>
        </p:nvSpPr>
        <p:spPr>
          <a:xfrm>
            <a:off x="904951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6" name="Shape 23"/>
          <p:cNvSpPr/>
          <p:nvPr/>
        </p:nvSpPr>
        <p:spPr>
          <a:xfrm>
            <a:off x="7251192" y="5068824"/>
            <a:ext cx="3236976" cy="503530"/>
          </a:xfrm>
          <a:prstGeom prst="roundRect">
            <a:avLst>
              <a:gd name="adj" fmla="val 14528"/>
            </a:avLst>
          </a:prstGeom>
          <a:solidFill>
            <a:srgbClr val="FFFFFF"/>
          </a:solidFill>
          <a:ln w="15875">
            <a:solidFill>
              <a:srgbClr val="0B7A75"/>
            </a:solidFill>
            <a:prstDash val="solid"/>
          </a:ln>
        </p:spPr>
      </p:sp>
      <p:sp>
        <p:nvSpPr>
          <p:cNvPr id="27" name="Text 24"/>
          <p:cNvSpPr txBox="1"/>
          <p:nvPr/>
        </p:nvSpPr>
        <p:spPr>
          <a:xfrm>
            <a:off x="7251192" y="5068824"/>
            <a:ext cx="3236976"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 = the truth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no database, no replication</a:t>
            </a:r>
            <a:endParaRPr lang="en-US" sz="1200" dirty="0"/>
          </a:p>
        </p:txBody>
      </p:sp>
      <p:sp>
        <p:nvSpPr>
          <p:cNvPr id="28" name="Text 25"/>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12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tenant controller</a:t>
            </a:r>
            <a:endParaRPr lang="en-US" sz="3800" dirty="0"/>
          </a:p>
        </p:txBody>
      </p:sp>
      <p:sp>
        <p:nvSpPr>
          <p:cNvPr id="5" name="step:1"/>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 namespace per SSO group</a:t>
            </a:r>
            <a:endParaRPr lang="en-US" sz="1700" dirty="0"/>
          </a:p>
        </p:txBody>
      </p:sp>
      <p:sp>
        <p:nvSpPr>
          <p:cNvPr id="7" name="step:2"/>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Separate process, separate certificate</a:t>
            </a:r>
            <a:endParaRPr lang="en-US" sz="1700" dirty="0"/>
          </a:p>
        </p:txBody>
      </p:sp>
      <p:sp>
        <p:nvSpPr>
          <p:cNvPr id="9" name="step:3"/>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API never creates namespaces</a:t>
            </a:r>
            <a:endParaRPr lang="en-US" sz="1700" dirty="0"/>
          </a:p>
        </p:txBody>
      </p:sp>
      <p:sp>
        <p:nvSpPr>
          <p:cNvPr id="11" name="step:4"/>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Provision before every deploy, fail closed</a:t>
            </a:r>
            <a:endParaRPr lang="en-US" sz="1700" dirty="0"/>
          </a:p>
        </p:txBody>
      </p:sp>
      <p:sp>
        <p:nvSpPr>
          <p:cNvPr id="13" name="step:5"/>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Reconcile the local cluster only</a:t>
            </a:r>
            <a:endParaRPr lang="en-US" sz="1700" dirty="0"/>
          </a:p>
        </p:txBody>
      </p:sp>
      <p:sp>
        <p:nvSpPr>
          <p:cNvPr id="15" name="step:6"/>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Garbage-collect empty namespaces, opt-in</a:t>
            </a:r>
            <a:endParaRPr lang="en-US" sz="1700" dirty="0"/>
          </a:p>
        </p:txBody>
      </p:sp>
      <p:sp>
        <p:nvSpPr>
          <p:cNvPr id="17" name="Shape 14"/>
          <p:cNvSpPr/>
          <p:nvPr/>
        </p:nvSpPr>
        <p:spPr>
          <a:xfrm>
            <a:off x="8330184" y="2578151"/>
            <a:ext cx="899160" cy="0"/>
          </a:xfrm>
          <a:prstGeom prst="line">
            <a:avLst/>
          </a:prstGeom>
          <a:noFill/>
          <a:ln w="15875">
            <a:solidFill>
              <a:srgbClr val="98A2B3"/>
            </a:solidFill>
            <a:prstDash val="solid"/>
            <a:tailEnd type="triangle"/>
          </a:ln>
        </p:spPr>
      </p:sp>
      <p:sp>
        <p:nvSpPr>
          <p:cNvPr id="18" name="Shape 15"/>
          <p:cNvSpPr/>
          <p:nvPr/>
        </p:nvSpPr>
        <p:spPr>
          <a:xfrm flipH="1">
            <a:off x="7520940" y="2874874"/>
            <a:ext cx="2787396" cy="935126"/>
          </a:xfrm>
          <a:prstGeom prst="line">
            <a:avLst/>
          </a:prstGeom>
          <a:noFill/>
          <a:ln w="15875">
            <a:solidFill>
              <a:srgbClr val="98A2B3"/>
            </a:solidFill>
            <a:prstDash val="solid"/>
            <a:tailEnd type="triangle"/>
          </a:ln>
        </p:spPr>
      </p:sp>
      <p:sp>
        <p:nvSpPr>
          <p:cNvPr id="19" name="Shape 16"/>
          <p:cNvSpPr/>
          <p:nvPr/>
        </p:nvSpPr>
        <p:spPr>
          <a:xfrm flipH="1">
            <a:off x="10218420" y="2874874"/>
            <a:ext cx="89916" cy="935126"/>
          </a:xfrm>
          <a:prstGeom prst="line">
            <a:avLst/>
          </a:prstGeom>
          <a:noFill/>
          <a:ln w="15875">
            <a:solidFill>
              <a:srgbClr val="98A2B3"/>
            </a:solidFill>
            <a:prstDash val="solid"/>
            <a:tailEnd type="triangle"/>
          </a:ln>
        </p:spPr>
      </p:sp>
      <p:sp>
        <p:nvSpPr>
          <p:cNvPr id="20" name="Shape 17"/>
          <p:cNvSpPr/>
          <p:nvPr/>
        </p:nvSpPr>
        <p:spPr>
          <a:xfrm flipV="1">
            <a:off x="8869680" y="2874874"/>
            <a:ext cx="1438656" cy="2193950"/>
          </a:xfrm>
          <a:prstGeom prst="line">
            <a:avLst/>
          </a:prstGeom>
          <a:noFill/>
          <a:ln w="15875">
            <a:solidFill>
              <a:srgbClr val="98A2B3"/>
            </a:solidFill>
            <a:prstDash val="dash"/>
            <a:tailEnd type="triangle"/>
          </a:ln>
        </p:spPr>
      </p:sp>
      <p:sp>
        <p:nvSpPr>
          <p:cNvPr id="21" name="Shape 18"/>
          <p:cNvSpPr/>
          <p:nvPr/>
        </p:nvSpPr>
        <p:spPr>
          <a:xfrm>
            <a:off x="6352032" y="2281428"/>
            <a:ext cx="1978152" cy="593446"/>
          </a:xfrm>
          <a:prstGeom prst="roundRect">
            <a:avLst>
              <a:gd name="adj" fmla="val 12327"/>
            </a:avLst>
          </a:prstGeom>
          <a:solidFill>
            <a:srgbClr val="FFFFFF"/>
          </a:solidFill>
          <a:ln w="15875">
            <a:solidFill>
              <a:srgbClr val="0B7A75"/>
            </a:solidFill>
            <a:prstDash val="solid"/>
          </a:ln>
        </p:spPr>
      </p:sp>
      <p:sp>
        <p:nvSpPr>
          <p:cNvPr id="22" name="Text 19"/>
          <p:cNvSpPr txBox="1"/>
          <p:nvPr/>
        </p:nvSpPr>
        <p:spPr>
          <a:xfrm>
            <a:off x="6352032" y="2281428"/>
            <a:ext cx="1978152"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writes workloads only</a:t>
            </a:r>
            <a:endParaRPr lang="en-US" sz="1200" dirty="0"/>
          </a:p>
        </p:txBody>
      </p:sp>
      <p:sp>
        <p:nvSpPr>
          <p:cNvPr id="23" name="Shape 20"/>
          <p:cNvSpPr/>
          <p:nvPr/>
        </p:nvSpPr>
        <p:spPr>
          <a:xfrm>
            <a:off x="9229344" y="2281428"/>
            <a:ext cx="2157984" cy="593446"/>
          </a:xfrm>
          <a:prstGeom prst="roundRect">
            <a:avLst>
              <a:gd name="adj" fmla="val 12327"/>
            </a:avLst>
          </a:prstGeom>
          <a:solidFill>
            <a:srgbClr val="FFFFFF"/>
          </a:solidFill>
          <a:ln w="22225">
            <a:solidFill>
              <a:srgbClr val="E4572E"/>
            </a:solidFill>
            <a:prstDash val="solid"/>
          </a:ln>
        </p:spPr>
      </p:sp>
      <p:sp>
        <p:nvSpPr>
          <p:cNvPr id="24" name="Text 21"/>
          <p:cNvSpPr txBox="1"/>
          <p:nvPr/>
        </p:nvSpPr>
        <p:spPr>
          <a:xfrm>
            <a:off x="9229344" y="2281428"/>
            <a:ext cx="2157984"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tenant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namespaces, RBAC, policies</a:t>
            </a:r>
            <a:endParaRPr lang="en-US" sz="1200" dirty="0"/>
          </a:p>
        </p:txBody>
      </p:sp>
      <p:sp>
        <p:nvSpPr>
          <p:cNvPr id="25" name="Shape 22"/>
          <p:cNvSpPr/>
          <p:nvPr/>
        </p:nvSpPr>
        <p:spPr>
          <a:xfrm>
            <a:off x="6352032" y="3810000"/>
            <a:ext cx="2337816" cy="809244"/>
          </a:xfrm>
          <a:prstGeom prst="roundRect">
            <a:avLst>
              <a:gd name="adj" fmla="val 9040"/>
            </a:avLst>
          </a:prstGeom>
          <a:solidFill>
            <a:srgbClr val="FFFFFF"/>
          </a:solidFill>
          <a:ln w="15875">
            <a:solidFill>
              <a:srgbClr val="0B7A75"/>
            </a:solidFill>
            <a:prstDash val="solid"/>
          </a:ln>
        </p:spPr>
      </p:sp>
      <p:sp>
        <p:nvSpPr>
          <p:cNvPr id="26" name="Text 23"/>
          <p:cNvSpPr txBox="1"/>
          <p:nvPr/>
        </p:nvSpPr>
        <p:spPr>
          <a:xfrm>
            <a:off x="635203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7" name="Shape 24"/>
          <p:cNvSpPr/>
          <p:nvPr/>
        </p:nvSpPr>
        <p:spPr>
          <a:xfrm>
            <a:off x="9049512" y="3810000"/>
            <a:ext cx="2337816" cy="809244"/>
          </a:xfrm>
          <a:prstGeom prst="roundRect">
            <a:avLst>
              <a:gd name="adj" fmla="val 9040"/>
            </a:avLst>
          </a:prstGeom>
          <a:solidFill>
            <a:srgbClr val="FFFFFF"/>
          </a:solidFill>
          <a:ln w="15875">
            <a:solidFill>
              <a:srgbClr val="0B7A75"/>
            </a:solidFill>
            <a:prstDash val="solid"/>
          </a:ln>
        </p:spPr>
      </p:sp>
      <p:sp>
        <p:nvSpPr>
          <p:cNvPr id="28" name="Text 25"/>
          <p:cNvSpPr txBox="1"/>
          <p:nvPr/>
        </p:nvSpPr>
        <p:spPr>
          <a:xfrm>
            <a:off x="904951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9" name="Shape 26"/>
          <p:cNvSpPr/>
          <p:nvPr/>
        </p:nvSpPr>
        <p:spPr>
          <a:xfrm>
            <a:off x="7071360" y="5068824"/>
            <a:ext cx="3596640" cy="503530"/>
          </a:xfrm>
          <a:prstGeom prst="roundRect">
            <a:avLst>
              <a:gd name="adj" fmla="val 14528"/>
            </a:avLst>
          </a:prstGeom>
          <a:solidFill>
            <a:srgbClr val="FFFFFF"/>
          </a:solidFill>
          <a:ln w="15875">
            <a:solidFill>
              <a:srgbClr val="0B7A75"/>
            </a:solidFill>
            <a:prstDash val="solid"/>
          </a:ln>
        </p:spPr>
      </p:sp>
      <p:sp>
        <p:nvSpPr>
          <p:cNvPr id="30" name="Text 27"/>
          <p:cNvSpPr txBox="1"/>
          <p:nvPr/>
        </p:nvSpPr>
        <p:spPr>
          <a:xfrm>
            <a:off x="7071360" y="5068824"/>
            <a:ext cx="3596640"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template set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 {{group}} {{region}} {{registry}}</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13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4572E"/>
        </a:solidFill>
      </p:bgPr>
    </p:bg>
    <p:spTree>
      <p:nvGrpSpPr>
        <p:cNvPr id="1" name=""/>
        <p:cNvGrpSpPr/>
        <p:nvPr/>
      </p:nvGrpSpPr>
      <p:grpSpPr>
        <a:xfrm>
          <a:off x="0" y="0"/>
          <a:ext cx="0" cy="0"/>
          <a:chOff x="0" y="0"/>
          <a:chExt cx="0" cy="0"/>
        </a:xfrm>
      </p:grpSpPr>
      <p:sp>
        <p:nvSpPr>
          <p:cNvPr id="2" name="Text 0"/>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Functions &amp; builds</a:t>
            </a:r>
            <a:endParaRPr lang="en-US" sz="6400" dirty="0"/>
          </a:p>
        </p:txBody>
      </p:sp>
      <p:sp>
        <p:nvSpPr>
          <p:cNvPr id="3" name="Text 1"/>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'Here is my repo' hides a build.</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14 / 23</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functions are different</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Container: run this image</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 here is my repository</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takes minutes, not milliseconds</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is retried and logged</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Rebuilds fire on CVE patches, unasked</a:t>
            </a:r>
            <a:endParaRPr lang="en-US" sz="1900" dirty="0"/>
          </a:p>
        </p:txBody>
      </p:sp>
      <p:sp>
        <p:nvSpPr>
          <p:cNvPr id="15" name="Shape 12"/>
          <p:cNvSpPr/>
          <p:nvPr/>
        </p:nvSpPr>
        <p:spPr>
          <a:xfrm>
            <a:off x="7880604" y="2551176"/>
            <a:ext cx="1888236" cy="0"/>
          </a:xfrm>
          <a:prstGeom prst="line">
            <a:avLst/>
          </a:prstGeom>
          <a:noFill/>
          <a:ln w="15875">
            <a:solidFill>
              <a:srgbClr val="98A2B3"/>
            </a:solidFill>
            <a:prstDash val="solid"/>
            <a:tailEnd type="triangle"/>
          </a:ln>
        </p:spPr>
      </p:sp>
      <p:sp>
        <p:nvSpPr>
          <p:cNvPr id="16" name="Shape 13"/>
          <p:cNvSpPr/>
          <p:nvPr/>
        </p:nvSpPr>
        <p:spPr>
          <a:xfrm>
            <a:off x="7880604" y="3989832"/>
            <a:ext cx="224790" cy="0"/>
          </a:xfrm>
          <a:prstGeom prst="line">
            <a:avLst/>
          </a:prstGeom>
          <a:noFill/>
          <a:ln w="15875">
            <a:solidFill>
              <a:srgbClr val="98A2B3"/>
            </a:solidFill>
            <a:prstDash val="solid"/>
            <a:tailEnd type="triangle"/>
          </a:ln>
        </p:spPr>
      </p:sp>
      <p:sp>
        <p:nvSpPr>
          <p:cNvPr id="17" name="Shape 14"/>
          <p:cNvSpPr/>
          <p:nvPr/>
        </p:nvSpPr>
        <p:spPr>
          <a:xfrm>
            <a:off x="9633966" y="3989832"/>
            <a:ext cx="134874" cy="0"/>
          </a:xfrm>
          <a:prstGeom prst="line">
            <a:avLst/>
          </a:prstGeom>
          <a:noFill/>
          <a:ln w="15875">
            <a:solidFill>
              <a:srgbClr val="98A2B3"/>
            </a:solidFill>
            <a:prstDash val="solid"/>
            <a:tailEnd type="triangle"/>
          </a:ln>
        </p:spPr>
      </p:sp>
      <p:sp>
        <p:nvSpPr>
          <p:cNvPr id="18" name="Shape 15"/>
          <p:cNvSpPr/>
          <p:nvPr/>
        </p:nvSpPr>
        <p:spPr>
          <a:xfrm flipV="1">
            <a:off x="8869680" y="4259580"/>
            <a:ext cx="0" cy="719328"/>
          </a:xfrm>
          <a:prstGeom prst="line">
            <a:avLst/>
          </a:prstGeom>
          <a:noFill/>
          <a:ln w="15875">
            <a:solidFill>
              <a:srgbClr val="98A2B3"/>
            </a:solidFill>
            <a:prstDash val="dash"/>
            <a:tailEnd type="triangle"/>
          </a:ln>
        </p:spPr>
      </p:sp>
      <p:sp>
        <p:nvSpPr>
          <p:cNvPr id="19" name="Shape 16"/>
          <p:cNvSpPr/>
          <p:nvPr/>
        </p:nvSpPr>
        <p:spPr>
          <a:xfrm>
            <a:off x="6352032" y="2281428"/>
            <a:ext cx="1528572" cy="539496"/>
          </a:xfrm>
          <a:prstGeom prst="roundRect">
            <a:avLst>
              <a:gd name="adj" fmla="val 13559"/>
            </a:avLst>
          </a:prstGeom>
          <a:solidFill>
            <a:srgbClr val="FFFFFF"/>
          </a:solidFill>
          <a:ln w="15875">
            <a:solidFill>
              <a:srgbClr val="0B7A75"/>
            </a:solidFill>
            <a:prstDash val="solid"/>
          </a:ln>
        </p:spPr>
      </p:sp>
      <p:sp>
        <p:nvSpPr>
          <p:cNvPr id="20" name="Text 17"/>
          <p:cNvSpPr txBox="1"/>
          <p:nvPr/>
        </p:nvSpPr>
        <p:spPr>
          <a:xfrm>
            <a:off x="6352032" y="228142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container</a:t>
            </a:r>
            <a:endParaRPr lang="en-US" sz="1200" dirty="0"/>
          </a:p>
        </p:txBody>
      </p:sp>
      <p:sp>
        <p:nvSpPr>
          <p:cNvPr id="21" name="Shape 18"/>
          <p:cNvSpPr/>
          <p:nvPr/>
        </p:nvSpPr>
        <p:spPr>
          <a:xfrm>
            <a:off x="9768840" y="2281428"/>
            <a:ext cx="1618488" cy="539496"/>
          </a:xfrm>
          <a:prstGeom prst="roundRect">
            <a:avLst>
              <a:gd name="adj" fmla="val 13559"/>
            </a:avLst>
          </a:prstGeom>
          <a:solidFill>
            <a:srgbClr val="FFFFFF"/>
          </a:solidFill>
          <a:ln w="15875">
            <a:solidFill>
              <a:srgbClr val="0B7A75"/>
            </a:solidFill>
            <a:prstDash val="solid"/>
          </a:ln>
        </p:spPr>
      </p:sp>
      <p:sp>
        <p:nvSpPr>
          <p:cNvPr id="22" name="Text 19"/>
          <p:cNvSpPr txBox="1"/>
          <p:nvPr/>
        </p:nvSpPr>
        <p:spPr>
          <a:xfrm>
            <a:off x="9768840" y="2281428"/>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ready</a:t>
            </a:r>
            <a:endParaRPr lang="en-US" sz="1200" dirty="0"/>
          </a:p>
        </p:txBody>
      </p:sp>
      <p:sp>
        <p:nvSpPr>
          <p:cNvPr id="23" name="Shape 20"/>
          <p:cNvSpPr/>
          <p:nvPr/>
        </p:nvSpPr>
        <p:spPr>
          <a:xfrm>
            <a:off x="6352032" y="3720084"/>
            <a:ext cx="1528572" cy="539496"/>
          </a:xfrm>
          <a:prstGeom prst="roundRect">
            <a:avLst>
              <a:gd name="adj" fmla="val 13559"/>
            </a:avLst>
          </a:prstGeom>
          <a:solidFill>
            <a:srgbClr val="FFFFFF"/>
          </a:solidFill>
          <a:ln w="22225">
            <a:solidFill>
              <a:srgbClr val="E4572E"/>
            </a:solidFill>
            <a:prstDash val="solid"/>
          </a:ln>
        </p:spPr>
      </p:sp>
      <p:sp>
        <p:nvSpPr>
          <p:cNvPr id="24" name="Text 21"/>
          <p:cNvSpPr txBox="1"/>
          <p:nvPr/>
        </p:nvSpPr>
        <p:spPr>
          <a:xfrm>
            <a:off x="6352032"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git repo</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function</a:t>
            </a:r>
            <a:endParaRPr lang="en-US" sz="1200" dirty="0"/>
          </a:p>
        </p:txBody>
      </p:sp>
      <p:sp>
        <p:nvSpPr>
          <p:cNvPr id="25" name="Shape 22"/>
          <p:cNvSpPr/>
          <p:nvPr/>
        </p:nvSpPr>
        <p:spPr>
          <a:xfrm>
            <a:off x="8105394" y="3720084"/>
            <a:ext cx="1528572" cy="539496"/>
          </a:xfrm>
          <a:prstGeom prst="roundRect">
            <a:avLst>
              <a:gd name="adj" fmla="val 13559"/>
            </a:avLst>
          </a:prstGeom>
          <a:solidFill>
            <a:srgbClr val="FFFFFF"/>
          </a:solidFill>
          <a:ln w="15875">
            <a:solidFill>
              <a:srgbClr val="0B7A75"/>
            </a:solidFill>
            <a:prstDash val="solid"/>
          </a:ln>
        </p:spPr>
      </p:sp>
      <p:sp>
        <p:nvSpPr>
          <p:cNvPr id="26" name="Text 23"/>
          <p:cNvSpPr txBox="1"/>
          <p:nvPr/>
        </p:nvSpPr>
        <p:spPr>
          <a:xfrm>
            <a:off x="8105394"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build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minutes</a:t>
            </a:r>
            <a:endParaRPr lang="en-US" sz="1200" dirty="0"/>
          </a:p>
        </p:txBody>
      </p:sp>
      <p:sp>
        <p:nvSpPr>
          <p:cNvPr id="27" name="Shape 24"/>
          <p:cNvSpPr/>
          <p:nvPr/>
        </p:nvSpPr>
        <p:spPr>
          <a:xfrm>
            <a:off x="9768840" y="3720084"/>
            <a:ext cx="1618488" cy="539496"/>
          </a:xfrm>
          <a:prstGeom prst="roundRect">
            <a:avLst>
              <a:gd name="adj" fmla="val 13559"/>
            </a:avLst>
          </a:prstGeom>
          <a:solidFill>
            <a:srgbClr val="FFFFFF"/>
          </a:solidFill>
          <a:ln w="15875">
            <a:solidFill>
              <a:srgbClr val="0B7A75"/>
            </a:solidFill>
            <a:prstDash val="solid"/>
          </a:ln>
        </p:spPr>
      </p:sp>
      <p:sp>
        <p:nvSpPr>
          <p:cNvPr id="28" name="Text 25"/>
          <p:cNvSpPr txBox="1"/>
          <p:nvPr/>
        </p:nvSpPr>
        <p:spPr>
          <a:xfrm>
            <a:off x="9768840" y="3720084"/>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digest rolled in</a:t>
            </a:r>
            <a:endParaRPr lang="en-US" sz="1200" dirty="0"/>
          </a:p>
        </p:txBody>
      </p:sp>
      <p:sp>
        <p:nvSpPr>
          <p:cNvPr id="29" name="Shape 26"/>
          <p:cNvSpPr/>
          <p:nvPr/>
        </p:nvSpPr>
        <p:spPr>
          <a:xfrm>
            <a:off x="8105394" y="4978908"/>
            <a:ext cx="1528572" cy="539496"/>
          </a:xfrm>
          <a:prstGeom prst="roundRect">
            <a:avLst>
              <a:gd name="adj" fmla="val 13559"/>
            </a:avLst>
          </a:prstGeom>
          <a:solidFill>
            <a:srgbClr val="FFFFFF"/>
          </a:solidFill>
          <a:ln w="22225">
            <a:solidFill>
              <a:srgbClr val="E4572E"/>
            </a:solidFill>
            <a:prstDash val="solid"/>
          </a:ln>
        </p:spPr>
      </p:sp>
      <p:sp>
        <p:nvSpPr>
          <p:cNvPr id="30" name="Text 27"/>
          <p:cNvSpPr txBox="1"/>
          <p:nvPr/>
        </p:nvSpPr>
        <p:spPr>
          <a:xfrm>
            <a:off x="8105394" y="497890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CVE patch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rebuilds everything</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15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Buildpacks and kpack</a:t>
            </a:r>
            <a:endParaRPr lang="en-US" sz="3800" dirty="0"/>
          </a:p>
        </p:txBody>
      </p:sp>
      <p:sp>
        <p:nvSpPr>
          <p:cNvPr id="5" name="step:1"/>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No Dockerfile, buildpacks detect the language</a:t>
            </a:r>
            <a:endParaRPr lang="en-US" sz="1700" dirty="0"/>
          </a:p>
        </p:txBody>
      </p:sp>
      <p:sp>
        <p:nvSpPr>
          <p:cNvPr id="7" name="step:2"/>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Rebase: patch the base without rebuilding</a:t>
            </a:r>
            <a:endParaRPr lang="en-US" sz="1700" dirty="0"/>
          </a:p>
        </p:txBody>
      </p:sp>
      <p:sp>
        <p:nvSpPr>
          <p:cNvPr id="9" name="step:3"/>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kpack: Image, Build, Pod</a:t>
            </a:r>
            <a:endParaRPr lang="en-US" sz="1700" dirty="0"/>
          </a:p>
        </p:txBody>
      </p:sp>
      <p:sp>
        <p:nvSpPr>
          <p:cNvPr id="11" name="step:4"/>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Our kpack repo is a Helm chart</a:t>
            </a:r>
            <a:endParaRPr lang="en-US" sz="1700" dirty="0"/>
          </a:p>
        </p:txBody>
      </p:sp>
      <p:sp>
        <p:nvSpPr>
          <p:cNvPr id="13" name="step:5"/>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 mirror scripts included</a:t>
            </a:r>
            <a:endParaRPr lang="en-US" sz="1700" dirty="0"/>
          </a:p>
        </p:txBody>
      </p:sp>
      <p:sp>
        <p:nvSpPr>
          <p:cNvPr id="15" name="step:6"/>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ClusterBuilders: go, python, node</a:t>
            </a:r>
            <a:endParaRPr lang="en-US" sz="1700" dirty="0"/>
          </a:p>
        </p:txBody>
      </p:sp>
      <p:sp>
        <p:nvSpPr>
          <p:cNvPr id="17" name="Shape 14"/>
          <p:cNvSpPr/>
          <p:nvPr/>
        </p:nvSpPr>
        <p:spPr>
          <a:xfrm>
            <a:off x="7880604" y="2461260"/>
            <a:ext cx="539496" cy="899160"/>
          </a:xfrm>
          <a:prstGeom prst="line">
            <a:avLst/>
          </a:prstGeom>
          <a:noFill/>
          <a:ln w="15875">
            <a:solidFill>
              <a:srgbClr val="98A2B3"/>
            </a:solidFill>
            <a:prstDash val="solid"/>
            <a:tailEnd type="triangle"/>
          </a:ln>
        </p:spPr>
      </p:sp>
      <p:sp>
        <p:nvSpPr>
          <p:cNvPr id="18" name="Shape 15"/>
          <p:cNvSpPr/>
          <p:nvPr/>
        </p:nvSpPr>
        <p:spPr>
          <a:xfrm>
            <a:off x="7880604" y="3360420"/>
            <a:ext cx="539496" cy="0"/>
          </a:xfrm>
          <a:prstGeom prst="line">
            <a:avLst/>
          </a:prstGeom>
          <a:noFill/>
          <a:ln w="15875">
            <a:solidFill>
              <a:srgbClr val="98A2B3"/>
            </a:solidFill>
            <a:prstDash val="solid"/>
            <a:tailEnd type="triangle"/>
          </a:ln>
        </p:spPr>
      </p:sp>
      <p:sp>
        <p:nvSpPr>
          <p:cNvPr id="19" name="Shape 16"/>
          <p:cNvSpPr/>
          <p:nvPr/>
        </p:nvSpPr>
        <p:spPr>
          <a:xfrm flipV="1">
            <a:off x="7880604" y="3360420"/>
            <a:ext cx="539496" cy="899160"/>
          </a:xfrm>
          <a:prstGeom prst="line">
            <a:avLst/>
          </a:prstGeom>
          <a:noFill/>
          <a:ln w="15875">
            <a:solidFill>
              <a:srgbClr val="98A2B3"/>
            </a:solidFill>
            <a:prstDash val="solid"/>
            <a:tailEnd type="triangle"/>
          </a:ln>
        </p:spPr>
      </p:sp>
      <p:sp>
        <p:nvSpPr>
          <p:cNvPr id="20" name="Shape 17"/>
          <p:cNvSpPr/>
          <p:nvPr/>
        </p:nvSpPr>
        <p:spPr>
          <a:xfrm>
            <a:off x="9274302" y="3630168"/>
            <a:ext cx="0" cy="1078992"/>
          </a:xfrm>
          <a:prstGeom prst="line">
            <a:avLst/>
          </a:prstGeom>
          <a:noFill/>
          <a:ln w="15875">
            <a:solidFill>
              <a:srgbClr val="98A2B3"/>
            </a:solidFill>
            <a:prstDash val="solid"/>
            <a:tailEnd type="triangle"/>
          </a:ln>
        </p:spPr>
      </p:sp>
      <p:sp>
        <p:nvSpPr>
          <p:cNvPr id="21" name="Shape 18"/>
          <p:cNvSpPr/>
          <p:nvPr/>
        </p:nvSpPr>
        <p:spPr>
          <a:xfrm>
            <a:off x="6352032" y="2191512"/>
            <a:ext cx="1528572" cy="539496"/>
          </a:xfrm>
          <a:prstGeom prst="roundRect">
            <a:avLst>
              <a:gd name="adj" fmla="val 13559"/>
            </a:avLst>
          </a:prstGeom>
          <a:solidFill>
            <a:srgbClr val="FFFFFF"/>
          </a:solidFill>
          <a:ln w="15875">
            <a:solidFill>
              <a:srgbClr val="0B7A75"/>
            </a:solidFill>
            <a:prstDash val="solid"/>
          </a:ln>
        </p:spPr>
      </p:sp>
      <p:sp>
        <p:nvSpPr>
          <p:cNvPr id="22" name="Text 19"/>
          <p:cNvSpPr txBox="1"/>
          <p:nvPr/>
        </p:nvSpPr>
        <p:spPr>
          <a:xfrm>
            <a:off x="6352032" y="219151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ClusterStack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base images</a:t>
            </a:r>
            <a:endParaRPr lang="en-US" sz="1200" dirty="0"/>
          </a:p>
        </p:txBody>
      </p:sp>
      <p:sp>
        <p:nvSpPr>
          <p:cNvPr id="23" name="Shape 20"/>
          <p:cNvSpPr/>
          <p:nvPr/>
        </p:nvSpPr>
        <p:spPr>
          <a:xfrm>
            <a:off x="6352032" y="3090672"/>
            <a:ext cx="1528572" cy="539496"/>
          </a:xfrm>
          <a:prstGeom prst="roundRect">
            <a:avLst>
              <a:gd name="adj" fmla="val 13559"/>
            </a:avLst>
          </a:prstGeom>
          <a:solidFill>
            <a:srgbClr val="FFFFFF"/>
          </a:solidFill>
          <a:ln w="15875">
            <a:solidFill>
              <a:srgbClr val="0B7A75"/>
            </a:solidFill>
            <a:prstDash val="solid"/>
          </a:ln>
        </p:spPr>
      </p:sp>
      <p:sp>
        <p:nvSpPr>
          <p:cNvPr id="24" name="Text 21"/>
          <p:cNvSpPr txBox="1"/>
          <p:nvPr/>
        </p:nvSpPr>
        <p:spPr>
          <a:xfrm>
            <a:off x="6352032" y="309067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ClusterStore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buildpackages</a:t>
            </a:r>
            <a:endParaRPr lang="en-US" sz="1200" dirty="0"/>
          </a:p>
        </p:txBody>
      </p:sp>
      <p:sp>
        <p:nvSpPr>
          <p:cNvPr id="25" name="Shape 22"/>
          <p:cNvSpPr/>
          <p:nvPr/>
        </p:nvSpPr>
        <p:spPr>
          <a:xfrm>
            <a:off x="6352032" y="3989832"/>
            <a:ext cx="1528572" cy="539496"/>
          </a:xfrm>
          <a:prstGeom prst="roundRect">
            <a:avLst>
              <a:gd name="adj" fmla="val 13559"/>
            </a:avLst>
          </a:prstGeom>
          <a:solidFill>
            <a:srgbClr val="FFFFFF"/>
          </a:solidFill>
          <a:ln w="15875">
            <a:solidFill>
              <a:srgbClr val="0B7A75"/>
            </a:solidFill>
            <a:prstDash val="solid"/>
          </a:ln>
        </p:spPr>
      </p:sp>
      <p:sp>
        <p:nvSpPr>
          <p:cNvPr id="26" name="Text 23"/>
          <p:cNvSpPr txBox="1"/>
          <p:nvPr/>
        </p:nvSpPr>
        <p:spPr>
          <a:xfrm>
            <a:off x="6352032" y="398983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order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component list</a:t>
            </a:r>
            <a:endParaRPr lang="en-US" sz="1200" dirty="0"/>
          </a:p>
        </p:txBody>
      </p:sp>
      <p:sp>
        <p:nvSpPr>
          <p:cNvPr id="27" name="Shape 24"/>
          <p:cNvSpPr/>
          <p:nvPr/>
        </p:nvSpPr>
        <p:spPr>
          <a:xfrm>
            <a:off x="8420100" y="3090672"/>
            <a:ext cx="1708404" cy="539496"/>
          </a:xfrm>
          <a:prstGeom prst="roundRect">
            <a:avLst>
              <a:gd name="adj" fmla="val 13559"/>
            </a:avLst>
          </a:prstGeom>
          <a:solidFill>
            <a:srgbClr val="FFFFFF"/>
          </a:solidFill>
          <a:ln w="22225">
            <a:solidFill>
              <a:srgbClr val="E4572E"/>
            </a:solidFill>
            <a:prstDash val="solid"/>
          </a:ln>
        </p:spPr>
      </p:sp>
      <p:sp>
        <p:nvSpPr>
          <p:cNvPr id="28" name="Text 25"/>
          <p:cNvSpPr txBox="1"/>
          <p:nvPr/>
        </p:nvSpPr>
        <p:spPr>
          <a:xfrm>
            <a:off x="8420100" y="3090672"/>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ClusterBuilder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go · python · node</a:t>
            </a:r>
            <a:endParaRPr lang="en-US" sz="1200" dirty="0"/>
          </a:p>
        </p:txBody>
      </p:sp>
      <p:sp>
        <p:nvSpPr>
          <p:cNvPr id="29" name="Shape 26"/>
          <p:cNvSpPr/>
          <p:nvPr/>
        </p:nvSpPr>
        <p:spPr>
          <a:xfrm>
            <a:off x="8420100" y="4709160"/>
            <a:ext cx="1708404" cy="539496"/>
          </a:xfrm>
          <a:prstGeom prst="roundRect">
            <a:avLst>
              <a:gd name="adj" fmla="val 13559"/>
            </a:avLst>
          </a:prstGeom>
          <a:solidFill>
            <a:srgbClr val="FFFFFF"/>
          </a:solidFill>
          <a:ln w="15875">
            <a:solidFill>
              <a:srgbClr val="0B7A75"/>
            </a:solidFill>
            <a:prstDash val="solid"/>
          </a:ln>
        </p:spPr>
      </p:sp>
      <p:sp>
        <p:nvSpPr>
          <p:cNvPr id="30" name="Text 27"/>
          <p:cNvSpPr txBox="1"/>
          <p:nvPr/>
        </p:nvSpPr>
        <p:spPr>
          <a:xfrm>
            <a:off x="8420100" y="4709160"/>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declared by the API</a:t>
            </a:r>
            <a:endParaRPr lang="en-US" sz="1200" dirty="0"/>
          </a:p>
        </p:txBody>
      </p:sp>
      <p:sp>
        <p:nvSpPr>
          <p:cNvPr id="31" name="Shape 28"/>
          <p:cNvSpPr/>
          <p:nvPr/>
        </p:nvSpPr>
        <p:spPr>
          <a:xfrm>
            <a:off x="10398252" y="2191512"/>
            <a:ext cx="989076" cy="2337816"/>
          </a:xfrm>
          <a:prstGeom prst="roundRect">
            <a:avLst>
              <a:gd name="adj" fmla="val 7396"/>
            </a:avLst>
          </a:prstGeom>
          <a:solidFill>
            <a:srgbClr val="FFFFFF"/>
          </a:solidFill>
          <a:ln w="15875">
            <a:solidFill>
              <a:srgbClr val="0B7A75"/>
            </a:solidFill>
            <a:prstDash val="solid"/>
          </a:ln>
        </p:spPr>
      </p:sp>
      <p:sp>
        <p:nvSpPr>
          <p:cNvPr id="32" name="Text 29"/>
          <p:cNvSpPr txBox="1"/>
          <p:nvPr/>
        </p:nvSpPr>
        <p:spPr>
          <a:xfrm>
            <a:off x="10398252" y="2191512"/>
            <a:ext cx="989076" cy="233781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chart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mirror-once content</a:t>
            </a:r>
            <a:endParaRPr lang="en-US" sz="1200" dirty="0"/>
          </a:p>
        </p:txBody>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16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build, step by step</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Image → SourceResolver → Build → Pod</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is its own container</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has its own log</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Pushed to this region's registry</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Five triggers; two need nobody</a:t>
            </a:r>
            <a:endParaRPr lang="en-US" sz="1900" dirty="0"/>
          </a:p>
        </p:txBody>
      </p:sp>
      <p:sp>
        <p:nvSpPr>
          <p:cNvPr id="15" name="Shape 12"/>
          <p:cNvSpPr/>
          <p:nvPr/>
        </p:nvSpPr>
        <p:spPr>
          <a:xfrm>
            <a:off x="6172200" y="2286000"/>
            <a:ext cx="1243584" cy="868680"/>
          </a:xfrm>
          <a:prstGeom prst="roundRect">
            <a:avLst>
              <a:gd name="adj" fmla="val 8421"/>
            </a:avLst>
          </a:prstGeom>
          <a:solidFill>
            <a:srgbClr val="FFFFFF"/>
          </a:solidFill>
          <a:ln w="15875">
            <a:solidFill>
              <a:srgbClr val="0B7A75"/>
            </a:solidFill>
            <a:prstDash val="solid"/>
          </a:ln>
        </p:spPr>
      </p:sp>
      <p:sp>
        <p:nvSpPr>
          <p:cNvPr id="16" name="Text 13"/>
          <p:cNvSpPr txBox="1"/>
          <p:nvPr/>
        </p:nvSpPr>
        <p:spPr>
          <a:xfrm>
            <a:off x="7050024"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1</a:t>
            </a:r>
            <a:endParaRPr lang="en-US" sz="850" dirty="0"/>
          </a:p>
        </p:txBody>
      </p:sp>
      <p:sp>
        <p:nvSpPr>
          <p:cNvPr id="17" name="Text 14"/>
          <p:cNvSpPr txBox="1"/>
          <p:nvPr/>
        </p:nvSpPr>
        <p:spPr>
          <a:xfrm>
            <a:off x="6281928"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prepare</a:t>
            </a:r>
            <a:endParaRPr lang="en-US" sz="1200" dirty="0"/>
          </a:p>
        </p:txBody>
      </p:sp>
      <p:sp>
        <p:nvSpPr>
          <p:cNvPr id="18" name="Text 15"/>
          <p:cNvSpPr txBox="1"/>
          <p:nvPr/>
        </p:nvSpPr>
        <p:spPr>
          <a:xfrm>
            <a:off x="6281928"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git clone</a:t>
            </a:r>
            <a:endParaRPr lang="en-US" sz="950" dirty="0"/>
          </a:p>
        </p:txBody>
      </p:sp>
      <p:sp>
        <p:nvSpPr>
          <p:cNvPr id="19" name="Shape 16"/>
          <p:cNvSpPr/>
          <p:nvPr/>
        </p:nvSpPr>
        <p:spPr>
          <a:xfrm>
            <a:off x="7552944" y="2286000"/>
            <a:ext cx="1243584" cy="868680"/>
          </a:xfrm>
          <a:prstGeom prst="roundRect">
            <a:avLst>
              <a:gd name="adj" fmla="val 8421"/>
            </a:avLst>
          </a:prstGeom>
          <a:solidFill>
            <a:srgbClr val="FFFFFF"/>
          </a:solidFill>
          <a:ln w="15875">
            <a:solidFill>
              <a:srgbClr val="0B7A75"/>
            </a:solidFill>
            <a:prstDash val="solid"/>
          </a:ln>
        </p:spPr>
      </p:sp>
      <p:sp>
        <p:nvSpPr>
          <p:cNvPr id="20" name="Text 17"/>
          <p:cNvSpPr txBox="1"/>
          <p:nvPr/>
        </p:nvSpPr>
        <p:spPr>
          <a:xfrm>
            <a:off x="8430768"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2</a:t>
            </a:r>
            <a:endParaRPr lang="en-US" sz="850" dirty="0"/>
          </a:p>
        </p:txBody>
      </p:sp>
      <p:sp>
        <p:nvSpPr>
          <p:cNvPr id="21" name="Text 18"/>
          <p:cNvSpPr txBox="1"/>
          <p:nvPr/>
        </p:nvSpPr>
        <p:spPr>
          <a:xfrm>
            <a:off x="7662672"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analyze</a:t>
            </a:r>
            <a:endParaRPr lang="en-US" sz="1200" dirty="0"/>
          </a:p>
        </p:txBody>
      </p:sp>
      <p:sp>
        <p:nvSpPr>
          <p:cNvPr id="22" name="Text 19"/>
          <p:cNvSpPr txBox="1"/>
          <p:nvPr/>
        </p:nvSpPr>
        <p:spPr>
          <a:xfrm>
            <a:off x="7662672"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previous image</a:t>
            </a:r>
            <a:endParaRPr lang="en-US" sz="950" dirty="0"/>
          </a:p>
        </p:txBody>
      </p:sp>
      <p:sp>
        <p:nvSpPr>
          <p:cNvPr id="23" name="Shape 20"/>
          <p:cNvSpPr/>
          <p:nvPr/>
        </p:nvSpPr>
        <p:spPr>
          <a:xfrm>
            <a:off x="8933688" y="2286000"/>
            <a:ext cx="1243584" cy="868680"/>
          </a:xfrm>
          <a:prstGeom prst="roundRect">
            <a:avLst>
              <a:gd name="adj" fmla="val 8421"/>
            </a:avLst>
          </a:prstGeom>
          <a:solidFill>
            <a:srgbClr val="FFFFFF"/>
          </a:solidFill>
          <a:ln w="15875">
            <a:solidFill>
              <a:srgbClr val="0B7A75"/>
            </a:solidFill>
            <a:prstDash val="solid"/>
          </a:ln>
        </p:spPr>
      </p:sp>
      <p:sp>
        <p:nvSpPr>
          <p:cNvPr id="24" name="Text 21"/>
          <p:cNvSpPr txBox="1"/>
          <p:nvPr/>
        </p:nvSpPr>
        <p:spPr>
          <a:xfrm>
            <a:off x="9811512"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3</a:t>
            </a:r>
            <a:endParaRPr lang="en-US" sz="850" dirty="0"/>
          </a:p>
        </p:txBody>
      </p:sp>
      <p:sp>
        <p:nvSpPr>
          <p:cNvPr id="25" name="Text 22"/>
          <p:cNvSpPr txBox="1"/>
          <p:nvPr/>
        </p:nvSpPr>
        <p:spPr>
          <a:xfrm>
            <a:off x="9043416"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detect</a:t>
            </a:r>
            <a:endParaRPr lang="en-US" sz="1200" dirty="0"/>
          </a:p>
        </p:txBody>
      </p:sp>
      <p:sp>
        <p:nvSpPr>
          <p:cNvPr id="26" name="Text 23"/>
          <p:cNvSpPr txBox="1"/>
          <p:nvPr/>
        </p:nvSpPr>
        <p:spPr>
          <a:xfrm>
            <a:off x="9043416"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pick buildpacks</a:t>
            </a:r>
            <a:endParaRPr lang="en-US" sz="950" dirty="0"/>
          </a:p>
        </p:txBody>
      </p:sp>
      <p:sp>
        <p:nvSpPr>
          <p:cNvPr id="27" name="Shape 24"/>
          <p:cNvSpPr/>
          <p:nvPr/>
        </p:nvSpPr>
        <p:spPr>
          <a:xfrm>
            <a:off x="10314432" y="2286000"/>
            <a:ext cx="1243584" cy="868680"/>
          </a:xfrm>
          <a:prstGeom prst="roundRect">
            <a:avLst>
              <a:gd name="adj" fmla="val 8421"/>
            </a:avLst>
          </a:prstGeom>
          <a:solidFill>
            <a:srgbClr val="FFFFFF"/>
          </a:solidFill>
          <a:ln w="15875">
            <a:solidFill>
              <a:srgbClr val="0B7A75"/>
            </a:solidFill>
            <a:prstDash val="solid"/>
          </a:ln>
        </p:spPr>
      </p:sp>
      <p:sp>
        <p:nvSpPr>
          <p:cNvPr id="28" name="Text 25"/>
          <p:cNvSpPr txBox="1"/>
          <p:nvPr/>
        </p:nvSpPr>
        <p:spPr>
          <a:xfrm>
            <a:off x="11192256"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4</a:t>
            </a:r>
            <a:endParaRPr lang="en-US" sz="850" dirty="0"/>
          </a:p>
        </p:txBody>
      </p:sp>
      <p:sp>
        <p:nvSpPr>
          <p:cNvPr id="29" name="Text 26"/>
          <p:cNvSpPr txBox="1"/>
          <p:nvPr/>
        </p:nvSpPr>
        <p:spPr>
          <a:xfrm>
            <a:off x="10424160"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restore</a:t>
            </a:r>
            <a:endParaRPr lang="en-US" sz="1200" dirty="0"/>
          </a:p>
        </p:txBody>
      </p:sp>
      <p:sp>
        <p:nvSpPr>
          <p:cNvPr id="30" name="Text 27"/>
          <p:cNvSpPr txBox="1"/>
          <p:nvPr/>
        </p:nvSpPr>
        <p:spPr>
          <a:xfrm>
            <a:off x="10424160"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cached layers</a:t>
            </a:r>
            <a:endParaRPr lang="en-US" sz="950" dirty="0"/>
          </a:p>
        </p:txBody>
      </p:sp>
      <p:sp>
        <p:nvSpPr>
          <p:cNvPr id="31" name="Shape 28"/>
          <p:cNvSpPr/>
          <p:nvPr/>
        </p:nvSpPr>
        <p:spPr>
          <a:xfrm>
            <a:off x="6172200" y="3291840"/>
            <a:ext cx="1243584" cy="868680"/>
          </a:xfrm>
          <a:prstGeom prst="roundRect">
            <a:avLst>
              <a:gd name="adj" fmla="val 8421"/>
            </a:avLst>
          </a:prstGeom>
          <a:solidFill>
            <a:srgbClr val="FFFFFF"/>
          </a:solidFill>
          <a:ln w="15875">
            <a:solidFill>
              <a:srgbClr val="0B7A75"/>
            </a:solidFill>
            <a:prstDash val="solid"/>
          </a:ln>
        </p:spPr>
      </p:sp>
      <p:sp>
        <p:nvSpPr>
          <p:cNvPr id="32" name="Text 29"/>
          <p:cNvSpPr txBox="1"/>
          <p:nvPr/>
        </p:nvSpPr>
        <p:spPr>
          <a:xfrm>
            <a:off x="7050024"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5</a:t>
            </a:r>
            <a:endParaRPr lang="en-US" sz="850" dirty="0"/>
          </a:p>
        </p:txBody>
      </p:sp>
      <p:sp>
        <p:nvSpPr>
          <p:cNvPr id="33" name="Text 30"/>
          <p:cNvSpPr txBox="1"/>
          <p:nvPr/>
        </p:nvSpPr>
        <p:spPr>
          <a:xfrm>
            <a:off x="6281928"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build</a:t>
            </a:r>
            <a:endParaRPr lang="en-US" sz="1200" dirty="0"/>
          </a:p>
        </p:txBody>
      </p:sp>
      <p:sp>
        <p:nvSpPr>
          <p:cNvPr id="34" name="Text 31"/>
          <p:cNvSpPr txBox="1"/>
          <p:nvPr/>
        </p:nvSpPr>
        <p:spPr>
          <a:xfrm>
            <a:off x="6281928"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pip · npm · go</a:t>
            </a:r>
            <a:endParaRPr lang="en-US" sz="950" dirty="0"/>
          </a:p>
        </p:txBody>
      </p:sp>
      <p:sp>
        <p:nvSpPr>
          <p:cNvPr id="35" name="Shape 32"/>
          <p:cNvSpPr/>
          <p:nvPr/>
        </p:nvSpPr>
        <p:spPr>
          <a:xfrm>
            <a:off x="7552944" y="3291840"/>
            <a:ext cx="1243584" cy="868680"/>
          </a:xfrm>
          <a:prstGeom prst="roundRect">
            <a:avLst>
              <a:gd name="adj" fmla="val 8421"/>
            </a:avLst>
          </a:prstGeom>
          <a:solidFill>
            <a:srgbClr val="FFFFFF"/>
          </a:solidFill>
          <a:ln w="15875">
            <a:solidFill>
              <a:srgbClr val="0B7A75"/>
            </a:solidFill>
            <a:prstDash val="solid"/>
          </a:ln>
        </p:spPr>
      </p:sp>
      <p:sp>
        <p:nvSpPr>
          <p:cNvPr id="36" name="Text 33"/>
          <p:cNvSpPr txBox="1"/>
          <p:nvPr/>
        </p:nvSpPr>
        <p:spPr>
          <a:xfrm>
            <a:off x="8430768"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6</a:t>
            </a:r>
            <a:endParaRPr lang="en-US" sz="850" dirty="0"/>
          </a:p>
        </p:txBody>
      </p:sp>
      <p:sp>
        <p:nvSpPr>
          <p:cNvPr id="37" name="Text 34"/>
          <p:cNvSpPr txBox="1"/>
          <p:nvPr/>
        </p:nvSpPr>
        <p:spPr>
          <a:xfrm>
            <a:off x="7662672"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export</a:t>
            </a:r>
            <a:endParaRPr lang="en-US" sz="1200" dirty="0"/>
          </a:p>
        </p:txBody>
      </p:sp>
      <p:sp>
        <p:nvSpPr>
          <p:cNvPr id="38" name="Text 35"/>
          <p:cNvSpPr txBox="1"/>
          <p:nvPr/>
        </p:nvSpPr>
        <p:spPr>
          <a:xfrm>
            <a:off x="7662672"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push image</a:t>
            </a:r>
            <a:endParaRPr lang="en-US" sz="950" dirty="0"/>
          </a:p>
        </p:txBody>
      </p:sp>
      <p:sp>
        <p:nvSpPr>
          <p:cNvPr id="39" name="Shape 36"/>
          <p:cNvSpPr/>
          <p:nvPr/>
        </p:nvSpPr>
        <p:spPr>
          <a:xfrm>
            <a:off x="8933688" y="3291840"/>
            <a:ext cx="1243584" cy="868680"/>
          </a:xfrm>
          <a:prstGeom prst="roundRect">
            <a:avLst>
              <a:gd name="adj" fmla="val 8421"/>
            </a:avLst>
          </a:prstGeom>
          <a:solidFill>
            <a:srgbClr val="FFFFFF"/>
          </a:solidFill>
          <a:ln w="15875">
            <a:solidFill>
              <a:srgbClr val="1B8A5A"/>
            </a:solidFill>
            <a:prstDash val="solid"/>
          </a:ln>
        </p:spPr>
      </p:sp>
      <p:sp>
        <p:nvSpPr>
          <p:cNvPr id="40" name="Text 37"/>
          <p:cNvSpPr txBox="1"/>
          <p:nvPr/>
        </p:nvSpPr>
        <p:spPr>
          <a:xfrm>
            <a:off x="9811512"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7</a:t>
            </a:r>
            <a:endParaRPr lang="en-US" sz="850" dirty="0"/>
          </a:p>
        </p:txBody>
      </p:sp>
      <p:sp>
        <p:nvSpPr>
          <p:cNvPr id="41" name="Text 38"/>
          <p:cNvSpPr txBox="1"/>
          <p:nvPr/>
        </p:nvSpPr>
        <p:spPr>
          <a:xfrm>
            <a:off x="9043416"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completion</a:t>
            </a:r>
            <a:endParaRPr lang="en-US" sz="1200" dirty="0"/>
          </a:p>
        </p:txBody>
      </p:sp>
      <p:sp>
        <p:nvSpPr>
          <p:cNvPr id="42" name="Text 39"/>
          <p:cNvSpPr txBox="1"/>
          <p:nvPr/>
        </p:nvSpPr>
        <p:spPr>
          <a:xfrm>
            <a:off x="9043416"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done</a:t>
            </a:r>
            <a:endParaRPr lang="en-US" sz="950" dirty="0"/>
          </a:p>
        </p:txBody>
      </p:sp>
      <p:sp>
        <p:nvSpPr>
          <p:cNvPr id="43" name="Text 4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17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build controller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Watches Image.status.latestImage</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Applies the digest onto the Service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Both ends stay in one region</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Only ever writes digests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Ships with no web stack</a:t>
            </a:r>
            <a:endParaRPr lang="en-US" sz="1900" dirty="0"/>
          </a:p>
        </p:txBody>
      </p:sp>
      <p:sp>
        <p:nvSpPr>
          <p:cNvPr id="15" name="Shape 12"/>
          <p:cNvSpPr/>
          <p:nvPr/>
        </p:nvSpPr>
        <p:spPr>
          <a:xfrm>
            <a:off x="7790688" y="2865882"/>
            <a:ext cx="359664" cy="0"/>
          </a:xfrm>
          <a:prstGeom prst="line">
            <a:avLst/>
          </a:prstGeom>
          <a:noFill/>
          <a:ln w="15875">
            <a:solidFill>
              <a:srgbClr val="98A2B3"/>
            </a:solidFill>
            <a:prstDash val="solid"/>
            <a:tailEnd type="triangle"/>
          </a:ln>
        </p:spPr>
      </p:sp>
      <p:sp>
        <p:nvSpPr>
          <p:cNvPr id="16" name="Shape 13"/>
          <p:cNvSpPr/>
          <p:nvPr/>
        </p:nvSpPr>
        <p:spPr>
          <a:xfrm>
            <a:off x="9589008" y="2865882"/>
            <a:ext cx="359664" cy="0"/>
          </a:xfrm>
          <a:prstGeom prst="line">
            <a:avLst/>
          </a:prstGeom>
          <a:noFill/>
          <a:ln w="15875">
            <a:solidFill>
              <a:srgbClr val="98A2B3"/>
            </a:solidFill>
            <a:prstDash val="solid"/>
            <a:tailEnd type="triangle"/>
          </a:ln>
        </p:spPr>
      </p:sp>
      <p:sp>
        <p:nvSpPr>
          <p:cNvPr id="17" name="Shape 14"/>
          <p:cNvSpPr/>
          <p:nvPr/>
        </p:nvSpPr>
        <p:spPr>
          <a:xfrm>
            <a:off x="10668000" y="3180588"/>
            <a:ext cx="0" cy="989076"/>
          </a:xfrm>
          <a:prstGeom prst="line">
            <a:avLst/>
          </a:prstGeom>
          <a:noFill/>
          <a:ln w="15875">
            <a:solidFill>
              <a:srgbClr val="98A2B3"/>
            </a:solidFill>
            <a:prstDash val="solid"/>
            <a:tailEnd type="triangle"/>
          </a:ln>
        </p:spPr>
      </p:sp>
      <p:sp>
        <p:nvSpPr>
          <p:cNvPr id="18" name="Shape 15"/>
          <p:cNvSpPr/>
          <p:nvPr/>
        </p:nvSpPr>
        <p:spPr>
          <a:xfrm flipV="1">
            <a:off x="7071360" y="3180588"/>
            <a:ext cx="0" cy="989076"/>
          </a:xfrm>
          <a:prstGeom prst="line">
            <a:avLst/>
          </a:prstGeom>
          <a:noFill/>
          <a:ln w="15875">
            <a:solidFill>
              <a:srgbClr val="98A2B3"/>
            </a:solidFill>
            <a:prstDash val="dash"/>
            <a:tailEnd type="triangle"/>
          </a:ln>
        </p:spPr>
      </p:sp>
      <p:sp>
        <p:nvSpPr>
          <p:cNvPr id="19" name="Shape 16"/>
          <p:cNvSpPr/>
          <p:nvPr/>
        </p:nvSpPr>
        <p:spPr>
          <a:xfrm>
            <a:off x="6352032" y="2551176"/>
            <a:ext cx="1438656" cy="629412"/>
          </a:xfrm>
          <a:prstGeom prst="roundRect">
            <a:avLst>
              <a:gd name="adj" fmla="val 11622"/>
            </a:avLst>
          </a:prstGeom>
          <a:solidFill>
            <a:srgbClr val="FFFFFF"/>
          </a:solidFill>
          <a:ln w="15875">
            <a:solidFill>
              <a:srgbClr val="0B7A75"/>
            </a:solidFill>
            <a:prstDash val="solid"/>
          </a:ln>
        </p:spPr>
      </p:sp>
      <p:sp>
        <p:nvSpPr>
          <p:cNvPr id="20" name="Text 17"/>
          <p:cNvSpPr txBox="1"/>
          <p:nvPr/>
        </p:nvSpPr>
        <p:spPr>
          <a:xfrm>
            <a:off x="635203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latestImage changes</a:t>
            </a:r>
            <a:endParaRPr lang="en-US" sz="1200" dirty="0"/>
          </a:p>
        </p:txBody>
      </p:sp>
      <p:sp>
        <p:nvSpPr>
          <p:cNvPr id="21" name="Shape 18"/>
          <p:cNvSpPr/>
          <p:nvPr/>
        </p:nvSpPr>
        <p:spPr>
          <a:xfrm>
            <a:off x="8150352" y="2551176"/>
            <a:ext cx="1438656" cy="629412"/>
          </a:xfrm>
          <a:prstGeom prst="roundRect">
            <a:avLst>
              <a:gd name="adj" fmla="val 11622"/>
            </a:avLst>
          </a:prstGeom>
          <a:solidFill>
            <a:srgbClr val="FFFFFF"/>
          </a:solidFill>
          <a:ln w="22225">
            <a:solidFill>
              <a:srgbClr val="E4572E"/>
            </a:solidFill>
            <a:prstDash val="solid"/>
          </a:ln>
        </p:spPr>
      </p:sp>
      <p:sp>
        <p:nvSpPr>
          <p:cNvPr id="22" name="Text 19"/>
          <p:cNvSpPr txBox="1"/>
          <p:nvPr/>
        </p:nvSpPr>
        <p:spPr>
          <a:xfrm>
            <a:off x="815035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watch</a:t>
            </a:r>
            <a:endParaRPr lang="en-US" sz="1200" dirty="0"/>
          </a:p>
        </p:txBody>
      </p:sp>
      <p:sp>
        <p:nvSpPr>
          <p:cNvPr id="23" name="Shape 20"/>
          <p:cNvSpPr/>
          <p:nvPr/>
        </p:nvSpPr>
        <p:spPr>
          <a:xfrm>
            <a:off x="9948672" y="2551176"/>
            <a:ext cx="1438656" cy="629412"/>
          </a:xfrm>
          <a:prstGeom prst="roundRect">
            <a:avLst>
              <a:gd name="adj" fmla="val 11622"/>
            </a:avLst>
          </a:prstGeom>
          <a:solidFill>
            <a:srgbClr val="FFFFFF"/>
          </a:solidFill>
          <a:ln w="15875">
            <a:solidFill>
              <a:srgbClr val="0B7A75"/>
            </a:solidFill>
            <a:prstDash val="solid"/>
          </a:ln>
        </p:spPr>
      </p:sp>
      <p:sp>
        <p:nvSpPr>
          <p:cNvPr id="24" name="Text 21"/>
          <p:cNvSpPr txBox="1"/>
          <p:nvPr/>
        </p:nvSpPr>
        <p:spPr>
          <a:xfrm>
            <a:off x="994867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image @sha256</a:t>
            </a:r>
            <a:endParaRPr lang="en-US" sz="1200" dirty="0"/>
          </a:p>
        </p:txBody>
      </p:sp>
      <p:sp>
        <p:nvSpPr>
          <p:cNvPr id="25" name="Shape 22"/>
          <p:cNvSpPr/>
          <p:nvPr/>
        </p:nvSpPr>
        <p:spPr>
          <a:xfrm>
            <a:off x="9948672" y="4169664"/>
            <a:ext cx="1438656" cy="629412"/>
          </a:xfrm>
          <a:prstGeom prst="roundRect">
            <a:avLst>
              <a:gd name="adj" fmla="val 11622"/>
            </a:avLst>
          </a:prstGeom>
          <a:solidFill>
            <a:srgbClr val="FFFFFF"/>
          </a:solidFill>
          <a:ln w="15875">
            <a:solidFill>
              <a:srgbClr val="0B7A75"/>
            </a:solidFill>
            <a:prstDash val="solid"/>
          </a:ln>
        </p:spPr>
      </p:sp>
      <p:sp>
        <p:nvSpPr>
          <p:cNvPr id="26" name="Text 23"/>
          <p:cNvSpPr txBox="1"/>
          <p:nvPr/>
        </p:nvSpPr>
        <p:spPr>
          <a:xfrm>
            <a:off x="994867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new Revision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Knative rolls it out</a:t>
            </a:r>
            <a:endParaRPr lang="en-US" sz="1200" dirty="0"/>
          </a:p>
        </p:txBody>
      </p:sp>
      <p:sp>
        <p:nvSpPr>
          <p:cNvPr id="27" name="Shape 24"/>
          <p:cNvSpPr/>
          <p:nvPr/>
        </p:nvSpPr>
        <p:spPr>
          <a:xfrm>
            <a:off x="6352032" y="4169664"/>
            <a:ext cx="1438656" cy="629412"/>
          </a:xfrm>
          <a:prstGeom prst="roundRect">
            <a:avLst>
              <a:gd name="adj" fmla="val 11622"/>
            </a:avLst>
          </a:prstGeom>
          <a:solidFill>
            <a:srgbClr val="FFFFFF"/>
          </a:solidFill>
          <a:ln w="15875">
            <a:solidFill>
              <a:srgbClr val="0B7A75"/>
            </a:solidFill>
            <a:prstDash val="solid"/>
          </a:ln>
        </p:spPr>
      </p:sp>
      <p:sp>
        <p:nvSpPr>
          <p:cNvPr id="28" name="Text 25"/>
          <p:cNvSpPr txBox="1"/>
          <p:nvPr/>
        </p:nvSpPr>
        <p:spPr>
          <a:xfrm>
            <a:off x="635203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region registry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digest lives here</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18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4572E"/>
        </a:solidFill>
      </p:bgPr>
    </p:bg>
    <p:spTree>
      <p:nvGrpSpPr>
        <p:cNvPr id="1" name=""/>
        <p:cNvGrpSpPr/>
        <p:nvPr/>
      </p:nvGrpSpPr>
      <p:grpSpPr>
        <a:xfrm>
          <a:off x="0" y="0"/>
          <a:ext cx="0" cy="0"/>
          <a:chOff x="0" y="0"/>
          <a:chExt cx="0" cy="0"/>
        </a:xfrm>
      </p:grpSpPr>
      <p:sp>
        <p:nvSpPr>
          <p:cNvPr id="2" name="Text 0"/>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Portal &amp; the future</a:t>
            </a:r>
            <a:endParaRPr lang="en-US" sz="6400" dirty="0"/>
          </a:p>
        </p:txBody>
      </p:sp>
      <p:sp>
        <p:nvSpPr>
          <p:cNvPr id="3" name="Text 1"/>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A console, and a library for the next API.</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19 / 23</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How the portal wires it</a:t>
            </a:r>
            <a:endParaRPr lang="en-US" sz="3800" dirty="0"/>
          </a:p>
        </p:txBody>
      </p:sp>
      <p:sp>
        <p:nvSpPr>
          <p:cNvPr id="5" name="step:1"/>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Next.js 16, server components</a:t>
            </a:r>
            <a:endParaRPr lang="en-US" sz="1700" dirty="0"/>
          </a:p>
        </p:txBody>
      </p:sp>
      <p:sp>
        <p:nvSpPr>
          <p:cNvPr id="7" name="step:2"/>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Keycloak token stays server-side</a:t>
            </a:r>
            <a:endParaRPr lang="en-US" sz="1700" dirty="0"/>
          </a:p>
        </p:txBody>
      </p:sp>
      <p:sp>
        <p:nvSpPr>
          <p:cNvPr id="9" name="step:3"/>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SSO group is the project</a:t>
            </a:r>
            <a:endParaRPr lang="en-US" sz="1700" dirty="0"/>
          </a:p>
        </p:txBody>
      </p:sp>
      <p:sp>
        <p:nvSpPr>
          <p:cNvPr id="11" name="step:4"/>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Forms are built from /info</a:t>
            </a:r>
            <a:endParaRPr lang="en-US" sz="1700" dirty="0"/>
          </a:p>
        </p:txBody>
      </p:sp>
      <p:sp>
        <p:nvSpPr>
          <p:cNvPr id="13" name="step:5"/>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Live logs over SSE tickets</a:t>
            </a:r>
            <a:endParaRPr lang="en-US" sz="1700" dirty="0"/>
          </a:p>
        </p:txBody>
      </p:sp>
      <p:sp>
        <p:nvSpPr>
          <p:cNvPr id="15" name="step:6"/>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Airgap-native: no CDN, no fonts</a:t>
            </a:r>
            <a:endParaRPr lang="en-US" sz="1700" dirty="0"/>
          </a:p>
        </p:txBody>
      </p:sp>
      <p:sp>
        <p:nvSpPr>
          <p:cNvPr id="17" name="Shape 14"/>
          <p:cNvSpPr/>
          <p:nvPr/>
        </p:nvSpPr>
        <p:spPr>
          <a:xfrm>
            <a:off x="7700772" y="2865882"/>
            <a:ext cx="494538" cy="0"/>
          </a:xfrm>
          <a:prstGeom prst="line">
            <a:avLst/>
          </a:prstGeom>
          <a:noFill/>
          <a:ln w="15875">
            <a:solidFill>
              <a:srgbClr val="98A2B3"/>
            </a:solidFill>
            <a:prstDash val="solid"/>
            <a:tailEnd type="triangle"/>
          </a:ln>
        </p:spPr>
      </p:sp>
      <p:sp>
        <p:nvSpPr>
          <p:cNvPr id="18" name="Shape 15"/>
          <p:cNvSpPr/>
          <p:nvPr/>
        </p:nvSpPr>
        <p:spPr>
          <a:xfrm>
            <a:off x="9544050" y="2865882"/>
            <a:ext cx="494538" cy="0"/>
          </a:xfrm>
          <a:prstGeom prst="line">
            <a:avLst/>
          </a:prstGeom>
          <a:noFill/>
          <a:ln w="15875">
            <a:solidFill>
              <a:srgbClr val="98A2B3"/>
            </a:solidFill>
            <a:prstDash val="solid"/>
            <a:tailEnd type="triangle"/>
          </a:ln>
        </p:spPr>
      </p:sp>
      <p:sp>
        <p:nvSpPr>
          <p:cNvPr id="19" name="Shape 16"/>
          <p:cNvSpPr/>
          <p:nvPr/>
        </p:nvSpPr>
        <p:spPr>
          <a:xfrm>
            <a:off x="8869680" y="3180588"/>
            <a:ext cx="0" cy="899160"/>
          </a:xfrm>
          <a:prstGeom prst="line">
            <a:avLst/>
          </a:prstGeom>
          <a:noFill/>
          <a:ln w="15875">
            <a:solidFill>
              <a:srgbClr val="98A2B3"/>
            </a:solidFill>
            <a:prstDash val="dash"/>
            <a:tailEnd type="triangle"/>
          </a:ln>
        </p:spPr>
      </p:sp>
      <p:sp>
        <p:nvSpPr>
          <p:cNvPr id="20" name="Shape 17"/>
          <p:cNvSpPr/>
          <p:nvPr/>
        </p:nvSpPr>
        <p:spPr>
          <a:xfrm flipV="1">
            <a:off x="7700772" y="2865882"/>
            <a:ext cx="2337816" cy="1528572"/>
          </a:xfrm>
          <a:prstGeom prst="line">
            <a:avLst/>
          </a:prstGeom>
          <a:noFill/>
          <a:ln w="15875">
            <a:solidFill>
              <a:srgbClr val="98A2B3"/>
            </a:solidFill>
            <a:prstDash val="dash"/>
            <a:tailEnd type="triangle"/>
          </a:ln>
        </p:spPr>
      </p:sp>
      <p:sp>
        <p:nvSpPr>
          <p:cNvPr id="21" name="Shape 18"/>
          <p:cNvSpPr/>
          <p:nvPr/>
        </p:nvSpPr>
        <p:spPr>
          <a:xfrm>
            <a:off x="7026402" y="3180588"/>
            <a:ext cx="0" cy="899160"/>
          </a:xfrm>
          <a:prstGeom prst="line">
            <a:avLst/>
          </a:prstGeom>
          <a:noFill/>
          <a:ln w="15875">
            <a:solidFill>
              <a:srgbClr val="98A2B3"/>
            </a:solidFill>
            <a:prstDash val="dash"/>
            <a:tailEnd type="triangle"/>
          </a:ln>
        </p:spPr>
      </p:sp>
      <p:sp>
        <p:nvSpPr>
          <p:cNvPr id="22" name="Shape 19"/>
          <p:cNvSpPr/>
          <p:nvPr/>
        </p:nvSpPr>
        <p:spPr>
          <a:xfrm>
            <a:off x="6352032" y="2551176"/>
            <a:ext cx="1348740" cy="629412"/>
          </a:xfrm>
          <a:prstGeom prst="roundRect">
            <a:avLst>
              <a:gd name="adj" fmla="val 11622"/>
            </a:avLst>
          </a:prstGeom>
          <a:solidFill>
            <a:srgbClr val="FFFFFF"/>
          </a:solidFill>
          <a:ln w="15875">
            <a:solidFill>
              <a:srgbClr val="0B7A75"/>
            </a:solidFill>
            <a:prstDash val="solid"/>
          </a:ln>
        </p:spPr>
      </p:sp>
      <p:sp>
        <p:nvSpPr>
          <p:cNvPr id="23" name="Text 20"/>
          <p:cNvSpPr txBox="1"/>
          <p:nvPr/>
        </p:nvSpPr>
        <p:spPr>
          <a:xfrm>
            <a:off x="6352032"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Browser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React 19</a:t>
            </a:r>
            <a:endParaRPr lang="en-US" sz="1200" dirty="0"/>
          </a:p>
        </p:txBody>
      </p:sp>
      <p:sp>
        <p:nvSpPr>
          <p:cNvPr id="24" name="Shape 21"/>
          <p:cNvSpPr/>
          <p:nvPr/>
        </p:nvSpPr>
        <p:spPr>
          <a:xfrm>
            <a:off x="8195310" y="2551176"/>
            <a:ext cx="1348740" cy="629412"/>
          </a:xfrm>
          <a:prstGeom prst="roundRect">
            <a:avLst>
              <a:gd name="adj" fmla="val 11622"/>
            </a:avLst>
          </a:prstGeom>
          <a:solidFill>
            <a:srgbClr val="FFFFFF"/>
          </a:solidFill>
          <a:ln w="22225">
            <a:solidFill>
              <a:srgbClr val="E4572E"/>
            </a:solidFill>
            <a:prstDash val="solid"/>
          </a:ln>
        </p:spPr>
      </p:sp>
      <p:sp>
        <p:nvSpPr>
          <p:cNvPr id="25" name="Text 22"/>
          <p:cNvSpPr txBox="1"/>
          <p:nvPr/>
        </p:nvSpPr>
        <p:spPr>
          <a:xfrm>
            <a:off x="8195310"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Portal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 actions</a:t>
            </a:r>
            <a:endParaRPr lang="en-US" sz="1200" dirty="0"/>
          </a:p>
        </p:txBody>
      </p:sp>
      <p:sp>
        <p:nvSpPr>
          <p:cNvPr id="26" name="Shape 23"/>
          <p:cNvSpPr/>
          <p:nvPr/>
        </p:nvSpPr>
        <p:spPr>
          <a:xfrm>
            <a:off x="10038588" y="2551176"/>
            <a:ext cx="1348740" cy="629412"/>
          </a:xfrm>
          <a:prstGeom prst="roundRect">
            <a:avLst>
              <a:gd name="adj" fmla="val 11622"/>
            </a:avLst>
          </a:prstGeom>
          <a:solidFill>
            <a:srgbClr val="FFFFFF"/>
          </a:solidFill>
          <a:ln w="15875">
            <a:solidFill>
              <a:srgbClr val="0B7A75"/>
            </a:solidFill>
            <a:prstDash val="solid"/>
          </a:ln>
        </p:spPr>
      </p:sp>
      <p:sp>
        <p:nvSpPr>
          <p:cNvPr id="27" name="Text 24"/>
          <p:cNvSpPr txBox="1"/>
          <p:nvPr/>
        </p:nvSpPr>
        <p:spPr>
          <a:xfrm>
            <a:off x="10038588"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Serverless 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/api/serverless/v1</a:t>
            </a:r>
            <a:endParaRPr lang="en-US" sz="1200" dirty="0"/>
          </a:p>
        </p:txBody>
      </p:sp>
      <p:sp>
        <p:nvSpPr>
          <p:cNvPr id="28" name="Shape 25"/>
          <p:cNvSpPr/>
          <p:nvPr/>
        </p:nvSpPr>
        <p:spPr>
          <a:xfrm>
            <a:off x="8195310" y="4079748"/>
            <a:ext cx="1348740" cy="629412"/>
          </a:xfrm>
          <a:prstGeom prst="roundRect">
            <a:avLst>
              <a:gd name="adj" fmla="val 11622"/>
            </a:avLst>
          </a:prstGeom>
          <a:solidFill>
            <a:srgbClr val="FFFFFF"/>
          </a:solidFill>
          <a:ln w="15875">
            <a:solidFill>
              <a:srgbClr val="0B7A75"/>
            </a:solidFill>
            <a:prstDash val="solid"/>
          </a:ln>
        </p:spPr>
      </p:sp>
      <p:sp>
        <p:nvSpPr>
          <p:cNvPr id="29" name="Text 26"/>
          <p:cNvSpPr txBox="1"/>
          <p:nvPr/>
        </p:nvSpPr>
        <p:spPr>
          <a:xfrm>
            <a:off x="8195310"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Keycloak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OIDC, groups claim</a:t>
            </a:r>
            <a:endParaRPr lang="en-US" sz="1200" dirty="0"/>
          </a:p>
        </p:txBody>
      </p:sp>
      <p:sp>
        <p:nvSpPr>
          <p:cNvPr id="30" name="Shape 27"/>
          <p:cNvSpPr/>
          <p:nvPr/>
        </p:nvSpPr>
        <p:spPr>
          <a:xfrm>
            <a:off x="6352032" y="4079748"/>
            <a:ext cx="1348740" cy="629412"/>
          </a:xfrm>
          <a:prstGeom prst="roundRect">
            <a:avLst>
              <a:gd name="adj" fmla="val 11622"/>
            </a:avLst>
          </a:prstGeom>
          <a:solidFill>
            <a:srgbClr val="FFFFFF"/>
          </a:solidFill>
          <a:ln w="15875">
            <a:solidFill>
              <a:srgbClr val="0B7A75"/>
            </a:solidFill>
            <a:prstDash val="solid"/>
          </a:ln>
        </p:spPr>
      </p:sp>
      <p:sp>
        <p:nvSpPr>
          <p:cNvPr id="31" name="Text 28"/>
          <p:cNvSpPr txBox="1"/>
          <p:nvPr/>
        </p:nvSpPr>
        <p:spPr>
          <a:xfrm>
            <a:off x="6352032"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?ticket=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60 s, one path</a:t>
            </a:r>
            <a:endParaRPr lang="en-US" sz="1200" dirty="0"/>
          </a:p>
        </p:txBody>
      </p:sp>
      <p:sp>
        <p:nvSpPr>
          <p:cNvPr id="32" name="Text 29"/>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20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console, not a Serverless UI</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Serverless is live, Storage is next</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offering is data, not code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shell is already generic</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Next: shared layer, generated client</a:t>
            </a:r>
            <a:endParaRPr lang="en-US" sz="1900" dirty="0"/>
          </a:p>
        </p:txBody>
      </p:sp>
      <p:sp>
        <p:nvSpPr>
          <p:cNvPr id="13" name="Shape 10"/>
          <p:cNvSpPr/>
          <p:nvPr/>
        </p:nvSpPr>
        <p:spPr>
          <a:xfrm>
            <a:off x="6172200" y="2286000"/>
            <a:ext cx="1261872" cy="658368"/>
          </a:xfrm>
          <a:prstGeom prst="roundRect">
            <a:avLst>
              <a:gd name="adj" fmla="val 11111"/>
            </a:avLst>
          </a:prstGeom>
          <a:solidFill>
            <a:srgbClr val="F4F5F7"/>
          </a:solidFill>
          <a:ln w="12700">
            <a:solidFill>
              <a:srgbClr val="E4E7EC"/>
            </a:solidFill>
            <a:prstDash val="solid"/>
          </a:ln>
        </p:spPr>
      </p:sp>
      <p:sp>
        <p:nvSpPr>
          <p:cNvPr id="14" name="Text 11"/>
          <p:cNvSpPr txBox="1"/>
          <p:nvPr/>
        </p:nvSpPr>
        <p:spPr>
          <a:xfrm>
            <a:off x="62819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Compute</a:t>
            </a:r>
            <a:endParaRPr lang="en-US" sz="1050" dirty="0"/>
          </a:p>
        </p:txBody>
      </p:sp>
      <p:sp>
        <p:nvSpPr>
          <p:cNvPr id="15" name="Shape 12"/>
          <p:cNvSpPr/>
          <p:nvPr/>
        </p:nvSpPr>
        <p:spPr>
          <a:xfrm>
            <a:off x="7543800" y="2286000"/>
            <a:ext cx="1261872" cy="658368"/>
          </a:xfrm>
          <a:prstGeom prst="roundRect">
            <a:avLst>
              <a:gd name="adj" fmla="val 11111"/>
            </a:avLst>
          </a:prstGeom>
          <a:solidFill>
            <a:srgbClr val="E4572E"/>
          </a:solidFill>
          <a:ln w="12700">
            <a:solidFill>
              <a:srgbClr val="E4572E"/>
            </a:solidFill>
            <a:prstDash val="solid"/>
          </a:ln>
        </p:spPr>
      </p:sp>
      <p:sp>
        <p:nvSpPr>
          <p:cNvPr id="16" name="Text 13"/>
          <p:cNvSpPr txBox="1"/>
          <p:nvPr/>
        </p:nvSpPr>
        <p:spPr>
          <a:xfrm>
            <a:off x="7653528" y="2286000"/>
            <a:ext cx="1042416" cy="6583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Serverless</a:t>
            </a:r>
            <a:endParaRPr lang="en-US" sz="1050" dirty="0"/>
          </a:p>
        </p:txBody>
      </p:sp>
      <p:sp>
        <p:nvSpPr>
          <p:cNvPr id="17" name="Text 14"/>
          <p:cNvSpPr txBox="1"/>
          <p:nvPr/>
        </p:nvSpPr>
        <p:spPr>
          <a:xfrm>
            <a:off x="8257032" y="2340864"/>
            <a:ext cx="457200" cy="182880"/>
          </a:xfrm>
          <a:prstGeom prst="rect">
            <a:avLst/>
          </a:prstGeom>
          <a:noFill/>
          <a:ln/>
        </p:spPr>
        <p:txBody>
          <a:bodyPr wrap="square" lIns="0" tIns="0" rIns="0" bIns="0" rtlCol="0" anchor="ctr"/>
          <a:lstStyle/>
          <a:p>
            <a:pPr algn="r" indent="0" marL="0">
              <a:buNone/>
            </a:pPr>
            <a:r>
              <a:rPr lang="en-US" sz="750" b="1" dirty="0">
                <a:solidFill>
                  <a:srgbClr val="FFFFFF"/>
                </a:solidFill>
                <a:latin typeface="Courier New" pitchFamily="34" charset="0"/>
                <a:ea typeface="Courier New" pitchFamily="34" charset="-122"/>
                <a:cs typeface="Courier New" pitchFamily="34" charset="-120"/>
              </a:rPr>
              <a:t>LIVE</a:t>
            </a:r>
            <a:endParaRPr lang="en-US" sz="750" dirty="0"/>
          </a:p>
        </p:txBody>
      </p:sp>
      <p:sp>
        <p:nvSpPr>
          <p:cNvPr id="18" name="Shape 15"/>
          <p:cNvSpPr/>
          <p:nvPr/>
        </p:nvSpPr>
        <p:spPr>
          <a:xfrm>
            <a:off x="8915400" y="2286000"/>
            <a:ext cx="1261872" cy="658368"/>
          </a:xfrm>
          <a:prstGeom prst="roundRect">
            <a:avLst>
              <a:gd name="adj" fmla="val 11111"/>
            </a:avLst>
          </a:prstGeom>
          <a:solidFill>
            <a:srgbClr val="F4F5F7"/>
          </a:solidFill>
          <a:ln w="12700">
            <a:solidFill>
              <a:srgbClr val="E4E7EC"/>
            </a:solidFill>
            <a:prstDash val="solid"/>
          </a:ln>
        </p:spPr>
      </p:sp>
      <p:sp>
        <p:nvSpPr>
          <p:cNvPr id="19" name="Text 16"/>
          <p:cNvSpPr txBox="1"/>
          <p:nvPr/>
        </p:nvSpPr>
        <p:spPr>
          <a:xfrm>
            <a:off x="90251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Databases</a:t>
            </a:r>
            <a:endParaRPr lang="en-US" sz="1050" dirty="0"/>
          </a:p>
        </p:txBody>
      </p:sp>
      <p:sp>
        <p:nvSpPr>
          <p:cNvPr id="20" name="Shape 17"/>
          <p:cNvSpPr/>
          <p:nvPr/>
        </p:nvSpPr>
        <p:spPr>
          <a:xfrm>
            <a:off x="10287000" y="2286000"/>
            <a:ext cx="1261872" cy="658368"/>
          </a:xfrm>
          <a:prstGeom prst="roundRect">
            <a:avLst>
              <a:gd name="adj" fmla="val 11111"/>
            </a:avLst>
          </a:prstGeom>
          <a:solidFill>
            <a:srgbClr val="F4F5F7"/>
          </a:solidFill>
          <a:ln w="12700">
            <a:solidFill>
              <a:srgbClr val="E4E7EC"/>
            </a:solidFill>
            <a:prstDash val="solid"/>
          </a:ln>
        </p:spPr>
      </p:sp>
      <p:sp>
        <p:nvSpPr>
          <p:cNvPr id="21" name="Text 18"/>
          <p:cNvSpPr txBox="1"/>
          <p:nvPr/>
        </p:nvSpPr>
        <p:spPr>
          <a:xfrm>
            <a:off x="103967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Networking</a:t>
            </a:r>
            <a:endParaRPr lang="en-US" sz="1050" dirty="0"/>
          </a:p>
        </p:txBody>
      </p:sp>
      <p:sp>
        <p:nvSpPr>
          <p:cNvPr id="22" name="Shape 19"/>
          <p:cNvSpPr/>
          <p:nvPr/>
        </p:nvSpPr>
        <p:spPr>
          <a:xfrm>
            <a:off x="6172200" y="3054096"/>
            <a:ext cx="1261872" cy="658368"/>
          </a:xfrm>
          <a:prstGeom prst="roundRect">
            <a:avLst>
              <a:gd name="adj" fmla="val 11111"/>
            </a:avLst>
          </a:prstGeom>
          <a:solidFill>
            <a:srgbClr val="FFFFFF"/>
          </a:solidFill>
          <a:ln w="12700">
            <a:solidFill>
              <a:srgbClr val="E4572E"/>
            </a:solidFill>
            <a:prstDash val="solid"/>
          </a:ln>
        </p:spPr>
      </p:sp>
      <p:sp>
        <p:nvSpPr>
          <p:cNvPr id="23" name="Text 20"/>
          <p:cNvSpPr txBox="1"/>
          <p:nvPr/>
        </p:nvSpPr>
        <p:spPr>
          <a:xfrm>
            <a:off x="6281928" y="3054096"/>
            <a:ext cx="1042416" cy="658368"/>
          </a:xfrm>
          <a:prstGeom prst="rect">
            <a:avLst/>
          </a:prstGeom>
          <a:noFill/>
          <a:ln/>
        </p:spPr>
        <p:txBody>
          <a:bodyPr wrap="square" lIns="0" tIns="0" rIns="0" bIns="0" rtlCol="0" anchor="ctr"/>
          <a:lstStyle/>
          <a:p>
            <a:pPr indent="0" marL="0">
              <a:buNone/>
            </a:pPr>
            <a:r>
              <a:rPr lang="en-US" sz="1050" b="1" dirty="0">
                <a:solidFill>
                  <a:srgbClr val="1B1F2A"/>
                </a:solidFill>
                <a:latin typeface="Calibri" pitchFamily="34" charset="0"/>
                <a:ea typeface="Calibri" pitchFamily="34" charset="-122"/>
                <a:cs typeface="Calibri" pitchFamily="34" charset="-120"/>
              </a:rPr>
              <a:t>Object Storage</a:t>
            </a:r>
            <a:endParaRPr lang="en-US" sz="1050" dirty="0"/>
          </a:p>
        </p:txBody>
      </p:sp>
      <p:sp>
        <p:nvSpPr>
          <p:cNvPr id="24" name="Text 21"/>
          <p:cNvSpPr txBox="1"/>
          <p:nvPr/>
        </p:nvSpPr>
        <p:spPr>
          <a:xfrm>
            <a:off x="6885432" y="3108960"/>
            <a:ext cx="457200" cy="182880"/>
          </a:xfrm>
          <a:prstGeom prst="rect">
            <a:avLst/>
          </a:prstGeom>
          <a:noFill/>
          <a:ln/>
        </p:spPr>
        <p:txBody>
          <a:bodyPr wrap="square" lIns="0" tIns="0" rIns="0" bIns="0" rtlCol="0" anchor="ctr"/>
          <a:lstStyle/>
          <a:p>
            <a:pPr algn="r" indent="0" marL="0">
              <a:buNone/>
            </a:pPr>
            <a:r>
              <a:rPr lang="en-US" sz="750" b="1" dirty="0">
                <a:solidFill>
                  <a:srgbClr val="E4572E"/>
                </a:solidFill>
                <a:latin typeface="Courier New" pitchFamily="34" charset="0"/>
                <a:ea typeface="Courier New" pitchFamily="34" charset="-122"/>
                <a:cs typeface="Courier New" pitchFamily="34" charset="-120"/>
              </a:rPr>
              <a:t>NEXT</a:t>
            </a:r>
            <a:endParaRPr lang="en-US" sz="750" dirty="0"/>
          </a:p>
        </p:txBody>
      </p:sp>
      <p:sp>
        <p:nvSpPr>
          <p:cNvPr id="25" name="Shape 22"/>
          <p:cNvSpPr/>
          <p:nvPr/>
        </p:nvSpPr>
        <p:spPr>
          <a:xfrm>
            <a:off x="7543800" y="3054096"/>
            <a:ext cx="1261872" cy="658368"/>
          </a:xfrm>
          <a:prstGeom prst="roundRect">
            <a:avLst>
              <a:gd name="adj" fmla="val 11111"/>
            </a:avLst>
          </a:prstGeom>
          <a:solidFill>
            <a:srgbClr val="F4F5F7"/>
          </a:solidFill>
          <a:ln w="12700">
            <a:solidFill>
              <a:srgbClr val="E4E7EC"/>
            </a:solidFill>
            <a:prstDash val="solid"/>
          </a:ln>
        </p:spPr>
      </p:sp>
      <p:sp>
        <p:nvSpPr>
          <p:cNvPr id="26" name="Text 23"/>
          <p:cNvSpPr txBox="1"/>
          <p:nvPr/>
        </p:nvSpPr>
        <p:spPr>
          <a:xfrm>
            <a:off x="76535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Observability</a:t>
            </a:r>
            <a:endParaRPr lang="en-US" sz="1050" dirty="0"/>
          </a:p>
        </p:txBody>
      </p:sp>
      <p:sp>
        <p:nvSpPr>
          <p:cNvPr id="27" name="Shape 24"/>
          <p:cNvSpPr/>
          <p:nvPr/>
        </p:nvSpPr>
        <p:spPr>
          <a:xfrm>
            <a:off x="8915400" y="3054096"/>
            <a:ext cx="1261872" cy="658368"/>
          </a:xfrm>
          <a:prstGeom prst="roundRect">
            <a:avLst>
              <a:gd name="adj" fmla="val 11111"/>
            </a:avLst>
          </a:prstGeom>
          <a:solidFill>
            <a:srgbClr val="F4F5F7"/>
          </a:solidFill>
          <a:ln w="12700">
            <a:solidFill>
              <a:srgbClr val="E4E7EC"/>
            </a:solidFill>
            <a:prstDash val="solid"/>
          </a:ln>
        </p:spPr>
      </p:sp>
      <p:sp>
        <p:nvSpPr>
          <p:cNvPr id="28" name="Text 25"/>
          <p:cNvSpPr txBox="1"/>
          <p:nvPr/>
        </p:nvSpPr>
        <p:spPr>
          <a:xfrm>
            <a:off x="90251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Integration</a:t>
            </a:r>
            <a:endParaRPr lang="en-US" sz="1050" dirty="0"/>
          </a:p>
        </p:txBody>
      </p:sp>
      <p:sp>
        <p:nvSpPr>
          <p:cNvPr id="29" name="Shape 26"/>
          <p:cNvSpPr/>
          <p:nvPr/>
        </p:nvSpPr>
        <p:spPr>
          <a:xfrm>
            <a:off x="10287000" y="3054096"/>
            <a:ext cx="1261872" cy="658368"/>
          </a:xfrm>
          <a:prstGeom prst="roundRect">
            <a:avLst>
              <a:gd name="adj" fmla="val 11111"/>
            </a:avLst>
          </a:prstGeom>
          <a:solidFill>
            <a:srgbClr val="F4F5F7"/>
          </a:solidFill>
          <a:ln w="12700">
            <a:solidFill>
              <a:srgbClr val="E4E7EC"/>
            </a:solidFill>
            <a:prstDash val="solid"/>
          </a:ln>
        </p:spPr>
      </p:sp>
      <p:sp>
        <p:nvSpPr>
          <p:cNvPr id="30" name="Text 27"/>
          <p:cNvSpPr txBox="1"/>
          <p:nvPr/>
        </p:nvSpPr>
        <p:spPr>
          <a:xfrm>
            <a:off x="103967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Analytics</a:t>
            </a:r>
            <a:endParaRPr lang="en-US" sz="1050" dirty="0"/>
          </a:p>
        </p:txBody>
      </p:sp>
      <p:sp>
        <p:nvSpPr>
          <p:cNvPr id="31" name="Shape 28"/>
          <p:cNvSpPr/>
          <p:nvPr/>
        </p:nvSpPr>
        <p:spPr>
          <a:xfrm>
            <a:off x="6172200" y="3822192"/>
            <a:ext cx="1261872" cy="658368"/>
          </a:xfrm>
          <a:prstGeom prst="roundRect">
            <a:avLst>
              <a:gd name="adj" fmla="val 11111"/>
            </a:avLst>
          </a:prstGeom>
          <a:solidFill>
            <a:srgbClr val="F4F5F7"/>
          </a:solidFill>
          <a:ln w="12700">
            <a:solidFill>
              <a:srgbClr val="E4E7EC"/>
            </a:solidFill>
            <a:prstDash val="solid"/>
          </a:ln>
        </p:spPr>
      </p:sp>
      <p:sp>
        <p:nvSpPr>
          <p:cNvPr id="32" name="Text 29"/>
          <p:cNvSpPr txBox="1"/>
          <p:nvPr/>
        </p:nvSpPr>
        <p:spPr>
          <a:xfrm>
            <a:off x="62819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Dev Tools</a:t>
            </a:r>
            <a:endParaRPr lang="en-US" sz="1050" dirty="0"/>
          </a:p>
        </p:txBody>
      </p:sp>
      <p:sp>
        <p:nvSpPr>
          <p:cNvPr id="33" name="Shape 30"/>
          <p:cNvSpPr/>
          <p:nvPr/>
        </p:nvSpPr>
        <p:spPr>
          <a:xfrm>
            <a:off x="7543800" y="3822192"/>
            <a:ext cx="1261872" cy="658368"/>
          </a:xfrm>
          <a:prstGeom prst="roundRect">
            <a:avLst>
              <a:gd name="adj" fmla="val 11111"/>
            </a:avLst>
          </a:prstGeom>
          <a:solidFill>
            <a:srgbClr val="F4F5F7"/>
          </a:solidFill>
          <a:ln w="12700">
            <a:solidFill>
              <a:srgbClr val="E4E7EC"/>
            </a:solidFill>
            <a:prstDash val="solid"/>
          </a:ln>
        </p:spPr>
      </p:sp>
      <p:sp>
        <p:nvSpPr>
          <p:cNvPr id="34" name="Text 31"/>
          <p:cNvSpPr txBox="1"/>
          <p:nvPr/>
        </p:nvSpPr>
        <p:spPr>
          <a:xfrm>
            <a:off x="76535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Machine Learning</a:t>
            </a:r>
            <a:endParaRPr lang="en-US" sz="1050" dirty="0"/>
          </a:p>
        </p:txBody>
      </p:sp>
      <p:sp>
        <p:nvSpPr>
          <p:cNvPr id="35" name="Shape 32"/>
          <p:cNvSpPr/>
          <p:nvPr/>
        </p:nvSpPr>
        <p:spPr>
          <a:xfrm>
            <a:off x="8915400" y="3822192"/>
            <a:ext cx="1261872" cy="658368"/>
          </a:xfrm>
          <a:prstGeom prst="roundRect">
            <a:avLst>
              <a:gd name="adj" fmla="val 11111"/>
            </a:avLst>
          </a:prstGeom>
          <a:solidFill>
            <a:srgbClr val="F4F5F7"/>
          </a:solidFill>
          <a:ln w="12700">
            <a:solidFill>
              <a:srgbClr val="E4E7EC"/>
            </a:solidFill>
            <a:prstDash val="solid"/>
          </a:ln>
        </p:spPr>
      </p:sp>
      <p:sp>
        <p:nvSpPr>
          <p:cNvPr id="36" name="Text 33"/>
          <p:cNvSpPr txBox="1"/>
          <p:nvPr/>
        </p:nvSpPr>
        <p:spPr>
          <a:xfrm>
            <a:off x="90251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Security</a:t>
            </a:r>
            <a:endParaRPr lang="en-US" sz="1050" dirty="0"/>
          </a:p>
        </p:txBody>
      </p:sp>
      <p:sp>
        <p:nvSpPr>
          <p:cNvPr id="37" name="Shape 34"/>
          <p:cNvSpPr/>
          <p:nvPr/>
        </p:nvSpPr>
        <p:spPr>
          <a:xfrm>
            <a:off x="10287000" y="3822192"/>
            <a:ext cx="1261872" cy="658368"/>
          </a:xfrm>
          <a:prstGeom prst="roundRect">
            <a:avLst>
              <a:gd name="adj" fmla="val 11111"/>
            </a:avLst>
          </a:prstGeom>
          <a:solidFill>
            <a:srgbClr val="F4F5F7"/>
          </a:solidFill>
          <a:ln w="12700">
            <a:solidFill>
              <a:srgbClr val="E4E7EC"/>
            </a:solidFill>
            <a:prstDash val="solid"/>
          </a:ln>
        </p:spPr>
      </p:sp>
      <p:sp>
        <p:nvSpPr>
          <p:cNvPr id="38" name="Text 35"/>
          <p:cNvSpPr txBox="1"/>
          <p:nvPr/>
        </p:nvSpPr>
        <p:spPr>
          <a:xfrm>
            <a:off x="103967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…as data</a:t>
            </a:r>
            <a:endParaRPr lang="en-US" sz="10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21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cloudlet-apis: start at step five</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Extracted from the Serverless API</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core, web and auth extras</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Layering enforced by tests</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new API wires in five steps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Same group rules everywhere</a:t>
            </a:r>
            <a:endParaRPr lang="en-US" sz="1900" dirty="0"/>
          </a:p>
        </p:txBody>
      </p:sp>
      <p:sp>
        <p:nvSpPr>
          <p:cNvPr id="15" name="Shape 12"/>
          <p:cNvSpPr/>
          <p:nvPr/>
        </p:nvSpPr>
        <p:spPr>
          <a:xfrm>
            <a:off x="6172200" y="2011680"/>
            <a:ext cx="5394960" cy="713232"/>
          </a:xfrm>
          <a:prstGeom prst="roundRect">
            <a:avLst>
              <a:gd name="adj" fmla="val 10256"/>
            </a:avLst>
          </a:prstGeom>
          <a:solidFill>
            <a:srgbClr val="FFFFFF"/>
          </a:solidFill>
          <a:ln w="22225">
            <a:solidFill>
              <a:srgbClr val="E4572E"/>
            </a:solidFill>
            <a:prstDash val="solid"/>
          </a:ln>
        </p:spPr>
      </p:sp>
      <p:sp>
        <p:nvSpPr>
          <p:cNvPr id="16" name="Text 13"/>
          <p:cNvSpPr txBox="1"/>
          <p:nvPr/>
        </p:nvSpPr>
        <p:spPr>
          <a:xfrm>
            <a:off x="6355080" y="201168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[auth]</a:t>
            </a:r>
            <a:endParaRPr lang="en-US" sz="1400" dirty="0"/>
          </a:p>
        </p:txBody>
      </p:sp>
      <p:sp>
        <p:nvSpPr>
          <p:cNvPr id="17" name="Text 14"/>
          <p:cNvSpPr txBox="1"/>
          <p:nvPr/>
        </p:nvSpPr>
        <p:spPr>
          <a:xfrm>
            <a:off x="8549640" y="201168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OIDC · admin key · token proxy · tickets</a:t>
            </a:r>
            <a:endParaRPr lang="en-US" sz="950" dirty="0"/>
          </a:p>
        </p:txBody>
      </p:sp>
      <p:sp>
        <p:nvSpPr>
          <p:cNvPr id="18" name="Shape 15"/>
          <p:cNvSpPr/>
          <p:nvPr/>
        </p:nvSpPr>
        <p:spPr>
          <a:xfrm>
            <a:off x="6172200" y="2834640"/>
            <a:ext cx="5394960" cy="713232"/>
          </a:xfrm>
          <a:prstGeom prst="roundRect">
            <a:avLst>
              <a:gd name="adj" fmla="val 10256"/>
            </a:avLst>
          </a:prstGeom>
          <a:solidFill>
            <a:srgbClr val="FFFFFF"/>
          </a:solidFill>
          <a:ln w="15875">
            <a:solidFill>
              <a:srgbClr val="0B7A75"/>
            </a:solidFill>
            <a:prstDash val="solid"/>
          </a:ln>
        </p:spPr>
      </p:sp>
      <p:sp>
        <p:nvSpPr>
          <p:cNvPr id="19" name="Text 16"/>
          <p:cNvSpPr txBox="1"/>
          <p:nvPr/>
        </p:nvSpPr>
        <p:spPr>
          <a:xfrm>
            <a:off x="6355080" y="283464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[web]</a:t>
            </a:r>
            <a:endParaRPr lang="en-US" sz="1400" dirty="0"/>
          </a:p>
        </p:txBody>
      </p:sp>
      <p:sp>
        <p:nvSpPr>
          <p:cNvPr id="20" name="Text 17"/>
          <p:cNvSpPr txBox="1"/>
          <p:nvPr/>
        </p:nvSpPr>
        <p:spPr>
          <a:xfrm>
            <a:off x="8549640" y="283464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health · error envelope · offline docs</a:t>
            </a:r>
            <a:endParaRPr lang="en-US" sz="950" dirty="0"/>
          </a:p>
        </p:txBody>
      </p:sp>
      <p:sp>
        <p:nvSpPr>
          <p:cNvPr id="21" name="Shape 18"/>
          <p:cNvSpPr/>
          <p:nvPr/>
        </p:nvSpPr>
        <p:spPr>
          <a:xfrm>
            <a:off x="6172200" y="3657600"/>
            <a:ext cx="5394960" cy="713232"/>
          </a:xfrm>
          <a:prstGeom prst="roundRect">
            <a:avLst>
              <a:gd name="adj" fmla="val 10256"/>
            </a:avLst>
          </a:prstGeom>
          <a:solidFill>
            <a:srgbClr val="FFFFFF"/>
          </a:solidFill>
          <a:ln w="15875">
            <a:solidFill>
              <a:srgbClr val="0B7A75"/>
            </a:solidFill>
            <a:prstDash val="solid"/>
          </a:ln>
        </p:spPr>
      </p:sp>
      <p:sp>
        <p:nvSpPr>
          <p:cNvPr id="22" name="Text 19"/>
          <p:cNvSpPr txBox="1"/>
          <p:nvPr/>
        </p:nvSpPr>
        <p:spPr>
          <a:xfrm>
            <a:off x="6355080" y="365760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core</a:t>
            </a:r>
            <a:endParaRPr lang="en-US" sz="1400" dirty="0"/>
          </a:p>
        </p:txBody>
      </p:sp>
      <p:sp>
        <p:nvSpPr>
          <p:cNvPr id="23" name="Text 20"/>
          <p:cNvSpPr txBox="1"/>
          <p:nvPr/>
        </p:nvSpPr>
        <p:spPr>
          <a:xfrm>
            <a:off x="8549640" y="365760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errors · names · logging · request id</a:t>
            </a:r>
            <a:endParaRPr lang="en-US" sz="950" dirty="0"/>
          </a:p>
        </p:txBody>
      </p:sp>
      <p:sp>
        <p:nvSpPr>
          <p:cNvPr id="24" name="Text 21"/>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22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WHAT WE BUILT</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4200" b="1" dirty="0">
                <a:solidFill>
                  <a:srgbClr val="1B1F2A"/>
                </a:solidFill>
                <a:latin typeface="Century Schoolbook" pitchFamily="34" charset="0"/>
                <a:ea typeface="Century Schoolbook" pitchFamily="34" charset="-122"/>
                <a:cs typeface="Century Schoolbook" pitchFamily="34" charset="-120"/>
              </a:rPr>
              <a:t>Code in, a running service out.</a:t>
            </a:r>
            <a:endParaRPr lang="en-US" sz="4200" dirty="0"/>
          </a:p>
        </p:txBody>
      </p:sp>
      <p:sp>
        <p:nvSpPr>
          <p:cNvPr id="5" name="step:1"/>
          <p:cNvSpPr txBox="1"/>
          <p:nvPr/>
        </p:nvSpPr>
        <p:spPr>
          <a:xfrm>
            <a:off x="640080"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4</a:t>
            </a:r>
            <a:endParaRPr lang="en-US" sz="4800" dirty="0"/>
          </a:p>
        </p:txBody>
      </p:sp>
      <p:sp>
        <p:nvSpPr>
          <p:cNvPr id="6" name="step:1"/>
          <p:cNvSpPr txBox="1"/>
          <p:nvPr/>
        </p:nvSpPr>
        <p:spPr>
          <a:xfrm>
            <a:off x="640080"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repositories</a:t>
            </a:r>
            <a:endParaRPr lang="en-US" sz="1050" dirty="0"/>
          </a:p>
        </p:txBody>
      </p:sp>
      <p:sp>
        <p:nvSpPr>
          <p:cNvPr id="7" name="step:2"/>
          <p:cNvSpPr txBox="1"/>
          <p:nvPr/>
        </p:nvSpPr>
        <p:spPr>
          <a:xfrm>
            <a:off x="2496769"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8" name="step:2"/>
          <p:cNvSpPr txBox="1"/>
          <p:nvPr/>
        </p:nvSpPr>
        <p:spPr>
          <a:xfrm>
            <a:off x="2496769"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services</a:t>
            </a:r>
            <a:endParaRPr lang="en-US" sz="1050" dirty="0"/>
          </a:p>
        </p:txBody>
      </p:sp>
      <p:sp>
        <p:nvSpPr>
          <p:cNvPr id="9" name="step:3"/>
          <p:cNvSpPr txBox="1"/>
          <p:nvPr/>
        </p:nvSpPr>
        <p:spPr>
          <a:xfrm>
            <a:off x="435345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23</a:t>
            </a:r>
            <a:endParaRPr lang="en-US" sz="4800" dirty="0"/>
          </a:p>
        </p:txBody>
      </p:sp>
      <p:sp>
        <p:nvSpPr>
          <p:cNvPr id="10" name="step:3"/>
          <p:cNvSpPr txBox="1"/>
          <p:nvPr/>
        </p:nvSpPr>
        <p:spPr>
          <a:xfrm>
            <a:off x="435345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endpoints</a:t>
            </a:r>
            <a:endParaRPr lang="en-US" sz="1050" dirty="0"/>
          </a:p>
        </p:txBody>
      </p:sp>
      <p:sp>
        <p:nvSpPr>
          <p:cNvPr id="11" name="step:4"/>
          <p:cNvSpPr txBox="1"/>
          <p:nvPr/>
        </p:nvSpPr>
        <p:spPr>
          <a:xfrm>
            <a:off x="621014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a:t>
            </a:r>
            <a:endParaRPr lang="en-US" sz="4800" dirty="0"/>
          </a:p>
        </p:txBody>
      </p:sp>
      <p:sp>
        <p:nvSpPr>
          <p:cNvPr id="12" name="step:4"/>
          <p:cNvSpPr txBox="1"/>
          <p:nvPr/>
        </p:nvSpPr>
        <p:spPr>
          <a:xfrm>
            <a:off x="621014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a:t>
            </a:r>
            <a:endParaRPr lang="en-US" sz="1050" dirty="0"/>
          </a:p>
        </p:txBody>
      </p:sp>
      <p:sp>
        <p:nvSpPr>
          <p:cNvPr id="13" name="step:5"/>
          <p:cNvSpPr txBox="1"/>
          <p:nvPr/>
        </p:nvSpPr>
        <p:spPr>
          <a:xfrm>
            <a:off x="8066837"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14" name="step:5"/>
          <p:cNvSpPr txBox="1"/>
          <p:nvPr/>
        </p:nvSpPr>
        <p:spPr>
          <a:xfrm>
            <a:off x="8066837"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runtimes</a:t>
            </a:r>
            <a:endParaRPr lang="en-US" sz="1050" dirty="0"/>
          </a:p>
        </p:txBody>
      </p:sp>
      <p:sp>
        <p:nvSpPr>
          <p:cNvPr id="15" name="step:6"/>
          <p:cNvSpPr txBox="1"/>
          <p:nvPr/>
        </p:nvSpPr>
        <p:spPr>
          <a:xfrm>
            <a:off x="9923526"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0</a:t>
            </a:r>
            <a:endParaRPr lang="en-US" sz="4800" dirty="0"/>
          </a:p>
        </p:txBody>
      </p:sp>
      <p:sp>
        <p:nvSpPr>
          <p:cNvPr id="16" name="step:6"/>
          <p:cNvSpPr txBox="1"/>
          <p:nvPr/>
        </p:nvSpPr>
        <p:spPr>
          <a:xfrm>
            <a:off x="9923526"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a:t>
            </a:r>
            <a:endParaRPr lang="en-US" sz="1050" dirty="0"/>
          </a:p>
        </p:txBody>
      </p:sp>
      <p:sp>
        <p:nvSpPr>
          <p:cNvPr id="17" name="step:7"/>
          <p:cNvSpPr/>
          <p:nvPr/>
        </p:nvSpPr>
        <p:spPr>
          <a:xfrm>
            <a:off x="640080" y="3922776"/>
            <a:ext cx="109728" cy="109728"/>
          </a:xfrm>
          <a:prstGeom prst="rect">
            <a:avLst/>
          </a:prstGeom>
          <a:solidFill>
            <a:srgbClr val="E4572E"/>
          </a:solidFill>
          <a:ln w="12700">
            <a:solidFill>
              <a:srgbClr val="E4572E"/>
            </a:solidFill>
            <a:prstDash val="solid"/>
          </a:ln>
        </p:spPr>
      </p:sp>
      <p:sp>
        <p:nvSpPr>
          <p:cNvPr id="18" name="step:7"/>
          <p:cNvSpPr txBox="1"/>
          <p:nvPr/>
        </p:nvSpPr>
        <p:spPr>
          <a:xfrm>
            <a:off x="932688" y="374904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Operator owns Knative; we own the contract</a:t>
            </a:r>
            <a:endParaRPr lang="en-US" sz="1800" dirty="0"/>
          </a:p>
        </p:txBody>
      </p:sp>
      <p:sp>
        <p:nvSpPr>
          <p:cNvPr id="19" name="step:8"/>
          <p:cNvSpPr/>
          <p:nvPr/>
        </p:nvSpPr>
        <p:spPr>
          <a:xfrm>
            <a:off x="640080" y="4425696"/>
            <a:ext cx="109728" cy="109728"/>
          </a:xfrm>
          <a:prstGeom prst="rect">
            <a:avLst/>
          </a:prstGeom>
          <a:solidFill>
            <a:srgbClr val="E4572E"/>
          </a:solidFill>
          <a:ln w="12700">
            <a:solidFill>
              <a:srgbClr val="E4572E"/>
            </a:solidFill>
            <a:prstDash val="solid"/>
          </a:ln>
        </p:spPr>
      </p:sp>
      <p:sp>
        <p:nvSpPr>
          <p:cNvPr id="20" name="step:8"/>
          <p:cNvSpPr txBox="1"/>
          <p:nvPr/>
        </p:nvSpPr>
        <p:spPr>
          <a:xfrm>
            <a:off x="932688" y="425196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Deterministic specs, so no leader</a:t>
            </a:r>
            <a:endParaRPr lang="en-US" sz="1800" dirty="0"/>
          </a:p>
        </p:txBody>
      </p:sp>
      <p:sp>
        <p:nvSpPr>
          <p:cNvPr id="21" name="step:9"/>
          <p:cNvSpPr/>
          <p:nvPr/>
        </p:nvSpPr>
        <p:spPr>
          <a:xfrm>
            <a:off x="640080" y="4928616"/>
            <a:ext cx="109728" cy="109728"/>
          </a:xfrm>
          <a:prstGeom prst="rect">
            <a:avLst/>
          </a:prstGeom>
          <a:solidFill>
            <a:srgbClr val="E4572E"/>
          </a:solidFill>
          <a:ln w="12700">
            <a:solidFill>
              <a:srgbClr val="E4572E"/>
            </a:solidFill>
            <a:prstDash val="solid"/>
          </a:ln>
        </p:spPr>
      </p:sp>
      <p:sp>
        <p:nvSpPr>
          <p:cNvPr id="22" name="step:9"/>
          <p:cNvSpPr txBox="1"/>
          <p:nvPr/>
        </p:nvSpPr>
        <p:spPr>
          <a:xfrm>
            <a:off x="932688" y="475488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Builds declared, watched, rolled in</a:t>
            </a:r>
            <a:endParaRPr lang="en-US" sz="1800" dirty="0"/>
          </a:p>
        </p:txBody>
      </p:sp>
      <p:sp>
        <p:nvSpPr>
          <p:cNvPr id="23" name="step:10"/>
          <p:cNvSpPr/>
          <p:nvPr/>
        </p:nvSpPr>
        <p:spPr>
          <a:xfrm>
            <a:off x="640080" y="5431536"/>
            <a:ext cx="109728" cy="109728"/>
          </a:xfrm>
          <a:prstGeom prst="rect">
            <a:avLst/>
          </a:prstGeom>
          <a:solidFill>
            <a:srgbClr val="E4572E"/>
          </a:solidFill>
          <a:ln w="12700">
            <a:solidFill>
              <a:srgbClr val="E4572E"/>
            </a:solidFill>
            <a:prstDash val="solid"/>
          </a:ln>
        </p:spPr>
      </p:sp>
      <p:sp>
        <p:nvSpPr>
          <p:cNvPr id="24" name="step:10"/>
          <p:cNvSpPr txBox="1"/>
          <p:nvPr/>
        </p:nvSpPr>
        <p:spPr>
          <a:xfrm>
            <a:off x="932688" y="525780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The second product is cheaper</a:t>
            </a:r>
            <a:endParaRPr lang="en-US" sz="1800" dirty="0"/>
          </a:p>
        </p:txBody>
      </p:sp>
      <p:sp>
        <p:nvSpPr>
          <p:cNvPr id="25" name="step:11"/>
          <p:cNvSpPr txBox="1"/>
          <p:nvPr/>
        </p:nvSpPr>
        <p:spPr>
          <a:xfrm>
            <a:off x="7772400" y="5303520"/>
            <a:ext cx="3749040" cy="640080"/>
          </a:xfrm>
          <a:prstGeom prst="rect">
            <a:avLst/>
          </a:prstGeom>
          <a:noFill/>
          <a:ln/>
        </p:spPr>
        <p:txBody>
          <a:bodyPr wrap="square" lIns="0" tIns="0" rIns="0" bIns="0" rtlCol="0" anchor="ctr"/>
          <a:lstStyle/>
          <a:p>
            <a:pPr algn="r" indent="0" marL="0">
              <a:buNone/>
            </a:pPr>
            <a:r>
              <a:rPr lang="en-US" sz="2600" b="1" dirty="0">
                <a:solidFill>
                  <a:srgbClr val="1B1F2A"/>
                </a:solidFill>
                <a:latin typeface="Century Schoolbook" pitchFamily="34" charset="0"/>
                <a:ea typeface="Century Schoolbook" pitchFamily="34" charset="-122"/>
                <a:cs typeface="Century Schoolbook" pitchFamily="34" charset="-120"/>
              </a:rPr>
              <a:t>Thank you. Questions?</a:t>
            </a:r>
            <a:endParaRPr lang="en-US" sz="2600" dirty="0"/>
          </a:p>
        </p:txBody>
      </p:sp>
      <p:sp>
        <p:nvSpPr>
          <p:cNvPr id="26" name="Text 2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23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par>
                    <p:cTn id="57" fill="hold">
                      <p:stCondLst>
                        <p:cond delay="indefinite"/>
                      </p:stCondLst>
                      <p:childTnLst>
                        <p:par>
                          <p:cTn id="58"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400"/>
                                        <p:tgtEl>
                                          <p:spTgt spid="1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00"/>
                                        <p:tgtEl>
                                          <p:spTgt spid="18"/>
                                        </p:tgtEl>
                                      </p:cBhvr>
                                    </p:animEffect>
                                  </p:childTnLst>
                                </p:cTn>
                              </p:par>
                            </p:childTnLst>
                          </p:cTn>
                        </p:par>
                      </p:childTnLst>
                    </p:cTn>
                  </p:par>
                  <p:par>
                    <p:cTn id="65" fill="hold">
                      <p:stCondLst>
                        <p:cond delay="indefinite"/>
                      </p:stCondLst>
                      <p:childTnLst>
                        <p:par>
                          <p:cTn id="66"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400"/>
                                        <p:tgtEl>
                                          <p:spTgt spid="1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400"/>
                                        <p:tgtEl>
                                          <p:spTgt spid="20"/>
                                        </p:tgtEl>
                                      </p:cBhvr>
                                    </p:animEffect>
                                  </p:childTnLst>
                                </p:cTn>
                              </p:par>
                            </p:childTnLst>
                          </p:cTn>
                        </p:par>
                      </p:childTnLst>
                    </p:cTn>
                  </p:par>
                  <p:par>
                    <p:cTn id="73" fill="hold">
                      <p:stCondLst>
                        <p:cond delay="indefinite"/>
                      </p:stCondLst>
                      <p:childTnLst>
                        <p:par>
                          <p:cTn id="74"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400"/>
                                        <p:tgtEl>
                                          <p:spTgt spid="2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400"/>
                                        <p:tgtEl>
                                          <p:spTgt spid="22"/>
                                        </p:tgtEl>
                                      </p:cBhvr>
                                    </p:animEffect>
                                  </p:childTnLst>
                                </p:cTn>
                              </p:par>
                            </p:childTnLst>
                          </p:cTn>
                        </p:par>
                      </p:childTnLst>
                    </p:cTn>
                  </p:par>
                  <p:par>
                    <p:cTn id="81" fill="hold">
                      <p:stCondLst>
                        <p:cond delay="indefinite"/>
                      </p:stCondLst>
                      <p:childTnLst>
                        <p:par>
                          <p:cTn id="82"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400"/>
                                        <p:tgtEl>
                                          <p:spTgt spid="23"/>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400"/>
                                        <p:tgtEl>
                                          <p:spTgt spid="24"/>
                                        </p:tgtEl>
                                      </p:cBhvr>
                                    </p:animEffect>
                                  </p:childTnLst>
                                </p:cTn>
                              </p:par>
                            </p:childTnLst>
                          </p:cTn>
                        </p:par>
                      </p:childTnLst>
                    </p:cTn>
                  </p:par>
                  <p:par>
                    <p:cTn id="86" fill="hold">
                      <p:stCondLst>
                        <p:cond delay="indefinite"/>
                      </p:stCondLst>
                      <p:childTnLst>
                        <p:par>
                          <p:cTn id="87"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25"/>
                                        </p:tgtEl>
                                        <p:attrNameLst>
                                          <p:attrName>style.visibility</p:attrName>
                                        </p:attrNameLst>
                                      </p:cBhvr>
                                      <p:to>
                                        <p:strVal val="visible"/>
                                      </p:to>
                                    </p:set>
                                    <p:animEffect transition="in" filter="fade">
                                      <p:cBhvr>
                                        <p:cTn id="85"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Knative to the Portal</dc:title>
  <dc:subject>PptxGenJS Presentation</dc:subject>
  <dc:creator>PptxGenJS</dc:creator>
  <cp:lastModifiedBy>PptxGenJS</cp:lastModifiedBy>
  <cp:revision>1</cp:revision>
  <dcterms:created xsi:type="dcterms:W3CDTF">2026-09-04T14:18:45Z</dcterms:created>
  <dcterms:modified xsi:type="dcterms:W3CDTF">2026-09-04T14:18:45Z</dcterms:modified>
</cp:coreProperties>
</file>