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one-sentence promise: a developer gives us code or an image and gets a running, addressable service in both regions without ever seeing Kubernetes.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Foundations is the vocabulary. The API is the contract. Functions and builds is where most of the engineering went. Portal and future is what the platform becomes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Serverless is a billing and operations model, not a technology. Scale to zero is the defining property: an idle workload costs nothing and needs nobody.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Service owns a Configuration and a Route. Every change to the Configuration stamps an immutable Revision. The KPA scales revisions on concurrency, including to zero; the Activator buffers requests while a revision wakes. DomainMapping lets us give one workload the same host in both clusters.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operator is Red Hat's packaging of Knative. One KnativeServing CR, reconciled by the operator, upgraded through OLM. Kourier is the ingress; Routes are created for us. The catalog mirrors with oc-mirror, which is what makes it viable in an airgap.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is about ownership. Upstream would mean maintaining the install, the ingress, the Routes and the mirror ourselves, with community support. The chart assumes the operator's conventions and the API holds no routes RBAC. Recorded in docs/DEPLOYING.md and the locked decisions in docs/ARCHITECTURE.md.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API is a FastAPI control plane. Every write validates synchronously then returns 202 with a statusUrl; the status vocabulary is closed and published on /info so no client hardcodes it. One Helm chart, rendered by ArgoCD once per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 path /api/serverless/v1. The SSO group is a path segment, so authorization is a path check against the groups claim. Ten endpoints per offering, two public info endpoints, one ticket mint. The Authorization header carries either a Keycloak JWT or the static admin key. EventSource cannot send headers, hence the 60-second HMAC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Sizes map to CPU request-only and memory request equals limit. Concurrency and rps use the KPA and can scale to zero; cpu and memory switch to HPA. Failed always carries a machine-readable reason. PUT is a full replace but keeps redacted secrets when omitted.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kubeconfig and no service-account path. cert-manager issues an ACME client certificate; its CN is a DNS name because ACME only issues to DNS identities, and that CN is the Kubernetes user RBAC binds. The API server address is derived from the region's cluster name. Every write is a server-side apply with force, so retries heal partial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OpenShift clusters trusting the same CA. The API runs in both; DNS fronts the active one. A deploy fans out to both concurrently and rolls up per-region results. No leader election: specs contain no timestamps, UUIDs or counters, so two writers converge. Each region builds into its own registry. The Knative Service and its annotations are the replicated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Privilege separation is the reason: namespace and RBAC creation is cluster-scoped power the internet-facing API must not hold. Namespace per SSO group, identical in both clusters, rendered from region-neutral templates. Provision is called before every deploy and fails closed. Reconcile is local-cluster only so the regions never fight. The stamp protocol makes a converge crash-safe.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container is run this image. A function is here is my repo, which means a build: asynchronous, retried, observable per phase, and fired automatically when a stack or buildpack is patched. That last property is why kpack was chosen over Tekton or func.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Dockerfile: Paketo buildpacks detect the language from the repo. Rebase swaps the run image without a rebuild. Our kpack repo is not a fork; it is a Helm chart packaging upstream 0.18 with the airgap pieces. The serverless chart composes the three ClusterBuilders because composing is a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Image to SourceResolver to Build to Pod. The CNB lifecycle runs as named init containers, so every phase has its own log. Five build reasons; BUILDPACK and STACK fire with no user action. Images go to the region registry; the layer cache is a registry tag. A Kyverno policy injects the CA into initContainers.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API declares a build and walks away. The build controller watches kpack Images in its own region and, when latestImage changes, server-side applies the live Knative Service with the digest. Exactly one writer per phase, and the controller only ever writes digests. It ships without a web stack, and CI proves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Next.js 16 with server components and server actions in front of the API. The user's Keycloak token stays in the encrypted session and is forwarded server-side. The SSO group is the project. Forms are built from /info; the create flow turns 202 into a tracker toast. Live logs and stats stream over SSE using re-minted tickets.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catalog already names ten future offerings; Serverless is live and Object Storage has its env hook. Adding an offering is data, not code. The shell is generic; the serverless tree is the only product-specific part. Next: a shared resource layer and a generated TypeScript client so the contract stops being copied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cloudlet-apis is the shared Python library extracted from the Serverless API: core, web and auth as install extras, with layering enforced by tests. A new API wires it in five steps and inherits the security review. Two APIs normalizing groups differently is an authorization bug. Next extraction candidates: the mTLS multi-cluster client and the region fan-out.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four takeaways and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1828800"/>
            <a:ext cx="7315200" cy="320040"/>
          </a:xfrm>
          <a:prstGeom prst="rect">
            <a:avLst/>
          </a:prstGeom>
          <a:noFill/>
          <a:ln/>
        </p:spPr>
        <p:txBody>
          <a:bodyPr wrap="square" lIns="0" tIns="0" rIns="0" bIns="0" rtlCol="0" anchor="ctr"/>
          <a:lstStyle/>
          <a:p>
            <a:pPr indent="0" marL="0">
              <a:buNone/>
            </a:pPr>
            <a:r>
              <a:rPr lang="en-US" sz="1200" b="1" spc="400" kern="0" dirty="0">
                <a:solidFill>
                  <a:srgbClr val="E4572E"/>
                </a:solidFill>
                <a:latin typeface="Courier New" pitchFamily="34" charset="0"/>
                <a:ea typeface="Courier New" pitchFamily="34" charset="-122"/>
                <a:cs typeface="Courier New" pitchFamily="34" charset="-120"/>
              </a:rPr>
              <a:t>CLOUDLET'S SERVERLESS</a:t>
            </a:r>
            <a:endParaRPr lang="en-US" sz="1200" dirty="0"/>
          </a:p>
        </p:txBody>
      </p:sp>
      <p:sp>
        <p:nvSpPr>
          <p:cNvPr id="4" name="Text 1"/>
          <p:cNvSpPr txBox="1"/>
          <p:nvPr/>
        </p:nvSpPr>
        <p:spPr>
          <a:xfrm>
            <a:off x="640080" y="2194560"/>
            <a:ext cx="7680960" cy="1828800"/>
          </a:xfrm>
          <a:prstGeom prst="rect">
            <a:avLst/>
          </a:prstGeom>
          <a:noFill/>
          <a:ln/>
        </p:spPr>
        <p:txBody>
          <a:bodyPr wrap="square" lIns="0" tIns="0" rIns="0" bIns="0" rtlCol="0" anchor="ctr"/>
          <a:lstStyle/>
          <a:p>
            <a:pPr indent="0" marL="0">
              <a:lnSpc>
                <a:spcPct val="95000"/>
              </a:lnSpc>
              <a:buNone/>
            </a:pPr>
            <a:r>
              <a:rPr lang="en-US" sz="6600" b="1" dirty="0">
                <a:solidFill>
                  <a:srgbClr val="1B1F2A"/>
                </a:solidFill>
                <a:latin typeface="Century Schoolbook" pitchFamily="34" charset="0"/>
                <a:ea typeface="Century Schoolbook" pitchFamily="34" charset="-122"/>
                <a:cs typeface="Century Schoolbook" pitchFamily="34" charset="-120"/>
              </a:rPr>
              <a:t>From Knative to the Portal</a:t>
            </a:r>
            <a:endParaRPr lang="en-US" sz="6600" dirty="0"/>
          </a:p>
        </p:txBody>
      </p:sp>
      <p:sp>
        <p:nvSpPr>
          <p:cNvPr id="5" name="Text 2"/>
          <p:cNvSpPr txBox="1"/>
          <p:nvPr/>
        </p:nvSpPr>
        <p:spPr>
          <a:xfrm>
            <a:off x="640080" y="4114800"/>
            <a:ext cx="7315200" cy="548640"/>
          </a:xfrm>
          <a:prstGeom prst="rect">
            <a:avLst/>
          </a:prstGeom>
          <a:noFill/>
          <a:ln/>
        </p:spPr>
        <p:txBody>
          <a:bodyPr wrap="square" lIns="0" tIns="0" rIns="0" bIns="0" rtlCol="0" anchor="ctr"/>
          <a:lstStyle/>
          <a:p>
            <a:pPr indent="0" marL="0">
              <a:buNone/>
            </a:pPr>
            <a:r>
              <a:rPr lang="en-US" sz="2400" i="1" dirty="0">
                <a:solidFill>
                  <a:srgbClr val="667085"/>
                </a:solidFill>
                <a:latin typeface="Century Schoolbook" pitchFamily="34" charset="0"/>
                <a:ea typeface="Century Schoolbook" pitchFamily="34" charset="-122"/>
                <a:cs typeface="Century Schoolbook" pitchFamily="34" charset="-120"/>
              </a:rPr>
              <a:t>What we built, and why.</a:t>
            </a:r>
            <a:endParaRPr lang="en-US" sz="2400" dirty="0"/>
          </a:p>
        </p:txBody>
      </p:sp>
      <p:sp>
        <p:nvSpPr>
          <p:cNvPr id="6" name="Text 3"/>
          <p:cNvSpPr txBox="1"/>
          <p:nvPr/>
        </p:nvSpPr>
        <p:spPr>
          <a:xfrm>
            <a:off x="640080" y="4937760"/>
            <a:ext cx="5486400" cy="320040"/>
          </a:xfrm>
          <a:prstGeom prst="rect">
            <a:avLst/>
          </a:prstGeom>
          <a:noFill/>
          <a:ln/>
        </p:spPr>
        <p:txBody>
          <a:bodyPr wrap="square" lIns="0" tIns="0" rIns="0" bIns="0" rtlCol="0" anchor="ctr"/>
          <a:lstStyle/>
          <a:p>
            <a:pPr indent="0" marL="0">
              <a:buNone/>
            </a:pPr>
            <a:r>
              <a:rPr lang="en-US" sz="1100" dirty="0">
                <a:solidFill>
                  <a:srgbClr val="667085"/>
                </a:solidFill>
                <a:latin typeface="Courier New" pitchFamily="34" charset="0"/>
                <a:ea typeface="Courier New" pitchFamily="34" charset="-122"/>
                <a:cs typeface="Courier New" pitchFamily="34" charset="-120"/>
              </a:rPr>
              <a:t>Team review · September 2026</a:t>
            </a:r>
            <a:endParaRPr lang="en-US" sz="1100" dirty="0"/>
          </a:p>
        </p:txBody>
      </p:sp>
      <p:sp>
        <p:nvSpPr>
          <p:cNvPr id="7" name="Shape 4"/>
          <p:cNvSpPr/>
          <p:nvPr/>
        </p:nvSpPr>
        <p:spPr>
          <a:xfrm>
            <a:off x="8961120" y="2331720"/>
            <a:ext cx="2194560" cy="2194560"/>
          </a:xfrm>
          <a:prstGeom prst="ellipse">
            <a:avLst/>
          </a:prstGeom>
          <a:solidFill>
            <a:srgbClr val="FFFFFF">
              <a:alpha val="0"/>
            </a:srgbClr>
          </a:solidFill>
          <a:ln w="19050">
            <a:solidFill>
              <a:srgbClr val="E4572E">
                <a:alpha val="70000"/>
              </a:srgbClr>
            </a:solidFill>
            <a:prstDash val="solid"/>
          </a:ln>
        </p:spPr>
      </p:sp>
      <p:sp>
        <p:nvSpPr>
          <p:cNvPr id="8" name="Shape 5"/>
          <p:cNvSpPr/>
          <p:nvPr/>
        </p:nvSpPr>
        <p:spPr>
          <a:xfrm>
            <a:off x="9281160" y="2651760"/>
            <a:ext cx="1554480" cy="1554480"/>
          </a:xfrm>
          <a:prstGeom prst="ellipse">
            <a:avLst/>
          </a:prstGeom>
          <a:solidFill>
            <a:srgbClr val="FFFFFF">
              <a:alpha val="0"/>
            </a:srgbClr>
          </a:solidFill>
          <a:ln w="19050">
            <a:solidFill>
              <a:srgbClr val="E4572E">
                <a:alpha val="45000"/>
              </a:srgbClr>
            </a:solidFill>
            <a:prstDash val="solid"/>
          </a:ln>
        </p:spPr>
      </p:sp>
      <p:sp>
        <p:nvSpPr>
          <p:cNvPr id="9" name="Shape 6"/>
          <p:cNvSpPr/>
          <p:nvPr/>
        </p:nvSpPr>
        <p:spPr>
          <a:xfrm>
            <a:off x="9601200" y="2971800"/>
            <a:ext cx="914400" cy="914400"/>
          </a:xfrm>
          <a:prstGeom prst="ellipse">
            <a:avLst/>
          </a:prstGeom>
          <a:solidFill>
            <a:srgbClr val="FFFFFF">
              <a:alpha val="0"/>
            </a:srgbClr>
          </a:solidFill>
          <a:ln w="19050">
            <a:solidFill>
              <a:srgbClr val="E4572E">
                <a:alpha val="20000"/>
              </a:srgbClr>
            </a:solidFill>
            <a:prstDash val="solid"/>
          </a:ln>
        </p:spPr>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TODAY</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What we'll talk about</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Serverless, Knative and the Operator</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API: contract, mTLS, two regions</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Functions: buildpacks, kpack, build controller</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portal and cloudlet-apis</a:t>
            </a:r>
            <a:endParaRPr lang="en-US" sz="1900" dirty="0"/>
          </a:p>
        </p:txBody>
      </p:sp>
      <p:sp>
        <p:nvSpPr>
          <p:cNvPr id="13" name="step:5"/>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Where we go next</a:t>
            </a:r>
            <a:endParaRPr lang="en-US" sz="1900" dirty="0"/>
          </a:p>
        </p:txBody>
      </p:sp>
      <p:sp>
        <p:nvSpPr>
          <p:cNvPr id="15" name="Text 12"/>
          <p:cNvSpPr txBox="1"/>
          <p:nvPr/>
        </p:nvSpPr>
        <p:spPr>
          <a:xfrm>
            <a:off x="6172200" y="2834640"/>
            <a:ext cx="5394960" cy="1280160"/>
          </a:xfrm>
          <a:prstGeom prst="rect">
            <a:avLst/>
          </a:prstGeom>
          <a:noFill/>
          <a:ln/>
        </p:spPr>
        <p:txBody>
          <a:bodyPr wrap="square" lIns="0" tIns="0" rIns="0" bIns="0" rtlCol="0" anchor="ctr"/>
          <a:lstStyle/>
          <a:p>
            <a:pPr algn="ctr" indent="0" marL="0">
              <a:buNone/>
            </a:pPr>
            <a:r>
              <a:rPr lang="en-US" sz="5400" b="1" dirty="0">
                <a:solidFill>
                  <a:srgbClr val="0B7A75"/>
                </a:solidFill>
                <a:latin typeface="Century Schoolbook" pitchFamily="34" charset="0"/>
                <a:ea typeface="Century Schoolbook" pitchFamily="34" charset="-122"/>
                <a:cs typeface="Century Schoolbook" pitchFamily="34" charset="-120"/>
              </a:rPr>
              <a:t>23</a:t>
            </a:r>
            <a:endParaRPr lang="en-US" sz="5400" dirty="0"/>
          </a:p>
        </p:txBody>
      </p:sp>
      <p:sp>
        <p:nvSpPr>
          <p:cNvPr id="16" name="Text 13"/>
          <p:cNvSpPr txBox="1"/>
          <p:nvPr/>
        </p:nvSpPr>
        <p:spPr>
          <a:xfrm>
            <a:off x="6172200" y="4114800"/>
            <a:ext cx="5394960" cy="365760"/>
          </a:xfrm>
          <a:prstGeom prst="rect">
            <a:avLst/>
          </a:prstGeom>
          <a:noFill/>
          <a:ln/>
        </p:spPr>
        <p:txBody>
          <a:bodyPr wrap="square" lIns="0" tIns="0" rIns="0" bIns="0" rtlCol="0" anchor="ctr"/>
          <a:lstStyle/>
          <a:p>
            <a:pPr algn="ctr" indent="0" marL="0">
              <a:buNone/>
            </a:pPr>
            <a:r>
              <a:rPr lang="en-US" sz="1100" dirty="0">
                <a:solidFill>
                  <a:srgbClr val="667085"/>
                </a:solidFill>
                <a:latin typeface="Courier New" pitchFamily="34" charset="0"/>
                <a:ea typeface="Courier New" pitchFamily="34" charset="-122"/>
                <a:cs typeface="Courier New" pitchFamily="34" charset="-120"/>
              </a:rPr>
              <a:t>slides · four topics · one platform</a:t>
            </a:r>
            <a:endParaRPr lang="en-US" sz="1100" dirty="0"/>
          </a:p>
        </p:txBody>
      </p:sp>
      <p:sp>
        <p:nvSpPr>
          <p:cNvPr id="17" name="Text 14"/>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02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What is serverless?</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You bring code, not servers</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Scale to zero when idle</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Scale out when traffic arrives</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Pay for requests, not hours</a:t>
            </a:r>
            <a:endParaRPr lang="en-US" sz="1900" dirty="0"/>
          </a:p>
        </p:txBody>
      </p:sp>
      <p:sp>
        <p:nvSpPr>
          <p:cNvPr id="13" name="step:5"/>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Nothing to patch, nothing to plan</a:t>
            </a:r>
            <a:endParaRPr lang="en-US" sz="1900" dirty="0"/>
          </a:p>
        </p:txBody>
      </p:sp>
      <p:sp>
        <p:nvSpPr>
          <p:cNvPr id="15" name="Text 12"/>
          <p:cNvSpPr txBox="1"/>
          <p:nvPr/>
        </p:nvSpPr>
        <p:spPr>
          <a:xfrm>
            <a:off x="6172200" y="2834640"/>
            <a:ext cx="5394960" cy="1280160"/>
          </a:xfrm>
          <a:prstGeom prst="rect">
            <a:avLst/>
          </a:prstGeom>
          <a:noFill/>
          <a:ln/>
        </p:spPr>
        <p:txBody>
          <a:bodyPr wrap="square" lIns="0" tIns="0" rIns="0" bIns="0" rtlCol="0" anchor="ctr"/>
          <a:lstStyle/>
          <a:p>
            <a:pPr algn="ctr" indent="0" marL="0">
              <a:buNone/>
            </a:pPr>
            <a:r>
              <a:rPr lang="en-US" sz="5400" b="1" dirty="0">
                <a:solidFill>
                  <a:srgbClr val="0B7A75"/>
                </a:solidFill>
                <a:latin typeface="Century Schoolbook" pitchFamily="34" charset="0"/>
                <a:ea typeface="Century Schoolbook" pitchFamily="34" charset="-122"/>
                <a:cs typeface="Century Schoolbook" pitchFamily="34" charset="-120"/>
              </a:rPr>
              <a:t>0 → N → 0</a:t>
            </a:r>
            <a:endParaRPr lang="en-US" sz="5400" dirty="0"/>
          </a:p>
        </p:txBody>
      </p:sp>
      <p:sp>
        <p:nvSpPr>
          <p:cNvPr id="16" name="Text 13"/>
          <p:cNvSpPr txBox="1"/>
          <p:nvPr/>
        </p:nvSpPr>
        <p:spPr>
          <a:xfrm>
            <a:off x="6172200" y="4114800"/>
            <a:ext cx="5394960" cy="365760"/>
          </a:xfrm>
          <a:prstGeom prst="rect">
            <a:avLst/>
          </a:prstGeom>
          <a:noFill/>
          <a:ln/>
        </p:spPr>
        <p:txBody>
          <a:bodyPr wrap="square" lIns="0" tIns="0" rIns="0" bIns="0" rtlCol="0" anchor="ctr"/>
          <a:lstStyle/>
          <a:p>
            <a:pPr algn="ctr" indent="0" marL="0">
              <a:buNone/>
            </a:pPr>
            <a:r>
              <a:rPr lang="en-US" sz="1100" dirty="0">
                <a:solidFill>
                  <a:srgbClr val="667085"/>
                </a:solidFill>
                <a:latin typeface="Courier New" pitchFamily="34" charset="0"/>
                <a:ea typeface="Courier New" pitchFamily="34" charset="-122"/>
                <a:cs typeface="Courier New" pitchFamily="34" charset="-120"/>
              </a:rPr>
              <a:t>replicas follow traffic</a:t>
            </a:r>
            <a:endParaRPr lang="en-US" sz="1100" dirty="0"/>
          </a:p>
        </p:txBody>
      </p:sp>
      <p:sp>
        <p:nvSpPr>
          <p:cNvPr id="17" name="Text 14"/>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03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What is Knative?</a:t>
            </a:r>
            <a:endParaRPr lang="en-US" sz="3800" dirty="0"/>
          </a:p>
        </p:txBody>
      </p:sp>
      <p:sp>
        <p:nvSpPr>
          <p:cNvPr id="5" name="step:1"/>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Kubernetes building blocks for serverless</a:t>
            </a:r>
            <a:endParaRPr lang="en-US" sz="1700" dirty="0"/>
          </a:p>
        </p:txBody>
      </p:sp>
      <p:sp>
        <p:nvSpPr>
          <p:cNvPr id="7" name="step:2"/>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5844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Service owns Configuration and Route</a:t>
            </a:r>
            <a:endParaRPr lang="en-US" sz="1700" dirty="0"/>
          </a:p>
        </p:txBody>
      </p:sp>
      <p:sp>
        <p:nvSpPr>
          <p:cNvPr id="9" name="step:3"/>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376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Every change is an immutable Revision</a:t>
            </a:r>
            <a:endParaRPr lang="en-US" sz="1700" dirty="0"/>
          </a:p>
        </p:txBody>
      </p:sp>
      <p:sp>
        <p:nvSpPr>
          <p:cNvPr id="11" name="step:4"/>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6908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KPA: concurrency in, replicas out</a:t>
            </a:r>
            <a:endParaRPr lang="en-US" sz="1700" dirty="0"/>
          </a:p>
        </p:txBody>
      </p:sp>
      <p:sp>
        <p:nvSpPr>
          <p:cNvPr id="13" name="step:5"/>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2440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Activator wakes revisions from zero</a:t>
            </a:r>
            <a:endParaRPr lang="en-US" sz="1700" dirty="0"/>
          </a:p>
        </p:txBody>
      </p:sp>
      <p:sp>
        <p:nvSpPr>
          <p:cNvPr id="15" name="step:6"/>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
          <p:cNvSpPr txBox="1"/>
          <p:nvPr/>
        </p:nvSpPr>
        <p:spPr>
          <a:xfrm>
            <a:off x="960120" y="53797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DomainMapping: your own hostname</a:t>
            </a:r>
            <a:endParaRPr lang="en-US" sz="1700" dirty="0"/>
          </a:p>
        </p:txBody>
      </p:sp>
      <p:sp>
        <p:nvSpPr>
          <p:cNvPr id="17" name="Shape 14"/>
          <p:cNvSpPr/>
          <p:nvPr/>
        </p:nvSpPr>
        <p:spPr>
          <a:xfrm flipH="1">
            <a:off x="7431024" y="2677058"/>
            <a:ext cx="1438656" cy="593446"/>
          </a:xfrm>
          <a:prstGeom prst="line">
            <a:avLst/>
          </a:prstGeom>
          <a:noFill/>
          <a:ln w="15875">
            <a:solidFill>
              <a:srgbClr val="98A2B3"/>
            </a:solidFill>
            <a:prstDash val="solid"/>
            <a:tailEnd type="triangle"/>
          </a:ln>
        </p:spPr>
      </p:sp>
      <p:sp>
        <p:nvSpPr>
          <p:cNvPr id="18" name="Shape 15"/>
          <p:cNvSpPr/>
          <p:nvPr/>
        </p:nvSpPr>
        <p:spPr>
          <a:xfrm>
            <a:off x="8869680" y="2677058"/>
            <a:ext cx="1438656" cy="593446"/>
          </a:xfrm>
          <a:prstGeom prst="line">
            <a:avLst/>
          </a:prstGeom>
          <a:noFill/>
          <a:ln w="15875">
            <a:solidFill>
              <a:srgbClr val="98A2B3"/>
            </a:solidFill>
            <a:prstDash val="solid"/>
            <a:tailEnd type="triangle"/>
          </a:ln>
        </p:spPr>
      </p:sp>
      <p:sp>
        <p:nvSpPr>
          <p:cNvPr id="19" name="Shape 16"/>
          <p:cNvSpPr/>
          <p:nvPr/>
        </p:nvSpPr>
        <p:spPr>
          <a:xfrm>
            <a:off x="7431024" y="3845966"/>
            <a:ext cx="0" cy="593446"/>
          </a:xfrm>
          <a:prstGeom prst="line">
            <a:avLst/>
          </a:prstGeom>
          <a:noFill/>
          <a:ln w="15875">
            <a:solidFill>
              <a:srgbClr val="98A2B3"/>
            </a:solidFill>
            <a:prstDash val="solid"/>
            <a:tailEnd type="triangle"/>
          </a:ln>
        </p:spPr>
      </p:sp>
      <p:sp>
        <p:nvSpPr>
          <p:cNvPr id="20" name="Shape 17"/>
          <p:cNvSpPr/>
          <p:nvPr/>
        </p:nvSpPr>
        <p:spPr>
          <a:xfrm flipH="1">
            <a:off x="8510016" y="4727143"/>
            <a:ext cx="719328" cy="0"/>
          </a:xfrm>
          <a:prstGeom prst="line">
            <a:avLst/>
          </a:prstGeom>
          <a:noFill/>
          <a:ln w="15875">
            <a:solidFill>
              <a:srgbClr val="98A2B3"/>
            </a:solidFill>
            <a:prstDash val="dash"/>
            <a:tailEnd type="triangle"/>
          </a:ln>
        </p:spPr>
      </p:sp>
      <p:sp>
        <p:nvSpPr>
          <p:cNvPr id="21" name="Shape 18"/>
          <p:cNvSpPr/>
          <p:nvPr/>
        </p:nvSpPr>
        <p:spPr>
          <a:xfrm>
            <a:off x="7700772" y="2101596"/>
            <a:ext cx="2337816" cy="575462"/>
          </a:xfrm>
          <a:prstGeom prst="roundRect">
            <a:avLst>
              <a:gd name="adj" fmla="val 12712"/>
            </a:avLst>
          </a:prstGeom>
          <a:solidFill>
            <a:srgbClr val="FFFFFF"/>
          </a:solidFill>
          <a:ln w="22225">
            <a:solidFill>
              <a:srgbClr val="E4572E"/>
            </a:solidFill>
            <a:prstDash val="solid"/>
          </a:ln>
        </p:spPr>
      </p:sp>
      <p:sp>
        <p:nvSpPr>
          <p:cNvPr id="22" name="Text 19"/>
          <p:cNvSpPr txBox="1"/>
          <p:nvPr/>
        </p:nvSpPr>
        <p:spPr>
          <a:xfrm>
            <a:off x="7700772" y="2101596"/>
            <a:ext cx="2337816"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the one object you write</a:t>
            </a:r>
            <a:endParaRPr lang="en-US" sz="1200" dirty="0"/>
          </a:p>
        </p:txBody>
      </p:sp>
      <p:sp>
        <p:nvSpPr>
          <p:cNvPr id="23" name="Shape 20"/>
          <p:cNvSpPr/>
          <p:nvPr/>
        </p:nvSpPr>
        <p:spPr>
          <a:xfrm>
            <a:off x="6352032" y="3270504"/>
            <a:ext cx="2157984" cy="575462"/>
          </a:xfrm>
          <a:prstGeom prst="roundRect">
            <a:avLst>
              <a:gd name="adj" fmla="val 12712"/>
            </a:avLst>
          </a:prstGeom>
          <a:solidFill>
            <a:srgbClr val="FFFFFF"/>
          </a:solidFill>
          <a:ln w="15875">
            <a:solidFill>
              <a:srgbClr val="0B7A75"/>
            </a:solidFill>
            <a:prstDash val="solid"/>
          </a:ln>
        </p:spPr>
      </p:sp>
      <p:sp>
        <p:nvSpPr>
          <p:cNvPr id="24" name="Text 21"/>
          <p:cNvSpPr txBox="1"/>
          <p:nvPr/>
        </p:nvSpPr>
        <p:spPr>
          <a:xfrm>
            <a:off x="6352032" y="3270504"/>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Configuration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desired state</a:t>
            </a:r>
            <a:endParaRPr lang="en-US" sz="1200" dirty="0"/>
          </a:p>
        </p:txBody>
      </p:sp>
      <p:sp>
        <p:nvSpPr>
          <p:cNvPr id="25" name="Shape 22"/>
          <p:cNvSpPr/>
          <p:nvPr/>
        </p:nvSpPr>
        <p:spPr>
          <a:xfrm>
            <a:off x="9229344" y="3270504"/>
            <a:ext cx="2157984" cy="575462"/>
          </a:xfrm>
          <a:prstGeom prst="roundRect">
            <a:avLst>
              <a:gd name="adj" fmla="val 12712"/>
            </a:avLst>
          </a:prstGeom>
          <a:solidFill>
            <a:srgbClr val="FFFFFF"/>
          </a:solidFill>
          <a:ln w="15875">
            <a:solidFill>
              <a:srgbClr val="0B7A75"/>
            </a:solidFill>
            <a:prstDash val="solid"/>
          </a:ln>
        </p:spPr>
      </p:sp>
      <p:sp>
        <p:nvSpPr>
          <p:cNvPr id="26" name="Text 23"/>
          <p:cNvSpPr txBox="1"/>
          <p:nvPr/>
        </p:nvSpPr>
        <p:spPr>
          <a:xfrm>
            <a:off x="9229344" y="3270504"/>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Route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traffic → revisions</a:t>
            </a:r>
            <a:endParaRPr lang="en-US" sz="1200" dirty="0"/>
          </a:p>
        </p:txBody>
      </p:sp>
      <p:sp>
        <p:nvSpPr>
          <p:cNvPr id="27" name="Shape 24"/>
          <p:cNvSpPr/>
          <p:nvPr/>
        </p:nvSpPr>
        <p:spPr>
          <a:xfrm>
            <a:off x="6352032" y="4439412"/>
            <a:ext cx="2157984" cy="575462"/>
          </a:xfrm>
          <a:prstGeom prst="roundRect">
            <a:avLst>
              <a:gd name="adj" fmla="val 12712"/>
            </a:avLst>
          </a:prstGeom>
          <a:solidFill>
            <a:srgbClr val="FFFFFF"/>
          </a:solidFill>
          <a:ln w="15875">
            <a:solidFill>
              <a:srgbClr val="0B7A75"/>
            </a:solidFill>
            <a:prstDash val="solid"/>
          </a:ln>
        </p:spPr>
      </p:sp>
      <p:sp>
        <p:nvSpPr>
          <p:cNvPr id="28" name="Text 25"/>
          <p:cNvSpPr txBox="1"/>
          <p:nvPr/>
        </p:nvSpPr>
        <p:spPr>
          <a:xfrm>
            <a:off x="6352032" y="4439412"/>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Revision 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immutable snapshot</a:t>
            </a:r>
            <a:endParaRPr lang="en-US" sz="1200" dirty="0"/>
          </a:p>
        </p:txBody>
      </p:sp>
      <p:sp>
        <p:nvSpPr>
          <p:cNvPr id="29" name="Shape 26"/>
          <p:cNvSpPr/>
          <p:nvPr/>
        </p:nvSpPr>
        <p:spPr>
          <a:xfrm>
            <a:off x="9229344" y="4439412"/>
            <a:ext cx="2157984" cy="575462"/>
          </a:xfrm>
          <a:prstGeom prst="roundRect">
            <a:avLst>
              <a:gd name="adj" fmla="val 12712"/>
            </a:avLst>
          </a:prstGeom>
          <a:solidFill>
            <a:srgbClr val="FFFFFF"/>
          </a:solidFill>
          <a:ln w="15875">
            <a:solidFill>
              <a:srgbClr val="0B7A75"/>
            </a:solidFill>
            <a:prstDash val="solid"/>
          </a:ln>
        </p:spPr>
      </p:sp>
      <p:sp>
        <p:nvSpPr>
          <p:cNvPr id="30" name="Text 27"/>
          <p:cNvSpPr txBox="1"/>
          <p:nvPr/>
        </p:nvSpPr>
        <p:spPr>
          <a:xfrm>
            <a:off x="9229344" y="4439412"/>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Autoscaler (KPA)</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0 … N replicas</a:t>
            </a:r>
            <a:endParaRPr lang="en-US" sz="1200" dirty="0"/>
          </a:p>
        </p:txBody>
      </p:sp>
      <p:sp>
        <p:nvSpPr>
          <p:cNvPr id="31" name="Text 28"/>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04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par>
                    <p:cTn id="49" fill="hold">
                      <p:stCondLst>
                        <p:cond delay="indefinite"/>
                      </p:stCondLst>
                      <p:childTnLst>
                        <p:par>
                          <p:cTn id="50"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0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OpenShift Serverless Operator</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Red Hat's supported Knative distribution</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One KnativeServing custom resource</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OLM installs it and upgrades it</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Kourier ingress, Routes created for you</a:t>
            </a:r>
            <a:endParaRPr lang="en-US" sz="1900" dirty="0"/>
          </a:p>
        </p:txBody>
      </p:sp>
      <p:sp>
        <p:nvSpPr>
          <p:cNvPr id="13" name="step:5"/>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Catalog mirrors with oc-mirror</a:t>
            </a:r>
            <a:endParaRPr lang="en-US" sz="1900" dirty="0"/>
          </a:p>
        </p:txBody>
      </p:sp>
      <p:sp>
        <p:nvSpPr>
          <p:cNvPr id="15" name="Shape 12"/>
          <p:cNvSpPr/>
          <p:nvPr/>
        </p:nvSpPr>
        <p:spPr>
          <a:xfrm>
            <a:off x="6172200" y="2011680"/>
            <a:ext cx="5394960" cy="704088"/>
          </a:xfrm>
          <a:prstGeom prst="roundRect">
            <a:avLst>
              <a:gd name="adj" fmla="val 10390"/>
            </a:avLst>
          </a:prstGeom>
          <a:solidFill>
            <a:srgbClr val="FFFFFF"/>
          </a:solidFill>
          <a:ln w="22225">
            <a:solidFill>
              <a:srgbClr val="E4572E"/>
            </a:solidFill>
            <a:prstDash val="solid"/>
          </a:ln>
        </p:spPr>
      </p:sp>
      <p:sp>
        <p:nvSpPr>
          <p:cNvPr id="16" name="Text 13"/>
          <p:cNvSpPr txBox="1"/>
          <p:nvPr/>
        </p:nvSpPr>
        <p:spPr>
          <a:xfrm>
            <a:off x="6355080" y="2011680"/>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Knative Serving</a:t>
            </a:r>
            <a:endParaRPr lang="en-US" sz="1400" dirty="0"/>
          </a:p>
        </p:txBody>
      </p:sp>
      <p:sp>
        <p:nvSpPr>
          <p:cNvPr id="17" name="Text 14"/>
          <p:cNvSpPr txBox="1"/>
          <p:nvPr/>
        </p:nvSpPr>
        <p:spPr>
          <a:xfrm>
            <a:off x="8549640" y="2011680"/>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Service · Revision · Route · DomainMapping</a:t>
            </a:r>
            <a:endParaRPr lang="en-US" sz="950" dirty="0"/>
          </a:p>
        </p:txBody>
      </p:sp>
      <p:sp>
        <p:nvSpPr>
          <p:cNvPr id="18" name="Shape 15"/>
          <p:cNvSpPr/>
          <p:nvPr/>
        </p:nvSpPr>
        <p:spPr>
          <a:xfrm>
            <a:off x="6172200" y="2825496"/>
            <a:ext cx="5394960" cy="704088"/>
          </a:xfrm>
          <a:prstGeom prst="roundRect">
            <a:avLst>
              <a:gd name="adj" fmla="val 10390"/>
            </a:avLst>
          </a:prstGeom>
          <a:solidFill>
            <a:srgbClr val="FFFFFF"/>
          </a:solidFill>
          <a:ln w="15875">
            <a:solidFill>
              <a:srgbClr val="0B7A75"/>
            </a:solidFill>
            <a:prstDash val="solid"/>
          </a:ln>
        </p:spPr>
      </p:sp>
      <p:sp>
        <p:nvSpPr>
          <p:cNvPr id="19" name="Text 16"/>
          <p:cNvSpPr txBox="1"/>
          <p:nvPr/>
        </p:nvSpPr>
        <p:spPr>
          <a:xfrm>
            <a:off x="6355080" y="2825496"/>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KnativeServing CR</a:t>
            </a:r>
            <a:endParaRPr lang="en-US" sz="1400" dirty="0"/>
          </a:p>
        </p:txBody>
      </p:sp>
      <p:sp>
        <p:nvSpPr>
          <p:cNvPr id="20" name="Text 17"/>
          <p:cNvSpPr txBox="1"/>
          <p:nvPr/>
        </p:nvSpPr>
        <p:spPr>
          <a:xfrm>
            <a:off x="8549640" y="2825496"/>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one document</a:t>
            </a:r>
            <a:endParaRPr lang="en-US" sz="950" dirty="0"/>
          </a:p>
        </p:txBody>
      </p:sp>
      <p:sp>
        <p:nvSpPr>
          <p:cNvPr id="21" name="Shape 18"/>
          <p:cNvSpPr/>
          <p:nvPr/>
        </p:nvSpPr>
        <p:spPr>
          <a:xfrm>
            <a:off x="6172200" y="3639312"/>
            <a:ext cx="5394960" cy="704088"/>
          </a:xfrm>
          <a:prstGeom prst="roundRect">
            <a:avLst>
              <a:gd name="adj" fmla="val 10390"/>
            </a:avLst>
          </a:prstGeom>
          <a:solidFill>
            <a:srgbClr val="FFFFFF"/>
          </a:solidFill>
          <a:ln w="15875">
            <a:solidFill>
              <a:srgbClr val="0B7A75"/>
            </a:solidFill>
            <a:prstDash val="solid"/>
          </a:ln>
        </p:spPr>
      </p:sp>
      <p:sp>
        <p:nvSpPr>
          <p:cNvPr id="22" name="Text 19"/>
          <p:cNvSpPr txBox="1"/>
          <p:nvPr/>
        </p:nvSpPr>
        <p:spPr>
          <a:xfrm>
            <a:off x="6355080" y="3639312"/>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Serverless Operator</a:t>
            </a:r>
            <a:endParaRPr lang="en-US" sz="1400" dirty="0"/>
          </a:p>
        </p:txBody>
      </p:sp>
      <p:sp>
        <p:nvSpPr>
          <p:cNvPr id="23" name="Text 20"/>
          <p:cNvSpPr txBox="1"/>
          <p:nvPr/>
        </p:nvSpPr>
        <p:spPr>
          <a:xfrm>
            <a:off x="8549640" y="3639312"/>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reconciles, upgrades</a:t>
            </a:r>
            <a:endParaRPr lang="en-US" sz="950" dirty="0"/>
          </a:p>
        </p:txBody>
      </p:sp>
      <p:sp>
        <p:nvSpPr>
          <p:cNvPr id="24" name="Shape 21"/>
          <p:cNvSpPr/>
          <p:nvPr/>
        </p:nvSpPr>
        <p:spPr>
          <a:xfrm>
            <a:off x="6172200" y="4453128"/>
            <a:ext cx="5394960" cy="704088"/>
          </a:xfrm>
          <a:prstGeom prst="roundRect">
            <a:avLst>
              <a:gd name="adj" fmla="val 10390"/>
            </a:avLst>
          </a:prstGeom>
          <a:solidFill>
            <a:srgbClr val="FFFFFF"/>
          </a:solidFill>
          <a:ln w="15875">
            <a:solidFill>
              <a:srgbClr val="0B7A75"/>
            </a:solidFill>
            <a:prstDash val="solid"/>
          </a:ln>
        </p:spPr>
      </p:sp>
      <p:sp>
        <p:nvSpPr>
          <p:cNvPr id="25" name="Text 22"/>
          <p:cNvSpPr txBox="1"/>
          <p:nvPr/>
        </p:nvSpPr>
        <p:spPr>
          <a:xfrm>
            <a:off x="6355080" y="4453128"/>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Operator Lifecycle Manager</a:t>
            </a:r>
            <a:endParaRPr lang="en-US" sz="1400" dirty="0"/>
          </a:p>
        </p:txBody>
      </p:sp>
      <p:sp>
        <p:nvSpPr>
          <p:cNvPr id="26" name="Text 23"/>
          <p:cNvSpPr txBox="1"/>
          <p:nvPr/>
        </p:nvSpPr>
        <p:spPr>
          <a:xfrm>
            <a:off x="8549640" y="4453128"/>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Subscription → catalog</a:t>
            </a:r>
            <a:endParaRPr lang="en-US" sz="950" dirty="0"/>
          </a:p>
        </p:txBody>
      </p:sp>
      <p:sp>
        <p:nvSpPr>
          <p:cNvPr id="27" name="Shape 24"/>
          <p:cNvSpPr/>
          <p:nvPr/>
        </p:nvSpPr>
        <p:spPr>
          <a:xfrm>
            <a:off x="6172200" y="5266944"/>
            <a:ext cx="5394960" cy="704088"/>
          </a:xfrm>
          <a:prstGeom prst="roundRect">
            <a:avLst>
              <a:gd name="adj" fmla="val 10390"/>
            </a:avLst>
          </a:prstGeom>
          <a:solidFill>
            <a:srgbClr val="FFFFFF"/>
          </a:solidFill>
          <a:ln w="15875">
            <a:solidFill>
              <a:srgbClr val="0B7A75"/>
            </a:solidFill>
            <a:prstDash val="solid"/>
          </a:ln>
        </p:spPr>
      </p:sp>
      <p:sp>
        <p:nvSpPr>
          <p:cNvPr id="28" name="Text 25"/>
          <p:cNvSpPr txBox="1"/>
          <p:nvPr/>
        </p:nvSpPr>
        <p:spPr>
          <a:xfrm>
            <a:off x="6355080" y="5266944"/>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OpenShift</a:t>
            </a:r>
            <a:endParaRPr lang="en-US" sz="1400" dirty="0"/>
          </a:p>
        </p:txBody>
      </p:sp>
      <p:sp>
        <p:nvSpPr>
          <p:cNvPr id="29" name="Text 26"/>
          <p:cNvSpPr txBox="1"/>
          <p:nvPr/>
        </p:nvSpPr>
        <p:spPr>
          <a:xfrm>
            <a:off x="8549640" y="5266944"/>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one cluster per region</a:t>
            </a:r>
            <a:endParaRPr lang="en-US" sz="950" dirty="0"/>
          </a:p>
        </p:txBody>
      </p:sp>
      <p:sp>
        <p:nvSpPr>
          <p:cNvPr id="30" name="Text 27"/>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05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Why the Operator</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Every alternative made us own more</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We never create a Route ourselves</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Airgap needs one supported mirror path</a:t>
            </a:r>
            <a:endParaRPr lang="en-US" sz="1900" dirty="0"/>
          </a:p>
        </p:txBody>
      </p:sp>
      <p:sp>
        <p:nvSpPr>
          <p:cNvPr id="11" name="Shape 8"/>
          <p:cNvSpPr/>
          <p:nvPr/>
        </p:nvSpPr>
        <p:spPr>
          <a:xfrm>
            <a:off x="9281160" y="2514600"/>
            <a:ext cx="2286000" cy="2560320"/>
          </a:xfrm>
          <a:prstGeom prst="rect">
            <a:avLst/>
          </a:prstGeom>
          <a:solidFill>
            <a:srgbClr val="E3F1F0"/>
          </a:solidFill>
          <a:ln w="12700">
            <a:solidFill>
              <a:srgbClr val="E3F1F0"/>
            </a:solidFill>
            <a:prstDash val="solid"/>
          </a:ln>
        </p:spPr>
      </p:sp>
      <p:sp>
        <p:nvSpPr>
          <p:cNvPr id="12" name="Text 9"/>
          <p:cNvSpPr txBox="1"/>
          <p:nvPr/>
        </p:nvSpPr>
        <p:spPr>
          <a:xfrm>
            <a:off x="7360920" y="2194560"/>
            <a:ext cx="2011680" cy="274320"/>
          </a:xfrm>
          <a:prstGeom prst="rect">
            <a:avLst/>
          </a:prstGeom>
          <a:noFill/>
          <a:ln/>
        </p:spPr>
        <p:txBody>
          <a:bodyPr wrap="square" lIns="0" tIns="0" rIns="0" bIns="0" rtlCol="0" anchor="ctr"/>
          <a:lstStyle/>
          <a:p>
            <a:pPr indent="0" marL="0">
              <a:buNone/>
            </a:pPr>
            <a:r>
              <a:rPr lang="en-US" sz="900" spc="200" kern="0" dirty="0">
                <a:solidFill>
                  <a:srgbClr val="667085"/>
                </a:solidFill>
                <a:latin typeface="Courier New" pitchFamily="34" charset="0"/>
                <a:ea typeface="Courier New" pitchFamily="34" charset="-122"/>
                <a:cs typeface="Courier New" pitchFamily="34" charset="-120"/>
              </a:rPr>
              <a:t>UPSTREAM KNATIVE</a:t>
            </a:r>
            <a:endParaRPr lang="en-US" sz="900" dirty="0"/>
          </a:p>
        </p:txBody>
      </p:sp>
      <p:sp>
        <p:nvSpPr>
          <p:cNvPr id="13" name="Text 10"/>
          <p:cNvSpPr txBox="1"/>
          <p:nvPr/>
        </p:nvSpPr>
        <p:spPr>
          <a:xfrm>
            <a:off x="9372600" y="2194560"/>
            <a:ext cx="2194560" cy="274320"/>
          </a:xfrm>
          <a:prstGeom prst="rect">
            <a:avLst/>
          </a:prstGeom>
          <a:noFill/>
          <a:ln/>
        </p:spPr>
        <p:txBody>
          <a:bodyPr wrap="square" lIns="0" tIns="0" rIns="0" bIns="0" rtlCol="0" anchor="ctr"/>
          <a:lstStyle/>
          <a:p>
            <a:pPr indent="0" marL="0">
              <a:buNone/>
            </a:pPr>
            <a:r>
              <a:rPr lang="en-US" sz="900" spc="200" kern="0" dirty="0">
                <a:solidFill>
                  <a:srgbClr val="0B7A75"/>
                </a:solidFill>
                <a:latin typeface="Courier New" pitchFamily="34" charset="0"/>
                <a:ea typeface="Courier New" pitchFamily="34" charset="-122"/>
                <a:cs typeface="Courier New" pitchFamily="34" charset="-120"/>
              </a:rPr>
              <a:t>SERVERLESS OPERATOR</a:t>
            </a:r>
            <a:endParaRPr lang="en-US" sz="900" dirty="0"/>
          </a:p>
        </p:txBody>
      </p:sp>
      <p:sp>
        <p:nvSpPr>
          <p:cNvPr id="14" name="Text 11"/>
          <p:cNvSpPr txBox="1"/>
          <p:nvPr/>
        </p:nvSpPr>
        <p:spPr>
          <a:xfrm>
            <a:off x="6172200" y="256032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Upgrades</a:t>
            </a:r>
            <a:endParaRPr lang="en-US" sz="1250" dirty="0"/>
          </a:p>
        </p:txBody>
      </p:sp>
      <p:sp>
        <p:nvSpPr>
          <p:cNvPr id="15" name="Text 12"/>
          <p:cNvSpPr txBox="1"/>
          <p:nvPr/>
        </p:nvSpPr>
        <p:spPr>
          <a:xfrm>
            <a:off x="7406640" y="256032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YAML we maintain</a:t>
            </a:r>
            <a:endParaRPr lang="en-US" sz="1250" dirty="0"/>
          </a:p>
        </p:txBody>
      </p:sp>
      <p:sp>
        <p:nvSpPr>
          <p:cNvPr id="16" name="Text 13"/>
          <p:cNvSpPr txBox="1"/>
          <p:nvPr/>
        </p:nvSpPr>
        <p:spPr>
          <a:xfrm>
            <a:off x="9418320" y="256032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OLM, from the catalog</a:t>
            </a:r>
            <a:endParaRPr lang="en-US" sz="1250" dirty="0"/>
          </a:p>
        </p:txBody>
      </p:sp>
      <p:sp>
        <p:nvSpPr>
          <p:cNvPr id="17" name="Text 14"/>
          <p:cNvSpPr txBox="1"/>
          <p:nvPr/>
        </p:nvSpPr>
        <p:spPr>
          <a:xfrm>
            <a:off x="6172200" y="306324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Ingress</a:t>
            </a:r>
            <a:endParaRPr lang="en-US" sz="1250" dirty="0"/>
          </a:p>
        </p:txBody>
      </p:sp>
      <p:sp>
        <p:nvSpPr>
          <p:cNvPr id="18" name="Text 15"/>
          <p:cNvSpPr txBox="1"/>
          <p:nvPr/>
        </p:nvSpPr>
        <p:spPr>
          <a:xfrm>
            <a:off x="7406640" y="306324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Run it ourselves</a:t>
            </a:r>
            <a:endParaRPr lang="en-US" sz="1250" dirty="0"/>
          </a:p>
        </p:txBody>
      </p:sp>
      <p:sp>
        <p:nvSpPr>
          <p:cNvPr id="19" name="Text 16"/>
          <p:cNvSpPr txBox="1"/>
          <p:nvPr/>
        </p:nvSpPr>
        <p:spPr>
          <a:xfrm>
            <a:off x="9418320" y="306324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Kourier, managed</a:t>
            </a:r>
            <a:endParaRPr lang="en-US" sz="1250" dirty="0"/>
          </a:p>
        </p:txBody>
      </p:sp>
      <p:sp>
        <p:nvSpPr>
          <p:cNvPr id="20" name="Shape 17"/>
          <p:cNvSpPr/>
          <p:nvPr/>
        </p:nvSpPr>
        <p:spPr>
          <a:xfrm>
            <a:off x="6172200" y="3063240"/>
            <a:ext cx="5394960" cy="0"/>
          </a:xfrm>
          <a:prstGeom prst="line">
            <a:avLst/>
          </a:prstGeom>
          <a:noFill/>
          <a:ln w="6350">
            <a:solidFill>
              <a:srgbClr val="E4E7EC"/>
            </a:solidFill>
            <a:prstDash val="solid"/>
          </a:ln>
        </p:spPr>
      </p:sp>
      <p:sp>
        <p:nvSpPr>
          <p:cNvPr id="21" name="Text 18"/>
          <p:cNvSpPr txBox="1"/>
          <p:nvPr/>
        </p:nvSpPr>
        <p:spPr>
          <a:xfrm>
            <a:off x="6172200" y="356616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Routes, TLS</a:t>
            </a:r>
            <a:endParaRPr lang="en-US" sz="1250" dirty="0"/>
          </a:p>
        </p:txBody>
      </p:sp>
      <p:sp>
        <p:nvSpPr>
          <p:cNvPr id="22" name="Text 19"/>
          <p:cNvSpPr txBox="1"/>
          <p:nvPr/>
        </p:nvSpPr>
        <p:spPr>
          <a:xfrm>
            <a:off x="7406640" y="356616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Hand-made, RBAC</a:t>
            </a:r>
            <a:endParaRPr lang="en-US" sz="1250" dirty="0"/>
          </a:p>
        </p:txBody>
      </p:sp>
      <p:sp>
        <p:nvSpPr>
          <p:cNvPr id="23" name="Text 20"/>
          <p:cNvSpPr txBox="1"/>
          <p:nvPr/>
        </p:nvSpPr>
        <p:spPr>
          <a:xfrm>
            <a:off x="9418320" y="356616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Created for us</a:t>
            </a:r>
            <a:endParaRPr lang="en-US" sz="1250" dirty="0"/>
          </a:p>
        </p:txBody>
      </p:sp>
      <p:sp>
        <p:nvSpPr>
          <p:cNvPr id="24" name="Shape 21"/>
          <p:cNvSpPr/>
          <p:nvPr/>
        </p:nvSpPr>
        <p:spPr>
          <a:xfrm>
            <a:off x="6172200" y="3566160"/>
            <a:ext cx="5394960" cy="0"/>
          </a:xfrm>
          <a:prstGeom prst="line">
            <a:avLst/>
          </a:prstGeom>
          <a:noFill/>
          <a:ln w="6350">
            <a:solidFill>
              <a:srgbClr val="E4E7EC"/>
            </a:solidFill>
            <a:prstDash val="solid"/>
          </a:ln>
        </p:spPr>
      </p:sp>
      <p:sp>
        <p:nvSpPr>
          <p:cNvPr id="25" name="Text 22"/>
          <p:cNvSpPr txBox="1"/>
          <p:nvPr/>
        </p:nvSpPr>
        <p:spPr>
          <a:xfrm>
            <a:off x="6172200" y="406908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Airgap</a:t>
            </a:r>
            <a:endParaRPr lang="en-US" sz="1250" dirty="0"/>
          </a:p>
        </p:txBody>
      </p:sp>
      <p:sp>
        <p:nvSpPr>
          <p:cNvPr id="26" name="Text 23"/>
          <p:cNvSpPr txBox="1"/>
          <p:nvPr/>
        </p:nvSpPr>
        <p:spPr>
          <a:xfrm>
            <a:off x="7406640" y="406908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Image by image</a:t>
            </a:r>
            <a:endParaRPr lang="en-US" sz="1250" dirty="0"/>
          </a:p>
        </p:txBody>
      </p:sp>
      <p:sp>
        <p:nvSpPr>
          <p:cNvPr id="27" name="Text 24"/>
          <p:cNvSpPr txBox="1"/>
          <p:nvPr/>
        </p:nvSpPr>
        <p:spPr>
          <a:xfrm>
            <a:off x="9418320" y="406908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oc-mirror, once</a:t>
            </a:r>
            <a:endParaRPr lang="en-US" sz="1250" dirty="0"/>
          </a:p>
        </p:txBody>
      </p:sp>
      <p:sp>
        <p:nvSpPr>
          <p:cNvPr id="28" name="Shape 25"/>
          <p:cNvSpPr/>
          <p:nvPr/>
        </p:nvSpPr>
        <p:spPr>
          <a:xfrm>
            <a:off x="6172200" y="4069080"/>
            <a:ext cx="5394960" cy="0"/>
          </a:xfrm>
          <a:prstGeom prst="line">
            <a:avLst/>
          </a:prstGeom>
          <a:noFill/>
          <a:ln w="6350">
            <a:solidFill>
              <a:srgbClr val="E4E7EC"/>
            </a:solidFill>
            <a:prstDash val="solid"/>
          </a:ln>
        </p:spPr>
      </p:sp>
      <p:sp>
        <p:nvSpPr>
          <p:cNvPr id="29" name="Text 26"/>
          <p:cNvSpPr txBox="1"/>
          <p:nvPr/>
        </p:nvSpPr>
        <p:spPr>
          <a:xfrm>
            <a:off x="6172200" y="457200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Support</a:t>
            </a:r>
            <a:endParaRPr lang="en-US" sz="1250" dirty="0"/>
          </a:p>
        </p:txBody>
      </p:sp>
      <p:sp>
        <p:nvSpPr>
          <p:cNvPr id="30" name="Text 27"/>
          <p:cNvSpPr txBox="1"/>
          <p:nvPr/>
        </p:nvSpPr>
        <p:spPr>
          <a:xfrm>
            <a:off x="7406640" y="457200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Community</a:t>
            </a:r>
            <a:endParaRPr lang="en-US" sz="1250" dirty="0"/>
          </a:p>
        </p:txBody>
      </p:sp>
      <p:sp>
        <p:nvSpPr>
          <p:cNvPr id="31" name="Text 28"/>
          <p:cNvSpPr txBox="1"/>
          <p:nvPr/>
        </p:nvSpPr>
        <p:spPr>
          <a:xfrm>
            <a:off x="9418320" y="457200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Red Hat</a:t>
            </a:r>
            <a:endParaRPr lang="en-US" sz="1250" dirty="0"/>
          </a:p>
        </p:txBody>
      </p:sp>
      <p:sp>
        <p:nvSpPr>
          <p:cNvPr id="32" name="Shape 29"/>
          <p:cNvSpPr/>
          <p:nvPr/>
        </p:nvSpPr>
        <p:spPr>
          <a:xfrm>
            <a:off x="6172200" y="4572000"/>
            <a:ext cx="5394960" cy="0"/>
          </a:xfrm>
          <a:prstGeom prst="line">
            <a:avLst/>
          </a:prstGeom>
          <a:noFill/>
          <a:ln w="6350">
            <a:solidFill>
              <a:srgbClr val="E4E7EC"/>
            </a:solidFill>
            <a:prstDash val="solid"/>
          </a:ln>
        </p:spPr>
      </p:sp>
      <p:sp>
        <p:nvSpPr>
          <p:cNvPr id="33" name="Text 30"/>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06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4572E"/>
        </a:solidFill>
      </p:bgPr>
    </p:bg>
    <p:spTree>
      <p:nvGrpSpPr>
        <p:cNvPr id="1" name=""/>
        <p:cNvGrpSpPr/>
        <p:nvPr/>
      </p:nvGrpSpPr>
      <p:grpSpPr>
        <a:xfrm>
          <a:off x="0" y="0"/>
          <a:ext cx="0" cy="0"/>
          <a:chOff x="0" y="0"/>
          <a:chExt cx="0" cy="0"/>
        </a:xfrm>
      </p:grpSpPr>
      <p:sp>
        <p:nvSpPr>
          <p:cNvPr id="2" name="Text 0"/>
          <p:cNvSpPr txBox="1"/>
          <p:nvPr/>
        </p:nvSpPr>
        <p:spPr>
          <a:xfrm>
            <a:off x="640080" y="2194560"/>
            <a:ext cx="10515600" cy="1463040"/>
          </a:xfrm>
          <a:prstGeom prst="rect">
            <a:avLst/>
          </a:prstGeom>
          <a:noFill/>
          <a:ln/>
        </p:spPr>
        <p:txBody>
          <a:bodyPr wrap="square" lIns="0" tIns="0" rIns="0" bIns="0" rtlCol="0" anchor="ctr"/>
          <a:lstStyle/>
          <a:p>
            <a:pPr indent="0" marL="0">
              <a:buNone/>
            </a:pPr>
            <a:r>
              <a:rPr lang="en-US" sz="6400" b="1" dirty="0">
                <a:solidFill>
                  <a:srgbClr val="FFFFFF"/>
                </a:solidFill>
                <a:latin typeface="Century Schoolbook" pitchFamily="34" charset="0"/>
                <a:ea typeface="Century Schoolbook" pitchFamily="34" charset="-122"/>
                <a:cs typeface="Century Schoolbook" pitchFamily="34" charset="-120"/>
              </a:rPr>
              <a:t>The API</a:t>
            </a:r>
            <a:endParaRPr lang="en-US" sz="6400" dirty="0"/>
          </a:p>
        </p:txBody>
      </p:sp>
      <p:sp>
        <p:nvSpPr>
          <p:cNvPr id="3" name="Text 1"/>
          <p:cNvSpPr txBox="1"/>
          <p:nvPr/>
        </p:nvSpPr>
        <p:spPr>
          <a:xfrm>
            <a:off x="640080" y="3749040"/>
            <a:ext cx="9144000" cy="548640"/>
          </a:xfrm>
          <a:prstGeom prst="rect">
            <a:avLst/>
          </a:prstGeom>
          <a:noFill/>
          <a:ln/>
        </p:spPr>
        <p:txBody>
          <a:bodyPr wrap="square" lIns="0" tIns="0" rIns="0" bIns="0" rtlCol="0" anchor="ctr"/>
          <a:lstStyle/>
          <a:p>
            <a:pPr indent="0" marL="0">
              <a:buNone/>
            </a:pPr>
            <a:r>
              <a:rPr lang="en-US" sz="2200" i="1" dirty="0">
                <a:solidFill>
                  <a:srgbClr val="FFFFFF"/>
                </a:solidFill>
                <a:latin typeface="Century Schoolbook" pitchFamily="34" charset="0"/>
                <a:ea typeface="Century Schoolbook" pitchFamily="34" charset="-122"/>
                <a:cs typeface="Century Schoolbook" pitchFamily="34" charset="-120"/>
              </a:rPr>
              <a:t>One HTTP call, a workload on every cluster.</a:t>
            </a:r>
            <a:endParaRPr lang="en-US" sz="2200" dirty="0"/>
          </a:p>
        </p:txBody>
      </p:sp>
      <p:sp>
        <p:nvSpPr>
          <p:cNvPr id="4" name="Text 2"/>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07 / 23</a:t>
            </a:r>
            <a:endParaRPr lang="en-US" sz="10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One call, every cluster</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Functions from git, containers from images</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Validate now, answer 202, poll status</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Closed status vocabulary, published on /info</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FastAPI, Pydantic, cloudlet-apis</a:t>
            </a:r>
            <a:endParaRPr lang="en-US" sz="1900" dirty="0"/>
          </a:p>
        </p:txBody>
      </p:sp>
      <p:sp>
        <p:nvSpPr>
          <p:cNvPr id="13" name="step:5"/>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One Helm chart, rendered per region</a:t>
            </a:r>
            <a:endParaRPr lang="en-US" sz="1900" dirty="0"/>
          </a:p>
        </p:txBody>
      </p:sp>
      <p:sp>
        <p:nvSpPr>
          <p:cNvPr id="15" name="Text 12"/>
          <p:cNvSpPr txBox="1"/>
          <p:nvPr/>
        </p:nvSpPr>
        <p:spPr>
          <a:xfrm>
            <a:off x="6172200" y="2194560"/>
            <a:ext cx="2560320" cy="1005840"/>
          </a:xfrm>
          <a:prstGeom prst="rect">
            <a:avLst/>
          </a:prstGeom>
          <a:noFill/>
          <a:ln/>
        </p:spPr>
        <p:txBody>
          <a:bodyPr wrap="square" lIns="0" tIns="0" rIns="0" bIns="0" rtlCol="0" anchor="b"/>
          <a:lstStyle/>
          <a:p>
            <a:pPr indent="0" marL="0">
              <a:buNone/>
            </a:pPr>
            <a:r>
              <a:rPr lang="en-US" sz="5400" b="1" dirty="0">
                <a:solidFill>
                  <a:srgbClr val="E4572E"/>
                </a:solidFill>
                <a:latin typeface="Century Schoolbook" pitchFamily="34" charset="0"/>
                <a:ea typeface="Century Schoolbook" pitchFamily="34" charset="-122"/>
                <a:cs typeface="Century Schoolbook" pitchFamily="34" charset="-120"/>
              </a:rPr>
              <a:t>2</a:t>
            </a:r>
            <a:endParaRPr lang="en-US" sz="5400" dirty="0"/>
          </a:p>
        </p:txBody>
      </p:sp>
      <p:sp>
        <p:nvSpPr>
          <p:cNvPr id="16" name="Text 13"/>
          <p:cNvSpPr txBox="1"/>
          <p:nvPr/>
        </p:nvSpPr>
        <p:spPr>
          <a:xfrm>
            <a:off x="6172200" y="3218688"/>
            <a:ext cx="2560320"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offerings</a:t>
            </a:r>
            <a:endParaRPr lang="en-US" sz="1050" dirty="0"/>
          </a:p>
        </p:txBody>
      </p:sp>
      <p:sp>
        <p:nvSpPr>
          <p:cNvPr id="17" name="Text 14"/>
          <p:cNvSpPr txBox="1"/>
          <p:nvPr/>
        </p:nvSpPr>
        <p:spPr>
          <a:xfrm>
            <a:off x="8915400" y="2194560"/>
            <a:ext cx="2560320" cy="1005840"/>
          </a:xfrm>
          <a:prstGeom prst="rect">
            <a:avLst/>
          </a:prstGeom>
          <a:noFill/>
          <a:ln/>
        </p:spPr>
        <p:txBody>
          <a:bodyPr wrap="square" lIns="0" tIns="0" rIns="0" bIns="0" rtlCol="0" anchor="b"/>
          <a:lstStyle/>
          <a:p>
            <a:pPr indent="0" marL="0">
              <a:buNone/>
            </a:pPr>
            <a:r>
              <a:rPr lang="en-US" sz="5400" b="1" dirty="0">
                <a:solidFill>
                  <a:srgbClr val="E4572E"/>
                </a:solidFill>
                <a:latin typeface="Century Schoolbook" pitchFamily="34" charset="0"/>
                <a:ea typeface="Century Schoolbook" pitchFamily="34" charset="-122"/>
                <a:cs typeface="Century Schoolbook" pitchFamily="34" charset="-120"/>
              </a:rPr>
              <a:t>202</a:t>
            </a:r>
            <a:endParaRPr lang="en-US" sz="5400" dirty="0"/>
          </a:p>
        </p:txBody>
      </p:sp>
      <p:sp>
        <p:nvSpPr>
          <p:cNvPr id="18" name="Text 15"/>
          <p:cNvSpPr txBox="1"/>
          <p:nvPr/>
        </p:nvSpPr>
        <p:spPr>
          <a:xfrm>
            <a:off x="8915400" y="3218688"/>
            <a:ext cx="2560320"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every write</a:t>
            </a:r>
            <a:endParaRPr lang="en-US" sz="1050" dirty="0"/>
          </a:p>
        </p:txBody>
      </p:sp>
      <p:sp>
        <p:nvSpPr>
          <p:cNvPr id="19" name="Text 16"/>
          <p:cNvSpPr txBox="1"/>
          <p:nvPr/>
        </p:nvSpPr>
        <p:spPr>
          <a:xfrm>
            <a:off x="6172200" y="4023360"/>
            <a:ext cx="2560320" cy="1005840"/>
          </a:xfrm>
          <a:prstGeom prst="rect">
            <a:avLst/>
          </a:prstGeom>
          <a:noFill/>
          <a:ln/>
        </p:spPr>
        <p:txBody>
          <a:bodyPr wrap="square" lIns="0" tIns="0" rIns="0" bIns="0" rtlCol="0" anchor="b"/>
          <a:lstStyle/>
          <a:p>
            <a:pPr indent="0" marL="0">
              <a:buNone/>
            </a:pPr>
            <a:r>
              <a:rPr lang="en-US" sz="5400" b="1" dirty="0">
                <a:solidFill>
                  <a:srgbClr val="E4572E"/>
                </a:solidFill>
                <a:latin typeface="Century Schoolbook" pitchFamily="34" charset="0"/>
                <a:ea typeface="Century Schoolbook" pitchFamily="34" charset="-122"/>
                <a:cs typeface="Century Schoolbook" pitchFamily="34" charset="-120"/>
              </a:rPr>
              <a:t>0</a:t>
            </a:r>
            <a:endParaRPr lang="en-US" sz="5400" dirty="0"/>
          </a:p>
        </p:txBody>
      </p:sp>
      <p:sp>
        <p:nvSpPr>
          <p:cNvPr id="20" name="Text 17"/>
          <p:cNvSpPr txBox="1"/>
          <p:nvPr/>
        </p:nvSpPr>
        <p:spPr>
          <a:xfrm>
            <a:off x="6172200" y="5047488"/>
            <a:ext cx="2560320"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kubectl for users</a:t>
            </a:r>
            <a:endParaRPr lang="en-US" sz="1050" dirty="0"/>
          </a:p>
        </p:txBody>
      </p:sp>
      <p:sp>
        <p:nvSpPr>
          <p:cNvPr id="21" name="Text 18"/>
          <p:cNvSpPr txBox="1"/>
          <p:nvPr/>
        </p:nvSpPr>
        <p:spPr>
          <a:xfrm>
            <a:off x="8915400" y="4023360"/>
            <a:ext cx="2560320" cy="1005840"/>
          </a:xfrm>
          <a:prstGeom prst="rect">
            <a:avLst/>
          </a:prstGeom>
          <a:noFill/>
          <a:ln/>
        </p:spPr>
        <p:txBody>
          <a:bodyPr wrap="square" lIns="0" tIns="0" rIns="0" bIns="0" rtlCol="0" anchor="b"/>
          <a:lstStyle/>
          <a:p>
            <a:pPr indent="0" marL="0">
              <a:buNone/>
            </a:pPr>
            <a:r>
              <a:rPr lang="en-US" sz="5400" b="1" dirty="0">
                <a:solidFill>
                  <a:srgbClr val="E4572E"/>
                </a:solidFill>
                <a:latin typeface="Century Schoolbook" pitchFamily="34" charset="0"/>
                <a:ea typeface="Century Schoolbook" pitchFamily="34" charset="-122"/>
                <a:cs typeface="Century Schoolbook" pitchFamily="34" charset="-120"/>
              </a:rPr>
              <a:t>2</a:t>
            </a:r>
            <a:endParaRPr lang="en-US" sz="5400" dirty="0"/>
          </a:p>
        </p:txBody>
      </p:sp>
      <p:sp>
        <p:nvSpPr>
          <p:cNvPr id="22" name="Text 19"/>
          <p:cNvSpPr txBox="1"/>
          <p:nvPr/>
        </p:nvSpPr>
        <p:spPr>
          <a:xfrm>
            <a:off x="8915400" y="5047488"/>
            <a:ext cx="2560320"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regions per deploy</a:t>
            </a:r>
            <a:endParaRPr lang="en-US" sz="1050" dirty="0"/>
          </a:p>
        </p:txBody>
      </p:sp>
      <p:sp>
        <p:nvSpPr>
          <p:cNvPr id="23" name="Text 20"/>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08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endpoint structure</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23 endpoints under one base path</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group is in the path</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OIDC token or admin key</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Streams use short-lived tickets</a:t>
            </a:r>
            <a:endParaRPr lang="en-US" sz="1900" dirty="0"/>
          </a:p>
        </p:txBody>
      </p:sp>
      <p:sp>
        <p:nvSpPr>
          <p:cNvPr id="13" name="Shape 10"/>
          <p:cNvSpPr/>
          <p:nvPr/>
        </p:nvSpPr>
        <p:spPr>
          <a:xfrm>
            <a:off x="6172200" y="2194560"/>
            <a:ext cx="5394960" cy="3291840"/>
          </a:xfrm>
          <a:prstGeom prst="roundRect">
            <a:avLst>
              <a:gd name="adj" fmla="val 2778"/>
            </a:avLst>
          </a:prstGeom>
          <a:solidFill>
            <a:srgbClr val="F4F5F7"/>
          </a:solidFill>
          <a:ln w="12700">
            <a:solidFill>
              <a:srgbClr val="F4F5F7"/>
            </a:solidFill>
            <a:prstDash val="solid"/>
          </a:ln>
        </p:spPr>
      </p:sp>
      <p:sp>
        <p:nvSpPr>
          <p:cNvPr id="14" name="Text 11"/>
          <p:cNvSpPr txBox="1"/>
          <p:nvPr/>
        </p:nvSpPr>
        <p:spPr>
          <a:xfrm>
            <a:off x="6400800" y="2377440"/>
            <a:ext cx="5029200" cy="2926080"/>
          </a:xfrm>
          <a:prstGeom prst="rect">
            <a:avLst/>
          </a:prstGeom>
          <a:noFill/>
          <a:ln/>
        </p:spPr>
        <p:txBody>
          <a:bodyPr wrap="square" lIns="0" tIns="0" rIns="0" bIns="0" rtlCol="0" anchor="t"/>
          <a:lstStyle/>
          <a:p>
            <a:pPr indent="0" marL="0">
              <a:lnSpc>
                <a:spcPct val="135000"/>
              </a:lnSpc>
              <a:buNone/>
            </a:pPr>
            <a:r>
              <a:rPr lang="en-US" sz="1150" b="1" dirty="0">
                <a:solidFill>
                  <a:srgbClr val="E4572E"/>
                </a:solidFill>
                <a:latin typeface="Courier New" pitchFamily="34" charset="0"/>
                <a:ea typeface="Courier New" pitchFamily="34" charset="-122"/>
                <a:cs typeface="Courier New" pitchFamily="34" charset="-120"/>
              </a:rPr>
              <a:t>/api/serverless/v1</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/groups/{group}/functions</a:t>
            </a:r>
            <a:endParaRPr lang="en-US" sz="1150" dirty="0"/>
          </a:p>
          <a:p>
            <a:pPr indent="0" marL="0">
              <a:lnSpc>
                <a:spcPct val="135000"/>
              </a:lnSpc>
              <a:buNone/>
            </a:pPr>
            <a:r>
              <a:rPr lang="en-US" sz="1150" dirty="0">
                <a:solidFill>
                  <a:srgbClr val="667085"/>
                </a:solidFill>
                <a:latin typeface="Courier New" pitchFamily="34" charset="0"/>
                <a:ea typeface="Courier New" pitchFamily="34" charset="-122"/>
                <a:cs typeface="Courier New" pitchFamily="34" charset="-120"/>
              </a:rPr>
              <a:t>    POST · GET · PUT · DELETE</a:t>
            </a:r>
            <a:endParaRPr lang="en-US" sz="1150" dirty="0"/>
          </a:p>
          <a:p>
            <a:pPr indent="0" marL="0">
              <a:lnSpc>
                <a:spcPct val="135000"/>
              </a:lnSpc>
              <a:buNone/>
            </a:pPr>
            <a:r>
              <a:rPr lang="en-US" sz="1150" dirty="0">
                <a:solidFill>
                  <a:srgbClr val="667085"/>
                </a:solidFill>
                <a:latin typeface="Courier New" pitchFamily="34" charset="0"/>
                <a:ea typeface="Courier New" pitchFamily="34" charset="-122"/>
                <a:cs typeface="Courier New" pitchFamily="34" charset="-120"/>
              </a:rPr>
              <a:t>    /{name}/build · /stats · /pods · /logs</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/groups/{group}/containers  →  /pull</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/functions/info · /containers/info</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/stream-tickets</a:t>
            </a:r>
            <a:endParaRPr lang="en-US" sz="1150" dirty="0"/>
          </a:p>
        </p:txBody>
      </p:sp>
      <p:sp>
        <p:nvSpPr>
          <p:cNvPr id="15" name="Text 12"/>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09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Anatomy of a workload</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Identity: name, hostname, regions</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Source: git repo or image</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Runtime: env, files, port, size</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Scaling: min, max, metric, target</a:t>
            </a:r>
            <a:endParaRPr lang="en-US" sz="1900" dirty="0"/>
          </a:p>
        </p:txBody>
      </p:sp>
      <p:sp>
        <p:nvSpPr>
          <p:cNvPr id="13" name="step:5"/>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Response: same shape, secrets redacted</a:t>
            </a:r>
            <a:endParaRPr lang="en-US" sz="1900" dirty="0"/>
          </a:p>
        </p:txBody>
      </p:sp>
      <p:sp>
        <p:nvSpPr>
          <p:cNvPr id="15" name="Shape 12"/>
          <p:cNvSpPr/>
          <p:nvPr/>
        </p:nvSpPr>
        <p:spPr>
          <a:xfrm>
            <a:off x="6172200" y="2286000"/>
            <a:ext cx="1051560" cy="384048"/>
          </a:xfrm>
          <a:prstGeom prst="roundRect">
            <a:avLst>
              <a:gd name="adj" fmla="val 14286"/>
            </a:avLst>
          </a:prstGeom>
          <a:solidFill>
            <a:srgbClr val="FFFFFF"/>
          </a:solidFill>
          <a:ln w="15875">
            <a:solidFill>
              <a:srgbClr val="0B7A75"/>
            </a:solidFill>
            <a:prstDash val="solid"/>
          </a:ln>
        </p:spPr>
      </p:sp>
      <p:sp>
        <p:nvSpPr>
          <p:cNvPr id="16" name="Text 13"/>
          <p:cNvSpPr txBox="1"/>
          <p:nvPr/>
        </p:nvSpPr>
        <p:spPr>
          <a:xfrm>
            <a:off x="6172200" y="2286000"/>
            <a:ext cx="1051560" cy="384048"/>
          </a:xfrm>
          <a:prstGeom prst="rect">
            <a:avLst/>
          </a:prstGeom>
          <a:noFill/>
          <a:ln/>
        </p:spPr>
        <p:txBody>
          <a:bodyPr wrap="square" lIns="0" tIns="0" rIns="0" bIns="0" rtlCol="0" anchor="ctr"/>
          <a:lstStyle/>
          <a:p>
            <a:pPr algn="ctr" indent="0" marL="0">
              <a:buNone/>
            </a:pPr>
            <a:r>
              <a:rPr lang="en-US" sz="1200" b="1" dirty="0">
                <a:solidFill>
                  <a:srgbClr val="0B7A75"/>
                </a:solidFill>
                <a:latin typeface="Calibri" pitchFamily="34" charset="0"/>
                <a:ea typeface="Calibri" pitchFamily="34" charset="-122"/>
                <a:cs typeface="Calibri" pitchFamily="34" charset="-120"/>
              </a:rPr>
              <a:t>Pending</a:t>
            </a:r>
            <a:endParaRPr lang="en-US" sz="1200" dirty="0"/>
          </a:p>
        </p:txBody>
      </p:sp>
      <p:sp>
        <p:nvSpPr>
          <p:cNvPr id="17" name="Shape 14"/>
          <p:cNvSpPr/>
          <p:nvPr/>
        </p:nvSpPr>
        <p:spPr>
          <a:xfrm>
            <a:off x="7223760" y="2478024"/>
            <a:ext cx="256032" cy="0"/>
          </a:xfrm>
          <a:prstGeom prst="line">
            <a:avLst/>
          </a:prstGeom>
          <a:noFill/>
          <a:ln w="15875">
            <a:solidFill>
              <a:srgbClr val="98A2B3"/>
            </a:solidFill>
            <a:prstDash val="solid"/>
            <a:tailEnd type="triangle"/>
          </a:ln>
        </p:spPr>
      </p:sp>
      <p:sp>
        <p:nvSpPr>
          <p:cNvPr id="18" name="Shape 15"/>
          <p:cNvSpPr/>
          <p:nvPr/>
        </p:nvSpPr>
        <p:spPr>
          <a:xfrm>
            <a:off x="7479792" y="2286000"/>
            <a:ext cx="1051560" cy="384048"/>
          </a:xfrm>
          <a:prstGeom prst="roundRect">
            <a:avLst>
              <a:gd name="adj" fmla="val 14286"/>
            </a:avLst>
          </a:prstGeom>
          <a:solidFill>
            <a:srgbClr val="FFFFFF"/>
          </a:solidFill>
          <a:ln w="15875">
            <a:solidFill>
              <a:srgbClr val="0B7A75"/>
            </a:solidFill>
            <a:prstDash val="solid"/>
          </a:ln>
        </p:spPr>
      </p:sp>
      <p:sp>
        <p:nvSpPr>
          <p:cNvPr id="19" name="Text 16"/>
          <p:cNvSpPr txBox="1"/>
          <p:nvPr/>
        </p:nvSpPr>
        <p:spPr>
          <a:xfrm>
            <a:off x="7479792" y="2286000"/>
            <a:ext cx="1051560" cy="384048"/>
          </a:xfrm>
          <a:prstGeom prst="rect">
            <a:avLst/>
          </a:prstGeom>
          <a:noFill/>
          <a:ln/>
        </p:spPr>
        <p:txBody>
          <a:bodyPr wrap="square" lIns="0" tIns="0" rIns="0" bIns="0" rtlCol="0" anchor="ctr"/>
          <a:lstStyle/>
          <a:p>
            <a:pPr algn="ctr" indent="0" marL="0">
              <a:buNone/>
            </a:pPr>
            <a:r>
              <a:rPr lang="en-US" sz="1200" b="1" dirty="0">
                <a:solidFill>
                  <a:srgbClr val="0B7A75"/>
                </a:solidFill>
                <a:latin typeface="Calibri" pitchFamily="34" charset="0"/>
                <a:ea typeface="Calibri" pitchFamily="34" charset="-122"/>
                <a:cs typeface="Calibri" pitchFamily="34" charset="-120"/>
              </a:rPr>
              <a:t>Building</a:t>
            </a:r>
            <a:endParaRPr lang="en-US" sz="1200" dirty="0"/>
          </a:p>
        </p:txBody>
      </p:sp>
      <p:sp>
        <p:nvSpPr>
          <p:cNvPr id="20" name="Shape 17"/>
          <p:cNvSpPr/>
          <p:nvPr/>
        </p:nvSpPr>
        <p:spPr>
          <a:xfrm>
            <a:off x="8531352" y="2478024"/>
            <a:ext cx="256032" cy="0"/>
          </a:xfrm>
          <a:prstGeom prst="line">
            <a:avLst/>
          </a:prstGeom>
          <a:noFill/>
          <a:ln w="15875">
            <a:solidFill>
              <a:srgbClr val="98A2B3"/>
            </a:solidFill>
            <a:prstDash val="solid"/>
            <a:tailEnd type="triangle"/>
          </a:ln>
        </p:spPr>
      </p:sp>
      <p:sp>
        <p:nvSpPr>
          <p:cNvPr id="21" name="Shape 18"/>
          <p:cNvSpPr/>
          <p:nvPr/>
        </p:nvSpPr>
        <p:spPr>
          <a:xfrm>
            <a:off x="8787384" y="2286000"/>
            <a:ext cx="1051560" cy="384048"/>
          </a:xfrm>
          <a:prstGeom prst="roundRect">
            <a:avLst>
              <a:gd name="adj" fmla="val 14286"/>
            </a:avLst>
          </a:prstGeom>
          <a:solidFill>
            <a:srgbClr val="FFFFFF"/>
          </a:solidFill>
          <a:ln w="15875">
            <a:solidFill>
              <a:srgbClr val="0B7A75"/>
            </a:solidFill>
            <a:prstDash val="solid"/>
          </a:ln>
        </p:spPr>
      </p:sp>
      <p:sp>
        <p:nvSpPr>
          <p:cNvPr id="22" name="Text 19"/>
          <p:cNvSpPr txBox="1"/>
          <p:nvPr/>
        </p:nvSpPr>
        <p:spPr>
          <a:xfrm>
            <a:off x="8787384" y="2286000"/>
            <a:ext cx="1051560" cy="384048"/>
          </a:xfrm>
          <a:prstGeom prst="rect">
            <a:avLst/>
          </a:prstGeom>
          <a:noFill/>
          <a:ln/>
        </p:spPr>
        <p:txBody>
          <a:bodyPr wrap="square" lIns="0" tIns="0" rIns="0" bIns="0" rtlCol="0" anchor="ctr"/>
          <a:lstStyle/>
          <a:p>
            <a:pPr algn="ctr" indent="0" marL="0">
              <a:buNone/>
            </a:pPr>
            <a:r>
              <a:rPr lang="en-US" sz="1200" b="1" dirty="0">
                <a:solidFill>
                  <a:srgbClr val="0B7A75"/>
                </a:solidFill>
                <a:latin typeface="Calibri" pitchFamily="34" charset="0"/>
                <a:ea typeface="Calibri" pitchFamily="34" charset="-122"/>
                <a:cs typeface="Calibri" pitchFamily="34" charset="-120"/>
              </a:rPr>
              <a:t>Deploying</a:t>
            </a:r>
            <a:endParaRPr lang="en-US" sz="1200" dirty="0"/>
          </a:p>
        </p:txBody>
      </p:sp>
      <p:sp>
        <p:nvSpPr>
          <p:cNvPr id="23" name="Shape 20"/>
          <p:cNvSpPr/>
          <p:nvPr/>
        </p:nvSpPr>
        <p:spPr>
          <a:xfrm>
            <a:off x="9838944" y="2478024"/>
            <a:ext cx="256032" cy="0"/>
          </a:xfrm>
          <a:prstGeom prst="line">
            <a:avLst/>
          </a:prstGeom>
          <a:noFill/>
          <a:ln w="15875">
            <a:solidFill>
              <a:srgbClr val="98A2B3"/>
            </a:solidFill>
            <a:prstDash val="solid"/>
            <a:tailEnd type="triangle"/>
          </a:ln>
        </p:spPr>
      </p:sp>
      <p:sp>
        <p:nvSpPr>
          <p:cNvPr id="24" name="Shape 21"/>
          <p:cNvSpPr/>
          <p:nvPr/>
        </p:nvSpPr>
        <p:spPr>
          <a:xfrm>
            <a:off x="10094976" y="2286000"/>
            <a:ext cx="1051560" cy="384048"/>
          </a:xfrm>
          <a:prstGeom prst="roundRect">
            <a:avLst>
              <a:gd name="adj" fmla="val 14286"/>
            </a:avLst>
          </a:prstGeom>
          <a:solidFill>
            <a:srgbClr val="1B8A5A"/>
          </a:solidFill>
          <a:ln w="15875">
            <a:solidFill>
              <a:srgbClr val="1B8A5A"/>
            </a:solidFill>
            <a:prstDash val="solid"/>
          </a:ln>
        </p:spPr>
      </p:sp>
      <p:sp>
        <p:nvSpPr>
          <p:cNvPr id="25" name="Text 22"/>
          <p:cNvSpPr txBox="1"/>
          <p:nvPr/>
        </p:nvSpPr>
        <p:spPr>
          <a:xfrm>
            <a:off x="10094976" y="2286000"/>
            <a:ext cx="105156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Ready</a:t>
            </a:r>
            <a:endParaRPr lang="en-US" sz="1200" dirty="0"/>
          </a:p>
        </p:txBody>
      </p:sp>
      <p:sp>
        <p:nvSpPr>
          <p:cNvPr id="26" name="Shape 23"/>
          <p:cNvSpPr/>
          <p:nvPr/>
        </p:nvSpPr>
        <p:spPr>
          <a:xfrm>
            <a:off x="6172200" y="3063240"/>
            <a:ext cx="1051560" cy="384048"/>
          </a:xfrm>
          <a:prstGeom prst="roundRect">
            <a:avLst>
              <a:gd name="adj" fmla="val 14286"/>
            </a:avLst>
          </a:prstGeom>
          <a:solidFill>
            <a:srgbClr val="FFFFFF"/>
          </a:solidFill>
          <a:ln w="15875">
            <a:solidFill>
              <a:srgbClr val="C0392B"/>
            </a:solidFill>
            <a:prstDash val="solid"/>
          </a:ln>
        </p:spPr>
      </p:sp>
      <p:sp>
        <p:nvSpPr>
          <p:cNvPr id="27" name="Text 24"/>
          <p:cNvSpPr txBox="1"/>
          <p:nvPr/>
        </p:nvSpPr>
        <p:spPr>
          <a:xfrm>
            <a:off x="6172200" y="3063240"/>
            <a:ext cx="1051560" cy="384048"/>
          </a:xfrm>
          <a:prstGeom prst="rect">
            <a:avLst/>
          </a:prstGeom>
          <a:noFill/>
          <a:ln/>
        </p:spPr>
        <p:txBody>
          <a:bodyPr wrap="square" lIns="0" tIns="0" rIns="0" bIns="0" rtlCol="0" anchor="ctr"/>
          <a:lstStyle/>
          <a:p>
            <a:pPr algn="ctr" indent="0" marL="0">
              <a:buNone/>
            </a:pPr>
            <a:r>
              <a:rPr lang="en-US" sz="1200" b="1" dirty="0">
                <a:solidFill>
                  <a:srgbClr val="C0392B"/>
                </a:solidFill>
                <a:latin typeface="Calibri" pitchFamily="34" charset="0"/>
                <a:ea typeface="Calibri" pitchFamily="34" charset="-122"/>
                <a:cs typeface="Calibri" pitchFamily="34" charset="-120"/>
              </a:rPr>
              <a:t>Failed</a:t>
            </a:r>
            <a:endParaRPr lang="en-US" sz="1200" dirty="0"/>
          </a:p>
        </p:txBody>
      </p:sp>
      <p:sp>
        <p:nvSpPr>
          <p:cNvPr id="28" name="Text 25"/>
          <p:cNvSpPr txBox="1"/>
          <p:nvPr/>
        </p:nvSpPr>
        <p:spPr>
          <a:xfrm>
            <a:off x="7360920" y="3063240"/>
            <a:ext cx="2743200" cy="384048"/>
          </a:xfrm>
          <a:prstGeom prst="rect">
            <a:avLst/>
          </a:prstGeom>
          <a:noFill/>
          <a:ln/>
        </p:spPr>
        <p:txBody>
          <a:bodyPr wrap="square" lIns="0" tIns="0" rIns="0" bIns="0" rtlCol="0" anchor="ctr"/>
          <a:lstStyle/>
          <a:p>
            <a:pPr indent="0" marL="0">
              <a:buNone/>
            </a:pPr>
            <a:r>
              <a:rPr lang="en-US" sz="1200" dirty="0">
                <a:solidFill>
                  <a:srgbClr val="667085"/>
                </a:solidFill>
                <a:latin typeface="Calibri" pitchFamily="34" charset="0"/>
                <a:ea typeface="Calibri" pitchFamily="34" charset="-122"/>
                <a:cs typeface="Calibri" pitchFamily="34" charset="-120"/>
              </a:rPr>
              <a:t>with a reason:</a:t>
            </a:r>
            <a:endParaRPr lang="en-US" sz="1200" dirty="0"/>
          </a:p>
        </p:txBody>
      </p:sp>
      <p:sp>
        <p:nvSpPr>
          <p:cNvPr id="29" name="Shape 26"/>
          <p:cNvSpPr/>
          <p:nvPr/>
        </p:nvSpPr>
        <p:spPr>
          <a:xfrm>
            <a:off x="6172200" y="3657600"/>
            <a:ext cx="1007669" cy="310896"/>
          </a:xfrm>
          <a:prstGeom prst="roundRect">
            <a:avLst>
              <a:gd name="adj" fmla="val 14706"/>
            </a:avLst>
          </a:prstGeom>
          <a:solidFill>
            <a:srgbClr val="FFFFFF"/>
          </a:solidFill>
          <a:ln w="9525">
            <a:solidFill>
              <a:srgbClr val="E4E7EC"/>
            </a:solidFill>
            <a:prstDash val="solid"/>
          </a:ln>
        </p:spPr>
      </p:sp>
      <p:sp>
        <p:nvSpPr>
          <p:cNvPr id="30" name="Text 27"/>
          <p:cNvSpPr txBox="1"/>
          <p:nvPr/>
        </p:nvSpPr>
        <p:spPr>
          <a:xfrm>
            <a:off x="6172200" y="3657600"/>
            <a:ext cx="1007669"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BuildFailed</a:t>
            </a:r>
            <a:endParaRPr lang="en-US" sz="950" dirty="0"/>
          </a:p>
        </p:txBody>
      </p:sp>
      <p:sp>
        <p:nvSpPr>
          <p:cNvPr id="31" name="Shape 28"/>
          <p:cNvSpPr/>
          <p:nvPr/>
        </p:nvSpPr>
        <p:spPr>
          <a:xfrm>
            <a:off x="7289597" y="3657600"/>
            <a:ext cx="1307592" cy="310896"/>
          </a:xfrm>
          <a:prstGeom prst="roundRect">
            <a:avLst>
              <a:gd name="adj" fmla="val 14706"/>
            </a:avLst>
          </a:prstGeom>
          <a:solidFill>
            <a:srgbClr val="FFFFFF"/>
          </a:solidFill>
          <a:ln w="9525">
            <a:solidFill>
              <a:srgbClr val="E4E7EC"/>
            </a:solidFill>
            <a:prstDash val="solid"/>
          </a:ln>
        </p:spPr>
      </p:sp>
      <p:sp>
        <p:nvSpPr>
          <p:cNvPr id="32" name="Text 29"/>
          <p:cNvSpPr txBox="1"/>
          <p:nvPr/>
        </p:nvSpPr>
        <p:spPr>
          <a:xfrm>
            <a:off x="7289597" y="3657600"/>
            <a:ext cx="1307592"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ImagePullFailed</a:t>
            </a:r>
            <a:endParaRPr lang="en-US" sz="950" dirty="0"/>
          </a:p>
        </p:txBody>
      </p:sp>
      <p:sp>
        <p:nvSpPr>
          <p:cNvPr id="33" name="Shape 30"/>
          <p:cNvSpPr/>
          <p:nvPr/>
        </p:nvSpPr>
        <p:spPr>
          <a:xfrm>
            <a:off x="8706917" y="3657600"/>
            <a:ext cx="1082650" cy="310896"/>
          </a:xfrm>
          <a:prstGeom prst="roundRect">
            <a:avLst>
              <a:gd name="adj" fmla="val 14706"/>
            </a:avLst>
          </a:prstGeom>
          <a:solidFill>
            <a:srgbClr val="FFFFFF"/>
          </a:solidFill>
          <a:ln w="9525">
            <a:solidFill>
              <a:srgbClr val="E4E7EC"/>
            </a:solidFill>
            <a:prstDash val="solid"/>
          </a:ln>
        </p:spPr>
      </p:sp>
      <p:sp>
        <p:nvSpPr>
          <p:cNvPr id="34" name="Text 31"/>
          <p:cNvSpPr txBox="1"/>
          <p:nvPr/>
        </p:nvSpPr>
        <p:spPr>
          <a:xfrm>
            <a:off x="8706917" y="3657600"/>
            <a:ext cx="1082650"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CrashLooping</a:t>
            </a:r>
            <a:endParaRPr lang="en-US" sz="950" dirty="0"/>
          </a:p>
        </p:txBody>
      </p:sp>
      <p:sp>
        <p:nvSpPr>
          <p:cNvPr id="35" name="Shape 32"/>
          <p:cNvSpPr/>
          <p:nvPr/>
        </p:nvSpPr>
        <p:spPr>
          <a:xfrm>
            <a:off x="9899294" y="3657600"/>
            <a:ext cx="1007669" cy="310896"/>
          </a:xfrm>
          <a:prstGeom prst="roundRect">
            <a:avLst>
              <a:gd name="adj" fmla="val 14706"/>
            </a:avLst>
          </a:prstGeom>
          <a:solidFill>
            <a:srgbClr val="FFFFFF"/>
          </a:solidFill>
          <a:ln w="9525">
            <a:solidFill>
              <a:srgbClr val="E4E7EC"/>
            </a:solidFill>
            <a:prstDash val="solid"/>
          </a:ln>
        </p:spPr>
      </p:sp>
      <p:sp>
        <p:nvSpPr>
          <p:cNvPr id="36" name="Text 33"/>
          <p:cNvSpPr txBox="1"/>
          <p:nvPr/>
        </p:nvSpPr>
        <p:spPr>
          <a:xfrm>
            <a:off x="9899294" y="3657600"/>
            <a:ext cx="1007669"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ConfigError</a:t>
            </a:r>
            <a:endParaRPr lang="en-US" sz="950" dirty="0"/>
          </a:p>
        </p:txBody>
      </p:sp>
      <p:sp>
        <p:nvSpPr>
          <p:cNvPr id="37" name="Shape 34"/>
          <p:cNvSpPr/>
          <p:nvPr/>
        </p:nvSpPr>
        <p:spPr>
          <a:xfrm>
            <a:off x="6172200" y="4059936"/>
            <a:ext cx="1982419" cy="310896"/>
          </a:xfrm>
          <a:prstGeom prst="roundRect">
            <a:avLst>
              <a:gd name="adj" fmla="val 14706"/>
            </a:avLst>
          </a:prstGeom>
          <a:solidFill>
            <a:srgbClr val="FFFFFF"/>
          </a:solidFill>
          <a:ln w="9525">
            <a:solidFill>
              <a:srgbClr val="E4E7EC"/>
            </a:solidFill>
            <a:prstDash val="solid"/>
          </a:ln>
        </p:spPr>
      </p:sp>
      <p:sp>
        <p:nvSpPr>
          <p:cNvPr id="38" name="Text 35"/>
          <p:cNvSpPr txBox="1"/>
          <p:nvPr/>
        </p:nvSpPr>
        <p:spPr>
          <a:xfrm>
            <a:off x="6172200" y="4059936"/>
            <a:ext cx="1982419"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ProgressDeadlineExceeded</a:t>
            </a:r>
            <a:endParaRPr lang="en-US" sz="950" dirty="0"/>
          </a:p>
        </p:txBody>
      </p:sp>
      <p:sp>
        <p:nvSpPr>
          <p:cNvPr id="39" name="Text 3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10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Talking to the cluster</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Client certificate mTLS, always</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No kubeconfig, no service-account token</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certificate's CN is the user</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Address derived from the region name</a:t>
            </a:r>
            <a:endParaRPr lang="en-US" sz="1900" dirty="0"/>
          </a:p>
        </p:txBody>
      </p:sp>
      <p:sp>
        <p:nvSpPr>
          <p:cNvPr id="13" name="step:5"/>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Every write is server-side apply</a:t>
            </a:r>
            <a:endParaRPr lang="en-US" sz="1900" dirty="0"/>
          </a:p>
        </p:txBody>
      </p:sp>
      <p:sp>
        <p:nvSpPr>
          <p:cNvPr id="15" name="Shape 12"/>
          <p:cNvSpPr/>
          <p:nvPr/>
        </p:nvSpPr>
        <p:spPr>
          <a:xfrm>
            <a:off x="8599932" y="2686050"/>
            <a:ext cx="539496" cy="0"/>
          </a:xfrm>
          <a:prstGeom prst="line">
            <a:avLst/>
          </a:prstGeom>
          <a:noFill/>
          <a:ln w="15875">
            <a:solidFill>
              <a:srgbClr val="98A2B3"/>
            </a:solidFill>
            <a:prstDash val="solid"/>
            <a:tailEnd type="triangle"/>
          </a:ln>
        </p:spPr>
      </p:sp>
      <p:sp>
        <p:nvSpPr>
          <p:cNvPr id="16" name="Shape 13"/>
          <p:cNvSpPr/>
          <p:nvPr/>
        </p:nvSpPr>
        <p:spPr>
          <a:xfrm>
            <a:off x="10263378" y="3000756"/>
            <a:ext cx="0" cy="809244"/>
          </a:xfrm>
          <a:prstGeom prst="line">
            <a:avLst/>
          </a:prstGeom>
          <a:noFill/>
          <a:ln w="15875">
            <a:solidFill>
              <a:srgbClr val="98A2B3"/>
            </a:solidFill>
            <a:prstDash val="solid"/>
            <a:tailEnd type="triangle"/>
          </a:ln>
        </p:spPr>
      </p:sp>
      <p:sp>
        <p:nvSpPr>
          <p:cNvPr id="17" name="Shape 14"/>
          <p:cNvSpPr/>
          <p:nvPr/>
        </p:nvSpPr>
        <p:spPr>
          <a:xfrm flipH="1">
            <a:off x="8599932" y="4124706"/>
            <a:ext cx="539496" cy="0"/>
          </a:xfrm>
          <a:prstGeom prst="line">
            <a:avLst/>
          </a:prstGeom>
          <a:noFill/>
          <a:ln w="15875">
            <a:solidFill>
              <a:srgbClr val="98A2B3"/>
            </a:solidFill>
            <a:prstDash val="solid"/>
            <a:tailEnd type="triangle"/>
          </a:ln>
        </p:spPr>
      </p:sp>
      <p:sp>
        <p:nvSpPr>
          <p:cNvPr id="18" name="Shape 15"/>
          <p:cNvSpPr/>
          <p:nvPr/>
        </p:nvSpPr>
        <p:spPr>
          <a:xfrm flipH="1" flipV="1">
            <a:off x="7475982" y="4439412"/>
            <a:ext cx="1393698" cy="539496"/>
          </a:xfrm>
          <a:prstGeom prst="line">
            <a:avLst/>
          </a:prstGeom>
          <a:noFill/>
          <a:ln w="15875">
            <a:solidFill>
              <a:srgbClr val="98A2B3"/>
            </a:solidFill>
            <a:prstDash val="dash"/>
            <a:tailEnd type="triangle"/>
          </a:ln>
        </p:spPr>
      </p:sp>
      <p:sp>
        <p:nvSpPr>
          <p:cNvPr id="19" name="Shape 16"/>
          <p:cNvSpPr/>
          <p:nvPr/>
        </p:nvSpPr>
        <p:spPr>
          <a:xfrm>
            <a:off x="6352032" y="2371344"/>
            <a:ext cx="2247900" cy="629412"/>
          </a:xfrm>
          <a:prstGeom prst="roundRect">
            <a:avLst>
              <a:gd name="adj" fmla="val 11622"/>
            </a:avLst>
          </a:prstGeom>
          <a:solidFill>
            <a:srgbClr val="FFFFFF"/>
          </a:solidFill>
          <a:ln w="15875">
            <a:solidFill>
              <a:srgbClr val="0B7A75"/>
            </a:solidFill>
            <a:prstDash val="solid"/>
          </a:ln>
        </p:spPr>
      </p:sp>
      <p:sp>
        <p:nvSpPr>
          <p:cNvPr id="20" name="Text 17"/>
          <p:cNvSpPr txBox="1"/>
          <p:nvPr/>
        </p:nvSpPr>
        <p:spPr>
          <a:xfrm>
            <a:off x="6352032" y="2371344"/>
            <a:ext cx="224790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cert-manager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ACME, internal CA</a:t>
            </a:r>
            <a:endParaRPr lang="en-US" sz="1200" dirty="0"/>
          </a:p>
        </p:txBody>
      </p:sp>
      <p:sp>
        <p:nvSpPr>
          <p:cNvPr id="21" name="Shape 18"/>
          <p:cNvSpPr/>
          <p:nvPr/>
        </p:nvSpPr>
        <p:spPr>
          <a:xfrm>
            <a:off x="9139428" y="2371344"/>
            <a:ext cx="2247900" cy="629412"/>
          </a:xfrm>
          <a:prstGeom prst="roundRect">
            <a:avLst>
              <a:gd name="adj" fmla="val 11622"/>
            </a:avLst>
          </a:prstGeom>
          <a:solidFill>
            <a:srgbClr val="FFFFFF"/>
          </a:solidFill>
          <a:ln w="15875">
            <a:solidFill>
              <a:srgbClr val="0B7A75"/>
            </a:solidFill>
            <a:prstDash val="solid"/>
          </a:ln>
        </p:spPr>
      </p:sp>
      <p:sp>
        <p:nvSpPr>
          <p:cNvPr id="22" name="Text 19"/>
          <p:cNvSpPr txBox="1"/>
          <p:nvPr/>
        </p:nvSpPr>
        <p:spPr>
          <a:xfrm>
            <a:off x="9139428" y="2371344"/>
            <a:ext cx="224790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API pod</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tls.crt + tls.key</a:t>
            </a:r>
            <a:endParaRPr lang="en-US" sz="1200" dirty="0"/>
          </a:p>
        </p:txBody>
      </p:sp>
      <p:sp>
        <p:nvSpPr>
          <p:cNvPr id="23" name="Shape 20"/>
          <p:cNvSpPr/>
          <p:nvPr/>
        </p:nvSpPr>
        <p:spPr>
          <a:xfrm>
            <a:off x="9139428" y="3810000"/>
            <a:ext cx="2247900" cy="629412"/>
          </a:xfrm>
          <a:prstGeom prst="roundRect">
            <a:avLst>
              <a:gd name="adj" fmla="val 11622"/>
            </a:avLst>
          </a:prstGeom>
          <a:solidFill>
            <a:srgbClr val="FFFFFF"/>
          </a:solidFill>
          <a:ln w="15875">
            <a:solidFill>
              <a:srgbClr val="0B7A75"/>
            </a:solidFill>
            <a:prstDash val="solid"/>
          </a:ln>
        </p:spPr>
      </p:sp>
      <p:sp>
        <p:nvSpPr>
          <p:cNvPr id="24" name="Text 21"/>
          <p:cNvSpPr txBox="1"/>
          <p:nvPr/>
        </p:nvSpPr>
        <p:spPr>
          <a:xfrm>
            <a:off x="9139428" y="3810000"/>
            <a:ext cx="224790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API server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api.{cluster}.{domain}:6443</a:t>
            </a:r>
            <a:endParaRPr lang="en-US" sz="1200" dirty="0"/>
          </a:p>
        </p:txBody>
      </p:sp>
      <p:sp>
        <p:nvSpPr>
          <p:cNvPr id="25" name="Shape 22"/>
          <p:cNvSpPr/>
          <p:nvPr/>
        </p:nvSpPr>
        <p:spPr>
          <a:xfrm>
            <a:off x="6352032" y="3810000"/>
            <a:ext cx="2247900" cy="629412"/>
          </a:xfrm>
          <a:prstGeom prst="roundRect">
            <a:avLst>
              <a:gd name="adj" fmla="val 11622"/>
            </a:avLst>
          </a:prstGeom>
          <a:solidFill>
            <a:srgbClr val="FFFFFF"/>
          </a:solidFill>
          <a:ln w="15875">
            <a:solidFill>
              <a:srgbClr val="0B7A75"/>
            </a:solidFill>
            <a:prstDash val="solid"/>
          </a:ln>
        </p:spPr>
      </p:sp>
      <p:sp>
        <p:nvSpPr>
          <p:cNvPr id="26" name="Text 23"/>
          <p:cNvSpPr txBox="1"/>
          <p:nvPr/>
        </p:nvSpPr>
        <p:spPr>
          <a:xfrm>
            <a:off x="6352032" y="3810000"/>
            <a:ext cx="224790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RBAC</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per tenant namespace</a:t>
            </a:r>
            <a:endParaRPr lang="en-US" sz="1200" dirty="0"/>
          </a:p>
        </p:txBody>
      </p:sp>
      <p:sp>
        <p:nvSpPr>
          <p:cNvPr id="27" name="Shape 24"/>
          <p:cNvSpPr/>
          <p:nvPr/>
        </p:nvSpPr>
        <p:spPr>
          <a:xfrm>
            <a:off x="6711696" y="4978908"/>
            <a:ext cx="4315968" cy="503530"/>
          </a:xfrm>
          <a:prstGeom prst="roundRect">
            <a:avLst>
              <a:gd name="adj" fmla="val 14528"/>
            </a:avLst>
          </a:prstGeom>
          <a:solidFill>
            <a:srgbClr val="FFFFFF"/>
          </a:solidFill>
          <a:ln w="22225">
            <a:solidFill>
              <a:srgbClr val="E4572E"/>
            </a:solidFill>
            <a:prstDash val="solid"/>
          </a:ln>
        </p:spPr>
      </p:sp>
      <p:sp>
        <p:nvSpPr>
          <p:cNvPr id="28" name="Text 25"/>
          <p:cNvSpPr txBox="1"/>
          <p:nvPr/>
        </p:nvSpPr>
        <p:spPr>
          <a:xfrm>
            <a:off x="6711696" y="4978908"/>
            <a:ext cx="4315968" cy="503530"/>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CN = serverless-api.clients.{domain}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the Kubernetes user</a:t>
            </a:r>
            <a:endParaRPr lang="en-US" sz="1200" dirty="0"/>
          </a:p>
        </p:txBody>
      </p:sp>
      <p:sp>
        <p:nvSpPr>
          <p:cNvPr id="29" name="Text 2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11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Active/active, two regions</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API runs in both regions</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One deploy fans out to both</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No leader election, deterministic specs</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 region builds what it runs</a:t>
            </a:r>
            <a:endParaRPr lang="en-US" sz="1900" dirty="0"/>
          </a:p>
        </p:txBody>
      </p:sp>
      <p:sp>
        <p:nvSpPr>
          <p:cNvPr id="13" name="step:5"/>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State lives in the Knative Service</a:t>
            </a:r>
            <a:endParaRPr lang="en-US" sz="1900" dirty="0"/>
          </a:p>
        </p:txBody>
      </p:sp>
      <p:sp>
        <p:nvSpPr>
          <p:cNvPr id="15" name="Shape 12"/>
          <p:cNvSpPr/>
          <p:nvPr/>
        </p:nvSpPr>
        <p:spPr>
          <a:xfrm flipH="1">
            <a:off x="7520940" y="2641092"/>
            <a:ext cx="1348740" cy="719328"/>
          </a:xfrm>
          <a:prstGeom prst="line">
            <a:avLst/>
          </a:prstGeom>
          <a:noFill/>
          <a:ln w="15875">
            <a:solidFill>
              <a:srgbClr val="98A2B3"/>
            </a:solidFill>
            <a:prstDash val="solid"/>
            <a:tailEnd type="triangle"/>
          </a:ln>
        </p:spPr>
      </p:sp>
      <p:sp>
        <p:nvSpPr>
          <p:cNvPr id="16" name="Shape 13"/>
          <p:cNvSpPr/>
          <p:nvPr/>
        </p:nvSpPr>
        <p:spPr>
          <a:xfrm>
            <a:off x="8869680" y="2641092"/>
            <a:ext cx="1348740" cy="719328"/>
          </a:xfrm>
          <a:prstGeom prst="line">
            <a:avLst/>
          </a:prstGeom>
          <a:noFill/>
          <a:ln w="15875">
            <a:solidFill>
              <a:srgbClr val="98A2B3"/>
            </a:solidFill>
            <a:prstDash val="solid"/>
            <a:tailEnd type="triangle"/>
          </a:ln>
        </p:spPr>
      </p:sp>
      <p:sp>
        <p:nvSpPr>
          <p:cNvPr id="17" name="Shape 14"/>
          <p:cNvSpPr/>
          <p:nvPr/>
        </p:nvSpPr>
        <p:spPr>
          <a:xfrm>
            <a:off x="8689848" y="3899916"/>
            <a:ext cx="359664" cy="0"/>
          </a:xfrm>
          <a:prstGeom prst="line">
            <a:avLst/>
          </a:prstGeom>
          <a:noFill/>
          <a:ln w="15875">
            <a:solidFill>
              <a:srgbClr val="98A2B3"/>
            </a:solidFill>
            <a:prstDash val="dash"/>
            <a:tailEnd type="triangle"/>
          </a:ln>
        </p:spPr>
      </p:sp>
      <p:sp>
        <p:nvSpPr>
          <p:cNvPr id="18" name="Shape 15"/>
          <p:cNvSpPr/>
          <p:nvPr/>
        </p:nvSpPr>
        <p:spPr>
          <a:xfrm>
            <a:off x="7520940" y="4439412"/>
            <a:ext cx="1348740" cy="629412"/>
          </a:xfrm>
          <a:prstGeom prst="line">
            <a:avLst/>
          </a:prstGeom>
          <a:noFill/>
          <a:ln w="15875">
            <a:solidFill>
              <a:srgbClr val="98A2B3"/>
            </a:solidFill>
            <a:prstDash val="dash"/>
            <a:tailEnd type="triangle"/>
          </a:ln>
        </p:spPr>
      </p:sp>
      <p:sp>
        <p:nvSpPr>
          <p:cNvPr id="19" name="Shape 16"/>
          <p:cNvSpPr/>
          <p:nvPr/>
        </p:nvSpPr>
        <p:spPr>
          <a:xfrm flipH="1">
            <a:off x="8869680" y="4439412"/>
            <a:ext cx="1348740" cy="629412"/>
          </a:xfrm>
          <a:prstGeom prst="line">
            <a:avLst/>
          </a:prstGeom>
          <a:noFill/>
          <a:ln w="15875">
            <a:solidFill>
              <a:srgbClr val="98A2B3"/>
            </a:solidFill>
            <a:prstDash val="dash"/>
            <a:tailEnd type="triangle"/>
          </a:ln>
        </p:spPr>
      </p:sp>
      <p:sp>
        <p:nvSpPr>
          <p:cNvPr id="20" name="Shape 17"/>
          <p:cNvSpPr/>
          <p:nvPr/>
        </p:nvSpPr>
        <p:spPr>
          <a:xfrm>
            <a:off x="7520940" y="2101596"/>
            <a:ext cx="2697480" cy="539496"/>
          </a:xfrm>
          <a:prstGeom prst="roundRect">
            <a:avLst>
              <a:gd name="adj" fmla="val 13559"/>
            </a:avLst>
          </a:prstGeom>
          <a:solidFill>
            <a:srgbClr val="FFFFFF"/>
          </a:solidFill>
          <a:ln w="22225">
            <a:solidFill>
              <a:srgbClr val="E4572E"/>
            </a:solidFill>
            <a:prstDash val="solid"/>
          </a:ln>
        </p:spPr>
      </p:sp>
      <p:sp>
        <p:nvSpPr>
          <p:cNvPr id="21" name="Text 18"/>
          <p:cNvSpPr txBox="1"/>
          <p:nvPr/>
        </p:nvSpPr>
        <p:spPr>
          <a:xfrm>
            <a:off x="7520940" y="2101596"/>
            <a:ext cx="2697480"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DNS</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*.serverless.{domain} → active region</a:t>
            </a:r>
            <a:endParaRPr lang="en-US" sz="1200" dirty="0"/>
          </a:p>
        </p:txBody>
      </p:sp>
      <p:sp>
        <p:nvSpPr>
          <p:cNvPr id="22" name="Shape 19"/>
          <p:cNvSpPr/>
          <p:nvPr/>
        </p:nvSpPr>
        <p:spPr>
          <a:xfrm>
            <a:off x="6352032" y="3360420"/>
            <a:ext cx="2337816" cy="1078992"/>
          </a:xfrm>
          <a:prstGeom prst="roundRect">
            <a:avLst>
              <a:gd name="adj" fmla="val 6780"/>
            </a:avLst>
          </a:prstGeom>
          <a:solidFill>
            <a:srgbClr val="FFFFFF"/>
          </a:solidFill>
          <a:ln w="15875">
            <a:solidFill>
              <a:srgbClr val="0B7A75"/>
            </a:solidFill>
            <a:prstDash val="solid"/>
          </a:ln>
        </p:spPr>
      </p:sp>
      <p:sp>
        <p:nvSpPr>
          <p:cNvPr id="23" name="Text 20"/>
          <p:cNvSpPr txBox="1"/>
          <p:nvPr/>
        </p:nvSpPr>
        <p:spPr>
          <a:xfrm>
            <a:off x="6352032" y="3360420"/>
            <a:ext cx="2337816" cy="107899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central</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 · controllers · registry · workloads</a:t>
            </a:r>
            <a:endParaRPr lang="en-US" sz="1200" dirty="0"/>
          </a:p>
        </p:txBody>
      </p:sp>
      <p:sp>
        <p:nvSpPr>
          <p:cNvPr id="24" name="Shape 21"/>
          <p:cNvSpPr/>
          <p:nvPr/>
        </p:nvSpPr>
        <p:spPr>
          <a:xfrm>
            <a:off x="9049512" y="3360420"/>
            <a:ext cx="2337816" cy="1078992"/>
          </a:xfrm>
          <a:prstGeom prst="roundRect">
            <a:avLst>
              <a:gd name="adj" fmla="val 6780"/>
            </a:avLst>
          </a:prstGeom>
          <a:solidFill>
            <a:srgbClr val="FFFFFF"/>
          </a:solidFill>
          <a:ln w="15875">
            <a:solidFill>
              <a:srgbClr val="0B7A75"/>
            </a:solidFill>
            <a:prstDash val="solid"/>
          </a:ln>
        </p:spPr>
      </p:sp>
      <p:sp>
        <p:nvSpPr>
          <p:cNvPr id="25" name="Text 22"/>
          <p:cNvSpPr txBox="1"/>
          <p:nvPr/>
        </p:nvSpPr>
        <p:spPr>
          <a:xfrm>
            <a:off x="9049512" y="3360420"/>
            <a:ext cx="2337816" cy="107899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south</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 · controllers · registry · workloads</a:t>
            </a:r>
            <a:endParaRPr lang="en-US" sz="1200" dirty="0"/>
          </a:p>
        </p:txBody>
      </p:sp>
      <p:sp>
        <p:nvSpPr>
          <p:cNvPr id="26" name="Shape 23"/>
          <p:cNvSpPr/>
          <p:nvPr/>
        </p:nvSpPr>
        <p:spPr>
          <a:xfrm>
            <a:off x="7251192" y="5068824"/>
            <a:ext cx="3236976" cy="503530"/>
          </a:xfrm>
          <a:prstGeom prst="roundRect">
            <a:avLst>
              <a:gd name="adj" fmla="val 14528"/>
            </a:avLst>
          </a:prstGeom>
          <a:solidFill>
            <a:srgbClr val="FFFFFF"/>
          </a:solidFill>
          <a:ln w="15875">
            <a:solidFill>
              <a:srgbClr val="0B7A75"/>
            </a:solidFill>
            <a:prstDash val="solid"/>
          </a:ln>
        </p:spPr>
      </p:sp>
      <p:sp>
        <p:nvSpPr>
          <p:cNvPr id="27" name="Text 24"/>
          <p:cNvSpPr txBox="1"/>
          <p:nvPr/>
        </p:nvSpPr>
        <p:spPr>
          <a:xfrm>
            <a:off x="7251192" y="5068824"/>
            <a:ext cx="3236976" cy="503530"/>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 = the truth</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no database, no replication</a:t>
            </a:r>
            <a:endParaRPr lang="en-US" sz="1200" dirty="0"/>
          </a:p>
        </p:txBody>
      </p:sp>
      <p:sp>
        <p:nvSpPr>
          <p:cNvPr id="28" name="Text 25"/>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12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tenant controller</a:t>
            </a:r>
            <a:endParaRPr lang="en-US" sz="3800" dirty="0"/>
          </a:p>
        </p:txBody>
      </p:sp>
      <p:sp>
        <p:nvSpPr>
          <p:cNvPr id="5" name="step:1"/>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A namespace per SSO group</a:t>
            </a:r>
            <a:endParaRPr lang="en-US" sz="1700" dirty="0"/>
          </a:p>
        </p:txBody>
      </p:sp>
      <p:sp>
        <p:nvSpPr>
          <p:cNvPr id="7" name="step:2"/>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5844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Separate process, separate certificate</a:t>
            </a:r>
            <a:endParaRPr lang="en-US" sz="1700" dirty="0"/>
          </a:p>
        </p:txBody>
      </p:sp>
      <p:sp>
        <p:nvSpPr>
          <p:cNvPr id="9" name="step:3"/>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376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The API never creates namespaces</a:t>
            </a:r>
            <a:endParaRPr lang="en-US" sz="1700" dirty="0"/>
          </a:p>
        </p:txBody>
      </p:sp>
      <p:sp>
        <p:nvSpPr>
          <p:cNvPr id="11" name="step:4"/>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6908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Provision before every deploy, fail closed</a:t>
            </a:r>
            <a:endParaRPr lang="en-US" sz="1700" dirty="0"/>
          </a:p>
        </p:txBody>
      </p:sp>
      <p:sp>
        <p:nvSpPr>
          <p:cNvPr id="13" name="step:5"/>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2440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Reconcile the local cluster only</a:t>
            </a:r>
            <a:endParaRPr lang="en-US" sz="1700" dirty="0"/>
          </a:p>
        </p:txBody>
      </p:sp>
      <p:sp>
        <p:nvSpPr>
          <p:cNvPr id="15" name="step:6"/>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
          <p:cNvSpPr txBox="1"/>
          <p:nvPr/>
        </p:nvSpPr>
        <p:spPr>
          <a:xfrm>
            <a:off x="960120" y="53797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Garbage-collect empty namespaces, opt-in</a:t>
            </a:r>
            <a:endParaRPr lang="en-US" sz="1700" dirty="0"/>
          </a:p>
        </p:txBody>
      </p:sp>
      <p:sp>
        <p:nvSpPr>
          <p:cNvPr id="17" name="Shape 14"/>
          <p:cNvSpPr/>
          <p:nvPr/>
        </p:nvSpPr>
        <p:spPr>
          <a:xfrm>
            <a:off x="8330184" y="2578151"/>
            <a:ext cx="899160" cy="0"/>
          </a:xfrm>
          <a:prstGeom prst="line">
            <a:avLst/>
          </a:prstGeom>
          <a:noFill/>
          <a:ln w="15875">
            <a:solidFill>
              <a:srgbClr val="98A2B3"/>
            </a:solidFill>
            <a:prstDash val="solid"/>
            <a:tailEnd type="triangle"/>
          </a:ln>
        </p:spPr>
      </p:sp>
      <p:sp>
        <p:nvSpPr>
          <p:cNvPr id="18" name="Shape 15"/>
          <p:cNvSpPr/>
          <p:nvPr/>
        </p:nvSpPr>
        <p:spPr>
          <a:xfrm flipH="1">
            <a:off x="7520940" y="2874874"/>
            <a:ext cx="2787396" cy="935126"/>
          </a:xfrm>
          <a:prstGeom prst="line">
            <a:avLst/>
          </a:prstGeom>
          <a:noFill/>
          <a:ln w="15875">
            <a:solidFill>
              <a:srgbClr val="98A2B3"/>
            </a:solidFill>
            <a:prstDash val="solid"/>
            <a:tailEnd type="triangle"/>
          </a:ln>
        </p:spPr>
      </p:sp>
      <p:sp>
        <p:nvSpPr>
          <p:cNvPr id="19" name="Shape 16"/>
          <p:cNvSpPr/>
          <p:nvPr/>
        </p:nvSpPr>
        <p:spPr>
          <a:xfrm flipH="1">
            <a:off x="10218420" y="2874874"/>
            <a:ext cx="89916" cy="935126"/>
          </a:xfrm>
          <a:prstGeom prst="line">
            <a:avLst/>
          </a:prstGeom>
          <a:noFill/>
          <a:ln w="15875">
            <a:solidFill>
              <a:srgbClr val="98A2B3"/>
            </a:solidFill>
            <a:prstDash val="solid"/>
            <a:tailEnd type="triangle"/>
          </a:ln>
        </p:spPr>
      </p:sp>
      <p:sp>
        <p:nvSpPr>
          <p:cNvPr id="20" name="Shape 17"/>
          <p:cNvSpPr/>
          <p:nvPr/>
        </p:nvSpPr>
        <p:spPr>
          <a:xfrm flipV="1">
            <a:off x="8869680" y="2874874"/>
            <a:ext cx="1438656" cy="2193950"/>
          </a:xfrm>
          <a:prstGeom prst="line">
            <a:avLst/>
          </a:prstGeom>
          <a:noFill/>
          <a:ln w="15875">
            <a:solidFill>
              <a:srgbClr val="98A2B3"/>
            </a:solidFill>
            <a:prstDash val="dash"/>
            <a:tailEnd type="triangle"/>
          </a:ln>
        </p:spPr>
      </p:sp>
      <p:sp>
        <p:nvSpPr>
          <p:cNvPr id="21" name="Shape 18"/>
          <p:cNvSpPr/>
          <p:nvPr/>
        </p:nvSpPr>
        <p:spPr>
          <a:xfrm>
            <a:off x="6352032" y="2281428"/>
            <a:ext cx="1978152" cy="593446"/>
          </a:xfrm>
          <a:prstGeom prst="roundRect">
            <a:avLst>
              <a:gd name="adj" fmla="val 12327"/>
            </a:avLst>
          </a:prstGeom>
          <a:solidFill>
            <a:srgbClr val="FFFFFF"/>
          </a:solidFill>
          <a:ln w="15875">
            <a:solidFill>
              <a:srgbClr val="0B7A75"/>
            </a:solidFill>
            <a:prstDash val="solid"/>
          </a:ln>
        </p:spPr>
      </p:sp>
      <p:sp>
        <p:nvSpPr>
          <p:cNvPr id="22" name="Text 19"/>
          <p:cNvSpPr txBox="1"/>
          <p:nvPr/>
        </p:nvSpPr>
        <p:spPr>
          <a:xfrm>
            <a:off x="6352032" y="2281428"/>
            <a:ext cx="1978152" cy="59344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API</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writes workloads only</a:t>
            </a:r>
            <a:endParaRPr lang="en-US" sz="1200" dirty="0"/>
          </a:p>
        </p:txBody>
      </p:sp>
      <p:sp>
        <p:nvSpPr>
          <p:cNvPr id="23" name="Shape 20"/>
          <p:cNvSpPr/>
          <p:nvPr/>
        </p:nvSpPr>
        <p:spPr>
          <a:xfrm>
            <a:off x="9229344" y="2281428"/>
            <a:ext cx="2157984" cy="593446"/>
          </a:xfrm>
          <a:prstGeom prst="roundRect">
            <a:avLst>
              <a:gd name="adj" fmla="val 12327"/>
            </a:avLst>
          </a:prstGeom>
          <a:solidFill>
            <a:srgbClr val="FFFFFF"/>
          </a:solidFill>
          <a:ln w="22225">
            <a:solidFill>
              <a:srgbClr val="E4572E"/>
            </a:solidFill>
            <a:prstDash val="solid"/>
          </a:ln>
        </p:spPr>
      </p:sp>
      <p:sp>
        <p:nvSpPr>
          <p:cNvPr id="24" name="Text 21"/>
          <p:cNvSpPr txBox="1"/>
          <p:nvPr/>
        </p:nvSpPr>
        <p:spPr>
          <a:xfrm>
            <a:off x="9229344" y="2281428"/>
            <a:ext cx="2157984" cy="59344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tenant controller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namespaces, RBAC, policies</a:t>
            </a:r>
            <a:endParaRPr lang="en-US" sz="1200" dirty="0"/>
          </a:p>
        </p:txBody>
      </p:sp>
      <p:sp>
        <p:nvSpPr>
          <p:cNvPr id="25" name="Shape 22"/>
          <p:cNvSpPr/>
          <p:nvPr/>
        </p:nvSpPr>
        <p:spPr>
          <a:xfrm>
            <a:off x="6352032" y="3810000"/>
            <a:ext cx="2337816" cy="809244"/>
          </a:xfrm>
          <a:prstGeom prst="roundRect">
            <a:avLst>
              <a:gd name="adj" fmla="val 9040"/>
            </a:avLst>
          </a:prstGeom>
          <a:solidFill>
            <a:srgbClr val="FFFFFF"/>
          </a:solidFill>
          <a:ln w="15875">
            <a:solidFill>
              <a:srgbClr val="0B7A75"/>
            </a:solidFill>
            <a:prstDash val="solid"/>
          </a:ln>
        </p:spPr>
      </p:sp>
      <p:sp>
        <p:nvSpPr>
          <p:cNvPr id="26" name="Text 23"/>
          <p:cNvSpPr txBox="1"/>
          <p:nvPr/>
        </p:nvSpPr>
        <p:spPr>
          <a:xfrm>
            <a:off x="6352032" y="3810000"/>
            <a:ext cx="2337816" cy="809244"/>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central</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{group}-serverless</a:t>
            </a:r>
            <a:endParaRPr lang="en-US" sz="1200" dirty="0"/>
          </a:p>
        </p:txBody>
      </p:sp>
      <p:sp>
        <p:nvSpPr>
          <p:cNvPr id="27" name="Shape 24"/>
          <p:cNvSpPr/>
          <p:nvPr/>
        </p:nvSpPr>
        <p:spPr>
          <a:xfrm>
            <a:off x="9049512" y="3810000"/>
            <a:ext cx="2337816" cy="809244"/>
          </a:xfrm>
          <a:prstGeom prst="roundRect">
            <a:avLst>
              <a:gd name="adj" fmla="val 9040"/>
            </a:avLst>
          </a:prstGeom>
          <a:solidFill>
            <a:srgbClr val="FFFFFF"/>
          </a:solidFill>
          <a:ln w="15875">
            <a:solidFill>
              <a:srgbClr val="0B7A75"/>
            </a:solidFill>
            <a:prstDash val="solid"/>
          </a:ln>
        </p:spPr>
      </p:sp>
      <p:sp>
        <p:nvSpPr>
          <p:cNvPr id="28" name="Text 25"/>
          <p:cNvSpPr txBox="1"/>
          <p:nvPr/>
        </p:nvSpPr>
        <p:spPr>
          <a:xfrm>
            <a:off x="9049512" y="3810000"/>
            <a:ext cx="2337816" cy="809244"/>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south</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{group}-serverless</a:t>
            </a:r>
            <a:endParaRPr lang="en-US" sz="1200" dirty="0"/>
          </a:p>
        </p:txBody>
      </p:sp>
      <p:sp>
        <p:nvSpPr>
          <p:cNvPr id="29" name="Shape 26"/>
          <p:cNvSpPr/>
          <p:nvPr/>
        </p:nvSpPr>
        <p:spPr>
          <a:xfrm>
            <a:off x="7071360" y="5068824"/>
            <a:ext cx="3596640" cy="503530"/>
          </a:xfrm>
          <a:prstGeom prst="roundRect">
            <a:avLst>
              <a:gd name="adj" fmla="val 14528"/>
            </a:avLst>
          </a:prstGeom>
          <a:solidFill>
            <a:srgbClr val="FFFFFF"/>
          </a:solidFill>
          <a:ln w="15875">
            <a:solidFill>
              <a:srgbClr val="0B7A75"/>
            </a:solidFill>
            <a:prstDash val="solid"/>
          </a:ln>
        </p:spPr>
      </p:sp>
      <p:sp>
        <p:nvSpPr>
          <p:cNvPr id="30" name="Text 27"/>
          <p:cNvSpPr txBox="1"/>
          <p:nvPr/>
        </p:nvSpPr>
        <p:spPr>
          <a:xfrm>
            <a:off x="7071360" y="5068824"/>
            <a:ext cx="3596640" cy="503530"/>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template set</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{{namespace}} {{group}} {{region}} {{registry}}</a:t>
            </a:r>
            <a:endParaRPr lang="en-US" sz="1200" dirty="0"/>
          </a:p>
        </p:txBody>
      </p:sp>
      <p:sp>
        <p:nvSpPr>
          <p:cNvPr id="31" name="Text 28"/>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13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par>
                    <p:cTn id="49" fill="hold">
                      <p:stCondLst>
                        <p:cond delay="indefinite"/>
                      </p:stCondLst>
                      <p:childTnLst>
                        <p:par>
                          <p:cTn id="50"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0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4572E"/>
        </a:solidFill>
      </p:bgPr>
    </p:bg>
    <p:spTree>
      <p:nvGrpSpPr>
        <p:cNvPr id="1" name=""/>
        <p:cNvGrpSpPr/>
        <p:nvPr/>
      </p:nvGrpSpPr>
      <p:grpSpPr>
        <a:xfrm>
          <a:off x="0" y="0"/>
          <a:ext cx="0" cy="0"/>
          <a:chOff x="0" y="0"/>
          <a:chExt cx="0" cy="0"/>
        </a:xfrm>
      </p:grpSpPr>
      <p:sp>
        <p:nvSpPr>
          <p:cNvPr id="2" name="Text 0"/>
          <p:cNvSpPr txBox="1"/>
          <p:nvPr/>
        </p:nvSpPr>
        <p:spPr>
          <a:xfrm>
            <a:off x="640080" y="2194560"/>
            <a:ext cx="10515600" cy="1463040"/>
          </a:xfrm>
          <a:prstGeom prst="rect">
            <a:avLst/>
          </a:prstGeom>
          <a:noFill/>
          <a:ln/>
        </p:spPr>
        <p:txBody>
          <a:bodyPr wrap="square" lIns="0" tIns="0" rIns="0" bIns="0" rtlCol="0" anchor="ctr"/>
          <a:lstStyle/>
          <a:p>
            <a:pPr indent="0" marL="0">
              <a:buNone/>
            </a:pPr>
            <a:r>
              <a:rPr lang="en-US" sz="6400" b="1" dirty="0">
                <a:solidFill>
                  <a:srgbClr val="FFFFFF"/>
                </a:solidFill>
                <a:latin typeface="Century Schoolbook" pitchFamily="34" charset="0"/>
                <a:ea typeface="Century Schoolbook" pitchFamily="34" charset="-122"/>
                <a:cs typeface="Century Schoolbook" pitchFamily="34" charset="-120"/>
              </a:rPr>
              <a:t>Functions &amp; builds</a:t>
            </a:r>
            <a:endParaRPr lang="en-US" sz="6400" dirty="0"/>
          </a:p>
        </p:txBody>
      </p:sp>
      <p:sp>
        <p:nvSpPr>
          <p:cNvPr id="3" name="Text 1"/>
          <p:cNvSpPr txBox="1"/>
          <p:nvPr/>
        </p:nvSpPr>
        <p:spPr>
          <a:xfrm>
            <a:off x="640080" y="3749040"/>
            <a:ext cx="9144000" cy="548640"/>
          </a:xfrm>
          <a:prstGeom prst="rect">
            <a:avLst/>
          </a:prstGeom>
          <a:noFill/>
          <a:ln/>
        </p:spPr>
        <p:txBody>
          <a:bodyPr wrap="square" lIns="0" tIns="0" rIns="0" bIns="0" rtlCol="0" anchor="ctr"/>
          <a:lstStyle/>
          <a:p>
            <a:pPr indent="0" marL="0">
              <a:buNone/>
            </a:pPr>
            <a:r>
              <a:rPr lang="en-US" sz="2200" i="1" dirty="0">
                <a:solidFill>
                  <a:srgbClr val="FFFFFF"/>
                </a:solidFill>
                <a:latin typeface="Century Schoolbook" pitchFamily="34" charset="0"/>
                <a:ea typeface="Century Schoolbook" pitchFamily="34" charset="-122"/>
                <a:cs typeface="Century Schoolbook" pitchFamily="34" charset="-120"/>
              </a:rPr>
              <a:t>'Here is my repo' hides a build.</a:t>
            </a:r>
            <a:endParaRPr lang="en-US" sz="2200" dirty="0"/>
          </a:p>
        </p:txBody>
      </p:sp>
      <p:sp>
        <p:nvSpPr>
          <p:cNvPr id="4" name="Text 2"/>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14 / 23</a:t>
            </a:r>
            <a:endParaRPr lang="en-US" sz="10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Why functions are different</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Container: run this image</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Function: here is my repository</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 build takes minutes, not milliseconds</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 build is retried and logged</a:t>
            </a:r>
            <a:endParaRPr lang="en-US" sz="1900" dirty="0"/>
          </a:p>
        </p:txBody>
      </p:sp>
      <p:sp>
        <p:nvSpPr>
          <p:cNvPr id="13" name="step:5"/>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Rebuilds fire on CVE patches, unasked</a:t>
            </a:r>
            <a:endParaRPr lang="en-US" sz="1900" dirty="0"/>
          </a:p>
        </p:txBody>
      </p:sp>
      <p:sp>
        <p:nvSpPr>
          <p:cNvPr id="15" name="Shape 12"/>
          <p:cNvSpPr/>
          <p:nvPr/>
        </p:nvSpPr>
        <p:spPr>
          <a:xfrm>
            <a:off x="7880604" y="2551176"/>
            <a:ext cx="1888236" cy="0"/>
          </a:xfrm>
          <a:prstGeom prst="line">
            <a:avLst/>
          </a:prstGeom>
          <a:noFill/>
          <a:ln w="15875">
            <a:solidFill>
              <a:srgbClr val="98A2B3"/>
            </a:solidFill>
            <a:prstDash val="solid"/>
            <a:tailEnd type="triangle"/>
          </a:ln>
        </p:spPr>
      </p:sp>
      <p:sp>
        <p:nvSpPr>
          <p:cNvPr id="16" name="Shape 13"/>
          <p:cNvSpPr/>
          <p:nvPr/>
        </p:nvSpPr>
        <p:spPr>
          <a:xfrm>
            <a:off x="7880604" y="3989832"/>
            <a:ext cx="224790" cy="0"/>
          </a:xfrm>
          <a:prstGeom prst="line">
            <a:avLst/>
          </a:prstGeom>
          <a:noFill/>
          <a:ln w="15875">
            <a:solidFill>
              <a:srgbClr val="98A2B3"/>
            </a:solidFill>
            <a:prstDash val="solid"/>
            <a:tailEnd type="triangle"/>
          </a:ln>
        </p:spPr>
      </p:sp>
      <p:sp>
        <p:nvSpPr>
          <p:cNvPr id="17" name="Shape 14"/>
          <p:cNvSpPr/>
          <p:nvPr/>
        </p:nvSpPr>
        <p:spPr>
          <a:xfrm>
            <a:off x="9633966" y="3989832"/>
            <a:ext cx="134874" cy="0"/>
          </a:xfrm>
          <a:prstGeom prst="line">
            <a:avLst/>
          </a:prstGeom>
          <a:noFill/>
          <a:ln w="15875">
            <a:solidFill>
              <a:srgbClr val="98A2B3"/>
            </a:solidFill>
            <a:prstDash val="solid"/>
            <a:tailEnd type="triangle"/>
          </a:ln>
        </p:spPr>
      </p:sp>
      <p:sp>
        <p:nvSpPr>
          <p:cNvPr id="18" name="Shape 15"/>
          <p:cNvSpPr/>
          <p:nvPr/>
        </p:nvSpPr>
        <p:spPr>
          <a:xfrm flipV="1">
            <a:off x="8869680" y="4259580"/>
            <a:ext cx="0" cy="719328"/>
          </a:xfrm>
          <a:prstGeom prst="line">
            <a:avLst/>
          </a:prstGeom>
          <a:noFill/>
          <a:ln w="15875">
            <a:solidFill>
              <a:srgbClr val="98A2B3"/>
            </a:solidFill>
            <a:prstDash val="dash"/>
            <a:tailEnd type="triangle"/>
          </a:ln>
        </p:spPr>
      </p:sp>
      <p:sp>
        <p:nvSpPr>
          <p:cNvPr id="19" name="Shape 16"/>
          <p:cNvSpPr/>
          <p:nvPr/>
        </p:nvSpPr>
        <p:spPr>
          <a:xfrm>
            <a:off x="6352032" y="2281428"/>
            <a:ext cx="1528572" cy="539496"/>
          </a:xfrm>
          <a:prstGeom prst="roundRect">
            <a:avLst>
              <a:gd name="adj" fmla="val 13559"/>
            </a:avLst>
          </a:prstGeom>
          <a:solidFill>
            <a:srgbClr val="FFFFFF"/>
          </a:solidFill>
          <a:ln w="15875">
            <a:solidFill>
              <a:srgbClr val="0B7A75"/>
            </a:solidFill>
            <a:prstDash val="solid"/>
          </a:ln>
        </p:spPr>
      </p:sp>
      <p:sp>
        <p:nvSpPr>
          <p:cNvPr id="20" name="Text 17"/>
          <p:cNvSpPr txBox="1"/>
          <p:nvPr/>
        </p:nvSpPr>
        <p:spPr>
          <a:xfrm>
            <a:off x="6352032" y="2281428"/>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image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container</a:t>
            </a:r>
            <a:endParaRPr lang="en-US" sz="1200" dirty="0"/>
          </a:p>
        </p:txBody>
      </p:sp>
      <p:sp>
        <p:nvSpPr>
          <p:cNvPr id="21" name="Shape 18"/>
          <p:cNvSpPr/>
          <p:nvPr/>
        </p:nvSpPr>
        <p:spPr>
          <a:xfrm>
            <a:off x="9768840" y="2281428"/>
            <a:ext cx="1618488" cy="539496"/>
          </a:xfrm>
          <a:prstGeom prst="roundRect">
            <a:avLst>
              <a:gd name="adj" fmla="val 13559"/>
            </a:avLst>
          </a:prstGeom>
          <a:solidFill>
            <a:srgbClr val="FFFFFF"/>
          </a:solidFill>
          <a:ln w="15875">
            <a:solidFill>
              <a:srgbClr val="0B7A75"/>
            </a:solidFill>
            <a:prstDash val="solid"/>
          </a:ln>
        </p:spPr>
      </p:sp>
      <p:sp>
        <p:nvSpPr>
          <p:cNvPr id="22" name="Text 19"/>
          <p:cNvSpPr txBox="1"/>
          <p:nvPr/>
        </p:nvSpPr>
        <p:spPr>
          <a:xfrm>
            <a:off x="9768840" y="2281428"/>
            <a:ext cx="1618488"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ready</a:t>
            </a:r>
            <a:endParaRPr lang="en-US" sz="1200" dirty="0"/>
          </a:p>
        </p:txBody>
      </p:sp>
      <p:sp>
        <p:nvSpPr>
          <p:cNvPr id="23" name="Shape 20"/>
          <p:cNvSpPr/>
          <p:nvPr/>
        </p:nvSpPr>
        <p:spPr>
          <a:xfrm>
            <a:off x="6352032" y="3720084"/>
            <a:ext cx="1528572" cy="539496"/>
          </a:xfrm>
          <a:prstGeom prst="roundRect">
            <a:avLst>
              <a:gd name="adj" fmla="val 13559"/>
            </a:avLst>
          </a:prstGeom>
          <a:solidFill>
            <a:srgbClr val="FFFFFF"/>
          </a:solidFill>
          <a:ln w="22225">
            <a:solidFill>
              <a:srgbClr val="E4572E"/>
            </a:solidFill>
            <a:prstDash val="solid"/>
          </a:ln>
        </p:spPr>
      </p:sp>
      <p:sp>
        <p:nvSpPr>
          <p:cNvPr id="24" name="Text 21"/>
          <p:cNvSpPr txBox="1"/>
          <p:nvPr/>
        </p:nvSpPr>
        <p:spPr>
          <a:xfrm>
            <a:off x="6352032" y="3720084"/>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git repo</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function</a:t>
            </a:r>
            <a:endParaRPr lang="en-US" sz="1200" dirty="0"/>
          </a:p>
        </p:txBody>
      </p:sp>
      <p:sp>
        <p:nvSpPr>
          <p:cNvPr id="25" name="Shape 22"/>
          <p:cNvSpPr/>
          <p:nvPr/>
        </p:nvSpPr>
        <p:spPr>
          <a:xfrm>
            <a:off x="8105394" y="3720084"/>
            <a:ext cx="1528572" cy="539496"/>
          </a:xfrm>
          <a:prstGeom prst="roundRect">
            <a:avLst>
              <a:gd name="adj" fmla="val 13559"/>
            </a:avLst>
          </a:prstGeom>
          <a:solidFill>
            <a:srgbClr val="FFFFFF"/>
          </a:solidFill>
          <a:ln w="15875">
            <a:solidFill>
              <a:srgbClr val="0B7A75"/>
            </a:solidFill>
            <a:prstDash val="solid"/>
          </a:ln>
        </p:spPr>
      </p:sp>
      <p:sp>
        <p:nvSpPr>
          <p:cNvPr id="26" name="Text 23"/>
          <p:cNvSpPr txBox="1"/>
          <p:nvPr/>
        </p:nvSpPr>
        <p:spPr>
          <a:xfrm>
            <a:off x="8105394" y="3720084"/>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kpack build</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minutes</a:t>
            </a:r>
            <a:endParaRPr lang="en-US" sz="1200" dirty="0"/>
          </a:p>
        </p:txBody>
      </p:sp>
      <p:sp>
        <p:nvSpPr>
          <p:cNvPr id="27" name="Shape 24"/>
          <p:cNvSpPr/>
          <p:nvPr/>
        </p:nvSpPr>
        <p:spPr>
          <a:xfrm>
            <a:off x="9768840" y="3720084"/>
            <a:ext cx="1618488" cy="539496"/>
          </a:xfrm>
          <a:prstGeom prst="roundRect">
            <a:avLst>
              <a:gd name="adj" fmla="val 13559"/>
            </a:avLst>
          </a:prstGeom>
          <a:solidFill>
            <a:srgbClr val="FFFFFF"/>
          </a:solidFill>
          <a:ln w="15875">
            <a:solidFill>
              <a:srgbClr val="0B7A75"/>
            </a:solidFill>
            <a:prstDash val="solid"/>
          </a:ln>
        </p:spPr>
      </p:sp>
      <p:sp>
        <p:nvSpPr>
          <p:cNvPr id="28" name="Text 25"/>
          <p:cNvSpPr txBox="1"/>
          <p:nvPr/>
        </p:nvSpPr>
        <p:spPr>
          <a:xfrm>
            <a:off x="9768840" y="3720084"/>
            <a:ext cx="1618488"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digest rolled in</a:t>
            </a:r>
            <a:endParaRPr lang="en-US" sz="1200" dirty="0"/>
          </a:p>
        </p:txBody>
      </p:sp>
      <p:sp>
        <p:nvSpPr>
          <p:cNvPr id="29" name="Shape 26"/>
          <p:cNvSpPr/>
          <p:nvPr/>
        </p:nvSpPr>
        <p:spPr>
          <a:xfrm>
            <a:off x="8105394" y="4978908"/>
            <a:ext cx="1528572" cy="539496"/>
          </a:xfrm>
          <a:prstGeom prst="roundRect">
            <a:avLst>
              <a:gd name="adj" fmla="val 13559"/>
            </a:avLst>
          </a:prstGeom>
          <a:solidFill>
            <a:srgbClr val="FFFFFF"/>
          </a:solidFill>
          <a:ln w="22225">
            <a:solidFill>
              <a:srgbClr val="E4572E"/>
            </a:solidFill>
            <a:prstDash val="solid"/>
          </a:ln>
        </p:spPr>
      </p:sp>
      <p:sp>
        <p:nvSpPr>
          <p:cNvPr id="30" name="Text 27"/>
          <p:cNvSpPr txBox="1"/>
          <p:nvPr/>
        </p:nvSpPr>
        <p:spPr>
          <a:xfrm>
            <a:off x="8105394" y="4978908"/>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CVE patch</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rebuilds everything</a:t>
            </a:r>
            <a:endParaRPr lang="en-US" sz="1200" dirty="0"/>
          </a:p>
        </p:txBody>
      </p:sp>
      <p:sp>
        <p:nvSpPr>
          <p:cNvPr id="31" name="Text 28"/>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15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Buildpacks and kpack</a:t>
            </a:r>
            <a:endParaRPr lang="en-US" sz="3800" dirty="0"/>
          </a:p>
        </p:txBody>
      </p:sp>
      <p:sp>
        <p:nvSpPr>
          <p:cNvPr id="5" name="step:1"/>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No Dockerfile, buildpacks detect the language</a:t>
            </a:r>
            <a:endParaRPr lang="en-US" sz="1700" dirty="0"/>
          </a:p>
        </p:txBody>
      </p:sp>
      <p:sp>
        <p:nvSpPr>
          <p:cNvPr id="7" name="step:2"/>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5844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Rebase: patch the base without rebuilding</a:t>
            </a:r>
            <a:endParaRPr lang="en-US" sz="1700" dirty="0"/>
          </a:p>
        </p:txBody>
      </p:sp>
      <p:sp>
        <p:nvSpPr>
          <p:cNvPr id="9" name="step:3"/>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376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kpack: Image, Build, Pod</a:t>
            </a:r>
            <a:endParaRPr lang="en-US" sz="1700" dirty="0"/>
          </a:p>
        </p:txBody>
      </p:sp>
      <p:sp>
        <p:nvSpPr>
          <p:cNvPr id="11" name="step:4"/>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6908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Our kpack repo is a Helm chart</a:t>
            </a:r>
            <a:endParaRPr lang="en-US" sz="1700" dirty="0"/>
          </a:p>
        </p:txBody>
      </p:sp>
      <p:sp>
        <p:nvSpPr>
          <p:cNvPr id="13" name="step:5"/>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2440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Airgap mirror scripts included</a:t>
            </a:r>
            <a:endParaRPr lang="en-US" sz="1700" dirty="0"/>
          </a:p>
        </p:txBody>
      </p:sp>
      <p:sp>
        <p:nvSpPr>
          <p:cNvPr id="15" name="step:6"/>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
          <p:cNvSpPr txBox="1"/>
          <p:nvPr/>
        </p:nvSpPr>
        <p:spPr>
          <a:xfrm>
            <a:off x="960120" y="53797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ClusterBuilders: go, python, node</a:t>
            </a:r>
            <a:endParaRPr lang="en-US" sz="1700" dirty="0"/>
          </a:p>
        </p:txBody>
      </p:sp>
      <p:sp>
        <p:nvSpPr>
          <p:cNvPr id="17" name="Shape 14"/>
          <p:cNvSpPr/>
          <p:nvPr/>
        </p:nvSpPr>
        <p:spPr>
          <a:xfrm>
            <a:off x="7880604" y="2461260"/>
            <a:ext cx="539496" cy="899160"/>
          </a:xfrm>
          <a:prstGeom prst="line">
            <a:avLst/>
          </a:prstGeom>
          <a:noFill/>
          <a:ln w="15875">
            <a:solidFill>
              <a:srgbClr val="98A2B3"/>
            </a:solidFill>
            <a:prstDash val="solid"/>
            <a:tailEnd type="triangle"/>
          </a:ln>
        </p:spPr>
      </p:sp>
      <p:sp>
        <p:nvSpPr>
          <p:cNvPr id="18" name="Shape 15"/>
          <p:cNvSpPr/>
          <p:nvPr/>
        </p:nvSpPr>
        <p:spPr>
          <a:xfrm>
            <a:off x="7880604" y="3360420"/>
            <a:ext cx="539496" cy="0"/>
          </a:xfrm>
          <a:prstGeom prst="line">
            <a:avLst/>
          </a:prstGeom>
          <a:noFill/>
          <a:ln w="15875">
            <a:solidFill>
              <a:srgbClr val="98A2B3"/>
            </a:solidFill>
            <a:prstDash val="solid"/>
            <a:tailEnd type="triangle"/>
          </a:ln>
        </p:spPr>
      </p:sp>
      <p:sp>
        <p:nvSpPr>
          <p:cNvPr id="19" name="Shape 16"/>
          <p:cNvSpPr/>
          <p:nvPr/>
        </p:nvSpPr>
        <p:spPr>
          <a:xfrm flipV="1">
            <a:off x="7880604" y="3360420"/>
            <a:ext cx="539496" cy="899160"/>
          </a:xfrm>
          <a:prstGeom prst="line">
            <a:avLst/>
          </a:prstGeom>
          <a:noFill/>
          <a:ln w="15875">
            <a:solidFill>
              <a:srgbClr val="98A2B3"/>
            </a:solidFill>
            <a:prstDash val="solid"/>
            <a:tailEnd type="triangle"/>
          </a:ln>
        </p:spPr>
      </p:sp>
      <p:sp>
        <p:nvSpPr>
          <p:cNvPr id="20" name="Shape 17"/>
          <p:cNvSpPr/>
          <p:nvPr/>
        </p:nvSpPr>
        <p:spPr>
          <a:xfrm>
            <a:off x="9274302" y="3630168"/>
            <a:ext cx="0" cy="1078992"/>
          </a:xfrm>
          <a:prstGeom prst="line">
            <a:avLst/>
          </a:prstGeom>
          <a:noFill/>
          <a:ln w="15875">
            <a:solidFill>
              <a:srgbClr val="98A2B3"/>
            </a:solidFill>
            <a:prstDash val="solid"/>
            <a:tailEnd type="triangle"/>
          </a:ln>
        </p:spPr>
      </p:sp>
      <p:sp>
        <p:nvSpPr>
          <p:cNvPr id="21" name="Shape 18"/>
          <p:cNvSpPr/>
          <p:nvPr/>
        </p:nvSpPr>
        <p:spPr>
          <a:xfrm>
            <a:off x="6352032" y="2191512"/>
            <a:ext cx="1528572" cy="539496"/>
          </a:xfrm>
          <a:prstGeom prst="roundRect">
            <a:avLst>
              <a:gd name="adj" fmla="val 13559"/>
            </a:avLst>
          </a:prstGeom>
          <a:solidFill>
            <a:srgbClr val="FFFFFF"/>
          </a:solidFill>
          <a:ln w="15875">
            <a:solidFill>
              <a:srgbClr val="0B7A75"/>
            </a:solidFill>
            <a:prstDash val="solid"/>
          </a:ln>
        </p:spPr>
      </p:sp>
      <p:sp>
        <p:nvSpPr>
          <p:cNvPr id="22" name="Text 19"/>
          <p:cNvSpPr txBox="1"/>
          <p:nvPr/>
        </p:nvSpPr>
        <p:spPr>
          <a:xfrm>
            <a:off x="6352032" y="2191512"/>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ClusterStack</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base images</a:t>
            </a:r>
            <a:endParaRPr lang="en-US" sz="1200" dirty="0"/>
          </a:p>
        </p:txBody>
      </p:sp>
      <p:sp>
        <p:nvSpPr>
          <p:cNvPr id="23" name="Shape 20"/>
          <p:cNvSpPr/>
          <p:nvPr/>
        </p:nvSpPr>
        <p:spPr>
          <a:xfrm>
            <a:off x="6352032" y="3090672"/>
            <a:ext cx="1528572" cy="539496"/>
          </a:xfrm>
          <a:prstGeom prst="roundRect">
            <a:avLst>
              <a:gd name="adj" fmla="val 13559"/>
            </a:avLst>
          </a:prstGeom>
          <a:solidFill>
            <a:srgbClr val="FFFFFF"/>
          </a:solidFill>
          <a:ln w="15875">
            <a:solidFill>
              <a:srgbClr val="0B7A75"/>
            </a:solidFill>
            <a:prstDash val="solid"/>
          </a:ln>
        </p:spPr>
      </p:sp>
      <p:sp>
        <p:nvSpPr>
          <p:cNvPr id="24" name="Text 21"/>
          <p:cNvSpPr txBox="1"/>
          <p:nvPr/>
        </p:nvSpPr>
        <p:spPr>
          <a:xfrm>
            <a:off x="6352032" y="3090672"/>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ClusterStore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buildpackages</a:t>
            </a:r>
            <a:endParaRPr lang="en-US" sz="1200" dirty="0"/>
          </a:p>
        </p:txBody>
      </p:sp>
      <p:sp>
        <p:nvSpPr>
          <p:cNvPr id="25" name="Shape 22"/>
          <p:cNvSpPr/>
          <p:nvPr/>
        </p:nvSpPr>
        <p:spPr>
          <a:xfrm>
            <a:off x="6352032" y="3989832"/>
            <a:ext cx="1528572" cy="539496"/>
          </a:xfrm>
          <a:prstGeom prst="roundRect">
            <a:avLst>
              <a:gd name="adj" fmla="val 13559"/>
            </a:avLst>
          </a:prstGeom>
          <a:solidFill>
            <a:srgbClr val="FFFFFF"/>
          </a:solidFill>
          <a:ln w="15875">
            <a:solidFill>
              <a:srgbClr val="0B7A75"/>
            </a:solidFill>
            <a:prstDash val="solid"/>
          </a:ln>
        </p:spPr>
      </p:sp>
      <p:sp>
        <p:nvSpPr>
          <p:cNvPr id="26" name="Text 23"/>
          <p:cNvSpPr txBox="1"/>
          <p:nvPr/>
        </p:nvSpPr>
        <p:spPr>
          <a:xfrm>
            <a:off x="6352032" y="3989832"/>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order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component list</a:t>
            </a:r>
            <a:endParaRPr lang="en-US" sz="1200" dirty="0"/>
          </a:p>
        </p:txBody>
      </p:sp>
      <p:sp>
        <p:nvSpPr>
          <p:cNvPr id="27" name="Shape 24"/>
          <p:cNvSpPr/>
          <p:nvPr/>
        </p:nvSpPr>
        <p:spPr>
          <a:xfrm>
            <a:off x="8420100" y="3090672"/>
            <a:ext cx="1708404" cy="539496"/>
          </a:xfrm>
          <a:prstGeom prst="roundRect">
            <a:avLst>
              <a:gd name="adj" fmla="val 13559"/>
            </a:avLst>
          </a:prstGeom>
          <a:solidFill>
            <a:srgbClr val="FFFFFF"/>
          </a:solidFill>
          <a:ln w="22225">
            <a:solidFill>
              <a:srgbClr val="E4572E"/>
            </a:solidFill>
            <a:prstDash val="solid"/>
          </a:ln>
        </p:spPr>
      </p:sp>
      <p:sp>
        <p:nvSpPr>
          <p:cNvPr id="28" name="Text 25"/>
          <p:cNvSpPr txBox="1"/>
          <p:nvPr/>
        </p:nvSpPr>
        <p:spPr>
          <a:xfrm>
            <a:off x="8420100" y="3090672"/>
            <a:ext cx="1708404"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ClusterBuilder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go · python · node</a:t>
            </a:r>
            <a:endParaRPr lang="en-US" sz="1200" dirty="0"/>
          </a:p>
        </p:txBody>
      </p:sp>
      <p:sp>
        <p:nvSpPr>
          <p:cNvPr id="29" name="Shape 26"/>
          <p:cNvSpPr/>
          <p:nvPr/>
        </p:nvSpPr>
        <p:spPr>
          <a:xfrm>
            <a:off x="8420100" y="4709160"/>
            <a:ext cx="1708404" cy="539496"/>
          </a:xfrm>
          <a:prstGeom prst="roundRect">
            <a:avLst>
              <a:gd name="adj" fmla="val 13559"/>
            </a:avLst>
          </a:prstGeom>
          <a:solidFill>
            <a:srgbClr val="FFFFFF"/>
          </a:solidFill>
          <a:ln w="15875">
            <a:solidFill>
              <a:srgbClr val="0B7A75"/>
            </a:solidFill>
            <a:prstDash val="solid"/>
          </a:ln>
        </p:spPr>
      </p:sp>
      <p:sp>
        <p:nvSpPr>
          <p:cNvPr id="30" name="Text 27"/>
          <p:cNvSpPr txBox="1"/>
          <p:nvPr/>
        </p:nvSpPr>
        <p:spPr>
          <a:xfrm>
            <a:off x="8420100" y="4709160"/>
            <a:ext cx="1708404"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Image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declared by the API</a:t>
            </a:r>
            <a:endParaRPr lang="en-US" sz="1200" dirty="0"/>
          </a:p>
        </p:txBody>
      </p:sp>
      <p:sp>
        <p:nvSpPr>
          <p:cNvPr id="31" name="Shape 28"/>
          <p:cNvSpPr/>
          <p:nvPr/>
        </p:nvSpPr>
        <p:spPr>
          <a:xfrm>
            <a:off x="10398252" y="2191512"/>
            <a:ext cx="989076" cy="2337816"/>
          </a:xfrm>
          <a:prstGeom prst="roundRect">
            <a:avLst>
              <a:gd name="adj" fmla="val 7396"/>
            </a:avLst>
          </a:prstGeom>
          <a:solidFill>
            <a:srgbClr val="FFFFFF"/>
          </a:solidFill>
          <a:ln w="15875">
            <a:solidFill>
              <a:srgbClr val="0B7A75"/>
            </a:solidFill>
            <a:prstDash val="solid"/>
          </a:ln>
        </p:spPr>
      </p:sp>
      <p:sp>
        <p:nvSpPr>
          <p:cNvPr id="32" name="Text 29"/>
          <p:cNvSpPr txBox="1"/>
          <p:nvPr/>
        </p:nvSpPr>
        <p:spPr>
          <a:xfrm>
            <a:off x="10398252" y="2191512"/>
            <a:ext cx="989076" cy="233781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kpack chart</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mirror-once content</a:t>
            </a:r>
            <a:endParaRPr lang="en-US" sz="1200" dirty="0"/>
          </a:p>
        </p:txBody>
      </p:sp>
      <p:sp>
        <p:nvSpPr>
          <p:cNvPr id="33" name="Text 30"/>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16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par>
                    <p:cTn id="49" fill="hold">
                      <p:stCondLst>
                        <p:cond delay="indefinite"/>
                      </p:stCondLst>
                      <p:childTnLst>
                        <p:par>
                          <p:cTn id="50"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0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 build, step by step</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Image → SourceResolver → Build → Pod</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Each phase is its own container</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Each phase has its own log</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Pushed to this region's registry</a:t>
            </a:r>
            <a:endParaRPr lang="en-US" sz="1900" dirty="0"/>
          </a:p>
        </p:txBody>
      </p:sp>
      <p:sp>
        <p:nvSpPr>
          <p:cNvPr id="13" name="step:5"/>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Five triggers; two need nobody</a:t>
            </a:r>
            <a:endParaRPr lang="en-US" sz="1900" dirty="0"/>
          </a:p>
        </p:txBody>
      </p:sp>
      <p:sp>
        <p:nvSpPr>
          <p:cNvPr id="15" name="Shape 12"/>
          <p:cNvSpPr/>
          <p:nvPr/>
        </p:nvSpPr>
        <p:spPr>
          <a:xfrm>
            <a:off x="6172200" y="2286000"/>
            <a:ext cx="1243584" cy="868680"/>
          </a:xfrm>
          <a:prstGeom prst="roundRect">
            <a:avLst>
              <a:gd name="adj" fmla="val 8421"/>
            </a:avLst>
          </a:prstGeom>
          <a:solidFill>
            <a:srgbClr val="FFFFFF"/>
          </a:solidFill>
          <a:ln w="15875">
            <a:solidFill>
              <a:srgbClr val="0B7A75"/>
            </a:solidFill>
            <a:prstDash val="solid"/>
          </a:ln>
        </p:spPr>
      </p:sp>
      <p:sp>
        <p:nvSpPr>
          <p:cNvPr id="16" name="Text 13"/>
          <p:cNvSpPr txBox="1"/>
          <p:nvPr/>
        </p:nvSpPr>
        <p:spPr>
          <a:xfrm>
            <a:off x="7050024"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1</a:t>
            </a:r>
            <a:endParaRPr lang="en-US" sz="850" dirty="0"/>
          </a:p>
        </p:txBody>
      </p:sp>
      <p:sp>
        <p:nvSpPr>
          <p:cNvPr id="17" name="Text 14"/>
          <p:cNvSpPr txBox="1"/>
          <p:nvPr/>
        </p:nvSpPr>
        <p:spPr>
          <a:xfrm>
            <a:off x="6281928"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prepare</a:t>
            </a:r>
            <a:endParaRPr lang="en-US" sz="1200" dirty="0"/>
          </a:p>
        </p:txBody>
      </p:sp>
      <p:sp>
        <p:nvSpPr>
          <p:cNvPr id="18" name="Text 15"/>
          <p:cNvSpPr txBox="1"/>
          <p:nvPr/>
        </p:nvSpPr>
        <p:spPr>
          <a:xfrm>
            <a:off x="6281928" y="276148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git clone</a:t>
            </a:r>
            <a:endParaRPr lang="en-US" sz="950" dirty="0"/>
          </a:p>
        </p:txBody>
      </p:sp>
      <p:sp>
        <p:nvSpPr>
          <p:cNvPr id="19" name="Shape 16"/>
          <p:cNvSpPr/>
          <p:nvPr/>
        </p:nvSpPr>
        <p:spPr>
          <a:xfrm>
            <a:off x="7552944" y="2286000"/>
            <a:ext cx="1243584" cy="868680"/>
          </a:xfrm>
          <a:prstGeom prst="roundRect">
            <a:avLst>
              <a:gd name="adj" fmla="val 8421"/>
            </a:avLst>
          </a:prstGeom>
          <a:solidFill>
            <a:srgbClr val="FFFFFF"/>
          </a:solidFill>
          <a:ln w="15875">
            <a:solidFill>
              <a:srgbClr val="0B7A75"/>
            </a:solidFill>
            <a:prstDash val="solid"/>
          </a:ln>
        </p:spPr>
      </p:sp>
      <p:sp>
        <p:nvSpPr>
          <p:cNvPr id="20" name="Text 17"/>
          <p:cNvSpPr txBox="1"/>
          <p:nvPr/>
        </p:nvSpPr>
        <p:spPr>
          <a:xfrm>
            <a:off x="8430768"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2</a:t>
            </a:r>
            <a:endParaRPr lang="en-US" sz="850" dirty="0"/>
          </a:p>
        </p:txBody>
      </p:sp>
      <p:sp>
        <p:nvSpPr>
          <p:cNvPr id="21" name="Text 18"/>
          <p:cNvSpPr txBox="1"/>
          <p:nvPr/>
        </p:nvSpPr>
        <p:spPr>
          <a:xfrm>
            <a:off x="7662672"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analyze</a:t>
            </a:r>
            <a:endParaRPr lang="en-US" sz="1200" dirty="0"/>
          </a:p>
        </p:txBody>
      </p:sp>
      <p:sp>
        <p:nvSpPr>
          <p:cNvPr id="22" name="Text 19"/>
          <p:cNvSpPr txBox="1"/>
          <p:nvPr/>
        </p:nvSpPr>
        <p:spPr>
          <a:xfrm>
            <a:off x="7662672" y="276148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previous image</a:t>
            </a:r>
            <a:endParaRPr lang="en-US" sz="950" dirty="0"/>
          </a:p>
        </p:txBody>
      </p:sp>
      <p:sp>
        <p:nvSpPr>
          <p:cNvPr id="23" name="Shape 20"/>
          <p:cNvSpPr/>
          <p:nvPr/>
        </p:nvSpPr>
        <p:spPr>
          <a:xfrm>
            <a:off x="8933688" y="2286000"/>
            <a:ext cx="1243584" cy="868680"/>
          </a:xfrm>
          <a:prstGeom prst="roundRect">
            <a:avLst>
              <a:gd name="adj" fmla="val 8421"/>
            </a:avLst>
          </a:prstGeom>
          <a:solidFill>
            <a:srgbClr val="FFFFFF"/>
          </a:solidFill>
          <a:ln w="15875">
            <a:solidFill>
              <a:srgbClr val="0B7A75"/>
            </a:solidFill>
            <a:prstDash val="solid"/>
          </a:ln>
        </p:spPr>
      </p:sp>
      <p:sp>
        <p:nvSpPr>
          <p:cNvPr id="24" name="Text 21"/>
          <p:cNvSpPr txBox="1"/>
          <p:nvPr/>
        </p:nvSpPr>
        <p:spPr>
          <a:xfrm>
            <a:off x="9811512"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3</a:t>
            </a:r>
            <a:endParaRPr lang="en-US" sz="850" dirty="0"/>
          </a:p>
        </p:txBody>
      </p:sp>
      <p:sp>
        <p:nvSpPr>
          <p:cNvPr id="25" name="Text 22"/>
          <p:cNvSpPr txBox="1"/>
          <p:nvPr/>
        </p:nvSpPr>
        <p:spPr>
          <a:xfrm>
            <a:off x="9043416"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detect</a:t>
            </a:r>
            <a:endParaRPr lang="en-US" sz="1200" dirty="0"/>
          </a:p>
        </p:txBody>
      </p:sp>
      <p:sp>
        <p:nvSpPr>
          <p:cNvPr id="26" name="Text 23"/>
          <p:cNvSpPr txBox="1"/>
          <p:nvPr/>
        </p:nvSpPr>
        <p:spPr>
          <a:xfrm>
            <a:off x="9043416" y="276148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pick buildpacks</a:t>
            </a:r>
            <a:endParaRPr lang="en-US" sz="950" dirty="0"/>
          </a:p>
        </p:txBody>
      </p:sp>
      <p:sp>
        <p:nvSpPr>
          <p:cNvPr id="27" name="Shape 24"/>
          <p:cNvSpPr/>
          <p:nvPr/>
        </p:nvSpPr>
        <p:spPr>
          <a:xfrm>
            <a:off x="10314432" y="2286000"/>
            <a:ext cx="1243584" cy="868680"/>
          </a:xfrm>
          <a:prstGeom prst="roundRect">
            <a:avLst>
              <a:gd name="adj" fmla="val 8421"/>
            </a:avLst>
          </a:prstGeom>
          <a:solidFill>
            <a:srgbClr val="FFFFFF"/>
          </a:solidFill>
          <a:ln w="15875">
            <a:solidFill>
              <a:srgbClr val="0B7A75"/>
            </a:solidFill>
            <a:prstDash val="solid"/>
          </a:ln>
        </p:spPr>
      </p:sp>
      <p:sp>
        <p:nvSpPr>
          <p:cNvPr id="28" name="Text 25"/>
          <p:cNvSpPr txBox="1"/>
          <p:nvPr/>
        </p:nvSpPr>
        <p:spPr>
          <a:xfrm>
            <a:off x="11192256"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4</a:t>
            </a:r>
            <a:endParaRPr lang="en-US" sz="850" dirty="0"/>
          </a:p>
        </p:txBody>
      </p:sp>
      <p:sp>
        <p:nvSpPr>
          <p:cNvPr id="29" name="Text 26"/>
          <p:cNvSpPr txBox="1"/>
          <p:nvPr/>
        </p:nvSpPr>
        <p:spPr>
          <a:xfrm>
            <a:off x="10424160"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restore</a:t>
            </a:r>
            <a:endParaRPr lang="en-US" sz="1200" dirty="0"/>
          </a:p>
        </p:txBody>
      </p:sp>
      <p:sp>
        <p:nvSpPr>
          <p:cNvPr id="30" name="Text 27"/>
          <p:cNvSpPr txBox="1"/>
          <p:nvPr/>
        </p:nvSpPr>
        <p:spPr>
          <a:xfrm>
            <a:off x="10424160" y="276148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cached layers</a:t>
            </a:r>
            <a:endParaRPr lang="en-US" sz="950" dirty="0"/>
          </a:p>
        </p:txBody>
      </p:sp>
      <p:sp>
        <p:nvSpPr>
          <p:cNvPr id="31" name="Shape 28"/>
          <p:cNvSpPr/>
          <p:nvPr/>
        </p:nvSpPr>
        <p:spPr>
          <a:xfrm>
            <a:off x="6172200" y="3291840"/>
            <a:ext cx="1243584" cy="868680"/>
          </a:xfrm>
          <a:prstGeom prst="roundRect">
            <a:avLst>
              <a:gd name="adj" fmla="val 8421"/>
            </a:avLst>
          </a:prstGeom>
          <a:solidFill>
            <a:srgbClr val="FFFFFF"/>
          </a:solidFill>
          <a:ln w="15875">
            <a:solidFill>
              <a:srgbClr val="0B7A75"/>
            </a:solidFill>
            <a:prstDash val="solid"/>
          </a:ln>
        </p:spPr>
      </p:sp>
      <p:sp>
        <p:nvSpPr>
          <p:cNvPr id="32" name="Text 29"/>
          <p:cNvSpPr txBox="1"/>
          <p:nvPr/>
        </p:nvSpPr>
        <p:spPr>
          <a:xfrm>
            <a:off x="7050024" y="336499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5</a:t>
            </a:r>
            <a:endParaRPr lang="en-US" sz="850" dirty="0"/>
          </a:p>
        </p:txBody>
      </p:sp>
      <p:sp>
        <p:nvSpPr>
          <p:cNvPr id="33" name="Text 30"/>
          <p:cNvSpPr txBox="1"/>
          <p:nvPr/>
        </p:nvSpPr>
        <p:spPr>
          <a:xfrm>
            <a:off x="6281928" y="345643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build</a:t>
            </a:r>
            <a:endParaRPr lang="en-US" sz="1200" dirty="0"/>
          </a:p>
        </p:txBody>
      </p:sp>
      <p:sp>
        <p:nvSpPr>
          <p:cNvPr id="34" name="Text 31"/>
          <p:cNvSpPr txBox="1"/>
          <p:nvPr/>
        </p:nvSpPr>
        <p:spPr>
          <a:xfrm>
            <a:off x="6281928" y="376732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pip · npm · go</a:t>
            </a:r>
            <a:endParaRPr lang="en-US" sz="950" dirty="0"/>
          </a:p>
        </p:txBody>
      </p:sp>
      <p:sp>
        <p:nvSpPr>
          <p:cNvPr id="35" name="Shape 32"/>
          <p:cNvSpPr/>
          <p:nvPr/>
        </p:nvSpPr>
        <p:spPr>
          <a:xfrm>
            <a:off x="7552944" y="3291840"/>
            <a:ext cx="1243584" cy="868680"/>
          </a:xfrm>
          <a:prstGeom prst="roundRect">
            <a:avLst>
              <a:gd name="adj" fmla="val 8421"/>
            </a:avLst>
          </a:prstGeom>
          <a:solidFill>
            <a:srgbClr val="FFFFFF"/>
          </a:solidFill>
          <a:ln w="15875">
            <a:solidFill>
              <a:srgbClr val="0B7A75"/>
            </a:solidFill>
            <a:prstDash val="solid"/>
          </a:ln>
        </p:spPr>
      </p:sp>
      <p:sp>
        <p:nvSpPr>
          <p:cNvPr id="36" name="Text 33"/>
          <p:cNvSpPr txBox="1"/>
          <p:nvPr/>
        </p:nvSpPr>
        <p:spPr>
          <a:xfrm>
            <a:off x="8430768" y="336499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6</a:t>
            </a:r>
            <a:endParaRPr lang="en-US" sz="850" dirty="0"/>
          </a:p>
        </p:txBody>
      </p:sp>
      <p:sp>
        <p:nvSpPr>
          <p:cNvPr id="37" name="Text 34"/>
          <p:cNvSpPr txBox="1"/>
          <p:nvPr/>
        </p:nvSpPr>
        <p:spPr>
          <a:xfrm>
            <a:off x="7662672" y="345643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export</a:t>
            </a:r>
            <a:endParaRPr lang="en-US" sz="1200" dirty="0"/>
          </a:p>
        </p:txBody>
      </p:sp>
      <p:sp>
        <p:nvSpPr>
          <p:cNvPr id="38" name="Text 35"/>
          <p:cNvSpPr txBox="1"/>
          <p:nvPr/>
        </p:nvSpPr>
        <p:spPr>
          <a:xfrm>
            <a:off x="7662672" y="376732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push image</a:t>
            </a:r>
            <a:endParaRPr lang="en-US" sz="950" dirty="0"/>
          </a:p>
        </p:txBody>
      </p:sp>
      <p:sp>
        <p:nvSpPr>
          <p:cNvPr id="39" name="Shape 36"/>
          <p:cNvSpPr/>
          <p:nvPr/>
        </p:nvSpPr>
        <p:spPr>
          <a:xfrm>
            <a:off x="8933688" y="3291840"/>
            <a:ext cx="1243584" cy="868680"/>
          </a:xfrm>
          <a:prstGeom prst="roundRect">
            <a:avLst>
              <a:gd name="adj" fmla="val 8421"/>
            </a:avLst>
          </a:prstGeom>
          <a:solidFill>
            <a:srgbClr val="FFFFFF"/>
          </a:solidFill>
          <a:ln w="15875">
            <a:solidFill>
              <a:srgbClr val="1B8A5A"/>
            </a:solidFill>
            <a:prstDash val="solid"/>
          </a:ln>
        </p:spPr>
      </p:sp>
      <p:sp>
        <p:nvSpPr>
          <p:cNvPr id="40" name="Text 37"/>
          <p:cNvSpPr txBox="1"/>
          <p:nvPr/>
        </p:nvSpPr>
        <p:spPr>
          <a:xfrm>
            <a:off x="9811512" y="336499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7</a:t>
            </a:r>
            <a:endParaRPr lang="en-US" sz="850" dirty="0"/>
          </a:p>
        </p:txBody>
      </p:sp>
      <p:sp>
        <p:nvSpPr>
          <p:cNvPr id="41" name="Text 38"/>
          <p:cNvSpPr txBox="1"/>
          <p:nvPr/>
        </p:nvSpPr>
        <p:spPr>
          <a:xfrm>
            <a:off x="9043416" y="345643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completion</a:t>
            </a:r>
            <a:endParaRPr lang="en-US" sz="1200" dirty="0"/>
          </a:p>
        </p:txBody>
      </p:sp>
      <p:sp>
        <p:nvSpPr>
          <p:cNvPr id="42" name="Text 39"/>
          <p:cNvSpPr txBox="1"/>
          <p:nvPr/>
        </p:nvSpPr>
        <p:spPr>
          <a:xfrm>
            <a:off x="9043416" y="376732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done</a:t>
            </a:r>
            <a:endParaRPr lang="en-US" sz="950" dirty="0"/>
          </a:p>
        </p:txBody>
      </p:sp>
      <p:sp>
        <p:nvSpPr>
          <p:cNvPr id="43" name="Text 40"/>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17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build controller</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Watches Image.status.latestImage</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Applies the digest onto the Service</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Both ends stay in one region</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Only ever writes digests</a:t>
            </a:r>
            <a:endParaRPr lang="en-US" sz="1900" dirty="0"/>
          </a:p>
        </p:txBody>
      </p:sp>
      <p:sp>
        <p:nvSpPr>
          <p:cNvPr id="13" name="step:5"/>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Ships with no web stack</a:t>
            </a:r>
            <a:endParaRPr lang="en-US" sz="1900" dirty="0"/>
          </a:p>
        </p:txBody>
      </p:sp>
      <p:sp>
        <p:nvSpPr>
          <p:cNvPr id="15" name="Shape 12"/>
          <p:cNvSpPr/>
          <p:nvPr/>
        </p:nvSpPr>
        <p:spPr>
          <a:xfrm>
            <a:off x="7790688" y="2865882"/>
            <a:ext cx="359664" cy="0"/>
          </a:xfrm>
          <a:prstGeom prst="line">
            <a:avLst/>
          </a:prstGeom>
          <a:noFill/>
          <a:ln w="15875">
            <a:solidFill>
              <a:srgbClr val="98A2B3"/>
            </a:solidFill>
            <a:prstDash val="solid"/>
            <a:tailEnd type="triangle"/>
          </a:ln>
        </p:spPr>
      </p:sp>
      <p:sp>
        <p:nvSpPr>
          <p:cNvPr id="16" name="Shape 13"/>
          <p:cNvSpPr/>
          <p:nvPr/>
        </p:nvSpPr>
        <p:spPr>
          <a:xfrm>
            <a:off x="9589008" y="2865882"/>
            <a:ext cx="359664" cy="0"/>
          </a:xfrm>
          <a:prstGeom prst="line">
            <a:avLst/>
          </a:prstGeom>
          <a:noFill/>
          <a:ln w="15875">
            <a:solidFill>
              <a:srgbClr val="98A2B3"/>
            </a:solidFill>
            <a:prstDash val="solid"/>
            <a:tailEnd type="triangle"/>
          </a:ln>
        </p:spPr>
      </p:sp>
      <p:sp>
        <p:nvSpPr>
          <p:cNvPr id="17" name="Shape 14"/>
          <p:cNvSpPr/>
          <p:nvPr/>
        </p:nvSpPr>
        <p:spPr>
          <a:xfrm>
            <a:off x="10668000" y="3180588"/>
            <a:ext cx="0" cy="989076"/>
          </a:xfrm>
          <a:prstGeom prst="line">
            <a:avLst/>
          </a:prstGeom>
          <a:noFill/>
          <a:ln w="15875">
            <a:solidFill>
              <a:srgbClr val="98A2B3"/>
            </a:solidFill>
            <a:prstDash val="solid"/>
            <a:tailEnd type="triangle"/>
          </a:ln>
        </p:spPr>
      </p:sp>
      <p:sp>
        <p:nvSpPr>
          <p:cNvPr id="18" name="Shape 15"/>
          <p:cNvSpPr/>
          <p:nvPr/>
        </p:nvSpPr>
        <p:spPr>
          <a:xfrm flipV="1">
            <a:off x="7071360" y="3180588"/>
            <a:ext cx="0" cy="989076"/>
          </a:xfrm>
          <a:prstGeom prst="line">
            <a:avLst/>
          </a:prstGeom>
          <a:noFill/>
          <a:ln w="15875">
            <a:solidFill>
              <a:srgbClr val="98A2B3"/>
            </a:solidFill>
            <a:prstDash val="dash"/>
            <a:tailEnd type="triangle"/>
          </a:ln>
        </p:spPr>
      </p:sp>
      <p:sp>
        <p:nvSpPr>
          <p:cNvPr id="19" name="Shape 16"/>
          <p:cNvSpPr/>
          <p:nvPr/>
        </p:nvSpPr>
        <p:spPr>
          <a:xfrm>
            <a:off x="6352032" y="2551176"/>
            <a:ext cx="1438656" cy="629412"/>
          </a:xfrm>
          <a:prstGeom prst="roundRect">
            <a:avLst>
              <a:gd name="adj" fmla="val 11622"/>
            </a:avLst>
          </a:prstGeom>
          <a:solidFill>
            <a:srgbClr val="FFFFFF"/>
          </a:solidFill>
          <a:ln w="15875">
            <a:solidFill>
              <a:srgbClr val="0B7A75"/>
            </a:solidFill>
            <a:prstDash val="solid"/>
          </a:ln>
        </p:spPr>
      </p:sp>
      <p:sp>
        <p:nvSpPr>
          <p:cNvPr id="20" name="Text 17"/>
          <p:cNvSpPr txBox="1"/>
          <p:nvPr/>
        </p:nvSpPr>
        <p:spPr>
          <a:xfrm>
            <a:off x="6352032" y="2551176"/>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kpack Image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latestImage changes</a:t>
            </a:r>
            <a:endParaRPr lang="en-US" sz="1200" dirty="0"/>
          </a:p>
        </p:txBody>
      </p:sp>
      <p:sp>
        <p:nvSpPr>
          <p:cNvPr id="21" name="Shape 18"/>
          <p:cNvSpPr/>
          <p:nvPr/>
        </p:nvSpPr>
        <p:spPr>
          <a:xfrm>
            <a:off x="8150352" y="2551176"/>
            <a:ext cx="1438656" cy="629412"/>
          </a:xfrm>
          <a:prstGeom prst="roundRect">
            <a:avLst>
              <a:gd name="adj" fmla="val 11622"/>
            </a:avLst>
          </a:prstGeom>
          <a:solidFill>
            <a:srgbClr val="FFFFFF"/>
          </a:solidFill>
          <a:ln w="22225">
            <a:solidFill>
              <a:srgbClr val="E4572E"/>
            </a:solidFill>
            <a:prstDash val="solid"/>
          </a:ln>
        </p:spPr>
      </p:sp>
      <p:sp>
        <p:nvSpPr>
          <p:cNvPr id="22" name="Text 19"/>
          <p:cNvSpPr txBox="1"/>
          <p:nvPr/>
        </p:nvSpPr>
        <p:spPr>
          <a:xfrm>
            <a:off x="8150352" y="2551176"/>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build controller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watch</a:t>
            </a:r>
            <a:endParaRPr lang="en-US" sz="1200" dirty="0"/>
          </a:p>
        </p:txBody>
      </p:sp>
      <p:sp>
        <p:nvSpPr>
          <p:cNvPr id="23" name="Shape 20"/>
          <p:cNvSpPr/>
          <p:nvPr/>
        </p:nvSpPr>
        <p:spPr>
          <a:xfrm>
            <a:off x="9948672" y="2551176"/>
            <a:ext cx="1438656" cy="629412"/>
          </a:xfrm>
          <a:prstGeom prst="roundRect">
            <a:avLst>
              <a:gd name="adj" fmla="val 11622"/>
            </a:avLst>
          </a:prstGeom>
          <a:solidFill>
            <a:srgbClr val="FFFFFF"/>
          </a:solidFill>
          <a:ln w="15875">
            <a:solidFill>
              <a:srgbClr val="0B7A75"/>
            </a:solidFill>
            <a:prstDash val="solid"/>
          </a:ln>
        </p:spPr>
      </p:sp>
      <p:sp>
        <p:nvSpPr>
          <p:cNvPr id="24" name="Text 21"/>
          <p:cNvSpPr txBox="1"/>
          <p:nvPr/>
        </p:nvSpPr>
        <p:spPr>
          <a:xfrm>
            <a:off x="9948672" y="2551176"/>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image @sha256</a:t>
            </a:r>
            <a:endParaRPr lang="en-US" sz="1200" dirty="0"/>
          </a:p>
        </p:txBody>
      </p:sp>
      <p:sp>
        <p:nvSpPr>
          <p:cNvPr id="25" name="Shape 22"/>
          <p:cNvSpPr/>
          <p:nvPr/>
        </p:nvSpPr>
        <p:spPr>
          <a:xfrm>
            <a:off x="9948672" y="4169664"/>
            <a:ext cx="1438656" cy="629412"/>
          </a:xfrm>
          <a:prstGeom prst="roundRect">
            <a:avLst>
              <a:gd name="adj" fmla="val 11622"/>
            </a:avLst>
          </a:prstGeom>
          <a:solidFill>
            <a:srgbClr val="FFFFFF"/>
          </a:solidFill>
          <a:ln w="15875">
            <a:solidFill>
              <a:srgbClr val="0B7A75"/>
            </a:solidFill>
            <a:prstDash val="solid"/>
          </a:ln>
        </p:spPr>
      </p:sp>
      <p:sp>
        <p:nvSpPr>
          <p:cNvPr id="26" name="Text 23"/>
          <p:cNvSpPr txBox="1"/>
          <p:nvPr/>
        </p:nvSpPr>
        <p:spPr>
          <a:xfrm>
            <a:off x="9948672" y="4169664"/>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new Revision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Knative rolls it out</a:t>
            </a:r>
            <a:endParaRPr lang="en-US" sz="1200" dirty="0"/>
          </a:p>
        </p:txBody>
      </p:sp>
      <p:sp>
        <p:nvSpPr>
          <p:cNvPr id="27" name="Shape 24"/>
          <p:cNvSpPr/>
          <p:nvPr/>
        </p:nvSpPr>
        <p:spPr>
          <a:xfrm>
            <a:off x="6352032" y="4169664"/>
            <a:ext cx="1438656" cy="629412"/>
          </a:xfrm>
          <a:prstGeom prst="roundRect">
            <a:avLst>
              <a:gd name="adj" fmla="val 11622"/>
            </a:avLst>
          </a:prstGeom>
          <a:solidFill>
            <a:srgbClr val="FFFFFF"/>
          </a:solidFill>
          <a:ln w="15875">
            <a:solidFill>
              <a:srgbClr val="0B7A75"/>
            </a:solidFill>
            <a:prstDash val="solid"/>
          </a:ln>
        </p:spPr>
      </p:sp>
      <p:sp>
        <p:nvSpPr>
          <p:cNvPr id="28" name="Text 25"/>
          <p:cNvSpPr txBox="1"/>
          <p:nvPr/>
        </p:nvSpPr>
        <p:spPr>
          <a:xfrm>
            <a:off x="6352032" y="4169664"/>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region registry</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the digest lives here</a:t>
            </a:r>
            <a:endParaRPr lang="en-US" sz="1200" dirty="0"/>
          </a:p>
        </p:txBody>
      </p:sp>
      <p:sp>
        <p:nvSpPr>
          <p:cNvPr id="29" name="Text 2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18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4572E"/>
        </a:solidFill>
      </p:bgPr>
    </p:bg>
    <p:spTree>
      <p:nvGrpSpPr>
        <p:cNvPr id="1" name=""/>
        <p:cNvGrpSpPr/>
        <p:nvPr/>
      </p:nvGrpSpPr>
      <p:grpSpPr>
        <a:xfrm>
          <a:off x="0" y="0"/>
          <a:ext cx="0" cy="0"/>
          <a:chOff x="0" y="0"/>
          <a:chExt cx="0" cy="0"/>
        </a:xfrm>
      </p:grpSpPr>
      <p:sp>
        <p:nvSpPr>
          <p:cNvPr id="2" name="Text 0"/>
          <p:cNvSpPr txBox="1"/>
          <p:nvPr/>
        </p:nvSpPr>
        <p:spPr>
          <a:xfrm>
            <a:off x="640080" y="2194560"/>
            <a:ext cx="10515600" cy="1463040"/>
          </a:xfrm>
          <a:prstGeom prst="rect">
            <a:avLst/>
          </a:prstGeom>
          <a:noFill/>
          <a:ln/>
        </p:spPr>
        <p:txBody>
          <a:bodyPr wrap="square" lIns="0" tIns="0" rIns="0" bIns="0" rtlCol="0" anchor="ctr"/>
          <a:lstStyle/>
          <a:p>
            <a:pPr indent="0" marL="0">
              <a:buNone/>
            </a:pPr>
            <a:r>
              <a:rPr lang="en-US" sz="6400" b="1" dirty="0">
                <a:solidFill>
                  <a:srgbClr val="FFFFFF"/>
                </a:solidFill>
                <a:latin typeface="Century Schoolbook" pitchFamily="34" charset="0"/>
                <a:ea typeface="Century Schoolbook" pitchFamily="34" charset="-122"/>
                <a:cs typeface="Century Schoolbook" pitchFamily="34" charset="-120"/>
              </a:rPr>
              <a:t>Portal &amp; the future</a:t>
            </a:r>
            <a:endParaRPr lang="en-US" sz="6400" dirty="0"/>
          </a:p>
        </p:txBody>
      </p:sp>
      <p:sp>
        <p:nvSpPr>
          <p:cNvPr id="3" name="Text 1"/>
          <p:cNvSpPr txBox="1"/>
          <p:nvPr/>
        </p:nvSpPr>
        <p:spPr>
          <a:xfrm>
            <a:off x="640080" y="3749040"/>
            <a:ext cx="9144000" cy="548640"/>
          </a:xfrm>
          <a:prstGeom prst="rect">
            <a:avLst/>
          </a:prstGeom>
          <a:noFill/>
          <a:ln/>
        </p:spPr>
        <p:txBody>
          <a:bodyPr wrap="square" lIns="0" tIns="0" rIns="0" bIns="0" rtlCol="0" anchor="ctr"/>
          <a:lstStyle/>
          <a:p>
            <a:pPr indent="0" marL="0">
              <a:buNone/>
            </a:pPr>
            <a:r>
              <a:rPr lang="en-US" sz="2200" i="1" dirty="0">
                <a:solidFill>
                  <a:srgbClr val="FFFFFF"/>
                </a:solidFill>
                <a:latin typeface="Century Schoolbook" pitchFamily="34" charset="0"/>
                <a:ea typeface="Century Schoolbook" pitchFamily="34" charset="-122"/>
                <a:cs typeface="Century Schoolbook" pitchFamily="34" charset="-120"/>
              </a:rPr>
              <a:t>A console, and a library for the next API.</a:t>
            </a:r>
            <a:endParaRPr lang="en-US" sz="2200" dirty="0"/>
          </a:p>
        </p:txBody>
      </p:sp>
      <p:sp>
        <p:nvSpPr>
          <p:cNvPr id="4" name="Text 2"/>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19 / 23</a:t>
            </a:r>
            <a:endParaRPr lang="en-US" sz="10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PORTAL &amp; THE FUTURE</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How the portal wires it</a:t>
            </a:r>
            <a:endParaRPr lang="en-US" sz="3800" dirty="0"/>
          </a:p>
        </p:txBody>
      </p:sp>
      <p:sp>
        <p:nvSpPr>
          <p:cNvPr id="5" name="step:1"/>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Next.js 16, server components</a:t>
            </a:r>
            <a:endParaRPr lang="en-US" sz="1700" dirty="0"/>
          </a:p>
        </p:txBody>
      </p:sp>
      <p:sp>
        <p:nvSpPr>
          <p:cNvPr id="7" name="step:2"/>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5844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Keycloak token stays server-side</a:t>
            </a:r>
            <a:endParaRPr lang="en-US" sz="1700" dirty="0"/>
          </a:p>
        </p:txBody>
      </p:sp>
      <p:sp>
        <p:nvSpPr>
          <p:cNvPr id="9" name="step:3"/>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376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The SSO group is the project</a:t>
            </a:r>
            <a:endParaRPr lang="en-US" sz="1700" dirty="0"/>
          </a:p>
        </p:txBody>
      </p:sp>
      <p:sp>
        <p:nvSpPr>
          <p:cNvPr id="11" name="step:4"/>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6908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Forms are built from /info</a:t>
            </a:r>
            <a:endParaRPr lang="en-US" sz="1700" dirty="0"/>
          </a:p>
        </p:txBody>
      </p:sp>
      <p:sp>
        <p:nvSpPr>
          <p:cNvPr id="13" name="step:5"/>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2440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Live logs over SSE tickets</a:t>
            </a:r>
            <a:endParaRPr lang="en-US" sz="1700" dirty="0"/>
          </a:p>
        </p:txBody>
      </p:sp>
      <p:sp>
        <p:nvSpPr>
          <p:cNvPr id="15" name="step:6"/>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
          <p:cNvSpPr txBox="1"/>
          <p:nvPr/>
        </p:nvSpPr>
        <p:spPr>
          <a:xfrm>
            <a:off x="960120" y="53797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Airgap-native: no CDN, no fonts</a:t>
            </a:r>
            <a:endParaRPr lang="en-US" sz="1700" dirty="0"/>
          </a:p>
        </p:txBody>
      </p:sp>
      <p:sp>
        <p:nvSpPr>
          <p:cNvPr id="17" name="Shape 14"/>
          <p:cNvSpPr/>
          <p:nvPr/>
        </p:nvSpPr>
        <p:spPr>
          <a:xfrm>
            <a:off x="7700772" y="2865882"/>
            <a:ext cx="494538" cy="0"/>
          </a:xfrm>
          <a:prstGeom prst="line">
            <a:avLst/>
          </a:prstGeom>
          <a:noFill/>
          <a:ln w="15875">
            <a:solidFill>
              <a:srgbClr val="98A2B3"/>
            </a:solidFill>
            <a:prstDash val="solid"/>
            <a:tailEnd type="triangle"/>
          </a:ln>
        </p:spPr>
      </p:sp>
      <p:sp>
        <p:nvSpPr>
          <p:cNvPr id="18" name="Shape 15"/>
          <p:cNvSpPr/>
          <p:nvPr/>
        </p:nvSpPr>
        <p:spPr>
          <a:xfrm>
            <a:off x="9544050" y="2865882"/>
            <a:ext cx="494538" cy="0"/>
          </a:xfrm>
          <a:prstGeom prst="line">
            <a:avLst/>
          </a:prstGeom>
          <a:noFill/>
          <a:ln w="15875">
            <a:solidFill>
              <a:srgbClr val="98A2B3"/>
            </a:solidFill>
            <a:prstDash val="solid"/>
            <a:tailEnd type="triangle"/>
          </a:ln>
        </p:spPr>
      </p:sp>
      <p:sp>
        <p:nvSpPr>
          <p:cNvPr id="19" name="Shape 16"/>
          <p:cNvSpPr/>
          <p:nvPr/>
        </p:nvSpPr>
        <p:spPr>
          <a:xfrm>
            <a:off x="8869680" y="3180588"/>
            <a:ext cx="0" cy="899160"/>
          </a:xfrm>
          <a:prstGeom prst="line">
            <a:avLst/>
          </a:prstGeom>
          <a:noFill/>
          <a:ln w="15875">
            <a:solidFill>
              <a:srgbClr val="98A2B3"/>
            </a:solidFill>
            <a:prstDash val="dash"/>
            <a:tailEnd type="triangle"/>
          </a:ln>
        </p:spPr>
      </p:sp>
      <p:sp>
        <p:nvSpPr>
          <p:cNvPr id="20" name="Shape 17"/>
          <p:cNvSpPr/>
          <p:nvPr/>
        </p:nvSpPr>
        <p:spPr>
          <a:xfrm flipV="1">
            <a:off x="7700772" y="2865882"/>
            <a:ext cx="2337816" cy="1528572"/>
          </a:xfrm>
          <a:prstGeom prst="line">
            <a:avLst/>
          </a:prstGeom>
          <a:noFill/>
          <a:ln w="15875">
            <a:solidFill>
              <a:srgbClr val="98A2B3"/>
            </a:solidFill>
            <a:prstDash val="dash"/>
            <a:tailEnd type="triangle"/>
          </a:ln>
        </p:spPr>
      </p:sp>
      <p:sp>
        <p:nvSpPr>
          <p:cNvPr id="21" name="Shape 18"/>
          <p:cNvSpPr/>
          <p:nvPr/>
        </p:nvSpPr>
        <p:spPr>
          <a:xfrm>
            <a:off x="7026402" y="3180588"/>
            <a:ext cx="0" cy="899160"/>
          </a:xfrm>
          <a:prstGeom prst="line">
            <a:avLst/>
          </a:prstGeom>
          <a:noFill/>
          <a:ln w="15875">
            <a:solidFill>
              <a:srgbClr val="98A2B3"/>
            </a:solidFill>
            <a:prstDash val="dash"/>
            <a:tailEnd type="triangle"/>
          </a:ln>
        </p:spPr>
      </p:sp>
      <p:sp>
        <p:nvSpPr>
          <p:cNvPr id="22" name="Shape 19"/>
          <p:cNvSpPr/>
          <p:nvPr/>
        </p:nvSpPr>
        <p:spPr>
          <a:xfrm>
            <a:off x="6352032" y="2551176"/>
            <a:ext cx="1348740" cy="629412"/>
          </a:xfrm>
          <a:prstGeom prst="roundRect">
            <a:avLst>
              <a:gd name="adj" fmla="val 11622"/>
            </a:avLst>
          </a:prstGeom>
          <a:solidFill>
            <a:srgbClr val="FFFFFF"/>
          </a:solidFill>
          <a:ln w="15875">
            <a:solidFill>
              <a:srgbClr val="0B7A75"/>
            </a:solidFill>
            <a:prstDash val="solid"/>
          </a:ln>
        </p:spPr>
      </p:sp>
      <p:sp>
        <p:nvSpPr>
          <p:cNvPr id="23" name="Text 20"/>
          <p:cNvSpPr txBox="1"/>
          <p:nvPr/>
        </p:nvSpPr>
        <p:spPr>
          <a:xfrm>
            <a:off x="6352032" y="2551176"/>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Browser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React 19</a:t>
            </a:r>
            <a:endParaRPr lang="en-US" sz="1200" dirty="0"/>
          </a:p>
        </p:txBody>
      </p:sp>
      <p:sp>
        <p:nvSpPr>
          <p:cNvPr id="24" name="Shape 21"/>
          <p:cNvSpPr/>
          <p:nvPr/>
        </p:nvSpPr>
        <p:spPr>
          <a:xfrm>
            <a:off x="8195310" y="2551176"/>
            <a:ext cx="1348740" cy="629412"/>
          </a:xfrm>
          <a:prstGeom prst="roundRect">
            <a:avLst>
              <a:gd name="adj" fmla="val 11622"/>
            </a:avLst>
          </a:prstGeom>
          <a:solidFill>
            <a:srgbClr val="FFFFFF"/>
          </a:solidFill>
          <a:ln w="22225">
            <a:solidFill>
              <a:srgbClr val="E4572E"/>
            </a:solidFill>
            <a:prstDash val="solid"/>
          </a:ln>
        </p:spPr>
      </p:sp>
      <p:sp>
        <p:nvSpPr>
          <p:cNvPr id="25" name="Text 22"/>
          <p:cNvSpPr txBox="1"/>
          <p:nvPr/>
        </p:nvSpPr>
        <p:spPr>
          <a:xfrm>
            <a:off x="8195310" y="2551176"/>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Portal</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server actions</a:t>
            </a:r>
            <a:endParaRPr lang="en-US" sz="1200" dirty="0"/>
          </a:p>
        </p:txBody>
      </p:sp>
      <p:sp>
        <p:nvSpPr>
          <p:cNvPr id="26" name="Shape 23"/>
          <p:cNvSpPr/>
          <p:nvPr/>
        </p:nvSpPr>
        <p:spPr>
          <a:xfrm>
            <a:off x="10038588" y="2551176"/>
            <a:ext cx="1348740" cy="629412"/>
          </a:xfrm>
          <a:prstGeom prst="roundRect">
            <a:avLst>
              <a:gd name="adj" fmla="val 11622"/>
            </a:avLst>
          </a:prstGeom>
          <a:solidFill>
            <a:srgbClr val="FFFFFF"/>
          </a:solidFill>
          <a:ln w="15875">
            <a:solidFill>
              <a:srgbClr val="0B7A75"/>
            </a:solidFill>
            <a:prstDash val="solid"/>
          </a:ln>
        </p:spPr>
      </p:sp>
      <p:sp>
        <p:nvSpPr>
          <p:cNvPr id="27" name="Text 24"/>
          <p:cNvSpPr txBox="1"/>
          <p:nvPr/>
        </p:nvSpPr>
        <p:spPr>
          <a:xfrm>
            <a:off x="10038588" y="2551176"/>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Serverless API</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/api/serverless/v1</a:t>
            </a:r>
            <a:endParaRPr lang="en-US" sz="1200" dirty="0"/>
          </a:p>
        </p:txBody>
      </p:sp>
      <p:sp>
        <p:nvSpPr>
          <p:cNvPr id="28" name="Shape 25"/>
          <p:cNvSpPr/>
          <p:nvPr/>
        </p:nvSpPr>
        <p:spPr>
          <a:xfrm>
            <a:off x="8195310" y="4079748"/>
            <a:ext cx="1348740" cy="629412"/>
          </a:xfrm>
          <a:prstGeom prst="roundRect">
            <a:avLst>
              <a:gd name="adj" fmla="val 11622"/>
            </a:avLst>
          </a:prstGeom>
          <a:solidFill>
            <a:srgbClr val="FFFFFF"/>
          </a:solidFill>
          <a:ln w="15875">
            <a:solidFill>
              <a:srgbClr val="0B7A75"/>
            </a:solidFill>
            <a:prstDash val="solid"/>
          </a:ln>
        </p:spPr>
      </p:sp>
      <p:sp>
        <p:nvSpPr>
          <p:cNvPr id="29" name="Text 26"/>
          <p:cNvSpPr txBox="1"/>
          <p:nvPr/>
        </p:nvSpPr>
        <p:spPr>
          <a:xfrm>
            <a:off x="8195310" y="4079748"/>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Keycloak</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OIDC, groups claim</a:t>
            </a:r>
            <a:endParaRPr lang="en-US" sz="1200" dirty="0"/>
          </a:p>
        </p:txBody>
      </p:sp>
      <p:sp>
        <p:nvSpPr>
          <p:cNvPr id="30" name="Shape 27"/>
          <p:cNvSpPr/>
          <p:nvPr/>
        </p:nvSpPr>
        <p:spPr>
          <a:xfrm>
            <a:off x="6352032" y="4079748"/>
            <a:ext cx="1348740" cy="629412"/>
          </a:xfrm>
          <a:prstGeom prst="roundRect">
            <a:avLst>
              <a:gd name="adj" fmla="val 11622"/>
            </a:avLst>
          </a:prstGeom>
          <a:solidFill>
            <a:srgbClr val="FFFFFF"/>
          </a:solidFill>
          <a:ln w="15875">
            <a:solidFill>
              <a:srgbClr val="0B7A75"/>
            </a:solidFill>
            <a:prstDash val="solid"/>
          </a:ln>
        </p:spPr>
      </p:sp>
      <p:sp>
        <p:nvSpPr>
          <p:cNvPr id="31" name="Text 28"/>
          <p:cNvSpPr txBox="1"/>
          <p:nvPr/>
        </p:nvSpPr>
        <p:spPr>
          <a:xfrm>
            <a:off x="6352032" y="4079748"/>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?ticket=</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60 s, one path</a:t>
            </a:r>
            <a:endParaRPr lang="en-US" sz="1200" dirty="0"/>
          </a:p>
        </p:txBody>
      </p:sp>
      <p:sp>
        <p:nvSpPr>
          <p:cNvPr id="32" name="Text 29"/>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20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par>
                    <p:cTn id="49" fill="hold">
                      <p:stCondLst>
                        <p:cond delay="indefinite"/>
                      </p:stCondLst>
                      <p:childTnLst>
                        <p:par>
                          <p:cTn id="50"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0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PORTAL &amp; THE FUTURE</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 console, not a Serverless UI</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Serverless is live, Storage is next</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An offering is data, not code</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shell is already generic</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Next: shared layer, generated client</a:t>
            </a:r>
            <a:endParaRPr lang="en-US" sz="1900" dirty="0"/>
          </a:p>
        </p:txBody>
      </p:sp>
      <p:sp>
        <p:nvSpPr>
          <p:cNvPr id="13" name="Shape 10"/>
          <p:cNvSpPr/>
          <p:nvPr/>
        </p:nvSpPr>
        <p:spPr>
          <a:xfrm>
            <a:off x="6172200" y="2286000"/>
            <a:ext cx="1261872" cy="658368"/>
          </a:xfrm>
          <a:prstGeom prst="roundRect">
            <a:avLst>
              <a:gd name="adj" fmla="val 11111"/>
            </a:avLst>
          </a:prstGeom>
          <a:solidFill>
            <a:srgbClr val="F4F5F7"/>
          </a:solidFill>
          <a:ln w="12700">
            <a:solidFill>
              <a:srgbClr val="E4E7EC"/>
            </a:solidFill>
            <a:prstDash val="solid"/>
          </a:ln>
        </p:spPr>
      </p:sp>
      <p:sp>
        <p:nvSpPr>
          <p:cNvPr id="14" name="Text 11"/>
          <p:cNvSpPr txBox="1"/>
          <p:nvPr/>
        </p:nvSpPr>
        <p:spPr>
          <a:xfrm>
            <a:off x="6281928" y="2286000"/>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Compute</a:t>
            </a:r>
            <a:endParaRPr lang="en-US" sz="1050" dirty="0"/>
          </a:p>
        </p:txBody>
      </p:sp>
      <p:sp>
        <p:nvSpPr>
          <p:cNvPr id="15" name="Shape 12"/>
          <p:cNvSpPr/>
          <p:nvPr/>
        </p:nvSpPr>
        <p:spPr>
          <a:xfrm>
            <a:off x="7543800" y="2286000"/>
            <a:ext cx="1261872" cy="658368"/>
          </a:xfrm>
          <a:prstGeom prst="roundRect">
            <a:avLst>
              <a:gd name="adj" fmla="val 11111"/>
            </a:avLst>
          </a:prstGeom>
          <a:solidFill>
            <a:srgbClr val="E4572E"/>
          </a:solidFill>
          <a:ln w="12700">
            <a:solidFill>
              <a:srgbClr val="E4572E"/>
            </a:solidFill>
            <a:prstDash val="solid"/>
          </a:ln>
        </p:spPr>
      </p:sp>
      <p:sp>
        <p:nvSpPr>
          <p:cNvPr id="16" name="Text 13"/>
          <p:cNvSpPr txBox="1"/>
          <p:nvPr/>
        </p:nvSpPr>
        <p:spPr>
          <a:xfrm>
            <a:off x="7653528" y="2286000"/>
            <a:ext cx="1042416" cy="6583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Serverless</a:t>
            </a:r>
            <a:endParaRPr lang="en-US" sz="1050" dirty="0"/>
          </a:p>
        </p:txBody>
      </p:sp>
      <p:sp>
        <p:nvSpPr>
          <p:cNvPr id="17" name="Text 14"/>
          <p:cNvSpPr txBox="1"/>
          <p:nvPr/>
        </p:nvSpPr>
        <p:spPr>
          <a:xfrm>
            <a:off x="8257032" y="2340864"/>
            <a:ext cx="457200" cy="182880"/>
          </a:xfrm>
          <a:prstGeom prst="rect">
            <a:avLst/>
          </a:prstGeom>
          <a:noFill/>
          <a:ln/>
        </p:spPr>
        <p:txBody>
          <a:bodyPr wrap="square" lIns="0" tIns="0" rIns="0" bIns="0" rtlCol="0" anchor="ctr"/>
          <a:lstStyle/>
          <a:p>
            <a:pPr algn="r" indent="0" marL="0">
              <a:buNone/>
            </a:pPr>
            <a:r>
              <a:rPr lang="en-US" sz="750" b="1" dirty="0">
                <a:solidFill>
                  <a:srgbClr val="FFFFFF"/>
                </a:solidFill>
                <a:latin typeface="Courier New" pitchFamily="34" charset="0"/>
                <a:ea typeface="Courier New" pitchFamily="34" charset="-122"/>
                <a:cs typeface="Courier New" pitchFamily="34" charset="-120"/>
              </a:rPr>
              <a:t>LIVE</a:t>
            </a:r>
            <a:endParaRPr lang="en-US" sz="750" dirty="0"/>
          </a:p>
        </p:txBody>
      </p:sp>
      <p:sp>
        <p:nvSpPr>
          <p:cNvPr id="18" name="Shape 15"/>
          <p:cNvSpPr/>
          <p:nvPr/>
        </p:nvSpPr>
        <p:spPr>
          <a:xfrm>
            <a:off x="8915400" y="2286000"/>
            <a:ext cx="1261872" cy="658368"/>
          </a:xfrm>
          <a:prstGeom prst="roundRect">
            <a:avLst>
              <a:gd name="adj" fmla="val 11111"/>
            </a:avLst>
          </a:prstGeom>
          <a:solidFill>
            <a:srgbClr val="F4F5F7"/>
          </a:solidFill>
          <a:ln w="12700">
            <a:solidFill>
              <a:srgbClr val="E4E7EC"/>
            </a:solidFill>
            <a:prstDash val="solid"/>
          </a:ln>
        </p:spPr>
      </p:sp>
      <p:sp>
        <p:nvSpPr>
          <p:cNvPr id="19" name="Text 16"/>
          <p:cNvSpPr txBox="1"/>
          <p:nvPr/>
        </p:nvSpPr>
        <p:spPr>
          <a:xfrm>
            <a:off x="9025128" y="2286000"/>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Databases</a:t>
            </a:r>
            <a:endParaRPr lang="en-US" sz="1050" dirty="0"/>
          </a:p>
        </p:txBody>
      </p:sp>
      <p:sp>
        <p:nvSpPr>
          <p:cNvPr id="20" name="Shape 17"/>
          <p:cNvSpPr/>
          <p:nvPr/>
        </p:nvSpPr>
        <p:spPr>
          <a:xfrm>
            <a:off x="10287000" y="2286000"/>
            <a:ext cx="1261872" cy="658368"/>
          </a:xfrm>
          <a:prstGeom prst="roundRect">
            <a:avLst>
              <a:gd name="adj" fmla="val 11111"/>
            </a:avLst>
          </a:prstGeom>
          <a:solidFill>
            <a:srgbClr val="F4F5F7"/>
          </a:solidFill>
          <a:ln w="12700">
            <a:solidFill>
              <a:srgbClr val="E4E7EC"/>
            </a:solidFill>
            <a:prstDash val="solid"/>
          </a:ln>
        </p:spPr>
      </p:sp>
      <p:sp>
        <p:nvSpPr>
          <p:cNvPr id="21" name="Text 18"/>
          <p:cNvSpPr txBox="1"/>
          <p:nvPr/>
        </p:nvSpPr>
        <p:spPr>
          <a:xfrm>
            <a:off x="10396728" y="2286000"/>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Networking</a:t>
            </a:r>
            <a:endParaRPr lang="en-US" sz="1050" dirty="0"/>
          </a:p>
        </p:txBody>
      </p:sp>
      <p:sp>
        <p:nvSpPr>
          <p:cNvPr id="22" name="Shape 19"/>
          <p:cNvSpPr/>
          <p:nvPr/>
        </p:nvSpPr>
        <p:spPr>
          <a:xfrm>
            <a:off x="6172200" y="3054096"/>
            <a:ext cx="1261872" cy="658368"/>
          </a:xfrm>
          <a:prstGeom prst="roundRect">
            <a:avLst>
              <a:gd name="adj" fmla="val 11111"/>
            </a:avLst>
          </a:prstGeom>
          <a:solidFill>
            <a:srgbClr val="FFFFFF"/>
          </a:solidFill>
          <a:ln w="12700">
            <a:solidFill>
              <a:srgbClr val="E4572E"/>
            </a:solidFill>
            <a:prstDash val="solid"/>
          </a:ln>
        </p:spPr>
      </p:sp>
      <p:sp>
        <p:nvSpPr>
          <p:cNvPr id="23" name="Text 20"/>
          <p:cNvSpPr txBox="1"/>
          <p:nvPr/>
        </p:nvSpPr>
        <p:spPr>
          <a:xfrm>
            <a:off x="6281928" y="3054096"/>
            <a:ext cx="1042416" cy="658368"/>
          </a:xfrm>
          <a:prstGeom prst="rect">
            <a:avLst/>
          </a:prstGeom>
          <a:noFill/>
          <a:ln/>
        </p:spPr>
        <p:txBody>
          <a:bodyPr wrap="square" lIns="0" tIns="0" rIns="0" bIns="0" rtlCol="0" anchor="ctr"/>
          <a:lstStyle/>
          <a:p>
            <a:pPr indent="0" marL="0">
              <a:buNone/>
            </a:pPr>
            <a:r>
              <a:rPr lang="en-US" sz="1050" b="1" dirty="0">
                <a:solidFill>
                  <a:srgbClr val="1B1F2A"/>
                </a:solidFill>
                <a:latin typeface="Calibri" pitchFamily="34" charset="0"/>
                <a:ea typeface="Calibri" pitchFamily="34" charset="-122"/>
                <a:cs typeface="Calibri" pitchFamily="34" charset="-120"/>
              </a:rPr>
              <a:t>Object Storage</a:t>
            </a:r>
            <a:endParaRPr lang="en-US" sz="1050" dirty="0"/>
          </a:p>
        </p:txBody>
      </p:sp>
      <p:sp>
        <p:nvSpPr>
          <p:cNvPr id="24" name="Text 21"/>
          <p:cNvSpPr txBox="1"/>
          <p:nvPr/>
        </p:nvSpPr>
        <p:spPr>
          <a:xfrm>
            <a:off x="6885432" y="3108960"/>
            <a:ext cx="457200" cy="182880"/>
          </a:xfrm>
          <a:prstGeom prst="rect">
            <a:avLst/>
          </a:prstGeom>
          <a:noFill/>
          <a:ln/>
        </p:spPr>
        <p:txBody>
          <a:bodyPr wrap="square" lIns="0" tIns="0" rIns="0" bIns="0" rtlCol="0" anchor="ctr"/>
          <a:lstStyle/>
          <a:p>
            <a:pPr algn="r" indent="0" marL="0">
              <a:buNone/>
            </a:pPr>
            <a:r>
              <a:rPr lang="en-US" sz="750" b="1" dirty="0">
                <a:solidFill>
                  <a:srgbClr val="E4572E"/>
                </a:solidFill>
                <a:latin typeface="Courier New" pitchFamily="34" charset="0"/>
                <a:ea typeface="Courier New" pitchFamily="34" charset="-122"/>
                <a:cs typeface="Courier New" pitchFamily="34" charset="-120"/>
              </a:rPr>
              <a:t>NEXT</a:t>
            </a:r>
            <a:endParaRPr lang="en-US" sz="750" dirty="0"/>
          </a:p>
        </p:txBody>
      </p:sp>
      <p:sp>
        <p:nvSpPr>
          <p:cNvPr id="25" name="Shape 22"/>
          <p:cNvSpPr/>
          <p:nvPr/>
        </p:nvSpPr>
        <p:spPr>
          <a:xfrm>
            <a:off x="7543800" y="3054096"/>
            <a:ext cx="1261872" cy="658368"/>
          </a:xfrm>
          <a:prstGeom prst="roundRect">
            <a:avLst>
              <a:gd name="adj" fmla="val 11111"/>
            </a:avLst>
          </a:prstGeom>
          <a:solidFill>
            <a:srgbClr val="F4F5F7"/>
          </a:solidFill>
          <a:ln w="12700">
            <a:solidFill>
              <a:srgbClr val="E4E7EC"/>
            </a:solidFill>
            <a:prstDash val="solid"/>
          </a:ln>
        </p:spPr>
      </p:sp>
      <p:sp>
        <p:nvSpPr>
          <p:cNvPr id="26" name="Text 23"/>
          <p:cNvSpPr txBox="1"/>
          <p:nvPr/>
        </p:nvSpPr>
        <p:spPr>
          <a:xfrm>
            <a:off x="7653528" y="3054096"/>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Observability</a:t>
            </a:r>
            <a:endParaRPr lang="en-US" sz="1050" dirty="0"/>
          </a:p>
        </p:txBody>
      </p:sp>
      <p:sp>
        <p:nvSpPr>
          <p:cNvPr id="27" name="Shape 24"/>
          <p:cNvSpPr/>
          <p:nvPr/>
        </p:nvSpPr>
        <p:spPr>
          <a:xfrm>
            <a:off x="8915400" y="3054096"/>
            <a:ext cx="1261872" cy="658368"/>
          </a:xfrm>
          <a:prstGeom prst="roundRect">
            <a:avLst>
              <a:gd name="adj" fmla="val 11111"/>
            </a:avLst>
          </a:prstGeom>
          <a:solidFill>
            <a:srgbClr val="F4F5F7"/>
          </a:solidFill>
          <a:ln w="12700">
            <a:solidFill>
              <a:srgbClr val="E4E7EC"/>
            </a:solidFill>
            <a:prstDash val="solid"/>
          </a:ln>
        </p:spPr>
      </p:sp>
      <p:sp>
        <p:nvSpPr>
          <p:cNvPr id="28" name="Text 25"/>
          <p:cNvSpPr txBox="1"/>
          <p:nvPr/>
        </p:nvSpPr>
        <p:spPr>
          <a:xfrm>
            <a:off x="9025128" y="3054096"/>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Data Integration</a:t>
            </a:r>
            <a:endParaRPr lang="en-US" sz="1050" dirty="0"/>
          </a:p>
        </p:txBody>
      </p:sp>
      <p:sp>
        <p:nvSpPr>
          <p:cNvPr id="29" name="Shape 26"/>
          <p:cNvSpPr/>
          <p:nvPr/>
        </p:nvSpPr>
        <p:spPr>
          <a:xfrm>
            <a:off x="10287000" y="3054096"/>
            <a:ext cx="1261872" cy="658368"/>
          </a:xfrm>
          <a:prstGeom prst="roundRect">
            <a:avLst>
              <a:gd name="adj" fmla="val 11111"/>
            </a:avLst>
          </a:prstGeom>
          <a:solidFill>
            <a:srgbClr val="F4F5F7"/>
          </a:solidFill>
          <a:ln w="12700">
            <a:solidFill>
              <a:srgbClr val="E4E7EC"/>
            </a:solidFill>
            <a:prstDash val="solid"/>
          </a:ln>
        </p:spPr>
      </p:sp>
      <p:sp>
        <p:nvSpPr>
          <p:cNvPr id="30" name="Text 27"/>
          <p:cNvSpPr txBox="1"/>
          <p:nvPr/>
        </p:nvSpPr>
        <p:spPr>
          <a:xfrm>
            <a:off x="10396728" y="3054096"/>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Data Analytics</a:t>
            </a:r>
            <a:endParaRPr lang="en-US" sz="1050" dirty="0"/>
          </a:p>
        </p:txBody>
      </p:sp>
      <p:sp>
        <p:nvSpPr>
          <p:cNvPr id="31" name="Shape 28"/>
          <p:cNvSpPr/>
          <p:nvPr/>
        </p:nvSpPr>
        <p:spPr>
          <a:xfrm>
            <a:off x="6172200" y="3822192"/>
            <a:ext cx="1261872" cy="658368"/>
          </a:xfrm>
          <a:prstGeom prst="roundRect">
            <a:avLst>
              <a:gd name="adj" fmla="val 11111"/>
            </a:avLst>
          </a:prstGeom>
          <a:solidFill>
            <a:srgbClr val="F4F5F7"/>
          </a:solidFill>
          <a:ln w="12700">
            <a:solidFill>
              <a:srgbClr val="E4E7EC"/>
            </a:solidFill>
            <a:prstDash val="solid"/>
          </a:ln>
        </p:spPr>
      </p:sp>
      <p:sp>
        <p:nvSpPr>
          <p:cNvPr id="32" name="Text 29"/>
          <p:cNvSpPr txBox="1"/>
          <p:nvPr/>
        </p:nvSpPr>
        <p:spPr>
          <a:xfrm>
            <a:off x="6281928" y="3822192"/>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Dev Tools</a:t>
            </a:r>
            <a:endParaRPr lang="en-US" sz="1050" dirty="0"/>
          </a:p>
        </p:txBody>
      </p:sp>
      <p:sp>
        <p:nvSpPr>
          <p:cNvPr id="33" name="Shape 30"/>
          <p:cNvSpPr/>
          <p:nvPr/>
        </p:nvSpPr>
        <p:spPr>
          <a:xfrm>
            <a:off x="7543800" y="3822192"/>
            <a:ext cx="1261872" cy="658368"/>
          </a:xfrm>
          <a:prstGeom prst="roundRect">
            <a:avLst>
              <a:gd name="adj" fmla="val 11111"/>
            </a:avLst>
          </a:prstGeom>
          <a:solidFill>
            <a:srgbClr val="F4F5F7"/>
          </a:solidFill>
          <a:ln w="12700">
            <a:solidFill>
              <a:srgbClr val="E4E7EC"/>
            </a:solidFill>
            <a:prstDash val="solid"/>
          </a:ln>
        </p:spPr>
      </p:sp>
      <p:sp>
        <p:nvSpPr>
          <p:cNvPr id="34" name="Text 31"/>
          <p:cNvSpPr txBox="1"/>
          <p:nvPr/>
        </p:nvSpPr>
        <p:spPr>
          <a:xfrm>
            <a:off x="7653528" y="3822192"/>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Machine Learning</a:t>
            </a:r>
            <a:endParaRPr lang="en-US" sz="1050" dirty="0"/>
          </a:p>
        </p:txBody>
      </p:sp>
      <p:sp>
        <p:nvSpPr>
          <p:cNvPr id="35" name="Shape 32"/>
          <p:cNvSpPr/>
          <p:nvPr/>
        </p:nvSpPr>
        <p:spPr>
          <a:xfrm>
            <a:off x="8915400" y="3822192"/>
            <a:ext cx="1261872" cy="658368"/>
          </a:xfrm>
          <a:prstGeom prst="roundRect">
            <a:avLst>
              <a:gd name="adj" fmla="val 11111"/>
            </a:avLst>
          </a:prstGeom>
          <a:solidFill>
            <a:srgbClr val="F4F5F7"/>
          </a:solidFill>
          <a:ln w="12700">
            <a:solidFill>
              <a:srgbClr val="E4E7EC"/>
            </a:solidFill>
            <a:prstDash val="solid"/>
          </a:ln>
        </p:spPr>
      </p:sp>
      <p:sp>
        <p:nvSpPr>
          <p:cNvPr id="36" name="Text 33"/>
          <p:cNvSpPr txBox="1"/>
          <p:nvPr/>
        </p:nvSpPr>
        <p:spPr>
          <a:xfrm>
            <a:off x="9025128" y="3822192"/>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Security</a:t>
            </a:r>
            <a:endParaRPr lang="en-US" sz="1050" dirty="0"/>
          </a:p>
        </p:txBody>
      </p:sp>
      <p:sp>
        <p:nvSpPr>
          <p:cNvPr id="37" name="Shape 34"/>
          <p:cNvSpPr/>
          <p:nvPr/>
        </p:nvSpPr>
        <p:spPr>
          <a:xfrm>
            <a:off x="10287000" y="3822192"/>
            <a:ext cx="1261872" cy="658368"/>
          </a:xfrm>
          <a:prstGeom prst="roundRect">
            <a:avLst>
              <a:gd name="adj" fmla="val 11111"/>
            </a:avLst>
          </a:prstGeom>
          <a:solidFill>
            <a:srgbClr val="F4F5F7"/>
          </a:solidFill>
          <a:ln w="12700">
            <a:solidFill>
              <a:srgbClr val="E4E7EC"/>
            </a:solidFill>
            <a:prstDash val="solid"/>
          </a:ln>
        </p:spPr>
      </p:sp>
      <p:sp>
        <p:nvSpPr>
          <p:cNvPr id="38" name="Text 35"/>
          <p:cNvSpPr txBox="1"/>
          <p:nvPr/>
        </p:nvSpPr>
        <p:spPr>
          <a:xfrm>
            <a:off x="10396728" y="3822192"/>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…as data</a:t>
            </a:r>
            <a:endParaRPr lang="en-US" sz="1050" dirty="0"/>
          </a:p>
        </p:txBody>
      </p:sp>
      <p:sp>
        <p:nvSpPr>
          <p:cNvPr id="39" name="Text 3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21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PORTAL &amp; THE FUTURE</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cloudlet-apis: start at step five</a:t>
            </a:r>
            <a:endParaRPr lang="en-US" sz="3800" dirty="0"/>
          </a:p>
        </p:txBody>
      </p:sp>
      <p:sp>
        <p:nvSpPr>
          <p:cNvPr id="5" name="step:1"/>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Extracted from the Serverless API</a:t>
            </a:r>
            <a:endParaRPr lang="en-US" sz="1900" dirty="0"/>
          </a:p>
        </p:txBody>
      </p:sp>
      <p:sp>
        <p:nvSpPr>
          <p:cNvPr id="7" name="step:2"/>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core, web and auth extras</a:t>
            </a:r>
            <a:endParaRPr lang="en-US" sz="1900" dirty="0"/>
          </a:p>
        </p:txBody>
      </p:sp>
      <p:sp>
        <p:nvSpPr>
          <p:cNvPr id="9" name="step:3"/>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Layering enforced by tests</a:t>
            </a:r>
            <a:endParaRPr lang="en-US" sz="1900" dirty="0"/>
          </a:p>
        </p:txBody>
      </p:sp>
      <p:sp>
        <p:nvSpPr>
          <p:cNvPr id="11" name="step:4"/>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 new API wires in five steps</a:t>
            </a:r>
            <a:endParaRPr lang="en-US" sz="1900" dirty="0"/>
          </a:p>
        </p:txBody>
      </p:sp>
      <p:sp>
        <p:nvSpPr>
          <p:cNvPr id="13" name="step:5"/>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Same group rules everywhere</a:t>
            </a:r>
            <a:endParaRPr lang="en-US" sz="1900" dirty="0"/>
          </a:p>
        </p:txBody>
      </p:sp>
      <p:sp>
        <p:nvSpPr>
          <p:cNvPr id="15" name="Shape 12"/>
          <p:cNvSpPr/>
          <p:nvPr/>
        </p:nvSpPr>
        <p:spPr>
          <a:xfrm>
            <a:off x="6172200" y="2011680"/>
            <a:ext cx="5394960" cy="713232"/>
          </a:xfrm>
          <a:prstGeom prst="roundRect">
            <a:avLst>
              <a:gd name="adj" fmla="val 10256"/>
            </a:avLst>
          </a:prstGeom>
          <a:solidFill>
            <a:srgbClr val="FFFFFF"/>
          </a:solidFill>
          <a:ln w="22225">
            <a:solidFill>
              <a:srgbClr val="E4572E"/>
            </a:solidFill>
            <a:prstDash val="solid"/>
          </a:ln>
        </p:spPr>
      </p:sp>
      <p:sp>
        <p:nvSpPr>
          <p:cNvPr id="16" name="Text 13"/>
          <p:cNvSpPr txBox="1"/>
          <p:nvPr/>
        </p:nvSpPr>
        <p:spPr>
          <a:xfrm>
            <a:off x="6355080" y="2011680"/>
            <a:ext cx="2377440" cy="713232"/>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[auth]</a:t>
            </a:r>
            <a:endParaRPr lang="en-US" sz="1400" dirty="0"/>
          </a:p>
        </p:txBody>
      </p:sp>
      <p:sp>
        <p:nvSpPr>
          <p:cNvPr id="17" name="Text 14"/>
          <p:cNvSpPr txBox="1"/>
          <p:nvPr/>
        </p:nvSpPr>
        <p:spPr>
          <a:xfrm>
            <a:off x="8549640" y="2011680"/>
            <a:ext cx="2834640" cy="713232"/>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OIDC · admin key · token proxy · tickets</a:t>
            </a:r>
            <a:endParaRPr lang="en-US" sz="950" dirty="0"/>
          </a:p>
        </p:txBody>
      </p:sp>
      <p:sp>
        <p:nvSpPr>
          <p:cNvPr id="18" name="Shape 15"/>
          <p:cNvSpPr/>
          <p:nvPr/>
        </p:nvSpPr>
        <p:spPr>
          <a:xfrm>
            <a:off x="6172200" y="2834640"/>
            <a:ext cx="5394960" cy="713232"/>
          </a:xfrm>
          <a:prstGeom prst="roundRect">
            <a:avLst>
              <a:gd name="adj" fmla="val 10256"/>
            </a:avLst>
          </a:prstGeom>
          <a:solidFill>
            <a:srgbClr val="FFFFFF"/>
          </a:solidFill>
          <a:ln w="15875">
            <a:solidFill>
              <a:srgbClr val="0B7A75"/>
            </a:solidFill>
            <a:prstDash val="solid"/>
          </a:ln>
        </p:spPr>
      </p:sp>
      <p:sp>
        <p:nvSpPr>
          <p:cNvPr id="19" name="Text 16"/>
          <p:cNvSpPr txBox="1"/>
          <p:nvPr/>
        </p:nvSpPr>
        <p:spPr>
          <a:xfrm>
            <a:off x="6355080" y="2834640"/>
            <a:ext cx="2377440" cy="713232"/>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[web]</a:t>
            </a:r>
            <a:endParaRPr lang="en-US" sz="1400" dirty="0"/>
          </a:p>
        </p:txBody>
      </p:sp>
      <p:sp>
        <p:nvSpPr>
          <p:cNvPr id="20" name="Text 17"/>
          <p:cNvSpPr txBox="1"/>
          <p:nvPr/>
        </p:nvSpPr>
        <p:spPr>
          <a:xfrm>
            <a:off x="8549640" y="2834640"/>
            <a:ext cx="2834640" cy="713232"/>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health · error envelope · offline docs</a:t>
            </a:r>
            <a:endParaRPr lang="en-US" sz="950" dirty="0"/>
          </a:p>
        </p:txBody>
      </p:sp>
      <p:sp>
        <p:nvSpPr>
          <p:cNvPr id="21" name="Shape 18"/>
          <p:cNvSpPr/>
          <p:nvPr/>
        </p:nvSpPr>
        <p:spPr>
          <a:xfrm>
            <a:off x="6172200" y="3657600"/>
            <a:ext cx="5394960" cy="713232"/>
          </a:xfrm>
          <a:prstGeom prst="roundRect">
            <a:avLst>
              <a:gd name="adj" fmla="val 10256"/>
            </a:avLst>
          </a:prstGeom>
          <a:solidFill>
            <a:srgbClr val="FFFFFF"/>
          </a:solidFill>
          <a:ln w="15875">
            <a:solidFill>
              <a:srgbClr val="0B7A75"/>
            </a:solidFill>
            <a:prstDash val="solid"/>
          </a:ln>
        </p:spPr>
      </p:sp>
      <p:sp>
        <p:nvSpPr>
          <p:cNvPr id="22" name="Text 19"/>
          <p:cNvSpPr txBox="1"/>
          <p:nvPr/>
        </p:nvSpPr>
        <p:spPr>
          <a:xfrm>
            <a:off x="6355080" y="3657600"/>
            <a:ext cx="2377440" cy="713232"/>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core</a:t>
            </a:r>
            <a:endParaRPr lang="en-US" sz="1400" dirty="0"/>
          </a:p>
        </p:txBody>
      </p:sp>
      <p:sp>
        <p:nvSpPr>
          <p:cNvPr id="23" name="Text 20"/>
          <p:cNvSpPr txBox="1"/>
          <p:nvPr/>
        </p:nvSpPr>
        <p:spPr>
          <a:xfrm>
            <a:off x="8549640" y="3657600"/>
            <a:ext cx="2834640" cy="713232"/>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errors · names · logging · request id</a:t>
            </a:r>
            <a:endParaRPr lang="en-US" sz="950" dirty="0"/>
          </a:p>
        </p:txBody>
      </p:sp>
      <p:sp>
        <p:nvSpPr>
          <p:cNvPr id="24" name="Text 21"/>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22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WHAT WE BUILT</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4200" b="1" dirty="0">
                <a:solidFill>
                  <a:srgbClr val="1B1F2A"/>
                </a:solidFill>
                <a:latin typeface="Century Schoolbook" pitchFamily="34" charset="0"/>
                <a:ea typeface="Century Schoolbook" pitchFamily="34" charset="-122"/>
                <a:cs typeface="Century Schoolbook" pitchFamily="34" charset="-120"/>
              </a:rPr>
              <a:t>Code in, a running service out.</a:t>
            </a:r>
            <a:endParaRPr lang="en-US" sz="4200" dirty="0"/>
          </a:p>
        </p:txBody>
      </p:sp>
      <p:sp>
        <p:nvSpPr>
          <p:cNvPr id="5" name="step:1"/>
          <p:cNvSpPr txBox="1"/>
          <p:nvPr/>
        </p:nvSpPr>
        <p:spPr>
          <a:xfrm>
            <a:off x="640080"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4</a:t>
            </a:r>
            <a:endParaRPr lang="en-US" sz="4800" dirty="0"/>
          </a:p>
        </p:txBody>
      </p:sp>
      <p:sp>
        <p:nvSpPr>
          <p:cNvPr id="6" name="step:1"/>
          <p:cNvSpPr txBox="1"/>
          <p:nvPr/>
        </p:nvSpPr>
        <p:spPr>
          <a:xfrm>
            <a:off x="640080"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repositories</a:t>
            </a:r>
            <a:endParaRPr lang="en-US" sz="1050" dirty="0"/>
          </a:p>
        </p:txBody>
      </p:sp>
      <p:sp>
        <p:nvSpPr>
          <p:cNvPr id="7" name="step:2"/>
          <p:cNvSpPr txBox="1"/>
          <p:nvPr/>
        </p:nvSpPr>
        <p:spPr>
          <a:xfrm>
            <a:off x="2496769"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3</a:t>
            </a:r>
            <a:endParaRPr lang="en-US" sz="4800" dirty="0"/>
          </a:p>
        </p:txBody>
      </p:sp>
      <p:sp>
        <p:nvSpPr>
          <p:cNvPr id="8" name="step:2"/>
          <p:cNvSpPr txBox="1"/>
          <p:nvPr/>
        </p:nvSpPr>
        <p:spPr>
          <a:xfrm>
            <a:off x="2496769"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services</a:t>
            </a:r>
            <a:endParaRPr lang="en-US" sz="1050" dirty="0"/>
          </a:p>
        </p:txBody>
      </p:sp>
      <p:sp>
        <p:nvSpPr>
          <p:cNvPr id="9" name="step:3"/>
          <p:cNvSpPr txBox="1"/>
          <p:nvPr/>
        </p:nvSpPr>
        <p:spPr>
          <a:xfrm>
            <a:off x="4353458"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23</a:t>
            </a:r>
            <a:endParaRPr lang="en-US" sz="4800" dirty="0"/>
          </a:p>
        </p:txBody>
      </p:sp>
      <p:sp>
        <p:nvSpPr>
          <p:cNvPr id="10" name="step:3"/>
          <p:cNvSpPr txBox="1"/>
          <p:nvPr/>
        </p:nvSpPr>
        <p:spPr>
          <a:xfrm>
            <a:off x="4353458"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endpoints</a:t>
            </a:r>
            <a:endParaRPr lang="en-US" sz="1050" dirty="0"/>
          </a:p>
        </p:txBody>
      </p:sp>
      <p:sp>
        <p:nvSpPr>
          <p:cNvPr id="11" name="step:4"/>
          <p:cNvSpPr txBox="1"/>
          <p:nvPr/>
        </p:nvSpPr>
        <p:spPr>
          <a:xfrm>
            <a:off x="6210148"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2</a:t>
            </a:r>
            <a:endParaRPr lang="en-US" sz="4800" dirty="0"/>
          </a:p>
        </p:txBody>
      </p:sp>
      <p:sp>
        <p:nvSpPr>
          <p:cNvPr id="12" name="step:4"/>
          <p:cNvSpPr txBox="1"/>
          <p:nvPr/>
        </p:nvSpPr>
        <p:spPr>
          <a:xfrm>
            <a:off x="6210148"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regions</a:t>
            </a:r>
            <a:endParaRPr lang="en-US" sz="1050" dirty="0"/>
          </a:p>
        </p:txBody>
      </p:sp>
      <p:sp>
        <p:nvSpPr>
          <p:cNvPr id="13" name="step:5"/>
          <p:cNvSpPr txBox="1"/>
          <p:nvPr/>
        </p:nvSpPr>
        <p:spPr>
          <a:xfrm>
            <a:off x="8066837"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3</a:t>
            </a:r>
            <a:endParaRPr lang="en-US" sz="4800" dirty="0"/>
          </a:p>
        </p:txBody>
      </p:sp>
      <p:sp>
        <p:nvSpPr>
          <p:cNvPr id="14" name="step:5"/>
          <p:cNvSpPr txBox="1"/>
          <p:nvPr/>
        </p:nvSpPr>
        <p:spPr>
          <a:xfrm>
            <a:off x="8066837"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runtimes</a:t>
            </a:r>
            <a:endParaRPr lang="en-US" sz="1050" dirty="0"/>
          </a:p>
        </p:txBody>
      </p:sp>
      <p:sp>
        <p:nvSpPr>
          <p:cNvPr id="15" name="step:6"/>
          <p:cNvSpPr txBox="1"/>
          <p:nvPr/>
        </p:nvSpPr>
        <p:spPr>
          <a:xfrm>
            <a:off x="9923526"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0</a:t>
            </a:r>
            <a:endParaRPr lang="en-US" sz="4800" dirty="0"/>
          </a:p>
        </p:txBody>
      </p:sp>
      <p:sp>
        <p:nvSpPr>
          <p:cNvPr id="16" name="step:6"/>
          <p:cNvSpPr txBox="1"/>
          <p:nvPr/>
        </p:nvSpPr>
        <p:spPr>
          <a:xfrm>
            <a:off x="9923526"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kubectl</a:t>
            </a:r>
            <a:endParaRPr lang="en-US" sz="1050" dirty="0"/>
          </a:p>
        </p:txBody>
      </p:sp>
      <p:sp>
        <p:nvSpPr>
          <p:cNvPr id="17" name="step:7"/>
          <p:cNvSpPr/>
          <p:nvPr/>
        </p:nvSpPr>
        <p:spPr>
          <a:xfrm>
            <a:off x="640080" y="3922776"/>
            <a:ext cx="109728" cy="109728"/>
          </a:xfrm>
          <a:prstGeom prst="rect">
            <a:avLst/>
          </a:prstGeom>
          <a:solidFill>
            <a:srgbClr val="E4572E"/>
          </a:solidFill>
          <a:ln w="12700">
            <a:solidFill>
              <a:srgbClr val="E4572E"/>
            </a:solidFill>
            <a:prstDash val="solid"/>
          </a:ln>
        </p:spPr>
      </p:sp>
      <p:sp>
        <p:nvSpPr>
          <p:cNvPr id="18" name="step:7"/>
          <p:cNvSpPr txBox="1"/>
          <p:nvPr/>
        </p:nvSpPr>
        <p:spPr>
          <a:xfrm>
            <a:off x="932688" y="374904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Operator owns Knative; we own the contract</a:t>
            </a:r>
            <a:endParaRPr lang="en-US" sz="1800" dirty="0"/>
          </a:p>
        </p:txBody>
      </p:sp>
      <p:sp>
        <p:nvSpPr>
          <p:cNvPr id="19" name="step:8"/>
          <p:cNvSpPr/>
          <p:nvPr/>
        </p:nvSpPr>
        <p:spPr>
          <a:xfrm>
            <a:off x="640080" y="4425696"/>
            <a:ext cx="109728" cy="109728"/>
          </a:xfrm>
          <a:prstGeom prst="rect">
            <a:avLst/>
          </a:prstGeom>
          <a:solidFill>
            <a:srgbClr val="E4572E"/>
          </a:solidFill>
          <a:ln w="12700">
            <a:solidFill>
              <a:srgbClr val="E4572E"/>
            </a:solidFill>
            <a:prstDash val="solid"/>
          </a:ln>
        </p:spPr>
      </p:sp>
      <p:sp>
        <p:nvSpPr>
          <p:cNvPr id="20" name="step:8"/>
          <p:cNvSpPr txBox="1"/>
          <p:nvPr/>
        </p:nvSpPr>
        <p:spPr>
          <a:xfrm>
            <a:off x="932688" y="425196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Deterministic specs, so no leader</a:t>
            </a:r>
            <a:endParaRPr lang="en-US" sz="1800" dirty="0"/>
          </a:p>
        </p:txBody>
      </p:sp>
      <p:sp>
        <p:nvSpPr>
          <p:cNvPr id="21" name="step:9"/>
          <p:cNvSpPr/>
          <p:nvPr/>
        </p:nvSpPr>
        <p:spPr>
          <a:xfrm>
            <a:off x="640080" y="4928616"/>
            <a:ext cx="109728" cy="109728"/>
          </a:xfrm>
          <a:prstGeom prst="rect">
            <a:avLst/>
          </a:prstGeom>
          <a:solidFill>
            <a:srgbClr val="E4572E"/>
          </a:solidFill>
          <a:ln w="12700">
            <a:solidFill>
              <a:srgbClr val="E4572E"/>
            </a:solidFill>
            <a:prstDash val="solid"/>
          </a:ln>
        </p:spPr>
      </p:sp>
      <p:sp>
        <p:nvSpPr>
          <p:cNvPr id="22" name="step:9"/>
          <p:cNvSpPr txBox="1"/>
          <p:nvPr/>
        </p:nvSpPr>
        <p:spPr>
          <a:xfrm>
            <a:off x="932688" y="475488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Builds declared, watched, rolled in</a:t>
            </a:r>
            <a:endParaRPr lang="en-US" sz="1800" dirty="0"/>
          </a:p>
        </p:txBody>
      </p:sp>
      <p:sp>
        <p:nvSpPr>
          <p:cNvPr id="23" name="step:10"/>
          <p:cNvSpPr/>
          <p:nvPr/>
        </p:nvSpPr>
        <p:spPr>
          <a:xfrm>
            <a:off x="640080" y="5431536"/>
            <a:ext cx="109728" cy="109728"/>
          </a:xfrm>
          <a:prstGeom prst="rect">
            <a:avLst/>
          </a:prstGeom>
          <a:solidFill>
            <a:srgbClr val="E4572E"/>
          </a:solidFill>
          <a:ln w="12700">
            <a:solidFill>
              <a:srgbClr val="E4572E"/>
            </a:solidFill>
            <a:prstDash val="solid"/>
          </a:ln>
        </p:spPr>
      </p:sp>
      <p:sp>
        <p:nvSpPr>
          <p:cNvPr id="24" name="step:10"/>
          <p:cNvSpPr txBox="1"/>
          <p:nvPr/>
        </p:nvSpPr>
        <p:spPr>
          <a:xfrm>
            <a:off x="932688" y="525780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The second product is cheaper</a:t>
            </a:r>
            <a:endParaRPr lang="en-US" sz="1800" dirty="0"/>
          </a:p>
        </p:txBody>
      </p:sp>
      <p:sp>
        <p:nvSpPr>
          <p:cNvPr id="25" name="step:11"/>
          <p:cNvSpPr txBox="1"/>
          <p:nvPr/>
        </p:nvSpPr>
        <p:spPr>
          <a:xfrm>
            <a:off x="7772400" y="5303520"/>
            <a:ext cx="3749040" cy="640080"/>
          </a:xfrm>
          <a:prstGeom prst="rect">
            <a:avLst/>
          </a:prstGeom>
          <a:noFill/>
          <a:ln/>
        </p:spPr>
        <p:txBody>
          <a:bodyPr wrap="square" lIns="0" tIns="0" rIns="0" bIns="0" rtlCol="0" anchor="ctr"/>
          <a:lstStyle/>
          <a:p>
            <a:pPr algn="r" indent="0" marL="0">
              <a:buNone/>
            </a:pPr>
            <a:r>
              <a:rPr lang="en-US" sz="2600" b="1" dirty="0">
                <a:solidFill>
                  <a:srgbClr val="1B1F2A"/>
                </a:solidFill>
                <a:latin typeface="Century Schoolbook" pitchFamily="34" charset="0"/>
                <a:ea typeface="Century Schoolbook" pitchFamily="34" charset="-122"/>
                <a:cs typeface="Century Schoolbook" pitchFamily="34" charset="-120"/>
              </a:rPr>
              <a:t>Thank you. Questions?</a:t>
            </a:r>
            <a:endParaRPr lang="en-US" sz="2600" dirty="0"/>
          </a:p>
        </p:txBody>
      </p:sp>
      <p:sp>
        <p:nvSpPr>
          <p:cNvPr id="26" name="Text 23"/>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23 / 23</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childTnLst>
                          </p:cTn>
                        </p:par>
                      </p:childTnLst>
                    </p:cTn>
                  </p:par>
                  <p:par>
                    <p:cTn id="41" fill="hold">
                      <p:stCondLst>
                        <p:cond delay="indefinite"/>
                      </p:stCondLst>
                      <p:childTnLst>
                        <p:par>
                          <p:cTn id="42"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00"/>
                                        <p:tgtEl>
                                          <p:spTgt spid="14"/>
                                        </p:tgtEl>
                                      </p:cBhvr>
                                    </p:animEffect>
                                  </p:childTnLst>
                                </p:cTn>
                              </p:par>
                            </p:childTnLst>
                          </p:cTn>
                        </p:par>
                      </p:childTnLst>
                    </p:cTn>
                  </p:par>
                  <p:par>
                    <p:cTn id="49" fill="hold">
                      <p:stCondLst>
                        <p:cond delay="indefinite"/>
                      </p:stCondLst>
                      <p:childTnLst>
                        <p:par>
                          <p:cTn id="50"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0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00"/>
                                        <p:tgtEl>
                                          <p:spTgt spid="16"/>
                                        </p:tgtEl>
                                      </p:cBhvr>
                                    </p:animEffect>
                                  </p:childTnLst>
                                </p:cTn>
                              </p:par>
                            </p:childTnLst>
                          </p:cTn>
                        </p:par>
                      </p:childTnLst>
                    </p:cTn>
                  </p:par>
                  <p:par>
                    <p:cTn id="57" fill="hold">
                      <p:stCondLst>
                        <p:cond delay="indefinite"/>
                      </p:stCondLst>
                      <p:childTnLst>
                        <p:par>
                          <p:cTn id="58"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400"/>
                                        <p:tgtEl>
                                          <p:spTgt spid="17"/>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400"/>
                                        <p:tgtEl>
                                          <p:spTgt spid="18"/>
                                        </p:tgtEl>
                                      </p:cBhvr>
                                    </p:animEffect>
                                  </p:childTnLst>
                                </p:cTn>
                              </p:par>
                            </p:childTnLst>
                          </p:cTn>
                        </p:par>
                      </p:childTnLst>
                    </p:cTn>
                  </p:par>
                  <p:par>
                    <p:cTn id="65" fill="hold">
                      <p:stCondLst>
                        <p:cond delay="indefinite"/>
                      </p:stCondLst>
                      <p:childTnLst>
                        <p:par>
                          <p:cTn id="66"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400"/>
                                        <p:tgtEl>
                                          <p:spTgt spid="1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400"/>
                                        <p:tgtEl>
                                          <p:spTgt spid="20"/>
                                        </p:tgtEl>
                                      </p:cBhvr>
                                    </p:animEffect>
                                  </p:childTnLst>
                                </p:cTn>
                              </p:par>
                            </p:childTnLst>
                          </p:cTn>
                        </p:par>
                      </p:childTnLst>
                    </p:cTn>
                  </p:par>
                  <p:par>
                    <p:cTn id="73" fill="hold">
                      <p:stCondLst>
                        <p:cond delay="indefinite"/>
                      </p:stCondLst>
                      <p:childTnLst>
                        <p:par>
                          <p:cTn id="74" fill="hold">
                            <p:stCondLst>
                              <p:cond delay="0"/>
                            </p:stCondLst>
                            <p:childTnLst>
                              <p:par>
                                <p:cTn id="67" presetID="10" presetClass="entr" presetSubtype="0" fill="hold" grpId="0" nodeType="clickEffect">
                                  <p:stCondLst>
                                    <p:cond delay="0"/>
                                  </p:stCondLst>
                                  <p:childTnLst>
                                    <p:set>
                                      <p:cBhvr>
                                        <p:cTn id="68" dur="1" fill="hold">
                                          <p:stCondLst>
                                            <p:cond delay="0"/>
                                          </p:stCondLst>
                                        </p:cTn>
                                        <p:tgtEl>
                                          <p:spTgt spid="21"/>
                                        </p:tgtEl>
                                        <p:attrNameLst>
                                          <p:attrName>style.visibility</p:attrName>
                                        </p:attrNameLst>
                                      </p:cBhvr>
                                      <p:to>
                                        <p:strVal val="visible"/>
                                      </p:to>
                                    </p:set>
                                    <p:animEffect transition="in" filter="fade">
                                      <p:cBhvr>
                                        <p:cTn id="69" dur="400"/>
                                        <p:tgtEl>
                                          <p:spTgt spid="2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400"/>
                                        <p:tgtEl>
                                          <p:spTgt spid="22"/>
                                        </p:tgtEl>
                                      </p:cBhvr>
                                    </p:animEffect>
                                  </p:childTnLst>
                                </p:cTn>
                              </p:par>
                            </p:childTnLst>
                          </p:cTn>
                        </p:par>
                      </p:childTnLst>
                    </p:cTn>
                  </p:par>
                  <p:par>
                    <p:cTn id="81" fill="hold">
                      <p:stCondLst>
                        <p:cond delay="indefinite"/>
                      </p:stCondLst>
                      <p:childTnLst>
                        <p:par>
                          <p:cTn id="82"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23"/>
                                        </p:tgtEl>
                                        <p:attrNameLst>
                                          <p:attrName>style.visibility</p:attrName>
                                        </p:attrNameLst>
                                      </p:cBhvr>
                                      <p:to>
                                        <p:strVal val="visible"/>
                                      </p:to>
                                    </p:set>
                                    <p:animEffect transition="in" filter="fade">
                                      <p:cBhvr>
                                        <p:cTn id="77" dur="400"/>
                                        <p:tgtEl>
                                          <p:spTgt spid="23"/>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400"/>
                                        <p:tgtEl>
                                          <p:spTgt spid="24"/>
                                        </p:tgtEl>
                                      </p:cBhvr>
                                    </p:animEffect>
                                  </p:childTnLst>
                                </p:cTn>
                              </p:par>
                            </p:childTnLst>
                          </p:cTn>
                        </p:par>
                      </p:childTnLst>
                    </p:cTn>
                  </p:par>
                  <p:par>
                    <p:cTn id="86" fill="hold">
                      <p:stCondLst>
                        <p:cond delay="indefinite"/>
                      </p:stCondLst>
                      <p:childTnLst>
                        <p:par>
                          <p:cTn id="87"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25"/>
                                        </p:tgtEl>
                                        <p:attrNameLst>
                                          <p:attrName>style.visibility</p:attrName>
                                        </p:attrNameLst>
                                      </p:cBhvr>
                                      <p:to>
                                        <p:strVal val="visible"/>
                                      </p:to>
                                    </p:set>
                                    <p:animEffect transition="in" filter="fade">
                                      <p:cBhvr>
                                        <p:cTn id="85"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Knative to the Portal</dc:title>
  <dc:subject>PptxGenJS Presentation</dc:subject>
  <dc:creator>PptxGenJS</dc:creator>
  <cp:lastModifiedBy>PptxGenJS</cp:lastModifiedBy>
  <cp:revision>1</cp:revision>
  <dcterms:created xsi:type="dcterms:W3CDTF">2026-09-04T14:28:06Z</dcterms:created>
  <dcterms:modified xsi:type="dcterms:W3CDTF">2026-09-04T14:28:06Z</dcterms:modified>
</cp:coreProperties>
</file>