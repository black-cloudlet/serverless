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is a billing and operations model, not a technology. Scale to zero is the defining property: an idle workload costs nothing and needs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trade-offs before the architecture. Cost: nothing when idle, but a hot loop of requests is billed per request. Ops: no patching, but you cannot tune the kernel or the runtime. Scale: automatic in both directions, but the first request after idle pays a cold start. Speed: a function ships in minutes, but the deployment model is the platform's. Fit: request-driven and bursty workloads win; long-running or stateful jobs do not belong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objects the team writes every day. A Deployment runs the code, a Service plus an Ingress reaches it, an HPA scales it but never below one, a rolling update replaces it. Knative Serving covers the same needs with one object and adds what plain Kubernetes lacks: immutable revisions you can route between, and scaling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owns a Configuration and a Route. Every change to the Configuration stamps a new immutable Revision; old ones stay addressable. The Route decides which revisions receive traffic and in what split. A DomainMapping attaches a hostname of your choosing, which is how we give one workload the same address in both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Knative Pod Autoscaler measures in-flight requests per revision. When nothing arrives, the revision drops to zero pods and the Activator takes its place in the data path. The next request is held by the Activator, which asks the KPA for capacity; pods start, the request is forwarded, and once the revision is healthy the Activator steps out of the path. Bursts scale out up to the maxScale the API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Upstream would mean maintaining the install, the ingress, the Routes and the mirror ourselves, with community support. The chart assumes the operator's conventions and the API holds no routes RBAC. Recorded in docs/DEPLOYING.md and the locked decisions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FastAPI control plane. Every write validates synchronously then returns 202 with a statusUrl; the status vocabulary is closed and published on /info so no client hardcodes it. One Helm chart, rendered by ArgoCD once per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Ten endpoints per offering, two public info endpoints, one ticket mint. The Authorization header carries either a Keycloak JWT or the static admin key.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map to CPU request-only and memory request equals limit. Concurrency and rps use the KPA and can scale to zero; cpu and memory switch to HPA. Failed always carries a machine-readable reason. PUT is a full replace but keeps redacted secrets when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kubeconfig and no service-account path. cert-manager issues an ACME client certificate; its CN is a DNS name because ACME only issues to DNS identities, and that CN is the Kubernetes user RBAC binds.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OpenShift clusters trusting the same CA. The API runs in both; DNS fronts the active one. A deploy fans out to both concurrently and rolls up per-region results. No leader election: specs contain no timestamps, UUIDs or counters, so two writers converge. Each region builds into its own registry.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 is run this image. A function is here is my repo, which means a build: asynchronous, retried, observable per phase, and fired automatically when a stack or buildpack is patched. That last property is why kpack was chosen over Tekton or func.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Dockerfile: Paketo buildpacks detect the language from the repo. Rebase swaps the run image without a rebuild. Our kpack repo is not a fork; it is a Helm chart packaging upstream 0.18 with the airgap pieces. The serverless chart composes the three ClusterBuilders because composing is 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SourceResolver to Build to Pod. The CNB lifecycle runs as named init containers, so every phase has its own log. Five build reasons; BUILDPACK and STACK fire with no user action. Images go to the region registry; the layer cache is a registry tag. A Kyverno policy injects the CA into initContainers.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Exactly one writer per phase, and the controller only ever writes digests. It ships without a web stack, and CI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Object Storage has its env hook. Adding an offering is data, not code. The shell is generic; the serverless tree is the only product-specific part. Next: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Two APIs normalizing groups differently is an authorization bug. Next extraction candidates: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auto:0:fade"/>
          <p:cNvSpPr txBox="1"/>
          <p:nvPr/>
        </p:nvSpPr>
        <p:spPr>
          <a:xfrm>
            <a:off x="640080" y="1828800"/>
            <a:ext cx="7315200" cy="320040"/>
          </a:xfrm>
          <a:prstGeom prst="rect">
            <a:avLst/>
          </a:prstGeom>
          <a:noFill/>
          <a:ln/>
        </p:spPr>
        <p:txBody>
          <a:bodyPr wrap="square" lIns="0" tIns="0" rIns="0" bIns="0" rtlCol="0" anchor="ctr"/>
          <a:lstStyle/>
          <a:p>
            <a:pPr indent="0" marL="0">
              <a:buNone/>
            </a:pPr>
            <a:r>
              <a:rPr lang="en-US" sz="1200" b="1" spc="400" kern="0" dirty="0">
                <a:solidFill>
                  <a:srgbClr val="E4572E"/>
                </a:solidFill>
                <a:latin typeface="Courier New" pitchFamily="34" charset="0"/>
                <a:ea typeface="Courier New" pitchFamily="34" charset="-122"/>
                <a:cs typeface="Courier New" pitchFamily="34" charset="-120"/>
              </a:rPr>
              <a:t>CLOUDLET'S SERVERLESS</a:t>
            </a:r>
            <a:endParaRPr lang="en-US" sz="1200" dirty="0"/>
          </a:p>
        </p:txBody>
      </p:sp>
      <p:sp>
        <p:nvSpPr>
          <p:cNvPr id="4" name="auto:1:zoom"/>
          <p:cNvSpPr txBox="1"/>
          <p:nvPr/>
        </p:nvSpPr>
        <p:spPr>
          <a:xfrm>
            <a:off x="640080" y="2194560"/>
            <a:ext cx="7680960" cy="1828800"/>
          </a:xfrm>
          <a:prstGeom prst="rect">
            <a:avLst/>
          </a:prstGeom>
          <a:noFill/>
          <a:ln/>
        </p:spPr>
        <p:txBody>
          <a:bodyPr wrap="square" lIns="0" tIns="0" rIns="0" bIns="0" rtlCol="0" anchor="ctr"/>
          <a:lstStyle/>
          <a:p>
            <a:pPr indent="0" marL="0">
              <a:lnSpc>
                <a:spcPct val="95000"/>
              </a:lnSpc>
              <a:buNone/>
            </a:pPr>
            <a:r>
              <a:rPr lang="en-US" sz="6600" b="1" dirty="0">
                <a:solidFill>
                  <a:srgbClr val="1B1F2A"/>
                </a:solidFill>
                <a:latin typeface="Century Schoolbook" pitchFamily="34" charset="0"/>
                <a:ea typeface="Century Schoolbook" pitchFamily="34" charset="-122"/>
                <a:cs typeface="Century Schoolbook" pitchFamily="34" charset="-120"/>
              </a:rPr>
              <a:t>From Knative to the Portal</a:t>
            </a:r>
            <a:endParaRPr lang="en-US" sz="6600" dirty="0"/>
          </a:p>
        </p:txBody>
      </p:sp>
      <p:sp>
        <p:nvSpPr>
          <p:cNvPr id="5" name="auto:2:fade"/>
          <p:cNvSpPr txBox="1"/>
          <p:nvPr/>
        </p:nvSpPr>
        <p:spPr>
          <a:xfrm>
            <a:off x="640080" y="4114800"/>
            <a:ext cx="7315200" cy="548640"/>
          </a:xfrm>
          <a:prstGeom prst="rect">
            <a:avLst/>
          </a:prstGeom>
          <a:noFill/>
          <a:ln/>
        </p:spPr>
        <p:txBody>
          <a:bodyPr wrap="square" lIns="0" tIns="0" rIns="0" bIns="0" rtlCol="0" anchor="ctr"/>
          <a:lstStyle/>
          <a:p>
            <a:pPr indent="0" marL="0">
              <a:buNone/>
            </a:pPr>
            <a:r>
              <a:rPr lang="en-US" sz="2400" i="1" dirty="0">
                <a:solidFill>
                  <a:srgbClr val="667085"/>
                </a:solidFill>
                <a:latin typeface="Century Schoolbook" pitchFamily="34" charset="0"/>
                <a:ea typeface="Century Schoolbook" pitchFamily="34" charset="-122"/>
                <a:cs typeface="Century Schoolbook" pitchFamily="34" charset="-120"/>
              </a:rPr>
              <a:t>What we built, and why.</a:t>
            </a:r>
            <a:endParaRPr lang="en-US" sz="2400" dirty="0"/>
          </a:p>
        </p:txBody>
      </p:sp>
      <p:sp>
        <p:nvSpPr>
          <p:cNvPr id="6" name="auto:3:fade"/>
          <p:cNvSpPr txBox="1"/>
          <p:nvPr/>
        </p:nvSpPr>
        <p:spPr>
          <a:xfrm>
            <a:off x="640080" y="4937760"/>
            <a:ext cx="5486400" cy="320040"/>
          </a:xfrm>
          <a:prstGeom prst="rect">
            <a:avLst/>
          </a:prstGeom>
          <a:noFill/>
          <a:ln/>
        </p:spPr>
        <p:txBody>
          <a:bodyPr wrap="square" lIns="0" tIns="0" rIns="0" bIns="0" rtlCol="0" anchor="ctr"/>
          <a:lstStyle/>
          <a:p>
            <a:pPr indent="0" marL="0">
              <a:buNone/>
            </a:pPr>
            <a:r>
              <a:rPr lang="en-US" sz="1100" dirty="0">
                <a:solidFill>
                  <a:srgbClr val="667085"/>
                </a:solidFill>
                <a:latin typeface="Courier New" pitchFamily="34" charset="0"/>
                <a:ea typeface="Courier New" pitchFamily="34" charset="-122"/>
                <a:cs typeface="Courier New" pitchFamily="34" charset="-120"/>
              </a:rPr>
              <a:t>Team review · September 2026</a:t>
            </a:r>
            <a:endParaRPr lang="en-US" sz="1100" dirty="0"/>
          </a:p>
        </p:txBody>
      </p:sp>
      <p:sp>
        <p:nvSpPr>
          <p:cNvPr id="7" name="auto:4:wipeD"/>
          <p:cNvSpPr/>
          <p:nvPr/>
        </p:nvSpPr>
        <p:spPr>
          <a:xfrm>
            <a:off x="9601200" y="2971800"/>
            <a:ext cx="914400" cy="914400"/>
          </a:xfrm>
          <a:prstGeom prst="ellipse">
            <a:avLst/>
          </a:prstGeom>
          <a:solidFill>
            <a:srgbClr val="FFFFFF">
              <a:alpha val="0"/>
            </a:srgbClr>
          </a:solidFill>
          <a:ln w="19050">
            <a:solidFill>
              <a:srgbClr val="E4572E">
                <a:alpha val="20000"/>
              </a:srgbClr>
            </a:solidFill>
            <a:prstDash val="solid"/>
          </a:ln>
        </p:spPr>
      </p:sp>
      <p:sp>
        <p:nvSpPr>
          <p:cNvPr id="8" name="auto:5:wipeD"/>
          <p:cNvSpPr/>
          <p:nvPr/>
        </p:nvSpPr>
        <p:spPr>
          <a:xfrm>
            <a:off x="9281160" y="2651760"/>
            <a:ext cx="1554480" cy="1554480"/>
          </a:xfrm>
          <a:prstGeom prst="ellipse">
            <a:avLst/>
          </a:prstGeom>
          <a:solidFill>
            <a:srgbClr val="FFFFFF">
              <a:alpha val="0"/>
            </a:srgbClr>
          </a:solidFill>
          <a:ln w="19050">
            <a:solidFill>
              <a:srgbClr val="E4572E">
                <a:alpha val="45000"/>
              </a:srgbClr>
            </a:solidFill>
            <a:prstDash val="solid"/>
          </a:ln>
        </p:spPr>
      </p:sp>
      <p:sp>
        <p:nvSpPr>
          <p:cNvPr id="9" name="auto:6:wipeD"/>
          <p:cNvSpPr/>
          <p:nvPr/>
        </p:nvSpPr>
        <p:spPr>
          <a:xfrm>
            <a:off x="8961120" y="2331720"/>
            <a:ext cx="2194560" cy="2194560"/>
          </a:xfrm>
          <a:prstGeom prst="ellipse">
            <a:avLst/>
          </a:prstGeom>
          <a:solidFill>
            <a:srgbClr val="FFFFFF">
              <a:alpha val="0"/>
            </a:srgbClr>
          </a:solidFill>
          <a:ln w="19050">
            <a:solidFill>
              <a:srgbClr val="E4572E">
                <a:alpha val="70000"/>
              </a:srgbClr>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2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400"/>
                                        <p:tgtEl>
                                          <p:spTgt spid="3"/>
                                        </p:tgtEl>
                                      </p:cBhvr>
                                    </p:animEffect>
                                  </p:childTnLst>
                                </p:cTn>
                              </p:par>
                              <p:par>
                                <p:cTn id="9" presetID="53" presetClass="entr" presetSubtype="0" fill="hold" grpId="0" nodeType="withEffect">
                                  <p:stCondLst>
                                    <p:cond delay="8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Scale>
                                      <p:cBhvr>
                                        <p:cTn id="8" dur="450" fill="hold"/>
                                        <p:tgtEl>
                                          <p:spTgt spid="4"/>
                                        </p:tgtEl>
                                      </p:cBhvr>
                                      <p:from x="60000" y="60000"/>
                                      <p:to x="100000" y="100000"/>
                                    </p:animScale>
                                  </p:childTnLst>
                                </p:cTn>
                              </p:par>
                              <p:par>
                                <p:cTn id="12" presetID="10" presetClass="entr" presetSubtype="0" fill="hold" grpId="0" nodeType="withEffect">
                                  <p:stCondLst>
                                    <p:cond delay="1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00"/>
                                        <p:tgtEl>
                                          <p:spTgt spid="5"/>
                                        </p:tgtEl>
                                      </p:cBhvr>
                                    </p:animEffect>
                                  </p:childTnLst>
                                </p:cTn>
                              </p:par>
                              <p:par>
                                <p:cTn id="15" presetID="10" presetClass="entr" presetSubtype="0" fill="hold" grpId="0" nodeType="withEffect">
                                  <p:stCondLst>
                                    <p:cond delay="24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00"/>
                                        <p:tgtEl>
                                          <p:spTgt spid="6"/>
                                        </p:tgtEl>
                                      </p:cBhvr>
                                    </p:animEffect>
                                  </p:childTnLst>
                                </p:cTn>
                              </p:par>
                              <p:par>
                                <p:cTn id="18" presetID="22" presetClass="entr" presetSubtype="4" fill="hold" grpId="0" nodeType="withEffect">
                                  <p:stCondLst>
                                    <p:cond delay="32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350"/>
                                        <p:tgtEl>
                                          <p:spTgt spid="7"/>
                                        </p:tgtEl>
                                      </p:cBhvr>
                                    </p:animEffect>
                                  </p:childTnLst>
                                </p:cTn>
                              </p:par>
                              <p:par>
                                <p:cTn id="21" presetID="22" presetClass="entr" presetSubtype="4"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Effect transition="in" filter="wipe(down)">
                                      <p:cBhvr>
                                        <p:cTn id="20" dur="350"/>
                                        <p:tgtEl>
                                          <p:spTgt spid="8"/>
                                        </p:tgtEl>
                                      </p:cBhvr>
                                    </p:animEffect>
                                  </p:childTnLst>
                                </p:cTn>
                              </p:par>
                              <p:par>
                                <p:cTn id="24" presetID="22" presetClass="entr" presetSubtype="4" fill="hold" grpId="0" nodeType="withEffect">
                                  <p:stCondLst>
                                    <p:cond delay="480"/>
                                  </p:stCondLst>
                                  <p:childTnLst>
                                    <p:set>
                                      <p:cBhvr>
                                        <p:cTn id="22" dur="1" fill="hold">
                                          <p:stCondLst>
                                            <p:cond delay="0"/>
                                          </p:stCondLst>
                                        </p:cTn>
                                        <p:tgtEl>
                                          <p:spTgt spid="9"/>
                                        </p:tgtEl>
                                        <p:attrNameLst>
                                          <p:attrName>style.visibility</p:attrName>
                                        </p:attrNameLst>
                                      </p:cBhvr>
                                      <p:to>
                                        <p:strVal val="visible"/>
                                      </p:to>
                                    </p:set>
                                    <p:animEffect transition="in" filter="wipe(down)">
                                      <p:cBhvr>
                                        <p:cTn id="23"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TODAY</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we'll talk about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What is serverless computing</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What is Knative and OpenShift Serverless Operator</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active-active Knative wrapper</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Functions: buildpacks, kpack, build controller</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portal and cloudlet-apis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Where we go next</a:t>
            </a:r>
            <a:endParaRPr lang="en-US" sz="1700" dirty="0"/>
          </a:p>
        </p:txBody>
      </p:sp>
      <p:sp>
        <p:nvSpPr>
          <p:cNvPr id="17"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26</a:t>
            </a:r>
            <a:endParaRPr lang="en-US" sz="5400" dirty="0"/>
          </a:p>
        </p:txBody>
      </p:sp>
      <p:sp>
        <p:nvSpPr>
          <p:cNvPr id="18"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slides · six topics · one platform</a:t>
            </a:r>
            <a:endParaRPr lang="en-US" sz="1100" dirty="0"/>
          </a:p>
        </p:txBody>
      </p:sp>
      <p:sp>
        <p:nvSpPr>
          <p:cNvPr id="19" name="Text 1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02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450"/>
                                        <p:tgtEl>
                                          <p:spTgt spid="17"/>
                                        </p:tgtEl>
                                      </p:cBhvr>
                                    </p:animEffect>
                                    <p:animScale>
                                      <p:cBhvr>
                                        <p:cTn id="5" dur="450" fill="hold"/>
                                        <p:tgtEl>
                                          <p:spTgt spid="17"/>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8"/>
                                        </p:tgtEl>
                                        <p:attrNameLst>
                                          <p:attrName>style.visibility</p:attrName>
                                        </p:attrNameLst>
                                      </p:cBhvr>
                                      <p:to>
                                        <p:strVal val="visible"/>
                                      </p:to>
                                    </p:set>
                                    <p:animEffect transition="in" filter="fade">
                                      <p:cBhvr>
                                        <p:cTn id="8"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par>
                    <p:cTn id="58" fill="hold">
                      <p:stCondLst>
                        <p:cond delay="indefinite"/>
                      </p:stCondLst>
                      <p:childTnLst>
                        <p:par>
                          <p:cTn id="59" fill="hold">
                            <p:stCondLst>
                              <p:cond delay="0"/>
                            </p:stCondLst>
                            <p:childTnLst>
                              <p:par>
                                <p:cTn id="54" presetID="22" presetClass="entr" presetSubtype="8" fill="hold" grpId="0" nodeType="click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wipe(left)">
                                      <p:cBhvr>
                                        <p:cTn id="53" dur="350"/>
                                        <p:tgtEl>
                                          <p:spTgt spid="15"/>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wipe(left)">
                                      <p:cBhvr>
                                        <p:cTn id="56"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serverless?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You bring code, not servers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to zero when idle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out when traffic arrives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Pay for requests, not hours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Nothing to patch, nothing to plan</a:t>
            </a:r>
            <a:endParaRPr lang="en-US" sz="1900" dirty="0"/>
          </a:p>
        </p:txBody>
      </p:sp>
      <p:sp>
        <p:nvSpPr>
          <p:cNvPr id="15"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0 → N → 0</a:t>
            </a:r>
            <a:endParaRPr lang="en-US" sz="5400" dirty="0"/>
          </a:p>
        </p:txBody>
      </p:sp>
      <p:sp>
        <p:nvSpPr>
          <p:cNvPr id="16"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replicas follow traffic</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03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Serverless: the trade-offs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Cheap when idle, pricey at peak</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Zero ops, but less control</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Elastic scale, but cold starts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Fast to ship, easy to lock in</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Fits bursty traffic, not long jobs</a:t>
            </a:r>
            <a:endParaRPr lang="en-US" sz="1900" dirty="0"/>
          </a:p>
        </p:txBody>
      </p:sp>
      <p:sp>
        <p:nvSpPr>
          <p:cNvPr id="15" name="auto:0: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PRO</a:t>
            </a:r>
            <a:endParaRPr lang="en-US" sz="900" dirty="0"/>
          </a:p>
        </p:txBody>
      </p:sp>
      <p:sp>
        <p:nvSpPr>
          <p:cNvPr id="16" name="auto:1: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CON</a:t>
            </a:r>
            <a:endParaRPr lang="en-US" sz="900" dirty="0"/>
          </a:p>
        </p:txBody>
      </p:sp>
      <p:sp>
        <p:nvSpPr>
          <p:cNvPr id="17" name="auto:2:fade"/>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Cost</a:t>
            </a:r>
            <a:endParaRPr lang="en-US" sz="1250" dirty="0"/>
          </a:p>
        </p:txBody>
      </p:sp>
      <p:sp>
        <p:nvSpPr>
          <p:cNvPr id="18" name="auto:3:fade"/>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Pay only when it runs</a:t>
            </a:r>
            <a:endParaRPr lang="en-US" sz="1250" dirty="0"/>
          </a:p>
        </p:txBody>
      </p:sp>
      <p:sp>
        <p:nvSpPr>
          <p:cNvPr id="19" name="auto:4:fade"/>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Bills spike under load</a:t>
            </a:r>
            <a:endParaRPr lang="en-US" sz="1250" dirty="0"/>
          </a:p>
        </p:txBody>
      </p:sp>
      <p:sp>
        <p:nvSpPr>
          <p:cNvPr id="20" name="auto:5:fade"/>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Ops</a:t>
            </a:r>
            <a:endParaRPr lang="en-US" sz="1250" dirty="0"/>
          </a:p>
        </p:txBody>
      </p:sp>
      <p:sp>
        <p:nvSpPr>
          <p:cNvPr id="21" name="auto:6:fade"/>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No servers to patch</a:t>
            </a:r>
            <a:endParaRPr lang="en-US" sz="1250" dirty="0"/>
          </a:p>
        </p:txBody>
      </p:sp>
      <p:sp>
        <p:nvSpPr>
          <p:cNvPr id="22" name="auto:7:fade"/>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Runtime is not yours</a:t>
            </a:r>
            <a:endParaRPr lang="en-US" sz="1250" dirty="0"/>
          </a:p>
        </p:txBody>
      </p:sp>
      <p:sp>
        <p:nvSpPr>
          <p:cNvPr id="23" name="auto:8:wipeL"/>
          <p:cNvSpPr/>
          <p:nvPr/>
        </p:nvSpPr>
        <p:spPr>
          <a:xfrm>
            <a:off x="6172200" y="3063240"/>
            <a:ext cx="5394960" cy="0"/>
          </a:xfrm>
          <a:prstGeom prst="line">
            <a:avLst/>
          </a:prstGeom>
          <a:noFill/>
          <a:ln w="6350">
            <a:solidFill>
              <a:srgbClr val="E4E7EC"/>
            </a:solidFill>
            <a:prstDash val="solid"/>
          </a:ln>
        </p:spPr>
      </p:sp>
      <p:sp>
        <p:nvSpPr>
          <p:cNvPr id="24" name="auto:9:fade"/>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Scale</a:t>
            </a:r>
            <a:endParaRPr lang="en-US" sz="1250" dirty="0"/>
          </a:p>
        </p:txBody>
      </p:sp>
      <p:sp>
        <p:nvSpPr>
          <p:cNvPr id="25" name="auto:10:fade"/>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Up and down by itself</a:t>
            </a:r>
            <a:endParaRPr lang="en-US" sz="1250" dirty="0"/>
          </a:p>
        </p:txBody>
      </p:sp>
      <p:sp>
        <p:nvSpPr>
          <p:cNvPr id="26" name="auto:11:fade"/>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Cold start on first hit</a:t>
            </a:r>
            <a:endParaRPr lang="en-US" sz="1250" dirty="0"/>
          </a:p>
        </p:txBody>
      </p:sp>
      <p:sp>
        <p:nvSpPr>
          <p:cNvPr id="27" name="auto:12:wipeL"/>
          <p:cNvSpPr/>
          <p:nvPr/>
        </p:nvSpPr>
        <p:spPr>
          <a:xfrm>
            <a:off x="6172200" y="3566160"/>
            <a:ext cx="5394960" cy="0"/>
          </a:xfrm>
          <a:prstGeom prst="line">
            <a:avLst/>
          </a:prstGeom>
          <a:noFill/>
          <a:ln w="6350">
            <a:solidFill>
              <a:srgbClr val="E4E7EC"/>
            </a:solidFill>
            <a:prstDash val="solid"/>
          </a:ln>
        </p:spPr>
      </p:sp>
      <p:sp>
        <p:nvSpPr>
          <p:cNvPr id="28" name="auto:13:fade"/>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Speed</a:t>
            </a:r>
            <a:endParaRPr lang="en-US" sz="1250" dirty="0"/>
          </a:p>
        </p:txBody>
      </p:sp>
      <p:sp>
        <p:nvSpPr>
          <p:cNvPr id="29" name="auto:14:fade"/>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A function in minutes</a:t>
            </a:r>
            <a:endParaRPr lang="en-US" sz="1250" dirty="0"/>
          </a:p>
        </p:txBody>
      </p:sp>
      <p:sp>
        <p:nvSpPr>
          <p:cNvPr id="30" name="auto:15:fade"/>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Platform lock-in</a:t>
            </a:r>
            <a:endParaRPr lang="en-US" sz="1250" dirty="0"/>
          </a:p>
        </p:txBody>
      </p:sp>
      <p:sp>
        <p:nvSpPr>
          <p:cNvPr id="31" name="auto:16:wipeL"/>
          <p:cNvSpPr/>
          <p:nvPr/>
        </p:nvSpPr>
        <p:spPr>
          <a:xfrm>
            <a:off x="6172200" y="4069080"/>
            <a:ext cx="5394960" cy="0"/>
          </a:xfrm>
          <a:prstGeom prst="line">
            <a:avLst/>
          </a:prstGeom>
          <a:noFill/>
          <a:ln w="6350">
            <a:solidFill>
              <a:srgbClr val="E4E7EC"/>
            </a:solidFill>
            <a:prstDash val="solid"/>
          </a:ln>
        </p:spPr>
      </p:sp>
      <p:sp>
        <p:nvSpPr>
          <p:cNvPr id="32" name="auto:17:fade"/>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Fit</a:t>
            </a:r>
            <a:endParaRPr lang="en-US" sz="1250" dirty="0"/>
          </a:p>
        </p:txBody>
      </p:sp>
      <p:sp>
        <p:nvSpPr>
          <p:cNvPr id="33" name="auto:18:fade"/>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Bursty, event-driven</a:t>
            </a:r>
            <a:endParaRPr lang="en-US" sz="1250" dirty="0"/>
          </a:p>
        </p:txBody>
      </p:sp>
      <p:sp>
        <p:nvSpPr>
          <p:cNvPr id="34" name="auto:19:fade"/>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Long-running jobs, state</a:t>
            </a:r>
            <a:endParaRPr lang="en-US" sz="1250" dirty="0"/>
          </a:p>
        </p:txBody>
      </p:sp>
      <p:sp>
        <p:nvSpPr>
          <p:cNvPr id="35" name="auto:20:wipeL"/>
          <p:cNvSpPr/>
          <p:nvPr/>
        </p:nvSpPr>
        <p:spPr>
          <a:xfrm>
            <a:off x="6172200" y="4572000"/>
            <a:ext cx="5394960" cy="0"/>
          </a:xfrm>
          <a:prstGeom prst="line">
            <a:avLst/>
          </a:prstGeom>
          <a:noFill/>
          <a:ln w="6350">
            <a:solidFill>
              <a:srgbClr val="E4E7EC"/>
            </a:solidFill>
            <a:prstDash val="solid"/>
          </a:ln>
        </p:spPr>
      </p:sp>
      <p:sp>
        <p:nvSpPr>
          <p:cNvPr id="36" name="Text 3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04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0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8"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left)">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8"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left)">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par>
                                <p:cTn id="53" presetID="22" presetClass="entr" presetSubtype="8"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left)">
                                      <p:cBhvr>
                                        <p:cTn id="52" dur="350"/>
                                        <p:tgtEl>
                                          <p:spTgt spid="3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400"/>
                                        <p:tgtEl>
                                          <p:spTgt spid="32"/>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400"/>
                                        <p:tgtEl>
                                          <p:spTgt spid="3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par>
                                <p:cTn id="65" presetID="22" presetClass="entr" presetSubtype="8"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left)">
                                      <p:cBhvr>
                                        <p:cTn id="64" dur="350"/>
                                        <p:tgtEl>
                                          <p:spTgt spid="35"/>
                                        </p:tgtEl>
                                      </p:cBhvr>
                                    </p:animEffect>
                                  </p:childTnLst>
                                </p:cTn>
                              </p:par>
                            </p:childTnLst>
                          </p:cTn>
                        </p:par>
                      </p:childTnLst>
                    </p:cTn>
                  </p:par>
                  <p:par>
                    <p:cTn id="74" fill="hold">
                      <p:stCondLst>
                        <p:cond delay="indefinite"/>
                      </p:stCondLst>
                      <p:childTnLst>
                        <p:par>
                          <p:cTn id="75"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5"/>
                                        </p:tgtEl>
                                        <p:attrNameLst>
                                          <p:attrName>style.visibility</p:attrName>
                                        </p:attrNameLst>
                                      </p:cBhvr>
                                      <p:to>
                                        <p:strVal val="visible"/>
                                      </p:to>
                                    </p:set>
                                    <p:animEffect transition="in" filter="wipe(left)">
                                      <p:cBhvr>
                                        <p:cTn id="69" dur="350"/>
                                        <p:tgtEl>
                                          <p:spTgt spid="5"/>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6"/>
                                        </p:tgtEl>
                                        <p:attrNameLst>
                                          <p:attrName>style.visibility</p:attrName>
                                        </p:attrNameLst>
                                      </p:cBhvr>
                                      <p:to>
                                        <p:strVal val="visible"/>
                                      </p:to>
                                    </p:set>
                                    <p:animEffect transition="in" filter="wipe(left)">
                                      <p:cBhvr>
                                        <p:cTn id="72" dur="350"/>
                                        <p:tgtEl>
                                          <p:spTgt spid="6"/>
                                        </p:tgtEl>
                                      </p:cBhvr>
                                    </p:animEffect>
                                  </p:childTnLst>
                                </p:cTn>
                              </p:par>
                            </p:childTnLst>
                          </p:cTn>
                        </p:par>
                      </p:childTnLst>
                    </p:cTn>
                  </p:par>
                  <p:par>
                    <p:cTn id="82" fill="hold">
                      <p:stCondLst>
                        <p:cond delay="indefinite"/>
                      </p:stCondLst>
                      <p:childTnLst>
                        <p:par>
                          <p:cTn id="83" fill="hold">
                            <p:stCondLst>
                              <p:cond delay="0"/>
                            </p:stCondLst>
                            <p:childTnLst>
                              <p:par>
                                <p:cTn id="78"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350"/>
                                        <p:tgtEl>
                                          <p:spTgt spid="7"/>
                                        </p:tgtEl>
                                      </p:cBhvr>
                                    </p:animEffect>
                                  </p:childTnLst>
                                </p:cTn>
                              </p:par>
                              <p:par>
                                <p:cTn id="81" presetID="22" presetClass="entr" presetSubtype="8" fill="hold" grpId="0" nodeType="withEffect">
                                  <p:stCondLst>
                                    <p:cond delay="0"/>
                                  </p:stCondLst>
                                  <p:childTnLst>
                                    <p:set>
                                      <p:cBhvr>
                                        <p:cTn id="79" dur="1" fill="hold">
                                          <p:stCondLst>
                                            <p:cond delay="0"/>
                                          </p:stCondLst>
                                        </p:cTn>
                                        <p:tgtEl>
                                          <p:spTgt spid="8"/>
                                        </p:tgtEl>
                                        <p:attrNameLst>
                                          <p:attrName>style.visibility</p:attrName>
                                        </p:attrNameLst>
                                      </p:cBhvr>
                                      <p:to>
                                        <p:strVal val="visible"/>
                                      </p:to>
                                    </p:set>
                                    <p:animEffect transition="in" filter="wipe(left)">
                                      <p:cBhvr>
                                        <p:cTn id="80" dur="350"/>
                                        <p:tgtEl>
                                          <p:spTgt spid="8"/>
                                        </p:tgtEl>
                                      </p:cBhvr>
                                    </p:animEffect>
                                  </p:childTnLst>
                                </p:cTn>
                              </p:par>
                            </p:childTnLst>
                          </p:cTn>
                        </p:par>
                      </p:childTnLst>
                    </p:cTn>
                  </p:par>
                  <p:par>
                    <p:cTn id="90" fill="hold">
                      <p:stCondLst>
                        <p:cond delay="indefinite"/>
                      </p:stCondLst>
                      <p:childTnLst>
                        <p:par>
                          <p:cTn id="91" fill="hold">
                            <p:stCondLst>
                              <p:cond delay="0"/>
                            </p:stCondLst>
                            <p:childTnLst>
                              <p:par>
                                <p:cTn id="86" presetID="22" presetClass="entr" presetSubtype="8" fill="hold" grpId="0" nodeType="clickEffect">
                                  <p:stCondLst>
                                    <p:cond delay="0"/>
                                  </p:stCondLst>
                                  <p:childTnLst>
                                    <p:set>
                                      <p:cBhvr>
                                        <p:cTn id="84" dur="1" fill="hold">
                                          <p:stCondLst>
                                            <p:cond delay="0"/>
                                          </p:stCondLst>
                                        </p:cTn>
                                        <p:tgtEl>
                                          <p:spTgt spid="9"/>
                                        </p:tgtEl>
                                        <p:attrNameLst>
                                          <p:attrName>style.visibility</p:attrName>
                                        </p:attrNameLst>
                                      </p:cBhvr>
                                      <p:to>
                                        <p:strVal val="visible"/>
                                      </p:to>
                                    </p:set>
                                    <p:animEffect transition="in" filter="wipe(left)">
                                      <p:cBhvr>
                                        <p:cTn id="85" dur="350"/>
                                        <p:tgtEl>
                                          <p:spTgt spid="9"/>
                                        </p:tgtEl>
                                      </p:cBhvr>
                                    </p:animEffect>
                                  </p:childTnLst>
                                </p:cTn>
                              </p:par>
                              <p:par>
                                <p:cTn id="89" presetID="22" presetClass="entr" presetSubtype="8" fill="hold" grpId="0" nodeType="withEffect">
                                  <p:stCondLst>
                                    <p:cond delay="0"/>
                                  </p:stCondLst>
                                  <p:childTnLst>
                                    <p:set>
                                      <p:cBhvr>
                                        <p:cTn id="87" dur="1" fill="hold">
                                          <p:stCondLst>
                                            <p:cond delay="0"/>
                                          </p:stCondLst>
                                        </p:cTn>
                                        <p:tgtEl>
                                          <p:spTgt spid="10"/>
                                        </p:tgtEl>
                                        <p:attrNameLst>
                                          <p:attrName>style.visibility</p:attrName>
                                        </p:attrNameLst>
                                      </p:cBhvr>
                                      <p:to>
                                        <p:strVal val="visible"/>
                                      </p:to>
                                    </p:set>
                                    <p:animEffect transition="in" filter="wipe(left)">
                                      <p:cBhvr>
                                        <p:cTn id="88" dur="350"/>
                                        <p:tgtEl>
                                          <p:spTgt spid="10"/>
                                        </p:tgtEl>
                                      </p:cBhvr>
                                    </p:animEffect>
                                  </p:childTnLst>
                                </p:cTn>
                              </p:par>
                            </p:childTnLst>
                          </p:cTn>
                        </p:par>
                      </p:childTnLst>
                    </p:cTn>
                  </p:par>
                  <p:par>
                    <p:cTn id="98" fill="hold">
                      <p:stCondLst>
                        <p:cond delay="indefinite"/>
                      </p:stCondLst>
                      <p:childTnLst>
                        <p:par>
                          <p:cTn id="99" fill="hold">
                            <p:stCondLst>
                              <p:cond delay="0"/>
                            </p:stCondLst>
                            <p:childTnLst>
                              <p:par>
                                <p:cTn id="94" presetID="22" presetClass="entr" presetSubtype="8" fill="hold" grpId="0" nodeType="clickEffect">
                                  <p:stCondLst>
                                    <p:cond delay="0"/>
                                  </p:stCondLst>
                                  <p:childTnLst>
                                    <p:set>
                                      <p:cBhvr>
                                        <p:cTn id="92" dur="1" fill="hold">
                                          <p:stCondLst>
                                            <p:cond delay="0"/>
                                          </p:stCondLst>
                                        </p:cTn>
                                        <p:tgtEl>
                                          <p:spTgt spid="11"/>
                                        </p:tgtEl>
                                        <p:attrNameLst>
                                          <p:attrName>style.visibility</p:attrName>
                                        </p:attrNameLst>
                                      </p:cBhvr>
                                      <p:to>
                                        <p:strVal val="visible"/>
                                      </p:to>
                                    </p:set>
                                    <p:animEffect transition="in" filter="wipe(left)">
                                      <p:cBhvr>
                                        <p:cTn id="93" dur="350"/>
                                        <p:tgtEl>
                                          <p:spTgt spid="11"/>
                                        </p:tgtEl>
                                      </p:cBhvr>
                                    </p:animEffect>
                                  </p:childTnLst>
                                </p:cTn>
                              </p:par>
                              <p:par>
                                <p:cTn id="97" presetID="22" presetClass="entr" presetSubtype="8" fill="hold" grpId="0" nodeType="withEffect">
                                  <p:stCondLst>
                                    <p:cond delay="0"/>
                                  </p:stCondLst>
                                  <p:childTnLst>
                                    <p:set>
                                      <p:cBhvr>
                                        <p:cTn id="95" dur="1" fill="hold">
                                          <p:stCondLst>
                                            <p:cond delay="0"/>
                                          </p:stCondLst>
                                        </p:cTn>
                                        <p:tgtEl>
                                          <p:spTgt spid="12"/>
                                        </p:tgtEl>
                                        <p:attrNameLst>
                                          <p:attrName>style.visibility</p:attrName>
                                        </p:attrNameLst>
                                      </p:cBhvr>
                                      <p:to>
                                        <p:strVal val="visible"/>
                                      </p:to>
                                    </p:set>
                                    <p:animEffect transition="in" filter="wipe(left)">
                                      <p:cBhvr>
                                        <p:cTn id="96" dur="350"/>
                                        <p:tgtEl>
                                          <p:spTgt spid="12"/>
                                        </p:tgtEl>
                                      </p:cBhvr>
                                    </p:animEffect>
                                  </p:childTnLst>
                                </p:cTn>
                              </p:par>
                            </p:childTnLst>
                          </p:cTn>
                        </p:par>
                      </p:childTnLst>
                    </p:cTn>
                  </p:par>
                  <p:par>
                    <p:cTn id="106" fill="hold">
                      <p:stCondLst>
                        <p:cond delay="indefinite"/>
                      </p:stCondLst>
                      <p:childTnLst>
                        <p:par>
                          <p:cTn id="107" fill="hold">
                            <p:stCondLst>
                              <p:cond delay="0"/>
                            </p:stCondLst>
                            <p:childTnLst>
                              <p:par>
                                <p:cTn id="102" presetID="22" presetClass="entr" presetSubtype="8" fill="hold" grpId="0" nodeType="clickEffect">
                                  <p:stCondLst>
                                    <p:cond delay="0"/>
                                  </p:stCondLst>
                                  <p:childTnLst>
                                    <p:set>
                                      <p:cBhvr>
                                        <p:cTn id="100" dur="1" fill="hold">
                                          <p:stCondLst>
                                            <p:cond delay="0"/>
                                          </p:stCondLst>
                                        </p:cTn>
                                        <p:tgtEl>
                                          <p:spTgt spid="13"/>
                                        </p:tgtEl>
                                        <p:attrNameLst>
                                          <p:attrName>style.visibility</p:attrName>
                                        </p:attrNameLst>
                                      </p:cBhvr>
                                      <p:to>
                                        <p:strVal val="visible"/>
                                      </p:to>
                                    </p:set>
                                    <p:animEffect transition="in" filter="wipe(left)">
                                      <p:cBhvr>
                                        <p:cTn id="101" dur="350"/>
                                        <p:tgtEl>
                                          <p:spTgt spid="13"/>
                                        </p:tgtEl>
                                      </p:cBhvr>
                                    </p:animEffect>
                                  </p:childTnLst>
                                </p:cTn>
                              </p:par>
                              <p:par>
                                <p:cTn id="105" presetID="22" presetClass="entr" presetSubtype="8" fill="hold" grpId="0" nodeType="withEffect">
                                  <p:stCondLst>
                                    <p:cond delay="0"/>
                                  </p:stCondLst>
                                  <p:childTnLst>
                                    <p:set>
                                      <p:cBhvr>
                                        <p:cTn id="103" dur="1" fill="hold">
                                          <p:stCondLst>
                                            <p:cond delay="0"/>
                                          </p:stCondLst>
                                        </p:cTn>
                                        <p:tgtEl>
                                          <p:spTgt spid="14"/>
                                        </p:tgtEl>
                                        <p:attrNameLst>
                                          <p:attrName>style.visibility</p:attrName>
                                        </p:attrNameLst>
                                      </p:cBhvr>
                                      <p:to>
                                        <p:strVal val="visible"/>
                                      </p:to>
                                    </p:set>
                                    <p:animEffect transition="in" filter="wipe(left)">
                                      <p:cBhvr>
                                        <p:cTn id="104"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Knative, from what we already run</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know Deployment, Service, Ingress, HPA</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Knative bundles them into one object</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Adds revisions, routing and scale-to-zero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Runs on any Kubernetes, ours is OpenShift</a:t>
            </a:r>
            <a:endParaRPr lang="en-US" sz="1900" dirty="0"/>
          </a:p>
        </p:txBody>
      </p:sp>
      <p:sp>
        <p:nvSpPr>
          <p:cNvPr id="13" name="auto:0:wipeD"/>
          <p:cNvSpPr/>
          <p:nvPr/>
        </p:nvSpPr>
        <p:spPr>
          <a:xfrm>
            <a:off x="9281160" y="2514600"/>
            <a:ext cx="2286000" cy="2560320"/>
          </a:xfrm>
          <a:prstGeom prst="rect">
            <a:avLst/>
          </a:prstGeom>
          <a:solidFill>
            <a:srgbClr val="E3F1F0"/>
          </a:solidFill>
          <a:ln w="12700">
            <a:solidFill>
              <a:srgbClr val="E3F1F0"/>
            </a:solidFill>
            <a:prstDash val="solid"/>
          </a:ln>
        </p:spPr>
      </p:sp>
      <p:sp>
        <p:nvSpPr>
          <p:cNvPr id="14" name="auto:1:fade"/>
          <p:cNvSpPr txBox="1"/>
          <p:nvPr/>
        </p:nvSpPr>
        <p:spPr>
          <a:xfrm>
            <a:off x="6172200" y="2194560"/>
            <a:ext cx="118872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NEED</a:t>
            </a:r>
            <a:endParaRPr lang="en-US" sz="900" dirty="0"/>
          </a:p>
        </p:txBody>
      </p:sp>
      <p:sp>
        <p:nvSpPr>
          <p:cNvPr id="15" name="auto:2: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PLAIN KUBERNETES</a:t>
            </a:r>
            <a:endParaRPr lang="en-US" sz="900" dirty="0"/>
          </a:p>
        </p:txBody>
      </p:sp>
      <p:sp>
        <p:nvSpPr>
          <p:cNvPr id="16" name="auto:3: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KNATIVE</a:t>
            </a:r>
            <a:endParaRPr lang="en-US" sz="900" dirty="0"/>
          </a:p>
        </p:txBody>
      </p:sp>
      <p:sp>
        <p:nvSpPr>
          <p:cNvPr id="17" name="auto:4:fade"/>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Run the code</a:t>
            </a:r>
            <a:endParaRPr lang="en-US" sz="1250" dirty="0"/>
          </a:p>
        </p:txBody>
      </p:sp>
      <p:sp>
        <p:nvSpPr>
          <p:cNvPr id="18" name="auto:5:fade"/>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Deployment</a:t>
            </a:r>
            <a:endParaRPr lang="en-US" sz="1250" dirty="0"/>
          </a:p>
        </p:txBody>
      </p:sp>
      <p:sp>
        <p:nvSpPr>
          <p:cNvPr id="19" name="auto:6:fade"/>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Revision</a:t>
            </a:r>
            <a:endParaRPr lang="en-US" sz="1250" dirty="0"/>
          </a:p>
        </p:txBody>
      </p:sp>
      <p:sp>
        <p:nvSpPr>
          <p:cNvPr id="20" name="auto:7:fade"/>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Reach it</a:t>
            </a:r>
            <a:endParaRPr lang="en-US" sz="1250" dirty="0"/>
          </a:p>
        </p:txBody>
      </p:sp>
      <p:sp>
        <p:nvSpPr>
          <p:cNvPr id="21" name="auto:8:fade"/>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Service + Ingress</a:t>
            </a:r>
            <a:endParaRPr lang="en-US" sz="1250" dirty="0"/>
          </a:p>
        </p:txBody>
      </p:sp>
      <p:sp>
        <p:nvSpPr>
          <p:cNvPr id="22" name="auto:9:fade"/>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Route</a:t>
            </a:r>
            <a:endParaRPr lang="en-US" sz="1250" dirty="0"/>
          </a:p>
        </p:txBody>
      </p:sp>
      <p:sp>
        <p:nvSpPr>
          <p:cNvPr id="23" name="auto:10:wipeL"/>
          <p:cNvSpPr/>
          <p:nvPr/>
        </p:nvSpPr>
        <p:spPr>
          <a:xfrm>
            <a:off x="6172200" y="3063240"/>
            <a:ext cx="5394960" cy="0"/>
          </a:xfrm>
          <a:prstGeom prst="line">
            <a:avLst/>
          </a:prstGeom>
          <a:noFill/>
          <a:ln w="6350">
            <a:solidFill>
              <a:srgbClr val="E4E7EC"/>
            </a:solidFill>
            <a:prstDash val="solid"/>
          </a:ln>
        </p:spPr>
      </p:sp>
      <p:sp>
        <p:nvSpPr>
          <p:cNvPr id="24" name="auto:11:fade"/>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Scale it</a:t>
            </a:r>
            <a:endParaRPr lang="en-US" sz="1250" dirty="0"/>
          </a:p>
        </p:txBody>
      </p:sp>
      <p:sp>
        <p:nvSpPr>
          <p:cNvPr id="25" name="auto:12:fade"/>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HPA, never to zero</a:t>
            </a:r>
            <a:endParaRPr lang="en-US" sz="1250" dirty="0"/>
          </a:p>
        </p:txBody>
      </p:sp>
      <p:sp>
        <p:nvSpPr>
          <p:cNvPr id="26" name="auto:13:fade"/>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KPA, down to zero</a:t>
            </a:r>
            <a:endParaRPr lang="en-US" sz="1250" dirty="0"/>
          </a:p>
        </p:txBody>
      </p:sp>
      <p:sp>
        <p:nvSpPr>
          <p:cNvPr id="27" name="auto:14:wipeL"/>
          <p:cNvSpPr/>
          <p:nvPr/>
        </p:nvSpPr>
        <p:spPr>
          <a:xfrm>
            <a:off x="6172200" y="3566160"/>
            <a:ext cx="5394960" cy="0"/>
          </a:xfrm>
          <a:prstGeom prst="line">
            <a:avLst/>
          </a:prstGeom>
          <a:noFill/>
          <a:ln w="6350">
            <a:solidFill>
              <a:srgbClr val="E4E7EC"/>
            </a:solidFill>
            <a:prstDash val="solid"/>
          </a:ln>
        </p:spPr>
      </p:sp>
      <p:sp>
        <p:nvSpPr>
          <p:cNvPr id="28" name="auto:15:fade"/>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Change it</a:t>
            </a:r>
            <a:endParaRPr lang="en-US" sz="1250" dirty="0"/>
          </a:p>
        </p:txBody>
      </p:sp>
      <p:sp>
        <p:nvSpPr>
          <p:cNvPr id="29" name="auto:16:fade"/>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Rolling update</a:t>
            </a:r>
            <a:endParaRPr lang="en-US" sz="1250" dirty="0"/>
          </a:p>
        </p:txBody>
      </p:sp>
      <p:sp>
        <p:nvSpPr>
          <p:cNvPr id="30" name="auto:17:fade"/>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New Revision, old kept</a:t>
            </a:r>
            <a:endParaRPr lang="en-US" sz="1250" dirty="0"/>
          </a:p>
        </p:txBody>
      </p:sp>
      <p:sp>
        <p:nvSpPr>
          <p:cNvPr id="31" name="auto:18:wipeL"/>
          <p:cNvSpPr/>
          <p:nvPr/>
        </p:nvSpPr>
        <p:spPr>
          <a:xfrm>
            <a:off x="6172200" y="4069080"/>
            <a:ext cx="5394960" cy="0"/>
          </a:xfrm>
          <a:prstGeom prst="line">
            <a:avLst/>
          </a:prstGeom>
          <a:noFill/>
          <a:ln w="6350">
            <a:solidFill>
              <a:srgbClr val="E4E7EC"/>
            </a:solidFill>
            <a:prstDash val="solid"/>
          </a:ln>
        </p:spPr>
      </p:sp>
      <p:sp>
        <p:nvSpPr>
          <p:cNvPr id="32" name="auto:19:fade"/>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Own hostname</a:t>
            </a:r>
            <a:endParaRPr lang="en-US" sz="1250" dirty="0"/>
          </a:p>
        </p:txBody>
      </p:sp>
      <p:sp>
        <p:nvSpPr>
          <p:cNvPr id="33" name="auto:20:fade"/>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Ingress rule</a:t>
            </a:r>
            <a:endParaRPr lang="en-US" sz="1250" dirty="0"/>
          </a:p>
        </p:txBody>
      </p:sp>
      <p:sp>
        <p:nvSpPr>
          <p:cNvPr id="34" name="auto:21:fade"/>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DomainMapping</a:t>
            </a:r>
            <a:endParaRPr lang="en-US" sz="1250" dirty="0"/>
          </a:p>
        </p:txBody>
      </p:sp>
      <p:sp>
        <p:nvSpPr>
          <p:cNvPr id="35" name="auto:22:wipeL"/>
          <p:cNvSpPr/>
          <p:nvPr/>
        </p:nvSpPr>
        <p:spPr>
          <a:xfrm>
            <a:off x="6172200" y="4572000"/>
            <a:ext cx="5394960" cy="0"/>
          </a:xfrm>
          <a:prstGeom prst="line">
            <a:avLst/>
          </a:prstGeom>
          <a:noFill/>
          <a:ln w="6350">
            <a:solidFill>
              <a:srgbClr val="E4E7EC"/>
            </a:solidFill>
            <a:prstDash val="solid"/>
          </a:ln>
        </p:spPr>
      </p:sp>
      <p:sp>
        <p:nvSpPr>
          <p:cNvPr id="36" name="Text 3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05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73"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00"/>
                                        <p:tgtEl>
                                          <p:spTgt spid="18"/>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400"/>
                                        <p:tgtEl>
                                          <p:spTgt spid="20"/>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00"/>
                                        <p:tgtEl>
                                          <p:spTgt spid="21"/>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5" presetID="22" presetClass="entr" presetSubtype="8" fill="hold" grpId="0" nodeType="withEffect">
                                  <p:stCondLst>
                                    <p:cond delay="800"/>
                                  </p:stCondLst>
                                  <p:childTnLst>
                                    <p:set>
                                      <p:cBhvr>
                                        <p:cTn id="33" dur="1" fill="hold">
                                          <p:stCondLst>
                                            <p:cond delay="0"/>
                                          </p:stCondLst>
                                        </p:cTn>
                                        <p:tgtEl>
                                          <p:spTgt spid="23"/>
                                        </p:tgtEl>
                                        <p:attrNameLst>
                                          <p:attrName>style.visibility</p:attrName>
                                        </p:attrNameLst>
                                      </p:cBhvr>
                                      <p:to>
                                        <p:strVal val="visible"/>
                                      </p:to>
                                    </p:set>
                                    <p:animEffect transition="in" filter="wipe(left)">
                                      <p:cBhvr>
                                        <p:cTn id="34" dur="350"/>
                                        <p:tgtEl>
                                          <p:spTgt spid="23"/>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7" presetID="22" presetClass="entr" presetSubtype="8" fill="hold" grpId="0" nodeType="withEffect">
                                  <p:stCondLst>
                                    <p:cond delay="1120"/>
                                  </p:stCondLst>
                                  <p:childTnLst>
                                    <p:set>
                                      <p:cBhvr>
                                        <p:cTn id="45" dur="1" fill="hold">
                                          <p:stCondLst>
                                            <p:cond delay="0"/>
                                          </p:stCondLst>
                                        </p:cTn>
                                        <p:tgtEl>
                                          <p:spTgt spid="27"/>
                                        </p:tgtEl>
                                        <p:attrNameLst>
                                          <p:attrName>style.visibility</p:attrName>
                                        </p:attrNameLst>
                                      </p:cBhvr>
                                      <p:to>
                                        <p:strVal val="visible"/>
                                      </p:to>
                                    </p:set>
                                    <p:animEffect transition="in" filter="wipe(left)">
                                      <p:cBhvr>
                                        <p:cTn id="46" dur="350"/>
                                        <p:tgtEl>
                                          <p:spTgt spid="27"/>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3" presetID="10" presetClass="entr" presetSubtype="0" fill="hold" grpId="0" nodeType="withEffect">
                                  <p:stCondLst>
                                    <p:cond delay="128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9" presetID="22" presetClass="entr" presetSubtype="8" fill="hold" grpId="0" nodeType="withEffect">
                                  <p:stCondLst>
                                    <p:cond delay="1440"/>
                                  </p:stCondLst>
                                  <p:childTnLst>
                                    <p:set>
                                      <p:cBhvr>
                                        <p:cTn id="57" dur="1" fill="hold">
                                          <p:stCondLst>
                                            <p:cond delay="0"/>
                                          </p:stCondLst>
                                        </p:cTn>
                                        <p:tgtEl>
                                          <p:spTgt spid="31"/>
                                        </p:tgtEl>
                                        <p:attrNameLst>
                                          <p:attrName>style.visibility</p:attrName>
                                        </p:attrNameLst>
                                      </p:cBhvr>
                                      <p:to>
                                        <p:strVal val="visible"/>
                                      </p:to>
                                    </p:set>
                                    <p:animEffect transition="in" filter="wipe(left)">
                                      <p:cBhvr>
                                        <p:cTn id="58" dur="350"/>
                                        <p:tgtEl>
                                          <p:spTgt spid="31"/>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71" presetID="22" presetClass="entr" presetSubtype="8" fill="hold" grpId="0" nodeType="withEffect">
                                  <p:stCondLst>
                                    <p:cond delay="1760"/>
                                  </p:stCondLst>
                                  <p:childTnLst>
                                    <p:set>
                                      <p:cBhvr>
                                        <p:cTn id="69" dur="1" fill="hold">
                                          <p:stCondLst>
                                            <p:cond delay="0"/>
                                          </p:stCondLst>
                                        </p:cTn>
                                        <p:tgtEl>
                                          <p:spTgt spid="35"/>
                                        </p:tgtEl>
                                        <p:attrNameLst>
                                          <p:attrName>style.visibility</p:attrName>
                                        </p:attrNameLst>
                                      </p:cBhvr>
                                      <p:to>
                                        <p:strVal val="visible"/>
                                      </p:to>
                                    </p:set>
                                    <p:animEffect transition="in" filter="wipe(left)">
                                      <p:cBhvr>
                                        <p:cTn id="70" dur="350"/>
                                        <p:tgtEl>
                                          <p:spTgt spid="35"/>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5"/>
                                        </p:tgtEl>
                                        <p:attrNameLst>
                                          <p:attrName>style.visibility</p:attrName>
                                        </p:attrNameLst>
                                      </p:cBhvr>
                                      <p:to>
                                        <p:strVal val="visible"/>
                                      </p:to>
                                    </p:set>
                                    <p:animEffect transition="in" filter="wipe(left)">
                                      <p:cBhvr>
                                        <p:cTn id="75" dur="350"/>
                                        <p:tgtEl>
                                          <p:spTgt spid="5"/>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6"/>
                                        </p:tgtEl>
                                        <p:attrNameLst>
                                          <p:attrName>style.visibility</p:attrName>
                                        </p:attrNameLst>
                                      </p:cBhvr>
                                      <p:to>
                                        <p:strVal val="visible"/>
                                      </p:to>
                                    </p:set>
                                    <p:animEffect transition="in" filter="wipe(left)">
                                      <p:cBhvr>
                                        <p:cTn id="78" dur="350"/>
                                        <p:tgtEl>
                                          <p:spTgt spid="6"/>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7"/>
                                        </p:tgtEl>
                                        <p:attrNameLst>
                                          <p:attrName>style.visibility</p:attrName>
                                        </p:attrNameLst>
                                      </p:cBhvr>
                                      <p:to>
                                        <p:strVal val="visible"/>
                                      </p:to>
                                    </p:set>
                                    <p:animEffect transition="in" filter="wipe(left)">
                                      <p:cBhvr>
                                        <p:cTn id="83" dur="350"/>
                                        <p:tgtEl>
                                          <p:spTgt spid="7"/>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8"/>
                                        </p:tgtEl>
                                        <p:attrNameLst>
                                          <p:attrName>style.visibility</p:attrName>
                                        </p:attrNameLst>
                                      </p:cBhvr>
                                      <p:to>
                                        <p:strVal val="visible"/>
                                      </p:to>
                                    </p:set>
                                    <p:animEffect transition="in" filter="wipe(left)">
                                      <p:cBhvr>
                                        <p:cTn id="86" dur="350"/>
                                        <p:tgtEl>
                                          <p:spTgt spid="8"/>
                                        </p:tgtEl>
                                      </p:cBhvr>
                                    </p:animEffect>
                                  </p:childTnLst>
                                </p:cTn>
                              </p:par>
                            </p:childTnLst>
                          </p:cTn>
                        </p:par>
                      </p:childTnLst>
                    </p:cTn>
                  </p:par>
                  <p:par>
                    <p:cTn id="96" fill="hold">
                      <p:stCondLst>
                        <p:cond delay="indefinite"/>
                      </p:stCondLst>
                      <p:childTnLst>
                        <p:par>
                          <p:cTn id="97" fill="hold">
                            <p:stCondLst>
                              <p:cond delay="0"/>
                            </p:stCondLst>
                            <p:childTnLst>
                              <p:par>
                                <p:cTn id="92" presetID="22" presetClass="entr" presetSubtype="8" fill="hold" grpId="0" nodeType="click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wipe(left)">
                                      <p:cBhvr>
                                        <p:cTn id="91" dur="350"/>
                                        <p:tgtEl>
                                          <p:spTgt spid="9"/>
                                        </p:tgtEl>
                                      </p:cBhvr>
                                    </p:animEffect>
                                  </p:childTnLst>
                                </p:cTn>
                              </p:par>
                              <p:par>
                                <p:cTn id="95" presetID="22" presetClass="entr" presetSubtype="8" fill="hold" grpId="0" nodeType="withEffect">
                                  <p:stCondLst>
                                    <p:cond delay="0"/>
                                  </p:stCondLst>
                                  <p:childTnLst>
                                    <p:set>
                                      <p:cBhvr>
                                        <p:cTn id="93" dur="1" fill="hold">
                                          <p:stCondLst>
                                            <p:cond delay="0"/>
                                          </p:stCondLst>
                                        </p:cTn>
                                        <p:tgtEl>
                                          <p:spTgt spid="10"/>
                                        </p:tgtEl>
                                        <p:attrNameLst>
                                          <p:attrName>style.visibility</p:attrName>
                                        </p:attrNameLst>
                                      </p:cBhvr>
                                      <p:to>
                                        <p:strVal val="visible"/>
                                      </p:to>
                                    </p:set>
                                    <p:animEffect transition="in" filter="wipe(left)">
                                      <p:cBhvr>
                                        <p:cTn id="94" dur="350"/>
                                        <p:tgtEl>
                                          <p:spTgt spid="10"/>
                                        </p:tgtEl>
                                      </p:cBhvr>
                                    </p:animEffect>
                                  </p:childTnLst>
                                </p:cTn>
                              </p:par>
                            </p:childTnLst>
                          </p:cTn>
                        </p:par>
                      </p:childTnLst>
                    </p:cTn>
                  </p:par>
                  <p:par>
                    <p:cTn id="104" fill="hold">
                      <p:stCondLst>
                        <p:cond delay="indefinite"/>
                      </p:stCondLst>
                      <p:childTnLst>
                        <p:par>
                          <p:cTn id="105" fill="hold">
                            <p:stCondLst>
                              <p:cond delay="0"/>
                            </p:stCondLst>
                            <p:childTnLst>
                              <p:par>
                                <p:cTn id="100" presetID="22" presetClass="entr" presetSubtype="8" fill="hold" grpId="0" nodeType="clickEffect">
                                  <p:stCondLst>
                                    <p:cond delay="0"/>
                                  </p:stCondLst>
                                  <p:childTnLst>
                                    <p:set>
                                      <p:cBhvr>
                                        <p:cTn id="98" dur="1" fill="hold">
                                          <p:stCondLst>
                                            <p:cond delay="0"/>
                                          </p:stCondLst>
                                        </p:cTn>
                                        <p:tgtEl>
                                          <p:spTgt spid="11"/>
                                        </p:tgtEl>
                                        <p:attrNameLst>
                                          <p:attrName>style.visibility</p:attrName>
                                        </p:attrNameLst>
                                      </p:cBhvr>
                                      <p:to>
                                        <p:strVal val="visible"/>
                                      </p:to>
                                    </p:set>
                                    <p:animEffect transition="in" filter="wipe(left)">
                                      <p:cBhvr>
                                        <p:cTn id="99" dur="350"/>
                                        <p:tgtEl>
                                          <p:spTgt spid="11"/>
                                        </p:tgtEl>
                                      </p:cBhvr>
                                    </p:animEffect>
                                  </p:childTnLst>
                                </p:cTn>
                              </p:par>
                              <p:par>
                                <p:cTn id="103" presetID="22" presetClass="entr" presetSubtype="8" fill="hold" grpId="0" nodeType="withEffect">
                                  <p:stCondLst>
                                    <p:cond delay="0"/>
                                  </p:stCondLst>
                                  <p:childTnLst>
                                    <p:set>
                                      <p:cBhvr>
                                        <p:cTn id="101" dur="1" fill="hold">
                                          <p:stCondLst>
                                            <p:cond delay="0"/>
                                          </p:stCondLst>
                                        </p:cTn>
                                        <p:tgtEl>
                                          <p:spTgt spid="12"/>
                                        </p:tgtEl>
                                        <p:attrNameLst>
                                          <p:attrName>style.visibility</p:attrName>
                                        </p:attrNameLst>
                                      </p:cBhvr>
                                      <p:to>
                                        <p:strVal val="visible"/>
                                      </p:to>
                                    </p:set>
                                    <p:animEffect transition="in" filter="wipe(left)">
                                      <p:cBhvr>
                                        <p:cTn id="102"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object: the Knative Service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Service owns Configuration and Route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Configuration holds the desired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change is an immutable Revision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Route sends traffic to revisions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DomainMapping gives it your hostname</a:t>
            </a:r>
            <a:endParaRPr lang="en-US" sz="1900" dirty="0"/>
          </a:p>
        </p:txBody>
      </p:sp>
      <p:sp>
        <p:nvSpPr>
          <p:cNvPr id="15" name="auto:0:wipeL"/>
          <p:cNvSpPr/>
          <p:nvPr/>
        </p:nvSpPr>
        <p:spPr>
          <a:xfrm flipH="1">
            <a:off x="7431024" y="2677058"/>
            <a:ext cx="1438656" cy="593446"/>
          </a:xfrm>
          <a:prstGeom prst="line">
            <a:avLst/>
          </a:prstGeom>
          <a:noFill/>
          <a:ln w="15875">
            <a:solidFill>
              <a:srgbClr val="98A2B3"/>
            </a:solidFill>
            <a:prstDash val="solid"/>
            <a:tailEnd type="triangle"/>
          </a:ln>
        </p:spPr>
      </p:sp>
      <p:sp>
        <p:nvSpPr>
          <p:cNvPr id="16" name="auto:1:wipeL"/>
          <p:cNvSpPr/>
          <p:nvPr/>
        </p:nvSpPr>
        <p:spPr>
          <a:xfrm>
            <a:off x="8869680" y="2677058"/>
            <a:ext cx="1438656" cy="593446"/>
          </a:xfrm>
          <a:prstGeom prst="line">
            <a:avLst/>
          </a:prstGeom>
          <a:noFill/>
          <a:ln w="15875">
            <a:solidFill>
              <a:srgbClr val="98A2B3"/>
            </a:solidFill>
            <a:prstDash val="solid"/>
            <a:tailEnd type="triangle"/>
          </a:ln>
        </p:spPr>
      </p:sp>
      <p:sp>
        <p:nvSpPr>
          <p:cNvPr id="17" name="auto:2:wipeL"/>
          <p:cNvSpPr/>
          <p:nvPr/>
        </p:nvSpPr>
        <p:spPr>
          <a:xfrm>
            <a:off x="7431024" y="3845966"/>
            <a:ext cx="0" cy="593446"/>
          </a:xfrm>
          <a:prstGeom prst="line">
            <a:avLst/>
          </a:prstGeom>
          <a:noFill/>
          <a:ln w="15875">
            <a:solidFill>
              <a:srgbClr val="98A2B3"/>
            </a:solidFill>
            <a:prstDash val="solid"/>
            <a:tailEnd type="triangle"/>
          </a:ln>
        </p:spPr>
      </p:sp>
      <p:sp>
        <p:nvSpPr>
          <p:cNvPr id="18" name="auto:3:wipeL"/>
          <p:cNvSpPr/>
          <p:nvPr/>
        </p:nvSpPr>
        <p:spPr>
          <a:xfrm flipH="1">
            <a:off x="8510016" y="3558235"/>
            <a:ext cx="719328" cy="1168908"/>
          </a:xfrm>
          <a:prstGeom prst="line">
            <a:avLst/>
          </a:prstGeom>
          <a:noFill/>
          <a:ln w="15875">
            <a:solidFill>
              <a:srgbClr val="98A2B3"/>
            </a:solidFill>
            <a:prstDash val="dash"/>
            <a:tailEnd type="triangle"/>
          </a:ln>
        </p:spPr>
      </p:sp>
      <p:sp>
        <p:nvSpPr>
          <p:cNvPr id="19" name="auto:4:wipeL"/>
          <p:cNvSpPr/>
          <p:nvPr/>
        </p:nvSpPr>
        <p:spPr>
          <a:xfrm flipV="1">
            <a:off x="10308336" y="3845966"/>
            <a:ext cx="0" cy="593446"/>
          </a:xfrm>
          <a:prstGeom prst="line">
            <a:avLst/>
          </a:prstGeom>
          <a:noFill/>
          <a:ln w="15875">
            <a:solidFill>
              <a:srgbClr val="98A2B3"/>
            </a:solidFill>
            <a:prstDash val="dash"/>
            <a:tailEnd type="triangle"/>
          </a:ln>
        </p:spPr>
      </p:sp>
      <p:sp>
        <p:nvSpPr>
          <p:cNvPr id="20" name="auto:5:wipeD"/>
          <p:cNvSpPr/>
          <p:nvPr/>
        </p:nvSpPr>
        <p:spPr>
          <a:xfrm>
            <a:off x="7700772" y="2101596"/>
            <a:ext cx="2337816" cy="575462"/>
          </a:xfrm>
          <a:prstGeom prst="roundRect">
            <a:avLst>
              <a:gd name="adj" fmla="val 12712"/>
            </a:avLst>
          </a:prstGeom>
          <a:solidFill>
            <a:srgbClr val="FFFFFF"/>
          </a:solidFill>
          <a:ln w="22225">
            <a:solidFill>
              <a:srgbClr val="E4572E"/>
            </a:solidFill>
            <a:prstDash val="solid"/>
          </a:ln>
        </p:spPr>
      </p:sp>
      <p:sp>
        <p:nvSpPr>
          <p:cNvPr id="21" name="auto:6:fade"/>
          <p:cNvSpPr txBox="1"/>
          <p:nvPr/>
        </p:nvSpPr>
        <p:spPr>
          <a:xfrm>
            <a:off x="7700772" y="2101596"/>
            <a:ext cx="2337816"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one object you write</a:t>
            </a:r>
            <a:endParaRPr lang="en-US" sz="1200" dirty="0"/>
          </a:p>
        </p:txBody>
      </p:sp>
      <p:sp>
        <p:nvSpPr>
          <p:cNvPr id="22" name="auto:7:wipeD"/>
          <p:cNvSpPr/>
          <p:nvPr/>
        </p:nvSpPr>
        <p:spPr>
          <a:xfrm>
            <a:off x="6352032" y="3270504"/>
            <a:ext cx="2157984" cy="575462"/>
          </a:xfrm>
          <a:prstGeom prst="roundRect">
            <a:avLst>
              <a:gd name="adj" fmla="val 12712"/>
            </a:avLst>
          </a:prstGeom>
          <a:solidFill>
            <a:srgbClr val="FFFFFF"/>
          </a:solidFill>
          <a:ln w="15875">
            <a:solidFill>
              <a:srgbClr val="0B7A75"/>
            </a:solidFill>
            <a:prstDash val="solid"/>
          </a:ln>
        </p:spPr>
      </p:sp>
      <p:sp>
        <p:nvSpPr>
          <p:cNvPr id="23" name="auto:8:fade"/>
          <p:cNvSpPr txBox="1"/>
          <p:nvPr/>
        </p:nvSpPr>
        <p:spPr>
          <a:xfrm>
            <a:off x="6352032"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Configuration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desired state of the code</a:t>
            </a:r>
            <a:endParaRPr lang="en-US" sz="1200" dirty="0"/>
          </a:p>
        </p:txBody>
      </p:sp>
      <p:sp>
        <p:nvSpPr>
          <p:cNvPr id="24" name="auto:9:wipeD"/>
          <p:cNvSpPr/>
          <p:nvPr/>
        </p:nvSpPr>
        <p:spPr>
          <a:xfrm>
            <a:off x="9229344" y="3270504"/>
            <a:ext cx="2157984" cy="575462"/>
          </a:xfrm>
          <a:prstGeom prst="roundRect">
            <a:avLst>
              <a:gd name="adj" fmla="val 12712"/>
            </a:avLst>
          </a:prstGeom>
          <a:solidFill>
            <a:srgbClr val="FFFFFF"/>
          </a:solidFill>
          <a:ln w="15875">
            <a:solidFill>
              <a:srgbClr val="0B7A75"/>
            </a:solidFill>
            <a:prstDash val="solid"/>
          </a:ln>
        </p:spPr>
      </p:sp>
      <p:sp>
        <p:nvSpPr>
          <p:cNvPr id="25" name="auto:10:fade"/>
          <p:cNvSpPr txBox="1"/>
          <p:nvPr/>
        </p:nvSpPr>
        <p:spPr>
          <a:xfrm>
            <a:off x="9229344"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Route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 revisions</a:t>
            </a:r>
            <a:endParaRPr lang="en-US" sz="1200" dirty="0"/>
          </a:p>
        </p:txBody>
      </p:sp>
      <p:sp>
        <p:nvSpPr>
          <p:cNvPr id="26" name="auto:11:wipeD"/>
          <p:cNvSpPr/>
          <p:nvPr/>
        </p:nvSpPr>
        <p:spPr>
          <a:xfrm>
            <a:off x="6352032" y="4439412"/>
            <a:ext cx="2157984" cy="575462"/>
          </a:xfrm>
          <a:prstGeom prst="roundRect">
            <a:avLst>
              <a:gd name="adj" fmla="val 12712"/>
            </a:avLst>
          </a:prstGeom>
          <a:solidFill>
            <a:srgbClr val="FFFFFF"/>
          </a:solidFill>
          <a:ln w="15875">
            <a:solidFill>
              <a:srgbClr val="0B7A75"/>
            </a:solidFill>
            <a:prstDash val="solid"/>
          </a:ln>
        </p:spPr>
      </p:sp>
      <p:sp>
        <p:nvSpPr>
          <p:cNvPr id="27" name="auto:12:fade"/>
          <p:cNvSpPr txBox="1"/>
          <p:nvPr/>
        </p:nvSpPr>
        <p:spPr>
          <a:xfrm>
            <a:off x="6352032"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immutable snapshot</a:t>
            </a:r>
            <a:endParaRPr lang="en-US" sz="1200" dirty="0"/>
          </a:p>
        </p:txBody>
      </p:sp>
      <p:sp>
        <p:nvSpPr>
          <p:cNvPr id="28" name="auto:13:wipeD"/>
          <p:cNvSpPr/>
          <p:nvPr/>
        </p:nvSpPr>
        <p:spPr>
          <a:xfrm>
            <a:off x="9229344" y="4439412"/>
            <a:ext cx="2157984" cy="575462"/>
          </a:xfrm>
          <a:prstGeom prst="roundRect">
            <a:avLst>
              <a:gd name="adj" fmla="val 12712"/>
            </a:avLst>
          </a:prstGeom>
          <a:solidFill>
            <a:srgbClr val="FFFFFF"/>
          </a:solidFill>
          <a:ln w="15875">
            <a:solidFill>
              <a:srgbClr val="0B7A75"/>
            </a:solidFill>
            <a:prstDash val="solid"/>
          </a:ln>
        </p:spPr>
      </p:sp>
      <p:sp>
        <p:nvSpPr>
          <p:cNvPr id="29" name="auto:14:fade"/>
          <p:cNvSpPr txBox="1"/>
          <p:nvPr/>
        </p:nvSpPr>
        <p:spPr>
          <a:xfrm>
            <a:off x="9229344"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DomainMapping</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your own hostname</a:t>
            </a:r>
            <a:endParaRPr lang="en-US" sz="120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06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Scaling to zero, and back</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KPA watches concurrency per revision</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idle revision scales to zero</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Activator holds the first request</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Pods come up, the request continues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Bursts scale out to maxScale</a:t>
            </a:r>
            <a:endParaRPr lang="en-US" sz="1900" dirty="0"/>
          </a:p>
        </p:txBody>
      </p:sp>
      <p:sp>
        <p:nvSpPr>
          <p:cNvPr id="15" name="auto:0:wipeL"/>
          <p:cNvSpPr/>
          <p:nvPr/>
        </p:nvSpPr>
        <p:spPr>
          <a:xfrm>
            <a:off x="7880604" y="2659075"/>
            <a:ext cx="539496" cy="0"/>
          </a:xfrm>
          <a:prstGeom prst="line">
            <a:avLst/>
          </a:prstGeom>
          <a:noFill/>
          <a:ln w="15875">
            <a:solidFill>
              <a:srgbClr val="98A2B3"/>
            </a:solidFill>
            <a:prstDash val="solid"/>
            <a:tailEnd type="triangle"/>
          </a:ln>
        </p:spPr>
      </p:sp>
      <p:sp>
        <p:nvSpPr>
          <p:cNvPr id="16" name="auto:1:wipeL"/>
          <p:cNvSpPr/>
          <p:nvPr/>
        </p:nvSpPr>
        <p:spPr>
          <a:xfrm>
            <a:off x="9319260" y="2946806"/>
            <a:ext cx="0" cy="1043026"/>
          </a:xfrm>
          <a:prstGeom prst="line">
            <a:avLst/>
          </a:prstGeom>
          <a:noFill/>
          <a:ln w="15875">
            <a:solidFill>
              <a:srgbClr val="98A2B3"/>
            </a:solidFill>
            <a:prstDash val="solid"/>
            <a:tailEnd type="triangle"/>
          </a:ln>
        </p:spPr>
      </p:sp>
      <p:sp>
        <p:nvSpPr>
          <p:cNvPr id="17" name="auto:2:wipeL"/>
          <p:cNvSpPr/>
          <p:nvPr/>
        </p:nvSpPr>
        <p:spPr>
          <a:xfrm flipH="1">
            <a:off x="7116318" y="2946806"/>
            <a:ext cx="2202942" cy="1043026"/>
          </a:xfrm>
          <a:prstGeom prst="line">
            <a:avLst/>
          </a:prstGeom>
          <a:noFill/>
          <a:ln w="15875">
            <a:solidFill>
              <a:srgbClr val="98A2B3"/>
            </a:solidFill>
            <a:prstDash val="dash"/>
            <a:tailEnd type="triangle"/>
          </a:ln>
        </p:spPr>
      </p:sp>
      <p:sp>
        <p:nvSpPr>
          <p:cNvPr id="18" name="auto:3:wipeL"/>
          <p:cNvSpPr/>
          <p:nvPr/>
        </p:nvSpPr>
        <p:spPr>
          <a:xfrm>
            <a:off x="7880604" y="4349496"/>
            <a:ext cx="539496" cy="0"/>
          </a:xfrm>
          <a:prstGeom prst="line">
            <a:avLst/>
          </a:prstGeom>
          <a:noFill/>
          <a:ln w="15875">
            <a:solidFill>
              <a:srgbClr val="98A2B3"/>
            </a:solidFill>
            <a:prstDash val="dash"/>
            <a:tailEnd type="triangle"/>
          </a:ln>
        </p:spPr>
      </p:sp>
      <p:sp>
        <p:nvSpPr>
          <p:cNvPr id="19" name="auto:4:wipeL"/>
          <p:cNvSpPr/>
          <p:nvPr/>
        </p:nvSpPr>
        <p:spPr>
          <a:xfrm>
            <a:off x="10218420" y="4349496"/>
            <a:ext cx="269748" cy="0"/>
          </a:xfrm>
          <a:prstGeom prst="line">
            <a:avLst/>
          </a:prstGeom>
          <a:noFill/>
          <a:ln w="15875">
            <a:solidFill>
              <a:srgbClr val="98A2B3"/>
            </a:solidFill>
            <a:prstDash val="solid"/>
            <a:tailEnd type="triangle"/>
          </a:ln>
        </p:spPr>
      </p:sp>
      <p:sp>
        <p:nvSpPr>
          <p:cNvPr id="20" name="auto:5:wipeD"/>
          <p:cNvSpPr/>
          <p:nvPr/>
        </p:nvSpPr>
        <p:spPr>
          <a:xfrm>
            <a:off x="6352032" y="2371344"/>
            <a:ext cx="1528572" cy="575462"/>
          </a:xfrm>
          <a:prstGeom prst="roundRect">
            <a:avLst>
              <a:gd name="adj" fmla="val 12712"/>
            </a:avLst>
          </a:prstGeom>
          <a:solidFill>
            <a:srgbClr val="FFFFFF"/>
          </a:solidFill>
          <a:ln w="15875">
            <a:solidFill>
              <a:srgbClr val="0B7A75"/>
            </a:solidFill>
            <a:prstDash val="solid"/>
          </a:ln>
        </p:spPr>
      </p:sp>
      <p:sp>
        <p:nvSpPr>
          <p:cNvPr id="21" name="auto:6:fade"/>
          <p:cNvSpPr txBox="1"/>
          <p:nvPr/>
        </p:nvSpPr>
        <p:spPr>
          <a:xfrm>
            <a:off x="6352032" y="2371344"/>
            <a:ext cx="1528572"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request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first one after idle</a:t>
            </a:r>
            <a:endParaRPr lang="en-US" sz="1200" dirty="0"/>
          </a:p>
        </p:txBody>
      </p:sp>
      <p:sp>
        <p:nvSpPr>
          <p:cNvPr id="22" name="auto:7:wipeD"/>
          <p:cNvSpPr/>
          <p:nvPr/>
        </p:nvSpPr>
        <p:spPr>
          <a:xfrm>
            <a:off x="8420100" y="2371344"/>
            <a:ext cx="1798320" cy="575462"/>
          </a:xfrm>
          <a:prstGeom prst="roundRect">
            <a:avLst>
              <a:gd name="adj" fmla="val 12712"/>
            </a:avLst>
          </a:prstGeom>
          <a:solidFill>
            <a:srgbClr val="FFFFFF"/>
          </a:solidFill>
          <a:ln w="22225">
            <a:solidFill>
              <a:srgbClr val="E4572E"/>
            </a:solidFill>
            <a:prstDash val="solid"/>
          </a:ln>
        </p:spPr>
      </p:sp>
      <p:sp>
        <p:nvSpPr>
          <p:cNvPr id="23" name="auto:8:fade"/>
          <p:cNvSpPr txBox="1"/>
          <p:nvPr/>
        </p:nvSpPr>
        <p:spPr>
          <a:xfrm>
            <a:off x="8420100" y="2371344"/>
            <a:ext cx="1798320"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Activator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buffers and wakes</a:t>
            </a:r>
            <a:endParaRPr lang="en-US" sz="1200" dirty="0"/>
          </a:p>
        </p:txBody>
      </p:sp>
      <p:sp>
        <p:nvSpPr>
          <p:cNvPr id="24" name="auto:9:wipeD"/>
          <p:cNvSpPr/>
          <p:nvPr/>
        </p:nvSpPr>
        <p:spPr>
          <a:xfrm>
            <a:off x="8420100" y="3989832"/>
            <a:ext cx="1798320" cy="719328"/>
          </a:xfrm>
          <a:prstGeom prst="roundRect">
            <a:avLst>
              <a:gd name="adj" fmla="val 10169"/>
            </a:avLst>
          </a:prstGeom>
          <a:solidFill>
            <a:srgbClr val="FFFFFF"/>
          </a:solidFill>
          <a:ln w="15875">
            <a:solidFill>
              <a:srgbClr val="0B7A75"/>
            </a:solidFill>
            <a:prstDash val="solid"/>
          </a:ln>
        </p:spPr>
      </p:sp>
      <p:sp>
        <p:nvSpPr>
          <p:cNvPr id="25" name="auto:10:fade"/>
          <p:cNvSpPr txBox="1"/>
          <p:nvPr/>
        </p:nvSpPr>
        <p:spPr>
          <a:xfrm>
            <a:off x="8420100" y="3989832"/>
            <a:ext cx="1798320" cy="719328"/>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pods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 N → 0</a:t>
            </a:r>
            <a:endParaRPr lang="en-US" sz="1200" dirty="0"/>
          </a:p>
        </p:txBody>
      </p:sp>
      <p:sp>
        <p:nvSpPr>
          <p:cNvPr id="26" name="auto:11:wipeD"/>
          <p:cNvSpPr/>
          <p:nvPr/>
        </p:nvSpPr>
        <p:spPr>
          <a:xfrm>
            <a:off x="6352032" y="3989832"/>
            <a:ext cx="1528572" cy="719328"/>
          </a:xfrm>
          <a:prstGeom prst="roundRect">
            <a:avLst>
              <a:gd name="adj" fmla="val 10169"/>
            </a:avLst>
          </a:prstGeom>
          <a:solidFill>
            <a:srgbClr val="FFFFFF"/>
          </a:solidFill>
          <a:ln w="15875">
            <a:solidFill>
              <a:srgbClr val="0B7A75"/>
            </a:solidFill>
            <a:prstDash val="solid"/>
          </a:ln>
        </p:spPr>
      </p:sp>
      <p:sp>
        <p:nvSpPr>
          <p:cNvPr id="27" name="auto:12:fade"/>
          <p:cNvSpPr txBox="1"/>
          <p:nvPr/>
        </p:nvSpPr>
        <p:spPr>
          <a:xfrm>
            <a:off x="6352032" y="3989832"/>
            <a:ext cx="1528572" cy="719328"/>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 autoscaler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concurrency → replicas</a:t>
            </a:r>
            <a:endParaRPr lang="en-US" sz="1200" dirty="0"/>
          </a:p>
        </p:txBody>
      </p:sp>
      <p:sp>
        <p:nvSpPr>
          <p:cNvPr id="28" name="auto:13:wipeD"/>
          <p:cNvSpPr/>
          <p:nvPr/>
        </p:nvSpPr>
        <p:spPr>
          <a:xfrm>
            <a:off x="10488168" y="3989832"/>
            <a:ext cx="899160" cy="719328"/>
          </a:xfrm>
          <a:prstGeom prst="roundRect">
            <a:avLst>
              <a:gd name="adj" fmla="val 10169"/>
            </a:avLst>
          </a:prstGeom>
          <a:solidFill>
            <a:srgbClr val="FFFFFF"/>
          </a:solidFill>
          <a:ln w="15875">
            <a:solidFill>
              <a:srgbClr val="0B7A75"/>
            </a:solidFill>
            <a:prstDash val="solid"/>
          </a:ln>
        </p:spPr>
      </p:sp>
      <p:sp>
        <p:nvSpPr>
          <p:cNvPr id="29" name="auto:14:fade"/>
          <p:cNvSpPr txBox="1"/>
          <p:nvPr/>
        </p:nvSpPr>
        <p:spPr>
          <a:xfrm>
            <a:off x="10488168" y="3989832"/>
            <a:ext cx="899160" cy="719328"/>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Ready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direct</a:t>
            </a:r>
            <a:endParaRPr lang="en-US" sz="120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07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OpenShift Serverless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Red Hat's supported Knative distribution</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KnativeServing custom resource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OLM installs it and upgrades it</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Kourier ingress, Routes created for you</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Catalog mirrors with oc-mirror</a:t>
            </a:r>
            <a:endParaRPr lang="en-US" sz="1900" dirty="0"/>
          </a:p>
        </p:txBody>
      </p:sp>
      <p:sp>
        <p:nvSpPr>
          <p:cNvPr id="15" name="auto:0: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auto:1:fade"/>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 Serving</a:t>
            </a:r>
            <a:endParaRPr lang="en-US" sz="1400" dirty="0"/>
          </a:p>
        </p:txBody>
      </p:sp>
      <p:sp>
        <p:nvSpPr>
          <p:cNvPr id="17" name="auto:2:fade"/>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Service · Revision · Route · DomainMapping</a:t>
            </a:r>
            <a:endParaRPr lang="en-US" sz="950" dirty="0"/>
          </a:p>
        </p:txBody>
      </p:sp>
      <p:sp>
        <p:nvSpPr>
          <p:cNvPr id="18" name="auto:3: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auto:4:fade"/>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KnativeServing CR</a:t>
            </a:r>
            <a:endParaRPr lang="en-US" sz="1400" dirty="0"/>
          </a:p>
        </p:txBody>
      </p:sp>
      <p:sp>
        <p:nvSpPr>
          <p:cNvPr id="20" name="auto:5:fade"/>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document</a:t>
            </a:r>
            <a:endParaRPr lang="en-US" sz="950" dirty="0"/>
          </a:p>
        </p:txBody>
      </p:sp>
      <p:sp>
        <p:nvSpPr>
          <p:cNvPr id="21" name="auto:6: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auto:7:fade"/>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Serverless Operator</a:t>
            </a:r>
            <a:endParaRPr lang="en-US" sz="1400" dirty="0"/>
          </a:p>
        </p:txBody>
      </p:sp>
      <p:sp>
        <p:nvSpPr>
          <p:cNvPr id="23" name="auto:8:fade"/>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reconciles, upgrades</a:t>
            </a:r>
            <a:endParaRPr lang="en-US" sz="950" dirty="0"/>
          </a:p>
        </p:txBody>
      </p:sp>
      <p:sp>
        <p:nvSpPr>
          <p:cNvPr id="24" name="auto: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auto:10:fade"/>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Operator Lifecycle Manager</a:t>
            </a:r>
            <a:endParaRPr lang="en-US" sz="1400" dirty="0"/>
          </a:p>
        </p:txBody>
      </p:sp>
      <p:sp>
        <p:nvSpPr>
          <p:cNvPr id="26" name="auto:11:fade"/>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Subscription → catalog</a:t>
            </a:r>
            <a:endParaRPr lang="en-US" sz="950" dirty="0"/>
          </a:p>
        </p:txBody>
      </p:sp>
      <p:sp>
        <p:nvSpPr>
          <p:cNvPr id="27" name="auto:12: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auto:13:fade"/>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OpenShift</a:t>
            </a:r>
            <a:endParaRPr lang="en-US" sz="1400" dirty="0"/>
          </a:p>
        </p:txBody>
      </p:sp>
      <p:sp>
        <p:nvSpPr>
          <p:cNvPr id="29" name="auto:14:fade"/>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cluster per region</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08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the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alternative made us own more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never create a Route ourselves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Airgap needs one supported mirror path</a:t>
            </a:r>
            <a:endParaRPr lang="en-US" sz="1900" dirty="0"/>
          </a:p>
        </p:txBody>
      </p:sp>
      <p:sp>
        <p:nvSpPr>
          <p:cNvPr id="11" name="auto:0:wipeD"/>
          <p:cNvSpPr/>
          <p:nvPr/>
        </p:nvSpPr>
        <p:spPr>
          <a:xfrm>
            <a:off x="9281160" y="2514600"/>
            <a:ext cx="2286000" cy="2560320"/>
          </a:xfrm>
          <a:prstGeom prst="rect">
            <a:avLst/>
          </a:prstGeom>
          <a:solidFill>
            <a:srgbClr val="E3F1F0"/>
          </a:solidFill>
          <a:ln w="12700">
            <a:solidFill>
              <a:srgbClr val="E3F1F0"/>
            </a:solidFill>
            <a:prstDash val="solid"/>
          </a:ln>
        </p:spPr>
      </p:sp>
      <p:sp>
        <p:nvSpPr>
          <p:cNvPr id="12" name="auto:1: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UPSTREAM KNATIVE</a:t>
            </a:r>
            <a:endParaRPr lang="en-US" sz="900" dirty="0"/>
          </a:p>
        </p:txBody>
      </p:sp>
      <p:sp>
        <p:nvSpPr>
          <p:cNvPr id="13" name="auto:2: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SERVERLESS OPERATOR</a:t>
            </a:r>
            <a:endParaRPr lang="en-US" sz="900" dirty="0"/>
          </a:p>
        </p:txBody>
      </p:sp>
      <p:sp>
        <p:nvSpPr>
          <p:cNvPr id="14" name="auto:3:fade"/>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Upgrades</a:t>
            </a:r>
            <a:endParaRPr lang="en-US" sz="1250" dirty="0"/>
          </a:p>
        </p:txBody>
      </p:sp>
      <p:sp>
        <p:nvSpPr>
          <p:cNvPr id="15" name="auto:4:fade"/>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YAML we maintain</a:t>
            </a:r>
            <a:endParaRPr lang="en-US" sz="1250" dirty="0"/>
          </a:p>
        </p:txBody>
      </p:sp>
      <p:sp>
        <p:nvSpPr>
          <p:cNvPr id="16" name="auto:5:fade"/>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OLM, from the catalog</a:t>
            </a:r>
            <a:endParaRPr lang="en-US" sz="1250" dirty="0"/>
          </a:p>
        </p:txBody>
      </p:sp>
      <p:sp>
        <p:nvSpPr>
          <p:cNvPr id="17" name="auto:6:fade"/>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Ingress</a:t>
            </a:r>
            <a:endParaRPr lang="en-US" sz="1250" dirty="0"/>
          </a:p>
        </p:txBody>
      </p:sp>
      <p:sp>
        <p:nvSpPr>
          <p:cNvPr id="18" name="auto:7:fade"/>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Run it ourselves</a:t>
            </a:r>
            <a:endParaRPr lang="en-US" sz="1250" dirty="0"/>
          </a:p>
        </p:txBody>
      </p:sp>
      <p:sp>
        <p:nvSpPr>
          <p:cNvPr id="19" name="auto:8:fade"/>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Kourier, managed</a:t>
            </a:r>
            <a:endParaRPr lang="en-US" sz="1250" dirty="0"/>
          </a:p>
        </p:txBody>
      </p:sp>
      <p:sp>
        <p:nvSpPr>
          <p:cNvPr id="20" name="auto:9:wipeL"/>
          <p:cNvSpPr/>
          <p:nvPr/>
        </p:nvSpPr>
        <p:spPr>
          <a:xfrm>
            <a:off x="6172200" y="3063240"/>
            <a:ext cx="5394960" cy="0"/>
          </a:xfrm>
          <a:prstGeom prst="line">
            <a:avLst/>
          </a:prstGeom>
          <a:noFill/>
          <a:ln w="6350">
            <a:solidFill>
              <a:srgbClr val="E4E7EC"/>
            </a:solidFill>
            <a:prstDash val="solid"/>
          </a:ln>
        </p:spPr>
      </p:sp>
      <p:sp>
        <p:nvSpPr>
          <p:cNvPr id="21" name="auto:10:fade"/>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Routes, TLS</a:t>
            </a:r>
            <a:endParaRPr lang="en-US" sz="1250" dirty="0"/>
          </a:p>
        </p:txBody>
      </p:sp>
      <p:sp>
        <p:nvSpPr>
          <p:cNvPr id="22" name="auto:11:fade"/>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Hand-made, RBAC</a:t>
            </a:r>
            <a:endParaRPr lang="en-US" sz="1250" dirty="0"/>
          </a:p>
        </p:txBody>
      </p:sp>
      <p:sp>
        <p:nvSpPr>
          <p:cNvPr id="23" name="auto:12:fade"/>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Created for us</a:t>
            </a:r>
            <a:endParaRPr lang="en-US" sz="1250" dirty="0"/>
          </a:p>
        </p:txBody>
      </p:sp>
      <p:sp>
        <p:nvSpPr>
          <p:cNvPr id="24" name="auto:13:wipeL"/>
          <p:cNvSpPr/>
          <p:nvPr/>
        </p:nvSpPr>
        <p:spPr>
          <a:xfrm>
            <a:off x="6172200" y="3566160"/>
            <a:ext cx="5394960" cy="0"/>
          </a:xfrm>
          <a:prstGeom prst="line">
            <a:avLst/>
          </a:prstGeom>
          <a:noFill/>
          <a:ln w="6350">
            <a:solidFill>
              <a:srgbClr val="E4E7EC"/>
            </a:solidFill>
            <a:prstDash val="solid"/>
          </a:ln>
        </p:spPr>
      </p:sp>
      <p:sp>
        <p:nvSpPr>
          <p:cNvPr id="25" name="auto:14:fade"/>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Airgap</a:t>
            </a:r>
            <a:endParaRPr lang="en-US" sz="1250" dirty="0"/>
          </a:p>
        </p:txBody>
      </p:sp>
      <p:sp>
        <p:nvSpPr>
          <p:cNvPr id="26" name="auto:15:fade"/>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Image by image</a:t>
            </a:r>
            <a:endParaRPr lang="en-US" sz="1250" dirty="0"/>
          </a:p>
        </p:txBody>
      </p:sp>
      <p:sp>
        <p:nvSpPr>
          <p:cNvPr id="27" name="auto:16:fade"/>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oc-mirror, once</a:t>
            </a:r>
            <a:endParaRPr lang="en-US" sz="1250" dirty="0"/>
          </a:p>
        </p:txBody>
      </p:sp>
      <p:sp>
        <p:nvSpPr>
          <p:cNvPr id="28" name="auto:17:wipeL"/>
          <p:cNvSpPr/>
          <p:nvPr/>
        </p:nvSpPr>
        <p:spPr>
          <a:xfrm>
            <a:off x="6172200" y="4069080"/>
            <a:ext cx="5394960" cy="0"/>
          </a:xfrm>
          <a:prstGeom prst="line">
            <a:avLst/>
          </a:prstGeom>
          <a:noFill/>
          <a:ln w="6350">
            <a:solidFill>
              <a:srgbClr val="E4E7EC"/>
            </a:solidFill>
            <a:prstDash val="solid"/>
          </a:ln>
        </p:spPr>
      </p:sp>
      <p:sp>
        <p:nvSpPr>
          <p:cNvPr id="29" name="auto:18:fade"/>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Support</a:t>
            </a:r>
            <a:endParaRPr lang="en-US" sz="1250" dirty="0"/>
          </a:p>
        </p:txBody>
      </p:sp>
      <p:sp>
        <p:nvSpPr>
          <p:cNvPr id="30" name="auto:19:fade"/>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Community</a:t>
            </a:r>
            <a:endParaRPr lang="en-US" sz="1250" dirty="0"/>
          </a:p>
        </p:txBody>
      </p:sp>
      <p:sp>
        <p:nvSpPr>
          <p:cNvPr id="31" name="auto:20:fade"/>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Red Hat</a:t>
            </a:r>
            <a:endParaRPr lang="en-US" sz="1250" dirty="0"/>
          </a:p>
        </p:txBody>
      </p:sp>
      <p:sp>
        <p:nvSpPr>
          <p:cNvPr id="32" name="auto:21:wipeL"/>
          <p:cNvSpPr/>
          <p:nvPr/>
        </p:nvSpPr>
        <p:spPr>
          <a:xfrm>
            <a:off x="6172200" y="4572000"/>
            <a:ext cx="5394960" cy="0"/>
          </a:xfrm>
          <a:prstGeom prst="line">
            <a:avLst/>
          </a:prstGeom>
          <a:noFill/>
          <a:ln w="6350">
            <a:solidFill>
              <a:srgbClr val="E4E7EC"/>
            </a:solidFill>
            <a:prstDash val="solid"/>
          </a:ln>
        </p:spPr>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09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70"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wipe(down)">
                                      <p:cBhvr>
                                        <p:cTn id="4" dur="350"/>
                                        <p:tgtEl>
                                          <p:spTgt spid="11"/>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32" presetID="22" presetClass="entr" presetSubtype="8" fill="hold" grpId="0" nodeType="withEffect">
                                  <p:stCondLst>
                                    <p:cond delay="720"/>
                                  </p:stCondLst>
                                  <p:childTnLst>
                                    <p:set>
                                      <p:cBhvr>
                                        <p:cTn id="30" dur="1" fill="hold">
                                          <p:stCondLst>
                                            <p:cond delay="0"/>
                                          </p:stCondLst>
                                        </p:cTn>
                                        <p:tgtEl>
                                          <p:spTgt spid="20"/>
                                        </p:tgtEl>
                                        <p:attrNameLst>
                                          <p:attrName>style.visibility</p:attrName>
                                        </p:attrNameLst>
                                      </p:cBhvr>
                                      <p:to>
                                        <p:strVal val="visible"/>
                                      </p:to>
                                    </p:set>
                                    <p:animEffect transition="in" filter="wipe(left)">
                                      <p:cBhvr>
                                        <p:cTn id="31" dur="350"/>
                                        <p:tgtEl>
                                          <p:spTgt spid="20"/>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4" presetID="22" presetClass="entr" presetSubtype="8" fill="hold" grpId="0" nodeType="withEffect">
                                  <p:stCondLst>
                                    <p:cond delay="1040"/>
                                  </p:stCondLst>
                                  <p:childTnLst>
                                    <p:set>
                                      <p:cBhvr>
                                        <p:cTn id="42" dur="1" fill="hold">
                                          <p:stCondLst>
                                            <p:cond delay="0"/>
                                          </p:stCondLst>
                                        </p:cTn>
                                        <p:tgtEl>
                                          <p:spTgt spid="24"/>
                                        </p:tgtEl>
                                        <p:attrNameLst>
                                          <p:attrName>style.visibility</p:attrName>
                                        </p:attrNameLst>
                                      </p:cBhvr>
                                      <p:to>
                                        <p:strVal val="visible"/>
                                      </p:to>
                                    </p:set>
                                    <p:animEffect transition="in" filter="wipe(left)">
                                      <p:cBhvr>
                                        <p:cTn id="43" dur="350"/>
                                        <p:tgtEl>
                                          <p:spTgt spid="24"/>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3" presetID="10" presetClass="entr" presetSubtype="0" fill="hold" grpId="0" nodeType="withEffect">
                                  <p:stCondLst>
                                    <p:cond delay="128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6" presetID="22" presetClass="entr" presetSubtype="8" fill="hold" grpId="0" nodeType="withEffect">
                                  <p:stCondLst>
                                    <p:cond delay="1360"/>
                                  </p:stCondLst>
                                  <p:childTnLst>
                                    <p:set>
                                      <p:cBhvr>
                                        <p:cTn id="54" dur="1" fill="hold">
                                          <p:stCondLst>
                                            <p:cond delay="0"/>
                                          </p:stCondLst>
                                        </p:cTn>
                                        <p:tgtEl>
                                          <p:spTgt spid="28"/>
                                        </p:tgtEl>
                                        <p:attrNameLst>
                                          <p:attrName>style.visibility</p:attrName>
                                        </p:attrNameLst>
                                      </p:cBhvr>
                                      <p:to>
                                        <p:strVal val="visible"/>
                                      </p:to>
                                    </p:set>
                                    <p:animEffect transition="in" filter="wipe(left)">
                                      <p:cBhvr>
                                        <p:cTn id="55" dur="350"/>
                                        <p:tgtEl>
                                          <p:spTgt spid="28"/>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8" presetID="22" presetClass="entr" presetSubtype="8" fill="hold" grpId="0" nodeType="withEffect">
                                  <p:stCondLst>
                                    <p:cond delay="1680"/>
                                  </p:stCondLst>
                                  <p:childTnLst>
                                    <p:set>
                                      <p:cBhvr>
                                        <p:cTn id="66" dur="1" fill="hold">
                                          <p:stCondLst>
                                            <p:cond delay="0"/>
                                          </p:stCondLst>
                                        </p:cTn>
                                        <p:tgtEl>
                                          <p:spTgt spid="32"/>
                                        </p:tgtEl>
                                        <p:attrNameLst>
                                          <p:attrName>style.visibility</p:attrName>
                                        </p:attrNameLst>
                                      </p:cBhvr>
                                      <p:to>
                                        <p:strVal val="visible"/>
                                      </p:to>
                                    </p:set>
                                    <p:animEffect transition="in" filter="wipe(left)">
                                      <p:cBhvr>
                                        <p:cTn id="67" dur="350"/>
                                        <p:tgtEl>
                                          <p:spTgt spid="32"/>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left)">
                                      <p:cBhvr>
                                        <p:cTn id="72" dur="350"/>
                                        <p:tgtEl>
                                          <p:spTgt spid="5"/>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6"/>
                                        </p:tgtEl>
                                        <p:attrNameLst>
                                          <p:attrName>style.visibility</p:attrName>
                                        </p:attrNameLst>
                                      </p:cBhvr>
                                      <p:to>
                                        <p:strVal val="visible"/>
                                      </p:to>
                                    </p:set>
                                    <p:animEffect transition="in" filter="wipe(left)">
                                      <p:cBhvr>
                                        <p:cTn id="75" dur="350"/>
                                        <p:tgtEl>
                                          <p:spTgt spid="6"/>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7"/>
                                        </p:tgtEl>
                                        <p:attrNameLst>
                                          <p:attrName>style.visibility</p:attrName>
                                        </p:attrNameLst>
                                      </p:cBhvr>
                                      <p:to>
                                        <p:strVal val="visible"/>
                                      </p:to>
                                    </p:set>
                                    <p:animEffect transition="in" filter="wipe(left)">
                                      <p:cBhvr>
                                        <p:cTn id="80" dur="350"/>
                                        <p:tgtEl>
                                          <p:spTgt spid="7"/>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8"/>
                                        </p:tgtEl>
                                        <p:attrNameLst>
                                          <p:attrName>style.visibility</p:attrName>
                                        </p:attrNameLst>
                                      </p:cBhvr>
                                      <p:to>
                                        <p:strVal val="visible"/>
                                      </p:to>
                                    </p:set>
                                    <p:animEffect transition="in" filter="wipe(left)">
                                      <p:cBhvr>
                                        <p:cTn id="83" dur="350"/>
                                        <p:tgtEl>
                                          <p:spTgt spid="8"/>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9"/>
                                        </p:tgtEl>
                                        <p:attrNameLst>
                                          <p:attrName>style.visibility</p:attrName>
                                        </p:attrNameLst>
                                      </p:cBhvr>
                                      <p:to>
                                        <p:strVal val="visible"/>
                                      </p:to>
                                    </p:set>
                                    <p:animEffect transition="in" filter="wipe(left)">
                                      <p:cBhvr>
                                        <p:cTn id="88" dur="350"/>
                                        <p:tgtEl>
                                          <p:spTgt spid="9"/>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0"/>
                                        </p:tgtEl>
                                        <p:attrNameLst>
                                          <p:attrName>style.visibility</p:attrName>
                                        </p:attrNameLst>
                                      </p:cBhvr>
                                      <p:to>
                                        <p:strVal val="visible"/>
                                      </p:to>
                                    </p:set>
                                    <p:animEffect transition="in" filter="wipe(left)">
                                      <p:cBhvr>
                                        <p:cTn id="91" dur="3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The API</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One HTTP call, a workload on every cluster.</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10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call, every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from git, containers from images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Validate now, answer 202, poll status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Closed status vocabulary, published on /info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FastAPI, Pydantic, cloudlet-apis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Helm chart, rendered per region</a:t>
            </a:r>
            <a:endParaRPr lang="en-US" sz="1900" dirty="0"/>
          </a:p>
        </p:txBody>
      </p:sp>
      <p:sp>
        <p:nvSpPr>
          <p:cNvPr id="15" name="auto:0:zoom"/>
          <p:cNvSpPr txBox="1"/>
          <p:nvPr/>
        </p:nvSpPr>
        <p:spPr>
          <a:xfrm>
            <a:off x="61722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16" name="auto:1:fade"/>
          <p:cNvSpPr txBox="1"/>
          <p:nvPr/>
        </p:nvSpPr>
        <p:spPr>
          <a:xfrm>
            <a:off x="61722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offerings</a:t>
            </a:r>
            <a:endParaRPr lang="en-US" sz="1050" dirty="0"/>
          </a:p>
        </p:txBody>
      </p:sp>
      <p:sp>
        <p:nvSpPr>
          <p:cNvPr id="17" name="auto:2:zoom"/>
          <p:cNvSpPr txBox="1"/>
          <p:nvPr/>
        </p:nvSpPr>
        <p:spPr>
          <a:xfrm>
            <a:off x="89154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202</a:t>
            </a:r>
            <a:endParaRPr lang="en-US" sz="5400" dirty="0"/>
          </a:p>
        </p:txBody>
      </p:sp>
      <p:sp>
        <p:nvSpPr>
          <p:cNvPr id="18" name="auto:3:fade"/>
          <p:cNvSpPr txBox="1"/>
          <p:nvPr/>
        </p:nvSpPr>
        <p:spPr>
          <a:xfrm>
            <a:off x="89154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every write</a:t>
            </a:r>
            <a:endParaRPr lang="en-US" sz="1050" dirty="0"/>
          </a:p>
        </p:txBody>
      </p:sp>
      <p:sp>
        <p:nvSpPr>
          <p:cNvPr id="19" name="auto:4:zoom"/>
          <p:cNvSpPr txBox="1"/>
          <p:nvPr/>
        </p:nvSpPr>
        <p:spPr>
          <a:xfrm>
            <a:off x="61722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0</a:t>
            </a:r>
            <a:endParaRPr lang="en-US" sz="5400" dirty="0"/>
          </a:p>
        </p:txBody>
      </p:sp>
      <p:sp>
        <p:nvSpPr>
          <p:cNvPr id="20" name="auto:5:fade"/>
          <p:cNvSpPr txBox="1"/>
          <p:nvPr/>
        </p:nvSpPr>
        <p:spPr>
          <a:xfrm>
            <a:off x="61722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 for users</a:t>
            </a:r>
            <a:endParaRPr lang="en-US" sz="1050" dirty="0"/>
          </a:p>
        </p:txBody>
      </p:sp>
      <p:sp>
        <p:nvSpPr>
          <p:cNvPr id="21" name="auto:6:zoom"/>
          <p:cNvSpPr txBox="1"/>
          <p:nvPr/>
        </p:nvSpPr>
        <p:spPr>
          <a:xfrm>
            <a:off x="89154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22" name="auto:7:fade"/>
          <p:cNvSpPr txBox="1"/>
          <p:nvPr/>
        </p:nvSpPr>
        <p:spPr>
          <a:xfrm>
            <a:off x="89154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 per deploy</a:t>
            </a:r>
            <a:endParaRPr lang="en-US" sz="1050" dirty="0"/>
          </a:p>
        </p:txBody>
      </p:sp>
      <p:sp>
        <p:nvSpPr>
          <p:cNvPr id="23" name="Text 2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11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par>
                                <p:cTn id="13" presetID="53" presetClass="entr" presetSubtype="0" fill="hold" grpId="0" nodeType="withEffect">
                                  <p:stCondLst>
                                    <p:cond delay="16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50"/>
                                        <p:tgtEl>
                                          <p:spTgt spid="17"/>
                                        </p:tgtEl>
                                      </p:cBhvr>
                                    </p:animEffect>
                                    <p:animScale>
                                      <p:cBhvr>
                                        <p:cTn id="12" dur="450" fill="hold"/>
                                        <p:tgtEl>
                                          <p:spTgt spid="17"/>
                                        </p:tgtEl>
                                      </p:cBhvr>
                                      <p:from x="60000" y="60000"/>
                                      <p:to x="100000" y="100000"/>
                                    </p:animScale>
                                  </p:childTnLst>
                                </p:cTn>
                              </p:par>
                              <p:par>
                                <p:cTn id="16" presetID="10" presetClass="entr" presetSubtype="0" fill="hold" grpId="0" nodeType="withEffect">
                                  <p:stCondLst>
                                    <p:cond delay="24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20" presetID="53" presetClass="entr" presetSubtype="0" fill="hold" grpId="0" nodeType="withEffect">
                                  <p:stCondLst>
                                    <p:cond delay="32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50"/>
                                        <p:tgtEl>
                                          <p:spTgt spid="19"/>
                                        </p:tgtEl>
                                      </p:cBhvr>
                                    </p:animEffect>
                                    <p:animScale>
                                      <p:cBhvr>
                                        <p:cTn id="19" dur="450" fill="hold"/>
                                        <p:tgtEl>
                                          <p:spTgt spid="19"/>
                                        </p:tgtEl>
                                      </p:cBhvr>
                                      <p:from x="60000" y="60000"/>
                                      <p:to x="100000" y="100000"/>
                                    </p:animScale>
                                  </p:childTnLst>
                                </p:cTn>
                              </p:par>
                              <p:par>
                                <p:cTn id="23" presetID="10" presetClass="entr" presetSubtype="0" fill="hold" grpId="0" nodeType="withEffect">
                                  <p:stCondLst>
                                    <p:cond delay="40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7" presetID="53" presetClass="entr" presetSubtype="0" fill="hold" grpId="0" nodeType="withEffect">
                                  <p:stCondLst>
                                    <p:cond delay="48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50"/>
                                        <p:tgtEl>
                                          <p:spTgt spid="21"/>
                                        </p:tgtEl>
                                      </p:cBhvr>
                                    </p:animEffect>
                                    <p:animScale>
                                      <p:cBhvr>
                                        <p:cTn id="26" dur="450" fill="hold"/>
                                        <p:tgtEl>
                                          <p:spTgt spid="21"/>
                                        </p:tgtEl>
                                      </p:cBhvr>
                                      <p:from x="60000" y="60000"/>
                                      <p:to x="100000" y="100000"/>
                                    </p:animScale>
                                  </p:childTnLst>
                                </p:cTn>
                              </p:par>
                              <p:par>
                                <p:cTn id="30" presetID="10" presetClass="entr" presetSubtype="0" fill="hold" grpId="0" nodeType="withEffect">
                                  <p:stCondLst>
                                    <p:cond delay="56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5" presetID="22" presetClass="entr" presetSubtype="8"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wipe(left)">
                                      <p:cBhvr>
                                        <p:cTn id="34" dur="350"/>
                                        <p:tgtEl>
                                          <p:spTgt spid="5"/>
                                        </p:tgtEl>
                                      </p:cBhvr>
                                    </p:animEffect>
                                  </p:childTnLst>
                                </p:cTn>
                              </p:par>
                              <p:par>
                                <p:cTn id="38" presetID="22" presetClass="entr" presetSubtype="8" fill="hold" grpId="0" nodeType="withEffect">
                                  <p:stCondLst>
                                    <p:cond delay="0"/>
                                  </p:stCondLst>
                                  <p:childTnLst>
                                    <p:set>
                                      <p:cBhvr>
                                        <p:cTn id="36" dur="1" fill="hold">
                                          <p:stCondLst>
                                            <p:cond delay="0"/>
                                          </p:stCondLst>
                                        </p:cTn>
                                        <p:tgtEl>
                                          <p:spTgt spid="6"/>
                                        </p:tgtEl>
                                        <p:attrNameLst>
                                          <p:attrName>style.visibility</p:attrName>
                                        </p:attrNameLst>
                                      </p:cBhvr>
                                      <p:to>
                                        <p:strVal val="visible"/>
                                      </p:to>
                                    </p:set>
                                    <p:animEffect transition="in" filter="wipe(left)">
                                      <p:cBhvr>
                                        <p:cTn id="37" dur="350"/>
                                        <p:tgtEl>
                                          <p:spTgt spid="6"/>
                                        </p:tgtEl>
                                      </p:cBhvr>
                                    </p:animEffect>
                                  </p:childTnLst>
                                </p:cTn>
                              </p:par>
                            </p:childTnLst>
                          </p:cTn>
                        </p:par>
                      </p:childTnLst>
                    </p:cTn>
                  </p:par>
                  <p:par>
                    <p:cTn id="47" fill="hold">
                      <p:stCondLst>
                        <p:cond delay="indefinite"/>
                      </p:stCondLst>
                      <p:childTnLst>
                        <p:par>
                          <p:cTn id="48" fill="hold">
                            <p:stCondLst>
                              <p:cond delay="0"/>
                            </p:stCondLst>
                            <p:childTnLst>
                              <p:par>
                                <p:cTn id="43"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350"/>
                                        <p:tgtEl>
                                          <p:spTgt spid="7"/>
                                        </p:tgtEl>
                                      </p:cBhvr>
                                    </p:animEffect>
                                  </p:childTnLst>
                                </p:cTn>
                              </p:par>
                              <p:par>
                                <p:cTn id="46" presetID="22" presetClass="entr" presetSubtype="8" fill="hold" grpId="0" nodeType="withEffect">
                                  <p:stCondLst>
                                    <p:cond delay="0"/>
                                  </p:stCondLst>
                                  <p:childTnLst>
                                    <p:set>
                                      <p:cBhvr>
                                        <p:cTn id="44" dur="1" fill="hold">
                                          <p:stCondLst>
                                            <p:cond delay="0"/>
                                          </p:stCondLst>
                                        </p:cTn>
                                        <p:tgtEl>
                                          <p:spTgt spid="8"/>
                                        </p:tgtEl>
                                        <p:attrNameLst>
                                          <p:attrName>style.visibility</p:attrName>
                                        </p:attrNameLst>
                                      </p:cBhvr>
                                      <p:to>
                                        <p:strVal val="visible"/>
                                      </p:to>
                                    </p:set>
                                    <p:animEffect transition="in" filter="wipe(left)">
                                      <p:cBhvr>
                                        <p:cTn id="45" dur="350"/>
                                        <p:tgtEl>
                                          <p:spTgt spid="8"/>
                                        </p:tgtEl>
                                      </p:cBhvr>
                                    </p:animEffect>
                                  </p:childTnLst>
                                </p:cTn>
                              </p:par>
                            </p:childTnLst>
                          </p:cTn>
                        </p:par>
                      </p:childTnLst>
                    </p:cTn>
                  </p:par>
                  <p:par>
                    <p:cTn id="55" fill="hold">
                      <p:stCondLst>
                        <p:cond delay="indefinite"/>
                      </p:stCondLst>
                      <p:childTnLst>
                        <p:par>
                          <p:cTn id="56" fill="hold">
                            <p:stCondLst>
                              <p:cond delay="0"/>
                            </p:stCondLst>
                            <p:childTnLst>
                              <p:par>
                                <p:cTn id="51" presetID="22" presetClass="entr" presetSubtype="8" fill="hold" grpId="0"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wipe(left)">
                                      <p:cBhvr>
                                        <p:cTn id="50" dur="350"/>
                                        <p:tgtEl>
                                          <p:spTgt spid="9"/>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10"/>
                                        </p:tgtEl>
                                        <p:attrNameLst>
                                          <p:attrName>style.visibility</p:attrName>
                                        </p:attrNameLst>
                                      </p:cBhvr>
                                      <p:to>
                                        <p:strVal val="visible"/>
                                      </p:to>
                                    </p:set>
                                    <p:animEffect transition="in" filter="wipe(left)">
                                      <p:cBhvr>
                                        <p:cTn id="53" dur="350"/>
                                        <p:tgtEl>
                                          <p:spTgt spid="10"/>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1"/>
                                        </p:tgtEl>
                                        <p:attrNameLst>
                                          <p:attrName>style.visibility</p:attrName>
                                        </p:attrNameLst>
                                      </p:cBhvr>
                                      <p:to>
                                        <p:strVal val="visible"/>
                                      </p:to>
                                    </p:set>
                                    <p:animEffect transition="in" filter="wipe(left)">
                                      <p:cBhvr>
                                        <p:cTn id="58" dur="350"/>
                                        <p:tgtEl>
                                          <p:spTgt spid="11"/>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wipe(left)">
                                      <p:cBhvr>
                                        <p:cTn id="61" dur="350"/>
                                        <p:tgtEl>
                                          <p:spTgt spid="12"/>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wipe(left)">
                                      <p:cBhvr>
                                        <p:cTn id="66" dur="350"/>
                                        <p:tgtEl>
                                          <p:spTgt spid="13"/>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Effect transition="in" filter="wipe(left)">
                                      <p:cBhvr>
                                        <p:cTn id="6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endpoint structure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23 endpoints under one base path</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group is in the path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OIDC token or admin key</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Streams use short-lived tickets</a:t>
            </a:r>
            <a:endParaRPr lang="en-US" sz="1900" dirty="0"/>
          </a:p>
        </p:txBody>
      </p:sp>
      <p:sp>
        <p:nvSpPr>
          <p:cNvPr id="13" name="auto:0:wipeD"/>
          <p:cNvSpPr/>
          <p:nvPr/>
        </p:nvSpPr>
        <p:spPr>
          <a:xfrm>
            <a:off x="6172200" y="2194560"/>
            <a:ext cx="5394960" cy="3291840"/>
          </a:xfrm>
          <a:prstGeom prst="roundRect">
            <a:avLst>
              <a:gd name="adj" fmla="val 2778"/>
            </a:avLst>
          </a:prstGeom>
          <a:solidFill>
            <a:srgbClr val="F4F5F7"/>
          </a:solidFill>
          <a:ln w="12700">
            <a:solidFill>
              <a:srgbClr val="F4F5F7"/>
            </a:solidFill>
            <a:prstDash val="solid"/>
          </a:ln>
        </p:spPr>
      </p:sp>
      <p:sp>
        <p:nvSpPr>
          <p:cNvPr id="14" name="auto:1:fade"/>
          <p:cNvSpPr txBox="1"/>
          <p:nvPr/>
        </p:nvSpPr>
        <p:spPr>
          <a:xfrm>
            <a:off x="6400800" y="2377440"/>
            <a:ext cx="5029200" cy="2926080"/>
          </a:xfrm>
          <a:prstGeom prst="rect">
            <a:avLst/>
          </a:prstGeom>
          <a:noFill/>
          <a:ln/>
        </p:spPr>
        <p:txBody>
          <a:bodyPr wrap="square" lIns="0" tIns="0" rIns="0" bIns="0" rtlCol="0" anchor="t"/>
          <a:lstStyle/>
          <a:p>
            <a:pPr indent="0" marL="0">
              <a:lnSpc>
                <a:spcPct val="135000"/>
              </a:lnSpc>
              <a:buNone/>
            </a:pPr>
            <a:r>
              <a:rPr lang="en-US" sz="1150" b="1" dirty="0">
                <a:solidFill>
                  <a:srgbClr val="E4572E"/>
                </a:solidFill>
                <a:latin typeface="Courier New" pitchFamily="34" charset="0"/>
                <a:ea typeface="Courier New" pitchFamily="34" charset="-122"/>
                <a:cs typeface="Courier New" pitchFamily="34" charset="-120"/>
              </a:rPr>
              <a:t>/api/serverless/v1</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/groups/{group}/functions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/{name}/build · /stats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/groups/{group}/containers  →  /pull</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/functions/info · /containers/info</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/stream-tickets</a:t>
            </a:r>
            <a:endParaRPr lang="en-US" sz="1150" dirty="0"/>
          </a:p>
        </p:txBody>
      </p:sp>
      <p:sp>
        <p:nvSpPr>
          <p:cNvPr id="15" name="Text 1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12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350"/>
                                        <p:tgtEl>
                                          <p:spTgt spid="5"/>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350"/>
                                        <p:tgtEl>
                                          <p:spTgt spid="6"/>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20" dur="350"/>
                                        <p:tgtEl>
                                          <p:spTgt spid="7"/>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3" dur="350"/>
                                        <p:tgtEl>
                                          <p:spTgt spid="8"/>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350"/>
                                        <p:tgtEl>
                                          <p:spTgt spid="9"/>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350"/>
                                        <p:tgtEl>
                                          <p:spTgt spid="10"/>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350"/>
                                        <p:tgtEl>
                                          <p:spTgt spid="11"/>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Anatomy of a workload</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Identity: name, hostname,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Source: git repo or image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Runtime: env, files, port, size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Scaling: min, max, metric, target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Response: same shape, secrets redacted</a:t>
            </a:r>
            <a:endParaRPr lang="en-US" sz="1900" dirty="0"/>
          </a:p>
        </p:txBody>
      </p:sp>
      <p:sp>
        <p:nvSpPr>
          <p:cNvPr id="15" name="auto:0:wipeD"/>
          <p:cNvSpPr/>
          <p:nvPr/>
        </p:nvSpPr>
        <p:spPr>
          <a:xfrm>
            <a:off x="6172200" y="2286000"/>
            <a:ext cx="1051560" cy="384048"/>
          </a:xfrm>
          <a:prstGeom prst="roundRect">
            <a:avLst>
              <a:gd name="adj" fmla="val 14286"/>
            </a:avLst>
          </a:prstGeom>
          <a:solidFill>
            <a:srgbClr val="FFFFFF"/>
          </a:solidFill>
          <a:ln w="15875">
            <a:solidFill>
              <a:srgbClr val="0B7A75"/>
            </a:solidFill>
            <a:prstDash val="solid"/>
          </a:ln>
        </p:spPr>
      </p:sp>
      <p:sp>
        <p:nvSpPr>
          <p:cNvPr id="16" name="auto:1:fade"/>
          <p:cNvSpPr txBox="1"/>
          <p:nvPr/>
        </p:nvSpPr>
        <p:spPr>
          <a:xfrm>
            <a:off x="6172200"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Pending</a:t>
            </a:r>
            <a:endParaRPr lang="en-US" sz="1200" dirty="0"/>
          </a:p>
        </p:txBody>
      </p:sp>
      <p:sp>
        <p:nvSpPr>
          <p:cNvPr id="17" name="auto:2:wipeL"/>
          <p:cNvSpPr/>
          <p:nvPr/>
        </p:nvSpPr>
        <p:spPr>
          <a:xfrm>
            <a:off x="7223760" y="2478024"/>
            <a:ext cx="256032" cy="0"/>
          </a:xfrm>
          <a:prstGeom prst="line">
            <a:avLst/>
          </a:prstGeom>
          <a:noFill/>
          <a:ln w="15875">
            <a:solidFill>
              <a:srgbClr val="98A2B3"/>
            </a:solidFill>
            <a:prstDash val="solid"/>
            <a:tailEnd type="triangle"/>
          </a:ln>
        </p:spPr>
      </p:sp>
      <p:sp>
        <p:nvSpPr>
          <p:cNvPr id="18" name="auto:3:wipeD"/>
          <p:cNvSpPr/>
          <p:nvPr/>
        </p:nvSpPr>
        <p:spPr>
          <a:xfrm>
            <a:off x="7479792" y="2286000"/>
            <a:ext cx="1051560" cy="384048"/>
          </a:xfrm>
          <a:prstGeom prst="roundRect">
            <a:avLst>
              <a:gd name="adj" fmla="val 14286"/>
            </a:avLst>
          </a:prstGeom>
          <a:solidFill>
            <a:srgbClr val="FFFFFF"/>
          </a:solidFill>
          <a:ln w="15875">
            <a:solidFill>
              <a:srgbClr val="0B7A75"/>
            </a:solidFill>
            <a:prstDash val="solid"/>
          </a:ln>
        </p:spPr>
      </p:sp>
      <p:sp>
        <p:nvSpPr>
          <p:cNvPr id="19" name="auto:4:fade"/>
          <p:cNvSpPr txBox="1"/>
          <p:nvPr/>
        </p:nvSpPr>
        <p:spPr>
          <a:xfrm>
            <a:off x="7479792"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Building</a:t>
            </a:r>
            <a:endParaRPr lang="en-US" sz="1200" dirty="0"/>
          </a:p>
        </p:txBody>
      </p:sp>
      <p:sp>
        <p:nvSpPr>
          <p:cNvPr id="20" name="auto:5:wipeL"/>
          <p:cNvSpPr/>
          <p:nvPr/>
        </p:nvSpPr>
        <p:spPr>
          <a:xfrm>
            <a:off x="8531352" y="2478024"/>
            <a:ext cx="256032" cy="0"/>
          </a:xfrm>
          <a:prstGeom prst="line">
            <a:avLst/>
          </a:prstGeom>
          <a:noFill/>
          <a:ln w="15875">
            <a:solidFill>
              <a:srgbClr val="98A2B3"/>
            </a:solidFill>
            <a:prstDash val="solid"/>
            <a:tailEnd type="triangle"/>
          </a:ln>
        </p:spPr>
      </p:sp>
      <p:sp>
        <p:nvSpPr>
          <p:cNvPr id="21" name="auto:6:wipeD"/>
          <p:cNvSpPr/>
          <p:nvPr/>
        </p:nvSpPr>
        <p:spPr>
          <a:xfrm>
            <a:off x="8787384" y="2286000"/>
            <a:ext cx="1051560" cy="384048"/>
          </a:xfrm>
          <a:prstGeom prst="roundRect">
            <a:avLst>
              <a:gd name="adj" fmla="val 14286"/>
            </a:avLst>
          </a:prstGeom>
          <a:solidFill>
            <a:srgbClr val="FFFFFF"/>
          </a:solidFill>
          <a:ln w="15875">
            <a:solidFill>
              <a:srgbClr val="0B7A75"/>
            </a:solidFill>
            <a:prstDash val="solid"/>
          </a:ln>
        </p:spPr>
      </p:sp>
      <p:sp>
        <p:nvSpPr>
          <p:cNvPr id="22" name="auto:7:fade"/>
          <p:cNvSpPr txBox="1"/>
          <p:nvPr/>
        </p:nvSpPr>
        <p:spPr>
          <a:xfrm>
            <a:off x="8787384"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Deploying</a:t>
            </a:r>
            <a:endParaRPr lang="en-US" sz="1200" dirty="0"/>
          </a:p>
        </p:txBody>
      </p:sp>
      <p:sp>
        <p:nvSpPr>
          <p:cNvPr id="23" name="auto:8:wipeL"/>
          <p:cNvSpPr/>
          <p:nvPr/>
        </p:nvSpPr>
        <p:spPr>
          <a:xfrm>
            <a:off x="9838944" y="2478024"/>
            <a:ext cx="256032" cy="0"/>
          </a:xfrm>
          <a:prstGeom prst="line">
            <a:avLst/>
          </a:prstGeom>
          <a:noFill/>
          <a:ln w="15875">
            <a:solidFill>
              <a:srgbClr val="98A2B3"/>
            </a:solidFill>
            <a:prstDash val="solid"/>
            <a:tailEnd type="triangle"/>
          </a:ln>
        </p:spPr>
      </p:sp>
      <p:sp>
        <p:nvSpPr>
          <p:cNvPr id="24" name="auto:9:wipeD"/>
          <p:cNvSpPr/>
          <p:nvPr/>
        </p:nvSpPr>
        <p:spPr>
          <a:xfrm>
            <a:off x="10094976" y="2286000"/>
            <a:ext cx="1051560" cy="384048"/>
          </a:xfrm>
          <a:prstGeom prst="roundRect">
            <a:avLst>
              <a:gd name="adj" fmla="val 14286"/>
            </a:avLst>
          </a:prstGeom>
          <a:solidFill>
            <a:srgbClr val="1B8A5A"/>
          </a:solidFill>
          <a:ln w="15875">
            <a:solidFill>
              <a:srgbClr val="1B8A5A"/>
            </a:solidFill>
            <a:prstDash val="solid"/>
          </a:ln>
        </p:spPr>
      </p:sp>
      <p:sp>
        <p:nvSpPr>
          <p:cNvPr id="25" name="auto:10:fade"/>
          <p:cNvSpPr txBox="1"/>
          <p:nvPr/>
        </p:nvSpPr>
        <p:spPr>
          <a:xfrm>
            <a:off x="10094976" y="2286000"/>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Ready</a:t>
            </a:r>
            <a:endParaRPr lang="en-US" sz="1200" dirty="0"/>
          </a:p>
        </p:txBody>
      </p:sp>
      <p:sp>
        <p:nvSpPr>
          <p:cNvPr id="26" name="auto:11:wipeD"/>
          <p:cNvSpPr/>
          <p:nvPr/>
        </p:nvSpPr>
        <p:spPr>
          <a:xfrm>
            <a:off x="6172200" y="3063240"/>
            <a:ext cx="1051560" cy="384048"/>
          </a:xfrm>
          <a:prstGeom prst="roundRect">
            <a:avLst>
              <a:gd name="adj" fmla="val 14286"/>
            </a:avLst>
          </a:prstGeom>
          <a:solidFill>
            <a:srgbClr val="FFFFFF"/>
          </a:solidFill>
          <a:ln w="15875">
            <a:solidFill>
              <a:srgbClr val="C0392B"/>
            </a:solidFill>
            <a:prstDash val="solid"/>
          </a:ln>
        </p:spPr>
      </p:sp>
      <p:sp>
        <p:nvSpPr>
          <p:cNvPr id="27" name="auto:12:fade"/>
          <p:cNvSpPr txBox="1"/>
          <p:nvPr/>
        </p:nvSpPr>
        <p:spPr>
          <a:xfrm>
            <a:off x="6172200" y="3063240"/>
            <a:ext cx="1051560" cy="384048"/>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Failed</a:t>
            </a:r>
            <a:endParaRPr lang="en-US" sz="1200" dirty="0"/>
          </a:p>
        </p:txBody>
      </p:sp>
      <p:sp>
        <p:nvSpPr>
          <p:cNvPr id="28" name="auto:13:fade"/>
          <p:cNvSpPr txBox="1"/>
          <p:nvPr/>
        </p:nvSpPr>
        <p:spPr>
          <a:xfrm>
            <a:off x="7360920" y="3063240"/>
            <a:ext cx="2743200" cy="384048"/>
          </a:xfrm>
          <a:prstGeom prst="rect">
            <a:avLst/>
          </a:prstGeom>
          <a:noFill/>
          <a:ln/>
        </p:spPr>
        <p:txBody>
          <a:bodyPr wrap="square" lIns="0" tIns="0" rIns="0" bIns="0" rtlCol="0" anchor="ctr"/>
          <a:lstStyle/>
          <a:p>
            <a:pPr indent="0" marL="0">
              <a:buNone/>
            </a:pPr>
            <a:r>
              <a:rPr lang="en-US" sz="1200" dirty="0">
                <a:solidFill>
                  <a:srgbClr val="667085"/>
                </a:solidFill>
                <a:latin typeface="Calibri" pitchFamily="34" charset="0"/>
                <a:ea typeface="Calibri" pitchFamily="34" charset="-122"/>
                <a:cs typeface="Calibri" pitchFamily="34" charset="-120"/>
              </a:rPr>
              <a:t>with a reason:</a:t>
            </a:r>
            <a:endParaRPr lang="en-US" sz="1200" dirty="0"/>
          </a:p>
        </p:txBody>
      </p:sp>
      <p:sp>
        <p:nvSpPr>
          <p:cNvPr id="29" name="auto:14:wipeD"/>
          <p:cNvSpPr/>
          <p:nvPr/>
        </p:nvSpPr>
        <p:spPr>
          <a:xfrm>
            <a:off x="6172200" y="3657600"/>
            <a:ext cx="1007669" cy="310896"/>
          </a:xfrm>
          <a:prstGeom prst="roundRect">
            <a:avLst>
              <a:gd name="adj" fmla="val 14706"/>
            </a:avLst>
          </a:prstGeom>
          <a:solidFill>
            <a:srgbClr val="FFFFFF"/>
          </a:solidFill>
          <a:ln w="9525">
            <a:solidFill>
              <a:srgbClr val="E4E7EC"/>
            </a:solidFill>
            <a:prstDash val="solid"/>
          </a:ln>
        </p:spPr>
      </p:sp>
      <p:sp>
        <p:nvSpPr>
          <p:cNvPr id="30" name="auto:15:fade"/>
          <p:cNvSpPr txBox="1"/>
          <p:nvPr/>
        </p:nvSpPr>
        <p:spPr>
          <a:xfrm>
            <a:off x="6172200"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BuildFailed</a:t>
            </a:r>
            <a:endParaRPr lang="en-US" sz="950" dirty="0"/>
          </a:p>
        </p:txBody>
      </p:sp>
      <p:sp>
        <p:nvSpPr>
          <p:cNvPr id="31" name="auto:16:wipeD"/>
          <p:cNvSpPr/>
          <p:nvPr/>
        </p:nvSpPr>
        <p:spPr>
          <a:xfrm>
            <a:off x="7289597" y="3657600"/>
            <a:ext cx="1307592" cy="310896"/>
          </a:xfrm>
          <a:prstGeom prst="roundRect">
            <a:avLst>
              <a:gd name="adj" fmla="val 14706"/>
            </a:avLst>
          </a:prstGeom>
          <a:solidFill>
            <a:srgbClr val="FFFFFF"/>
          </a:solidFill>
          <a:ln w="9525">
            <a:solidFill>
              <a:srgbClr val="E4E7EC"/>
            </a:solidFill>
            <a:prstDash val="solid"/>
          </a:ln>
        </p:spPr>
      </p:sp>
      <p:sp>
        <p:nvSpPr>
          <p:cNvPr id="32" name="auto:17:fade"/>
          <p:cNvSpPr txBox="1"/>
          <p:nvPr/>
        </p:nvSpPr>
        <p:spPr>
          <a:xfrm>
            <a:off x="7289597" y="3657600"/>
            <a:ext cx="1307592"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ImagePullFailed</a:t>
            </a:r>
            <a:endParaRPr lang="en-US" sz="950" dirty="0"/>
          </a:p>
        </p:txBody>
      </p:sp>
      <p:sp>
        <p:nvSpPr>
          <p:cNvPr id="33" name="auto:18:wipeD"/>
          <p:cNvSpPr/>
          <p:nvPr/>
        </p:nvSpPr>
        <p:spPr>
          <a:xfrm>
            <a:off x="8706917" y="3657600"/>
            <a:ext cx="1082650" cy="310896"/>
          </a:xfrm>
          <a:prstGeom prst="roundRect">
            <a:avLst>
              <a:gd name="adj" fmla="val 14706"/>
            </a:avLst>
          </a:prstGeom>
          <a:solidFill>
            <a:srgbClr val="FFFFFF"/>
          </a:solidFill>
          <a:ln w="9525">
            <a:solidFill>
              <a:srgbClr val="E4E7EC"/>
            </a:solidFill>
            <a:prstDash val="solid"/>
          </a:ln>
        </p:spPr>
      </p:sp>
      <p:sp>
        <p:nvSpPr>
          <p:cNvPr id="34" name="auto:19:fade"/>
          <p:cNvSpPr txBox="1"/>
          <p:nvPr/>
        </p:nvSpPr>
        <p:spPr>
          <a:xfrm>
            <a:off x="8706917" y="3657600"/>
            <a:ext cx="1082650"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CrashLooping</a:t>
            </a:r>
            <a:endParaRPr lang="en-US" sz="950" dirty="0"/>
          </a:p>
        </p:txBody>
      </p:sp>
      <p:sp>
        <p:nvSpPr>
          <p:cNvPr id="35" name="auto:20:wipeD"/>
          <p:cNvSpPr/>
          <p:nvPr/>
        </p:nvSpPr>
        <p:spPr>
          <a:xfrm>
            <a:off x="9899294" y="3657600"/>
            <a:ext cx="1007669" cy="310896"/>
          </a:xfrm>
          <a:prstGeom prst="roundRect">
            <a:avLst>
              <a:gd name="adj" fmla="val 14706"/>
            </a:avLst>
          </a:prstGeom>
          <a:solidFill>
            <a:srgbClr val="FFFFFF"/>
          </a:solidFill>
          <a:ln w="9525">
            <a:solidFill>
              <a:srgbClr val="E4E7EC"/>
            </a:solidFill>
            <a:prstDash val="solid"/>
          </a:ln>
        </p:spPr>
      </p:sp>
      <p:sp>
        <p:nvSpPr>
          <p:cNvPr id="36" name="auto:21:fade"/>
          <p:cNvSpPr txBox="1"/>
          <p:nvPr/>
        </p:nvSpPr>
        <p:spPr>
          <a:xfrm>
            <a:off x="9899294"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ConfigError</a:t>
            </a:r>
            <a:endParaRPr lang="en-US" sz="950" dirty="0"/>
          </a:p>
        </p:txBody>
      </p:sp>
      <p:sp>
        <p:nvSpPr>
          <p:cNvPr id="37" name="auto:22:wipeD"/>
          <p:cNvSpPr/>
          <p:nvPr/>
        </p:nvSpPr>
        <p:spPr>
          <a:xfrm>
            <a:off x="6172200" y="4059936"/>
            <a:ext cx="1982419" cy="310896"/>
          </a:xfrm>
          <a:prstGeom prst="roundRect">
            <a:avLst>
              <a:gd name="adj" fmla="val 14706"/>
            </a:avLst>
          </a:prstGeom>
          <a:solidFill>
            <a:srgbClr val="FFFFFF"/>
          </a:solidFill>
          <a:ln w="9525">
            <a:solidFill>
              <a:srgbClr val="E4E7EC"/>
            </a:solidFill>
            <a:prstDash val="solid"/>
          </a:ln>
        </p:spPr>
      </p:sp>
      <p:sp>
        <p:nvSpPr>
          <p:cNvPr id="38" name="auto:23:fade"/>
          <p:cNvSpPr txBox="1"/>
          <p:nvPr/>
        </p:nvSpPr>
        <p:spPr>
          <a:xfrm>
            <a:off x="6172200" y="4059936"/>
            <a:ext cx="198241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ProgressDeadlineExceeded</a:t>
            </a:r>
            <a:endParaRPr lang="en-US" sz="9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13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22" presetClass="entr" presetSubtype="8"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left)">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8"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left)">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down)">
                                      <p:cBhvr>
                                        <p:cTn id="52" dur="350"/>
                                        <p:tgtEl>
                                          <p:spTgt spid="3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400"/>
                                        <p:tgtEl>
                                          <p:spTgt spid="32"/>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wipe(down)">
                                      <p:cBhvr>
                                        <p:cTn id="58" dur="350"/>
                                        <p:tgtEl>
                                          <p:spTgt spid="3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down)">
                                      <p:cBhvr>
                                        <p:cTn id="64" dur="350"/>
                                        <p:tgtEl>
                                          <p:spTgt spid="35"/>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400"/>
                                        <p:tgtEl>
                                          <p:spTgt spid="36"/>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7"/>
                                        </p:tgtEl>
                                        <p:attrNameLst>
                                          <p:attrName>style.visibility</p:attrName>
                                        </p:attrNameLst>
                                      </p:cBhvr>
                                      <p:to>
                                        <p:strVal val="visible"/>
                                      </p:to>
                                    </p:set>
                                    <p:animEffect transition="in" filter="wipe(down)">
                                      <p:cBhvr>
                                        <p:cTn id="70" dur="350"/>
                                        <p:tgtEl>
                                          <p:spTgt spid="37"/>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5"/>
                                        </p:tgtEl>
                                        <p:attrNameLst>
                                          <p:attrName>style.visibility</p:attrName>
                                        </p:attrNameLst>
                                      </p:cBhvr>
                                      <p:to>
                                        <p:strVal val="visible"/>
                                      </p:to>
                                    </p:set>
                                    <p:animEffect transition="in" filter="wipe(left)">
                                      <p:cBhvr>
                                        <p:cTn id="78" dur="350"/>
                                        <p:tgtEl>
                                          <p:spTgt spid="5"/>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wipe(left)">
                                      <p:cBhvr>
                                        <p:cTn id="81" dur="350"/>
                                        <p:tgtEl>
                                          <p:spTgt spid="6"/>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7"/>
                                        </p:tgtEl>
                                        <p:attrNameLst>
                                          <p:attrName>style.visibility</p:attrName>
                                        </p:attrNameLst>
                                      </p:cBhvr>
                                      <p:to>
                                        <p:strVal val="visible"/>
                                      </p:to>
                                    </p:set>
                                    <p:animEffect transition="in" filter="wipe(left)">
                                      <p:cBhvr>
                                        <p:cTn id="86" dur="350"/>
                                        <p:tgtEl>
                                          <p:spTgt spid="7"/>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8"/>
                                        </p:tgtEl>
                                        <p:attrNameLst>
                                          <p:attrName>style.visibility</p:attrName>
                                        </p:attrNameLst>
                                      </p:cBhvr>
                                      <p:to>
                                        <p:strVal val="visible"/>
                                      </p:to>
                                    </p:set>
                                    <p:animEffect transition="in" filter="wipe(left)">
                                      <p:cBhvr>
                                        <p:cTn id="89" dur="350"/>
                                        <p:tgtEl>
                                          <p:spTgt spid="8"/>
                                        </p:tgtEl>
                                      </p:cBhvr>
                                    </p:animEffect>
                                  </p:childTnLst>
                                </p:cTn>
                              </p:par>
                            </p:childTnLst>
                          </p:cTn>
                        </p:par>
                      </p:childTnLst>
                    </p:cTn>
                  </p:par>
                  <p:par>
                    <p:cTn id="99" fill="hold">
                      <p:stCondLst>
                        <p:cond delay="indefinite"/>
                      </p:stCondLst>
                      <p:childTnLst>
                        <p:par>
                          <p:cTn id="100" fill="hold">
                            <p:stCondLst>
                              <p:cond delay="0"/>
                            </p:stCondLst>
                            <p:childTnLst>
                              <p:par>
                                <p:cTn id="95" presetID="22" presetClass="entr" presetSubtype="8" fill="hold" grpId="0" nodeType="clickEffect">
                                  <p:stCondLst>
                                    <p:cond delay="0"/>
                                  </p:stCondLst>
                                  <p:childTnLst>
                                    <p:set>
                                      <p:cBhvr>
                                        <p:cTn id="93" dur="1" fill="hold">
                                          <p:stCondLst>
                                            <p:cond delay="0"/>
                                          </p:stCondLst>
                                        </p:cTn>
                                        <p:tgtEl>
                                          <p:spTgt spid="9"/>
                                        </p:tgtEl>
                                        <p:attrNameLst>
                                          <p:attrName>style.visibility</p:attrName>
                                        </p:attrNameLst>
                                      </p:cBhvr>
                                      <p:to>
                                        <p:strVal val="visible"/>
                                      </p:to>
                                    </p:set>
                                    <p:animEffect transition="in" filter="wipe(left)">
                                      <p:cBhvr>
                                        <p:cTn id="94" dur="350"/>
                                        <p:tgtEl>
                                          <p:spTgt spid="9"/>
                                        </p:tgtEl>
                                      </p:cBhvr>
                                    </p:animEffect>
                                  </p:childTnLst>
                                </p:cTn>
                              </p:par>
                              <p:par>
                                <p:cTn id="98" presetID="22" presetClass="entr" presetSubtype="8" fill="hold" grpId="0" nodeType="withEffect">
                                  <p:stCondLst>
                                    <p:cond delay="0"/>
                                  </p:stCondLst>
                                  <p:childTnLst>
                                    <p:set>
                                      <p:cBhvr>
                                        <p:cTn id="96" dur="1" fill="hold">
                                          <p:stCondLst>
                                            <p:cond delay="0"/>
                                          </p:stCondLst>
                                        </p:cTn>
                                        <p:tgtEl>
                                          <p:spTgt spid="10"/>
                                        </p:tgtEl>
                                        <p:attrNameLst>
                                          <p:attrName>style.visibility</p:attrName>
                                        </p:attrNameLst>
                                      </p:cBhvr>
                                      <p:to>
                                        <p:strVal val="visible"/>
                                      </p:to>
                                    </p:set>
                                    <p:animEffect transition="in" filter="wipe(left)">
                                      <p:cBhvr>
                                        <p:cTn id="97" dur="350"/>
                                        <p:tgtEl>
                                          <p:spTgt spid="10"/>
                                        </p:tgtEl>
                                      </p:cBhvr>
                                    </p:animEffect>
                                  </p:childTnLst>
                                </p:cTn>
                              </p:par>
                            </p:childTnLst>
                          </p:cTn>
                        </p:par>
                      </p:childTnLst>
                    </p:cTn>
                  </p:par>
                  <p:par>
                    <p:cTn id="107" fill="hold">
                      <p:stCondLst>
                        <p:cond delay="indefinite"/>
                      </p:stCondLst>
                      <p:childTnLst>
                        <p:par>
                          <p:cTn id="108" fill="hold">
                            <p:stCondLst>
                              <p:cond delay="0"/>
                            </p:stCondLst>
                            <p:childTnLst>
                              <p:par>
                                <p:cTn id="103" presetID="22" presetClass="entr" presetSubtype="8" fill="hold" grpId="0" nodeType="clickEffect">
                                  <p:stCondLst>
                                    <p:cond delay="0"/>
                                  </p:stCondLst>
                                  <p:childTnLst>
                                    <p:set>
                                      <p:cBhvr>
                                        <p:cTn id="101" dur="1" fill="hold">
                                          <p:stCondLst>
                                            <p:cond delay="0"/>
                                          </p:stCondLst>
                                        </p:cTn>
                                        <p:tgtEl>
                                          <p:spTgt spid="11"/>
                                        </p:tgtEl>
                                        <p:attrNameLst>
                                          <p:attrName>style.visibility</p:attrName>
                                        </p:attrNameLst>
                                      </p:cBhvr>
                                      <p:to>
                                        <p:strVal val="visible"/>
                                      </p:to>
                                    </p:set>
                                    <p:animEffect transition="in" filter="wipe(left)">
                                      <p:cBhvr>
                                        <p:cTn id="102" dur="350"/>
                                        <p:tgtEl>
                                          <p:spTgt spid="11"/>
                                        </p:tgtEl>
                                      </p:cBhvr>
                                    </p:animEffect>
                                  </p:childTnLst>
                                </p:cTn>
                              </p:par>
                              <p:par>
                                <p:cTn id="106" presetID="22" presetClass="entr" presetSubtype="8" fill="hold" grpId="0" nodeType="withEffect">
                                  <p:stCondLst>
                                    <p:cond delay="0"/>
                                  </p:stCondLst>
                                  <p:childTnLst>
                                    <p:set>
                                      <p:cBhvr>
                                        <p:cTn id="104" dur="1" fill="hold">
                                          <p:stCondLst>
                                            <p:cond delay="0"/>
                                          </p:stCondLst>
                                        </p:cTn>
                                        <p:tgtEl>
                                          <p:spTgt spid="12"/>
                                        </p:tgtEl>
                                        <p:attrNameLst>
                                          <p:attrName>style.visibility</p:attrName>
                                        </p:attrNameLst>
                                      </p:cBhvr>
                                      <p:to>
                                        <p:strVal val="visible"/>
                                      </p:to>
                                    </p:set>
                                    <p:animEffect transition="in" filter="wipe(left)">
                                      <p:cBhvr>
                                        <p:cTn id="105" dur="350"/>
                                        <p:tgtEl>
                                          <p:spTgt spid="12"/>
                                        </p:tgtEl>
                                      </p:cBhvr>
                                    </p:animEffect>
                                  </p:childTnLst>
                                </p:cTn>
                              </p:par>
                            </p:childTnLst>
                          </p:cTn>
                        </p:par>
                      </p:childTnLst>
                    </p:cTn>
                  </p:par>
                  <p:par>
                    <p:cTn id="115" fill="hold">
                      <p:stCondLst>
                        <p:cond delay="indefinite"/>
                      </p:stCondLst>
                      <p:childTnLst>
                        <p:par>
                          <p:cTn id="116" fill="hold">
                            <p:stCondLst>
                              <p:cond delay="0"/>
                            </p:stCondLst>
                            <p:childTnLst>
                              <p:par>
                                <p:cTn id="111" presetID="22" presetClass="entr" presetSubtype="8" fill="hold" grpId="0" nodeType="clickEffect">
                                  <p:stCondLst>
                                    <p:cond delay="0"/>
                                  </p:stCondLst>
                                  <p:childTnLst>
                                    <p:set>
                                      <p:cBhvr>
                                        <p:cTn id="109" dur="1" fill="hold">
                                          <p:stCondLst>
                                            <p:cond delay="0"/>
                                          </p:stCondLst>
                                        </p:cTn>
                                        <p:tgtEl>
                                          <p:spTgt spid="13"/>
                                        </p:tgtEl>
                                        <p:attrNameLst>
                                          <p:attrName>style.visibility</p:attrName>
                                        </p:attrNameLst>
                                      </p:cBhvr>
                                      <p:to>
                                        <p:strVal val="visible"/>
                                      </p:to>
                                    </p:set>
                                    <p:animEffect transition="in" filter="wipe(left)">
                                      <p:cBhvr>
                                        <p:cTn id="110" dur="350"/>
                                        <p:tgtEl>
                                          <p:spTgt spid="13"/>
                                        </p:tgtEl>
                                      </p:cBhvr>
                                    </p:animEffect>
                                  </p:childTnLst>
                                </p:cTn>
                              </p:par>
                              <p:par>
                                <p:cTn id="114" presetID="22" presetClass="entr" presetSubtype="8" fill="hold" grpId="0" nodeType="withEffect">
                                  <p:stCondLst>
                                    <p:cond delay="0"/>
                                  </p:stCondLst>
                                  <p:childTnLst>
                                    <p:set>
                                      <p:cBhvr>
                                        <p:cTn id="112" dur="1" fill="hold">
                                          <p:stCondLst>
                                            <p:cond delay="0"/>
                                          </p:stCondLst>
                                        </p:cTn>
                                        <p:tgtEl>
                                          <p:spTgt spid="14"/>
                                        </p:tgtEl>
                                        <p:attrNameLst>
                                          <p:attrName>style.visibility</p:attrName>
                                        </p:attrNameLst>
                                      </p:cBhvr>
                                      <p:to>
                                        <p:strVal val="visible"/>
                                      </p:to>
                                    </p:set>
                                    <p:animEffect transition="in" filter="wipe(left)">
                                      <p:cBhvr>
                                        <p:cTn id="11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Talking to the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Client certificate mTLS, always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kubeconfig, no service-account token</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certificate's CN is the user</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Address derived from the region name</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write is server-side apply</a:t>
            </a:r>
            <a:endParaRPr lang="en-US" sz="1900" dirty="0"/>
          </a:p>
        </p:txBody>
      </p:sp>
      <p:sp>
        <p:nvSpPr>
          <p:cNvPr id="15" name="auto:0:wipeL"/>
          <p:cNvSpPr/>
          <p:nvPr/>
        </p:nvSpPr>
        <p:spPr>
          <a:xfrm>
            <a:off x="8599932" y="2686050"/>
            <a:ext cx="539496" cy="0"/>
          </a:xfrm>
          <a:prstGeom prst="line">
            <a:avLst/>
          </a:prstGeom>
          <a:noFill/>
          <a:ln w="15875">
            <a:solidFill>
              <a:srgbClr val="98A2B3"/>
            </a:solidFill>
            <a:prstDash val="solid"/>
            <a:tailEnd type="triangle"/>
          </a:ln>
        </p:spPr>
      </p:sp>
      <p:sp>
        <p:nvSpPr>
          <p:cNvPr id="16" name="auto:1:wipeL"/>
          <p:cNvSpPr/>
          <p:nvPr/>
        </p:nvSpPr>
        <p:spPr>
          <a:xfrm>
            <a:off x="10263378" y="3000756"/>
            <a:ext cx="0" cy="809244"/>
          </a:xfrm>
          <a:prstGeom prst="line">
            <a:avLst/>
          </a:prstGeom>
          <a:noFill/>
          <a:ln w="15875">
            <a:solidFill>
              <a:srgbClr val="98A2B3"/>
            </a:solidFill>
            <a:prstDash val="solid"/>
            <a:tailEnd type="triangle"/>
          </a:ln>
        </p:spPr>
      </p:sp>
      <p:sp>
        <p:nvSpPr>
          <p:cNvPr id="17" name="auto:2:wipeL"/>
          <p:cNvSpPr/>
          <p:nvPr/>
        </p:nvSpPr>
        <p:spPr>
          <a:xfrm flipH="1">
            <a:off x="8599932" y="4124706"/>
            <a:ext cx="539496" cy="0"/>
          </a:xfrm>
          <a:prstGeom prst="line">
            <a:avLst/>
          </a:prstGeom>
          <a:noFill/>
          <a:ln w="15875">
            <a:solidFill>
              <a:srgbClr val="98A2B3"/>
            </a:solidFill>
            <a:prstDash val="solid"/>
            <a:tailEnd type="triangle"/>
          </a:ln>
        </p:spPr>
      </p:sp>
      <p:sp>
        <p:nvSpPr>
          <p:cNvPr id="18" name="auto:3:wipeL"/>
          <p:cNvSpPr/>
          <p:nvPr/>
        </p:nvSpPr>
        <p:spPr>
          <a:xfrm flipH="1" flipV="1">
            <a:off x="7475982" y="4439412"/>
            <a:ext cx="1393698" cy="539496"/>
          </a:xfrm>
          <a:prstGeom prst="line">
            <a:avLst/>
          </a:prstGeom>
          <a:noFill/>
          <a:ln w="15875">
            <a:solidFill>
              <a:srgbClr val="98A2B3"/>
            </a:solidFill>
            <a:prstDash val="dash"/>
            <a:tailEnd type="triangle"/>
          </a:ln>
        </p:spPr>
      </p:sp>
      <p:sp>
        <p:nvSpPr>
          <p:cNvPr id="19" name="auto:4:wipeD"/>
          <p:cNvSpPr/>
          <p:nvPr/>
        </p:nvSpPr>
        <p:spPr>
          <a:xfrm>
            <a:off x="6352032" y="2371344"/>
            <a:ext cx="2247900" cy="629412"/>
          </a:xfrm>
          <a:prstGeom prst="roundRect">
            <a:avLst>
              <a:gd name="adj" fmla="val 11622"/>
            </a:avLst>
          </a:prstGeom>
          <a:solidFill>
            <a:srgbClr val="FFFFFF"/>
          </a:solidFill>
          <a:ln w="15875">
            <a:solidFill>
              <a:srgbClr val="0B7A75"/>
            </a:solidFill>
            <a:prstDash val="solid"/>
          </a:ln>
        </p:spPr>
      </p:sp>
      <p:sp>
        <p:nvSpPr>
          <p:cNvPr id="20" name="auto:5:fade"/>
          <p:cNvSpPr txBox="1"/>
          <p:nvPr/>
        </p:nvSpPr>
        <p:spPr>
          <a:xfrm>
            <a:off x="6352032"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cert-manager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ACME, internal CA</a:t>
            </a:r>
            <a:endParaRPr lang="en-US" sz="1200" dirty="0"/>
          </a:p>
        </p:txBody>
      </p:sp>
      <p:sp>
        <p:nvSpPr>
          <p:cNvPr id="21" name="auto:6:wipeD"/>
          <p:cNvSpPr/>
          <p:nvPr/>
        </p:nvSpPr>
        <p:spPr>
          <a:xfrm>
            <a:off x="9139428" y="2371344"/>
            <a:ext cx="2247900" cy="629412"/>
          </a:xfrm>
          <a:prstGeom prst="roundRect">
            <a:avLst>
              <a:gd name="adj" fmla="val 11622"/>
            </a:avLst>
          </a:prstGeom>
          <a:solidFill>
            <a:srgbClr val="FFFFFF"/>
          </a:solidFill>
          <a:ln w="15875">
            <a:solidFill>
              <a:srgbClr val="0B7A75"/>
            </a:solidFill>
            <a:prstDash val="solid"/>
          </a:ln>
        </p:spPr>
      </p:sp>
      <p:sp>
        <p:nvSpPr>
          <p:cNvPr id="22" name="auto:7:fade"/>
          <p:cNvSpPr txBox="1"/>
          <p:nvPr/>
        </p:nvSpPr>
        <p:spPr>
          <a:xfrm>
            <a:off x="9139428"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tls.crt + tls.key</a:t>
            </a:r>
            <a:endParaRPr lang="en-US" sz="1200" dirty="0"/>
          </a:p>
        </p:txBody>
      </p:sp>
      <p:sp>
        <p:nvSpPr>
          <p:cNvPr id="23" name="auto:8:wipeD"/>
          <p:cNvSpPr/>
          <p:nvPr/>
        </p:nvSpPr>
        <p:spPr>
          <a:xfrm>
            <a:off x="9139428" y="3810000"/>
            <a:ext cx="2247900" cy="629412"/>
          </a:xfrm>
          <a:prstGeom prst="roundRect">
            <a:avLst>
              <a:gd name="adj" fmla="val 11622"/>
            </a:avLst>
          </a:prstGeom>
          <a:solidFill>
            <a:srgbClr val="FFFFFF"/>
          </a:solidFill>
          <a:ln w="15875">
            <a:solidFill>
              <a:srgbClr val="0B7A75"/>
            </a:solidFill>
            <a:prstDash val="solid"/>
          </a:ln>
        </p:spPr>
      </p:sp>
      <p:sp>
        <p:nvSpPr>
          <p:cNvPr id="24" name="auto:9:fade"/>
          <p:cNvSpPr txBox="1"/>
          <p:nvPr/>
        </p:nvSpPr>
        <p:spPr>
          <a:xfrm>
            <a:off x="9139428"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server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api.{cluster}.{domain}:6443</a:t>
            </a:r>
            <a:endParaRPr lang="en-US" sz="1200" dirty="0"/>
          </a:p>
        </p:txBody>
      </p:sp>
      <p:sp>
        <p:nvSpPr>
          <p:cNvPr id="25" name="auto:10:wipeD"/>
          <p:cNvSpPr/>
          <p:nvPr/>
        </p:nvSpPr>
        <p:spPr>
          <a:xfrm>
            <a:off x="6352032" y="3810000"/>
            <a:ext cx="2247900" cy="629412"/>
          </a:xfrm>
          <a:prstGeom prst="roundRect">
            <a:avLst>
              <a:gd name="adj" fmla="val 11622"/>
            </a:avLst>
          </a:prstGeom>
          <a:solidFill>
            <a:srgbClr val="FFFFFF"/>
          </a:solidFill>
          <a:ln w="15875">
            <a:solidFill>
              <a:srgbClr val="0B7A75"/>
            </a:solidFill>
            <a:prstDash val="solid"/>
          </a:ln>
        </p:spPr>
      </p:sp>
      <p:sp>
        <p:nvSpPr>
          <p:cNvPr id="26" name="auto:11:fade"/>
          <p:cNvSpPr txBox="1"/>
          <p:nvPr/>
        </p:nvSpPr>
        <p:spPr>
          <a:xfrm>
            <a:off x="6352032"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RBAC</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per tenant namespace</a:t>
            </a:r>
            <a:endParaRPr lang="en-US" sz="1200" dirty="0"/>
          </a:p>
        </p:txBody>
      </p:sp>
      <p:sp>
        <p:nvSpPr>
          <p:cNvPr id="27" name="auto:12:wipeD"/>
          <p:cNvSpPr/>
          <p:nvPr/>
        </p:nvSpPr>
        <p:spPr>
          <a:xfrm>
            <a:off x="6711696" y="4978908"/>
            <a:ext cx="4315968" cy="503530"/>
          </a:xfrm>
          <a:prstGeom prst="roundRect">
            <a:avLst>
              <a:gd name="adj" fmla="val 14528"/>
            </a:avLst>
          </a:prstGeom>
          <a:solidFill>
            <a:srgbClr val="FFFFFF"/>
          </a:solidFill>
          <a:ln w="22225">
            <a:solidFill>
              <a:srgbClr val="E4572E"/>
            </a:solidFill>
            <a:prstDash val="solid"/>
          </a:ln>
        </p:spPr>
      </p:sp>
      <p:sp>
        <p:nvSpPr>
          <p:cNvPr id="28" name="auto:13:fade"/>
          <p:cNvSpPr txBox="1"/>
          <p:nvPr/>
        </p:nvSpPr>
        <p:spPr>
          <a:xfrm>
            <a:off x="6711696" y="4978908"/>
            <a:ext cx="4315968"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CN = serverless-api.clients.{domain}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Kubernetes user</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14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Active/active, two regions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runs in both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deploy fans out to both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leader election, deterministic specs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region builds what it runs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State lives in the Knative Service</a:t>
            </a:r>
            <a:endParaRPr lang="en-US" sz="1900" dirty="0"/>
          </a:p>
        </p:txBody>
      </p:sp>
      <p:sp>
        <p:nvSpPr>
          <p:cNvPr id="15" name="auto:0:wipeL"/>
          <p:cNvSpPr/>
          <p:nvPr/>
        </p:nvSpPr>
        <p:spPr>
          <a:xfrm flipH="1">
            <a:off x="7520940" y="2641092"/>
            <a:ext cx="1348740" cy="719328"/>
          </a:xfrm>
          <a:prstGeom prst="line">
            <a:avLst/>
          </a:prstGeom>
          <a:noFill/>
          <a:ln w="15875">
            <a:solidFill>
              <a:srgbClr val="98A2B3"/>
            </a:solidFill>
            <a:prstDash val="solid"/>
            <a:tailEnd type="triangle"/>
          </a:ln>
        </p:spPr>
      </p:sp>
      <p:sp>
        <p:nvSpPr>
          <p:cNvPr id="16" name="auto:1:wipeL"/>
          <p:cNvSpPr/>
          <p:nvPr/>
        </p:nvSpPr>
        <p:spPr>
          <a:xfrm>
            <a:off x="8869680" y="2641092"/>
            <a:ext cx="1348740" cy="719328"/>
          </a:xfrm>
          <a:prstGeom prst="line">
            <a:avLst/>
          </a:prstGeom>
          <a:noFill/>
          <a:ln w="15875">
            <a:solidFill>
              <a:srgbClr val="98A2B3"/>
            </a:solidFill>
            <a:prstDash val="solid"/>
            <a:tailEnd type="triangle"/>
          </a:ln>
        </p:spPr>
      </p:sp>
      <p:sp>
        <p:nvSpPr>
          <p:cNvPr id="17" name="auto:2:wipeL"/>
          <p:cNvSpPr/>
          <p:nvPr/>
        </p:nvSpPr>
        <p:spPr>
          <a:xfrm>
            <a:off x="8689848" y="3899916"/>
            <a:ext cx="359664" cy="0"/>
          </a:xfrm>
          <a:prstGeom prst="line">
            <a:avLst/>
          </a:prstGeom>
          <a:noFill/>
          <a:ln w="15875">
            <a:solidFill>
              <a:srgbClr val="98A2B3"/>
            </a:solidFill>
            <a:prstDash val="dash"/>
            <a:tailEnd type="triangle"/>
          </a:ln>
        </p:spPr>
      </p:sp>
      <p:sp>
        <p:nvSpPr>
          <p:cNvPr id="18" name="auto:3:wipeL"/>
          <p:cNvSpPr/>
          <p:nvPr/>
        </p:nvSpPr>
        <p:spPr>
          <a:xfrm>
            <a:off x="7520940" y="4439412"/>
            <a:ext cx="1348740" cy="629412"/>
          </a:xfrm>
          <a:prstGeom prst="line">
            <a:avLst/>
          </a:prstGeom>
          <a:noFill/>
          <a:ln w="15875">
            <a:solidFill>
              <a:srgbClr val="98A2B3"/>
            </a:solidFill>
            <a:prstDash val="dash"/>
            <a:tailEnd type="triangle"/>
          </a:ln>
        </p:spPr>
      </p:sp>
      <p:sp>
        <p:nvSpPr>
          <p:cNvPr id="19" name="auto:4:wipeL"/>
          <p:cNvSpPr/>
          <p:nvPr/>
        </p:nvSpPr>
        <p:spPr>
          <a:xfrm flipH="1">
            <a:off x="8869680" y="4439412"/>
            <a:ext cx="1348740" cy="629412"/>
          </a:xfrm>
          <a:prstGeom prst="line">
            <a:avLst/>
          </a:prstGeom>
          <a:noFill/>
          <a:ln w="15875">
            <a:solidFill>
              <a:srgbClr val="98A2B3"/>
            </a:solidFill>
            <a:prstDash val="dash"/>
            <a:tailEnd type="triangle"/>
          </a:ln>
        </p:spPr>
      </p:sp>
      <p:sp>
        <p:nvSpPr>
          <p:cNvPr id="20" name="auto:5:wipeD"/>
          <p:cNvSpPr/>
          <p:nvPr/>
        </p:nvSpPr>
        <p:spPr>
          <a:xfrm>
            <a:off x="7520940" y="2101596"/>
            <a:ext cx="2697480" cy="539496"/>
          </a:xfrm>
          <a:prstGeom prst="roundRect">
            <a:avLst>
              <a:gd name="adj" fmla="val 13559"/>
            </a:avLst>
          </a:prstGeom>
          <a:solidFill>
            <a:srgbClr val="FFFFFF"/>
          </a:solidFill>
          <a:ln w="22225">
            <a:solidFill>
              <a:srgbClr val="E4572E"/>
            </a:solidFill>
            <a:prstDash val="solid"/>
          </a:ln>
        </p:spPr>
      </p:sp>
      <p:sp>
        <p:nvSpPr>
          <p:cNvPr id="21" name="auto:6:fade"/>
          <p:cNvSpPr txBox="1"/>
          <p:nvPr/>
        </p:nvSpPr>
        <p:spPr>
          <a:xfrm>
            <a:off x="7520940" y="2101596"/>
            <a:ext cx="2697480"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DNS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*.serverless.{domain} → active region</a:t>
            </a:r>
            <a:endParaRPr lang="en-US" sz="1200" dirty="0"/>
          </a:p>
        </p:txBody>
      </p:sp>
      <p:sp>
        <p:nvSpPr>
          <p:cNvPr id="22" name="auto:7:wipeD"/>
          <p:cNvSpPr/>
          <p:nvPr/>
        </p:nvSpPr>
        <p:spPr>
          <a:xfrm>
            <a:off x="6352032" y="3360420"/>
            <a:ext cx="2337816" cy="1078992"/>
          </a:xfrm>
          <a:prstGeom prst="roundRect">
            <a:avLst>
              <a:gd name="adj" fmla="val 6780"/>
            </a:avLst>
          </a:prstGeom>
          <a:solidFill>
            <a:srgbClr val="FFFFFF"/>
          </a:solidFill>
          <a:ln w="15875">
            <a:solidFill>
              <a:srgbClr val="0B7A75"/>
            </a:solidFill>
            <a:prstDash val="solid"/>
          </a:ln>
        </p:spPr>
      </p:sp>
      <p:sp>
        <p:nvSpPr>
          <p:cNvPr id="23" name="auto:8:fade"/>
          <p:cNvSpPr txBox="1"/>
          <p:nvPr/>
        </p:nvSpPr>
        <p:spPr>
          <a:xfrm>
            <a:off x="635203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4" name="auto:9:wipeD"/>
          <p:cNvSpPr/>
          <p:nvPr/>
        </p:nvSpPr>
        <p:spPr>
          <a:xfrm>
            <a:off x="9049512" y="3360420"/>
            <a:ext cx="2337816" cy="1078992"/>
          </a:xfrm>
          <a:prstGeom prst="roundRect">
            <a:avLst>
              <a:gd name="adj" fmla="val 6780"/>
            </a:avLst>
          </a:prstGeom>
          <a:solidFill>
            <a:srgbClr val="FFFFFF"/>
          </a:solidFill>
          <a:ln w="15875">
            <a:solidFill>
              <a:srgbClr val="0B7A75"/>
            </a:solidFill>
            <a:prstDash val="solid"/>
          </a:ln>
        </p:spPr>
      </p:sp>
      <p:sp>
        <p:nvSpPr>
          <p:cNvPr id="25" name="auto:10:fade"/>
          <p:cNvSpPr txBox="1"/>
          <p:nvPr/>
        </p:nvSpPr>
        <p:spPr>
          <a:xfrm>
            <a:off x="904951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6" name="auto:11:wipeD"/>
          <p:cNvSpPr/>
          <p:nvPr/>
        </p:nvSpPr>
        <p:spPr>
          <a:xfrm>
            <a:off x="7251192" y="5068824"/>
            <a:ext cx="3236976" cy="503530"/>
          </a:xfrm>
          <a:prstGeom prst="roundRect">
            <a:avLst>
              <a:gd name="adj" fmla="val 14528"/>
            </a:avLst>
          </a:prstGeom>
          <a:solidFill>
            <a:srgbClr val="FFFFFF"/>
          </a:solidFill>
          <a:ln w="15875">
            <a:solidFill>
              <a:srgbClr val="0B7A75"/>
            </a:solidFill>
            <a:prstDash val="solid"/>
          </a:ln>
        </p:spPr>
      </p:sp>
      <p:sp>
        <p:nvSpPr>
          <p:cNvPr id="27" name="auto:12:fade"/>
          <p:cNvSpPr txBox="1"/>
          <p:nvPr/>
        </p:nvSpPr>
        <p:spPr>
          <a:xfrm>
            <a:off x="7251192" y="5068824"/>
            <a:ext cx="3236976"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 = the truth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database, no replication</a:t>
            </a:r>
            <a:endParaRPr lang="en-US" sz="12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15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5"/>
                                        </p:tgtEl>
                                        <p:attrNameLst>
                                          <p:attrName>style.visibility</p:attrName>
                                        </p:attrNameLst>
                                      </p:cBhvr>
                                      <p:to>
                                        <p:strVal val="visible"/>
                                      </p:to>
                                    </p:set>
                                    <p:animEffect transition="in" filter="wipe(left)">
                                      <p:cBhvr>
                                        <p:cTn id="45" dur="350"/>
                                        <p:tgtEl>
                                          <p:spTgt spid="5"/>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350"/>
                                        <p:tgtEl>
                                          <p:spTgt spid="6"/>
                                        </p:tgtEl>
                                      </p:cBhvr>
                                    </p:animEffect>
                                  </p:childTnLst>
                                </p:cTn>
                              </p:par>
                            </p:childTnLst>
                          </p:cTn>
                        </p:par>
                      </p:childTnLst>
                    </p:cTn>
                  </p:par>
                  <p:par>
                    <p:cTn id="58" fill="hold">
                      <p:stCondLst>
                        <p:cond delay="indefinite"/>
                      </p:stCondLst>
                      <p:childTnLst>
                        <p:par>
                          <p:cTn id="59" fill="hold">
                            <p:stCondLst>
                              <p:cond delay="0"/>
                            </p:stCondLst>
                            <p:childTnLst>
                              <p:par>
                                <p:cTn id="54" presetID="22" presetClass="entr" presetSubtype="8" fill="hold" grpId="0" nodeType="clickEffect">
                                  <p:stCondLst>
                                    <p:cond delay="0"/>
                                  </p:stCondLst>
                                  <p:childTnLst>
                                    <p:set>
                                      <p:cBhvr>
                                        <p:cTn id="52" dur="1" fill="hold">
                                          <p:stCondLst>
                                            <p:cond delay="0"/>
                                          </p:stCondLst>
                                        </p:cTn>
                                        <p:tgtEl>
                                          <p:spTgt spid="7"/>
                                        </p:tgtEl>
                                        <p:attrNameLst>
                                          <p:attrName>style.visibility</p:attrName>
                                        </p:attrNameLst>
                                      </p:cBhvr>
                                      <p:to>
                                        <p:strVal val="visible"/>
                                      </p:to>
                                    </p:set>
                                    <p:animEffect transition="in" filter="wipe(left)">
                                      <p:cBhvr>
                                        <p:cTn id="53" dur="350"/>
                                        <p:tgtEl>
                                          <p:spTgt spid="7"/>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8"/>
                                        </p:tgtEl>
                                        <p:attrNameLst>
                                          <p:attrName>style.visibility</p:attrName>
                                        </p:attrNameLst>
                                      </p:cBhvr>
                                      <p:to>
                                        <p:strVal val="visible"/>
                                      </p:to>
                                    </p:set>
                                    <p:animEffect transition="in" filter="wipe(left)">
                                      <p:cBhvr>
                                        <p:cTn id="56" dur="350"/>
                                        <p:tgtEl>
                                          <p:spTgt spid="8"/>
                                        </p:tgtEl>
                                      </p:cBhvr>
                                    </p:animEffect>
                                  </p:childTnLst>
                                </p:cTn>
                              </p:par>
                            </p:childTnLst>
                          </p:cTn>
                        </p:par>
                      </p:childTnLst>
                    </p:cTn>
                  </p:par>
                  <p:par>
                    <p:cTn id="66" fill="hold">
                      <p:stCondLst>
                        <p:cond delay="indefinite"/>
                      </p:stCondLst>
                      <p:childTnLst>
                        <p:par>
                          <p:cTn id="67" fill="hold">
                            <p:stCondLst>
                              <p:cond delay="0"/>
                            </p:stCondLst>
                            <p:childTnLst>
                              <p:par>
                                <p:cTn id="62" presetID="22" presetClass="entr" presetSubtype="8" fill="hold" grpId="0" nodeType="click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wipe(left)">
                                      <p:cBhvr>
                                        <p:cTn id="61" dur="350"/>
                                        <p:tgtEl>
                                          <p:spTgt spid="9"/>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10"/>
                                        </p:tgtEl>
                                        <p:attrNameLst>
                                          <p:attrName>style.visibility</p:attrName>
                                        </p:attrNameLst>
                                      </p:cBhvr>
                                      <p:to>
                                        <p:strVal val="visible"/>
                                      </p:to>
                                    </p:set>
                                    <p:animEffect transition="in" filter="wipe(left)">
                                      <p:cBhvr>
                                        <p:cTn id="64" dur="350"/>
                                        <p:tgtEl>
                                          <p:spTgt spid="10"/>
                                        </p:tgtEl>
                                      </p:cBhvr>
                                    </p:animEffect>
                                  </p:childTnLst>
                                </p:cTn>
                              </p:par>
                            </p:childTnLst>
                          </p:cTn>
                        </p:par>
                      </p:childTnLst>
                    </p:cTn>
                  </p:par>
                  <p:par>
                    <p:cTn id="74" fill="hold">
                      <p:stCondLst>
                        <p:cond delay="indefinite"/>
                      </p:stCondLst>
                      <p:childTnLst>
                        <p:par>
                          <p:cTn id="75"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1"/>
                                        </p:tgtEl>
                                        <p:attrNameLst>
                                          <p:attrName>style.visibility</p:attrName>
                                        </p:attrNameLst>
                                      </p:cBhvr>
                                      <p:to>
                                        <p:strVal val="visible"/>
                                      </p:to>
                                    </p:set>
                                    <p:animEffect transition="in" filter="wipe(left)">
                                      <p:cBhvr>
                                        <p:cTn id="69" dur="350"/>
                                        <p:tgtEl>
                                          <p:spTgt spid="11"/>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wipe(left)">
                                      <p:cBhvr>
                                        <p:cTn id="72" dur="350"/>
                                        <p:tgtEl>
                                          <p:spTgt spid="12"/>
                                        </p:tgtEl>
                                      </p:cBhvr>
                                    </p:animEffect>
                                  </p:childTnLst>
                                </p:cTn>
                              </p:par>
                            </p:childTnLst>
                          </p:cTn>
                        </p:par>
                      </p:childTnLst>
                    </p:cTn>
                  </p:par>
                  <p:par>
                    <p:cTn id="82" fill="hold">
                      <p:stCondLst>
                        <p:cond delay="indefinite"/>
                      </p:stCondLst>
                      <p:childTnLst>
                        <p:par>
                          <p:cTn id="83" fill="hold">
                            <p:stCondLst>
                              <p:cond delay="0"/>
                            </p:stCondLst>
                            <p:childTnLst>
                              <p:par>
                                <p:cTn id="78" presetID="22" presetClass="entr" presetSubtype="8" fill="hold" grpId="0" nodeType="clickEffect">
                                  <p:stCondLst>
                                    <p:cond delay="0"/>
                                  </p:stCondLst>
                                  <p:childTnLst>
                                    <p:set>
                                      <p:cBhvr>
                                        <p:cTn id="76" dur="1" fill="hold">
                                          <p:stCondLst>
                                            <p:cond delay="0"/>
                                          </p:stCondLst>
                                        </p:cTn>
                                        <p:tgtEl>
                                          <p:spTgt spid="13"/>
                                        </p:tgtEl>
                                        <p:attrNameLst>
                                          <p:attrName>style.visibility</p:attrName>
                                        </p:attrNameLst>
                                      </p:cBhvr>
                                      <p:to>
                                        <p:strVal val="visible"/>
                                      </p:to>
                                    </p:set>
                                    <p:animEffect transition="in" filter="wipe(left)">
                                      <p:cBhvr>
                                        <p:cTn id="77" dur="350"/>
                                        <p:tgtEl>
                                          <p:spTgt spid="13"/>
                                        </p:tgtEl>
                                      </p:cBhvr>
                                    </p:animEffect>
                                  </p:childTnLst>
                                </p:cTn>
                              </p:par>
                              <p:par>
                                <p:cTn id="81" presetID="22" presetClass="entr" presetSubtype="8" fill="hold" grpId="0" nodeType="withEffect">
                                  <p:stCondLst>
                                    <p:cond delay="0"/>
                                  </p:stCondLst>
                                  <p:childTnLst>
                                    <p:set>
                                      <p:cBhvr>
                                        <p:cTn id="79" dur="1" fill="hold">
                                          <p:stCondLst>
                                            <p:cond delay="0"/>
                                          </p:stCondLst>
                                        </p:cTn>
                                        <p:tgtEl>
                                          <p:spTgt spid="14"/>
                                        </p:tgtEl>
                                        <p:attrNameLst>
                                          <p:attrName>style.visibility</p:attrName>
                                        </p:attrNameLst>
                                      </p:cBhvr>
                                      <p:to>
                                        <p:strVal val="visible"/>
                                      </p:to>
                                    </p:set>
                                    <p:animEffect transition="in" filter="wipe(left)">
                                      <p:cBhvr>
                                        <p:cTn id="80"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tenant controller</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namespace per SSO group</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Separate process, separate certificate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never creates namespaces</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Provision before every deploy, fail closed</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Reconcile the local cluster only</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Garbage-collect empty namespaces, opt-in</a:t>
            </a:r>
            <a:endParaRPr lang="en-US" sz="1700" dirty="0"/>
          </a:p>
        </p:txBody>
      </p:sp>
      <p:sp>
        <p:nvSpPr>
          <p:cNvPr id="17" name="auto:0:wipeL"/>
          <p:cNvSpPr/>
          <p:nvPr/>
        </p:nvSpPr>
        <p:spPr>
          <a:xfrm>
            <a:off x="8330184" y="2578151"/>
            <a:ext cx="899160" cy="0"/>
          </a:xfrm>
          <a:prstGeom prst="line">
            <a:avLst/>
          </a:prstGeom>
          <a:noFill/>
          <a:ln w="15875">
            <a:solidFill>
              <a:srgbClr val="98A2B3"/>
            </a:solidFill>
            <a:prstDash val="solid"/>
            <a:tailEnd type="triangle"/>
          </a:ln>
        </p:spPr>
      </p:sp>
      <p:sp>
        <p:nvSpPr>
          <p:cNvPr id="18" name="auto:1:wipeL"/>
          <p:cNvSpPr/>
          <p:nvPr/>
        </p:nvSpPr>
        <p:spPr>
          <a:xfrm flipH="1">
            <a:off x="7520940" y="2874874"/>
            <a:ext cx="2787396" cy="935126"/>
          </a:xfrm>
          <a:prstGeom prst="line">
            <a:avLst/>
          </a:prstGeom>
          <a:noFill/>
          <a:ln w="15875">
            <a:solidFill>
              <a:srgbClr val="98A2B3"/>
            </a:solidFill>
            <a:prstDash val="solid"/>
            <a:tailEnd type="triangle"/>
          </a:ln>
        </p:spPr>
      </p:sp>
      <p:sp>
        <p:nvSpPr>
          <p:cNvPr id="19" name="auto:2:wipeL"/>
          <p:cNvSpPr/>
          <p:nvPr/>
        </p:nvSpPr>
        <p:spPr>
          <a:xfrm flipH="1">
            <a:off x="10218420" y="2874874"/>
            <a:ext cx="89916" cy="935126"/>
          </a:xfrm>
          <a:prstGeom prst="line">
            <a:avLst/>
          </a:prstGeom>
          <a:noFill/>
          <a:ln w="15875">
            <a:solidFill>
              <a:srgbClr val="98A2B3"/>
            </a:solidFill>
            <a:prstDash val="solid"/>
            <a:tailEnd type="triangle"/>
          </a:ln>
        </p:spPr>
      </p:sp>
      <p:sp>
        <p:nvSpPr>
          <p:cNvPr id="20" name="auto:3:wipeL"/>
          <p:cNvSpPr/>
          <p:nvPr/>
        </p:nvSpPr>
        <p:spPr>
          <a:xfrm flipV="1">
            <a:off x="8869680" y="2874874"/>
            <a:ext cx="1438656" cy="2193950"/>
          </a:xfrm>
          <a:prstGeom prst="line">
            <a:avLst/>
          </a:prstGeom>
          <a:noFill/>
          <a:ln w="15875">
            <a:solidFill>
              <a:srgbClr val="98A2B3"/>
            </a:solidFill>
            <a:prstDash val="dash"/>
            <a:tailEnd type="triangle"/>
          </a:ln>
        </p:spPr>
      </p:sp>
      <p:sp>
        <p:nvSpPr>
          <p:cNvPr id="21" name="auto:4:wipeD"/>
          <p:cNvSpPr/>
          <p:nvPr/>
        </p:nvSpPr>
        <p:spPr>
          <a:xfrm>
            <a:off x="6352032" y="2281428"/>
            <a:ext cx="1978152" cy="593446"/>
          </a:xfrm>
          <a:prstGeom prst="roundRect">
            <a:avLst>
              <a:gd name="adj" fmla="val 12327"/>
            </a:avLst>
          </a:prstGeom>
          <a:solidFill>
            <a:srgbClr val="FFFFFF"/>
          </a:solidFill>
          <a:ln w="15875">
            <a:solidFill>
              <a:srgbClr val="0B7A75"/>
            </a:solidFill>
            <a:prstDash val="solid"/>
          </a:ln>
        </p:spPr>
      </p:sp>
      <p:sp>
        <p:nvSpPr>
          <p:cNvPr id="22" name="auto:5:fade"/>
          <p:cNvSpPr txBox="1"/>
          <p:nvPr/>
        </p:nvSpPr>
        <p:spPr>
          <a:xfrm>
            <a:off x="6352032" y="2281428"/>
            <a:ext cx="1978152"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workloads only</a:t>
            </a:r>
            <a:endParaRPr lang="en-US" sz="1200" dirty="0"/>
          </a:p>
        </p:txBody>
      </p:sp>
      <p:sp>
        <p:nvSpPr>
          <p:cNvPr id="23" name="auto:6:wipeD"/>
          <p:cNvSpPr/>
          <p:nvPr/>
        </p:nvSpPr>
        <p:spPr>
          <a:xfrm>
            <a:off x="9229344" y="2281428"/>
            <a:ext cx="2157984" cy="593446"/>
          </a:xfrm>
          <a:prstGeom prst="roundRect">
            <a:avLst>
              <a:gd name="adj" fmla="val 12327"/>
            </a:avLst>
          </a:prstGeom>
          <a:solidFill>
            <a:srgbClr val="FFFFFF"/>
          </a:solidFill>
          <a:ln w="22225">
            <a:solidFill>
              <a:srgbClr val="E4572E"/>
            </a:solidFill>
            <a:prstDash val="solid"/>
          </a:ln>
        </p:spPr>
      </p:sp>
      <p:sp>
        <p:nvSpPr>
          <p:cNvPr id="24" name="auto:7:fade"/>
          <p:cNvSpPr txBox="1"/>
          <p:nvPr/>
        </p:nvSpPr>
        <p:spPr>
          <a:xfrm>
            <a:off x="9229344" y="2281428"/>
            <a:ext cx="2157984"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tenant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namespaces, RBAC, policies</a:t>
            </a:r>
            <a:endParaRPr lang="en-US" sz="1200" dirty="0"/>
          </a:p>
        </p:txBody>
      </p:sp>
      <p:sp>
        <p:nvSpPr>
          <p:cNvPr id="25" name="auto:8:wipeD"/>
          <p:cNvSpPr/>
          <p:nvPr/>
        </p:nvSpPr>
        <p:spPr>
          <a:xfrm>
            <a:off x="6352032" y="3810000"/>
            <a:ext cx="2337816" cy="809244"/>
          </a:xfrm>
          <a:prstGeom prst="roundRect">
            <a:avLst>
              <a:gd name="adj" fmla="val 9040"/>
            </a:avLst>
          </a:prstGeom>
          <a:solidFill>
            <a:srgbClr val="FFFFFF"/>
          </a:solidFill>
          <a:ln w="15875">
            <a:solidFill>
              <a:srgbClr val="0B7A75"/>
            </a:solidFill>
            <a:prstDash val="solid"/>
          </a:ln>
        </p:spPr>
      </p:sp>
      <p:sp>
        <p:nvSpPr>
          <p:cNvPr id="26" name="auto:9:fade"/>
          <p:cNvSpPr txBox="1"/>
          <p:nvPr/>
        </p:nvSpPr>
        <p:spPr>
          <a:xfrm>
            <a:off x="635203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7" name="auto:10:wipeD"/>
          <p:cNvSpPr/>
          <p:nvPr/>
        </p:nvSpPr>
        <p:spPr>
          <a:xfrm>
            <a:off x="9049512" y="3810000"/>
            <a:ext cx="2337816" cy="809244"/>
          </a:xfrm>
          <a:prstGeom prst="roundRect">
            <a:avLst>
              <a:gd name="adj" fmla="val 9040"/>
            </a:avLst>
          </a:prstGeom>
          <a:solidFill>
            <a:srgbClr val="FFFFFF"/>
          </a:solidFill>
          <a:ln w="15875">
            <a:solidFill>
              <a:srgbClr val="0B7A75"/>
            </a:solidFill>
            <a:prstDash val="solid"/>
          </a:ln>
        </p:spPr>
      </p:sp>
      <p:sp>
        <p:nvSpPr>
          <p:cNvPr id="28" name="auto:11:fade"/>
          <p:cNvSpPr txBox="1"/>
          <p:nvPr/>
        </p:nvSpPr>
        <p:spPr>
          <a:xfrm>
            <a:off x="904951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9" name="auto:12:wipeD"/>
          <p:cNvSpPr/>
          <p:nvPr/>
        </p:nvSpPr>
        <p:spPr>
          <a:xfrm>
            <a:off x="7071360" y="5068824"/>
            <a:ext cx="3596640" cy="503530"/>
          </a:xfrm>
          <a:prstGeom prst="roundRect">
            <a:avLst>
              <a:gd name="adj" fmla="val 14528"/>
            </a:avLst>
          </a:prstGeom>
          <a:solidFill>
            <a:srgbClr val="FFFFFF"/>
          </a:solidFill>
          <a:ln w="15875">
            <a:solidFill>
              <a:srgbClr val="0B7A75"/>
            </a:solidFill>
            <a:prstDash val="solid"/>
          </a:ln>
        </p:spPr>
      </p:sp>
      <p:sp>
        <p:nvSpPr>
          <p:cNvPr id="30" name="auto:13:fade"/>
          <p:cNvSpPr txBox="1"/>
          <p:nvPr/>
        </p:nvSpPr>
        <p:spPr>
          <a:xfrm>
            <a:off x="7071360" y="5068824"/>
            <a:ext cx="3596640"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template set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 {{group}} {{region}} {{registry}}</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16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15"/>
                                        </p:tgtEl>
                                        <p:attrNameLst>
                                          <p:attrName>style.visibility</p:attrName>
                                        </p:attrNameLst>
                                      </p:cBhvr>
                                      <p:to>
                                        <p:strVal val="visible"/>
                                      </p:to>
                                    </p:set>
                                    <p:animEffect transition="in" filter="wipe(left)">
                                      <p:cBhvr>
                                        <p:cTn id="88" dur="350"/>
                                        <p:tgtEl>
                                          <p:spTgt spid="15"/>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wipe(left)">
                                      <p:cBhvr>
                                        <p:cTn id="91"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Functions &amp; builds</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'Here is my repo' hides a build.</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17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functions are different</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Container: run this 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 here is my repository</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takes minutes, not milliseconds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is retried and logged</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Rebuilds fire on CVE patches, unasked</a:t>
            </a:r>
            <a:endParaRPr lang="en-US" sz="1900" dirty="0"/>
          </a:p>
        </p:txBody>
      </p:sp>
      <p:sp>
        <p:nvSpPr>
          <p:cNvPr id="15" name="auto:0:wipeL"/>
          <p:cNvSpPr/>
          <p:nvPr/>
        </p:nvSpPr>
        <p:spPr>
          <a:xfrm>
            <a:off x="7880604" y="2551176"/>
            <a:ext cx="1888236" cy="0"/>
          </a:xfrm>
          <a:prstGeom prst="line">
            <a:avLst/>
          </a:prstGeom>
          <a:noFill/>
          <a:ln w="15875">
            <a:solidFill>
              <a:srgbClr val="98A2B3"/>
            </a:solidFill>
            <a:prstDash val="solid"/>
            <a:tailEnd type="triangle"/>
          </a:ln>
        </p:spPr>
      </p:sp>
      <p:sp>
        <p:nvSpPr>
          <p:cNvPr id="16" name="auto:1:wipeL"/>
          <p:cNvSpPr/>
          <p:nvPr/>
        </p:nvSpPr>
        <p:spPr>
          <a:xfrm>
            <a:off x="7880604" y="3989832"/>
            <a:ext cx="224790" cy="0"/>
          </a:xfrm>
          <a:prstGeom prst="line">
            <a:avLst/>
          </a:prstGeom>
          <a:noFill/>
          <a:ln w="15875">
            <a:solidFill>
              <a:srgbClr val="98A2B3"/>
            </a:solidFill>
            <a:prstDash val="solid"/>
            <a:tailEnd type="triangle"/>
          </a:ln>
        </p:spPr>
      </p:sp>
      <p:sp>
        <p:nvSpPr>
          <p:cNvPr id="17" name="auto:2:wipeL"/>
          <p:cNvSpPr/>
          <p:nvPr/>
        </p:nvSpPr>
        <p:spPr>
          <a:xfrm>
            <a:off x="9633966" y="3989832"/>
            <a:ext cx="134874" cy="0"/>
          </a:xfrm>
          <a:prstGeom prst="line">
            <a:avLst/>
          </a:prstGeom>
          <a:noFill/>
          <a:ln w="15875">
            <a:solidFill>
              <a:srgbClr val="98A2B3"/>
            </a:solidFill>
            <a:prstDash val="solid"/>
            <a:tailEnd type="triangle"/>
          </a:ln>
        </p:spPr>
      </p:sp>
      <p:sp>
        <p:nvSpPr>
          <p:cNvPr id="18" name="auto:3:wipeL"/>
          <p:cNvSpPr/>
          <p:nvPr/>
        </p:nvSpPr>
        <p:spPr>
          <a:xfrm flipV="1">
            <a:off x="8869680" y="4259580"/>
            <a:ext cx="0" cy="719328"/>
          </a:xfrm>
          <a:prstGeom prst="line">
            <a:avLst/>
          </a:prstGeom>
          <a:noFill/>
          <a:ln w="15875">
            <a:solidFill>
              <a:srgbClr val="98A2B3"/>
            </a:solidFill>
            <a:prstDash val="dash"/>
            <a:tailEnd type="triangle"/>
          </a:ln>
        </p:spPr>
      </p:sp>
      <p:sp>
        <p:nvSpPr>
          <p:cNvPr id="19" name="auto:4:wipeD"/>
          <p:cNvSpPr/>
          <p:nvPr/>
        </p:nvSpPr>
        <p:spPr>
          <a:xfrm>
            <a:off x="6352032" y="2281428"/>
            <a:ext cx="1528572" cy="539496"/>
          </a:xfrm>
          <a:prstGeom prst="roundRect">
            <a:avLst>
              <a:gd name="adj" fmla="val 13559"/>
            </a:avLst>
          </a:prstGeom>
          <a:solidFill>
            <a:srgbClr val="FFFFFF"/>
          </a:solidFill>
          <a:ln w="15875">
            <a:solidFill>
              <a:srgbClr val="0B7A75"/>
            </a:solidFill>
            <a:prstDash val="solid"/>
          </a:ln>
        </p:spPr>
      </p:sp>
      <p:sp>
        <p:nvSpPr>
          <p:cNvPr id="20" name="auto:5:fade"/>
          <p:cNvSpPr txBox="1"/>
          <p:nvPr/>
        </p:nvSpPr>
        <p:spPr>
          <a:xfrm>
            <a:off x="6352032" y="228142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container</a:t>
            </a:r>
            <a:endParaRPr lang="en-US" sz="1200" dirty="0"/>
          </a:p>
        </p:txBody>
      </p:sp>
      <p:sp>
        <p:nvSpPr>
          <p:cNvPr id="21" name="auto:6:wipeD"/>
          <p:cNvSpPr/>
          <p:nvPr/>
        </p:nvSpPr>
        <p:spPr>
          <a:xfrm>
            <a:off x="9768840" y="2281428"/>
            <a:ext cx="1618488" cy="539496"/>
          </a:xfrm>
          <a:prstGeom prst="roundRect">
            <a:avLst>
              <a:gd name="adj" fmla="val 13559"/>
            </a:avLst>
          </a:prstGeom>
          <a:solidFill>
            <a:srgbClr val="FFFFFF"/>
          </a:solidFill>
          <a:ln w="15875">
            <a:solidFill>
              <a:srgbClr val="0B7A75"/>
            </a:solidFill>
            <a:prstDash val="solid"/>
          </a:ln>
        </p:spPr>
      </p:sp>
      <p:sp>
        <p:nvSpPr>
          <p:cNvPr id="22" name="auto:7:fade"/>
          <p:cNvSpPr txBox="1"/>
          <p:nvPr/>
        </p:nvSpPr>
        <p:spPr>
          <a:xfrm>
            <a:off x="9768840" y="2281428"/>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ready</a:t>
            </a:r>
            <a:endParaRPr lang="en-US" sz="1200" dirty="0"/>
          </a:p>
        </p:txBody>
      </p:sp>
      <p:sp>
        <p:nvSpPr>
          <p:cNvPr id="23" name="auto:8:wipeD"/>
          <p:cNvSpPr/>
          <p:nvPr/>
        </p:nvSpPr>
        <p:spPr>
          <a:xfrm>
            <a:off x="6352032" y="3720084"/>
            <a:ext cx="1528572" cy="539496"/>
          </a:xfrm>
          <a:prstGeom prst="roundRect">
            <a:avLst>
              <a:gd name="adj" fmla="val 13559"/>
            </a:avLst>
          </a:prstGeom>
          <a:solidFill>
            <a:srgbClr val="FFFFFF"/>
          </a:solidFill>
          <a:ln w="22225">
            <a:solidFill>
              <a:srgbClr val="E4572E"/>
            </a:solidFill>
            <a:prstDash val="solid"/>
          </a:ln>
        </p:spPr>
      </p:sp>
      <p:sp>
        <p:nvSpPr>
          <p:cNvPr id="24" name="auto:9:fade"/>
          <p:cNvSpPr txBox="1"/>
          <p:nvPr/>
        </p:nvSpPr>
        <p:spPr>
          <a:xfrm>
            <a:off x="6352032"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git repo</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function</a:t>
            </a:r>
            <a:endParaRPr lang="en-US" sz="1200" dirty="0"/>
          </a:p>
        </p:txBody>
      </p:sp>
      <p:sp>
        <p:nvSpPr>
          <p:cNvPr id="25" name="auto:10:wipeD"/>
          <p:cNvSpPr/>
          <p:nvPr/>
        </p:nvSpPr>
        <p:spPr>
          <a:xfrm>
            <a:off x="8105394" y="3720084"/>
            <a:ext cx="1528572" cy="539496"/>
          </a:xfrm>
          <a:prstGeom prst="roundRect">
            <a:avLst>
              <a:gd name="adj" fmla="val 13559"/>
            </a:avLst>
          </a:prstGeom>
          <a:solidFill>
            <a:srgbClr val="FFFFFF"/>
          </a:solidFill>
          <a:ln w="15875">
            <a:solidFill>
              <a:srgbClr val="0B7A75"/>
            </a:solidFill>
            <a:prstDash val="solid"/>
          </a:ln>
        </p:spPr>
      </p:sp>
      <p:sp>
        <p:nvSpPr>
          <p:cNvPr id="26" name="auto:11:fade"/>
          <p:cNvSpPr txBox="1"/>
          <p:nvPr/>
        </p:nvSpPr>
        <p:spPr>
          <a:xfrm>
            <a:off x="8105394"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build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minutes</a:t>
            </a:r>
            <a:endParaRPr lang="en-US" sz="1200" dirty="0"/>
          </a:p>
        </p:txBody>
      </p:sp>
      <p:sp>
        <p:nvSpPr>
          <p:cNvPr id="27" name="auto:12:wipeD"/>
          <p:cNvSpPr/>
          <p:nvPr/>
        </p:nvSpPr>
        <p:spPr>
          <a:xfrm>
            <a:off x="9768840" y="3720084"/>
            <a:ext cx="1618488" cy="539496"/>
          </a:xfrm>
          <a:prstGeom prst="roundRect">
            <a:avLst>
              <a:gd name="adj" fmla="val 13559"/>
            </a:avLst>
          </a:prstGeom>
          <a:solidFill>
            <a:srgbClr val="FFFFFF"/>
          </a:solidFill>
          <a:ln w="15875">
            <a:solidFill>
              <a:srgbClr val="0B7A75"/>
            </a:solidFill>
            <a:prstDash val="solid"/>
          </a:ln>
        </p:spPr>
      </p:sp>
      <p:sp>
        <p:nvSpPr>
          <p:cNvPr id="28" name="auto:13:fade"/>
          <p:cNvSpPr txBox="1"/>
          <p:nvPr/>
        </p:nvSpPr>
        <p:spPr>
          <a:xfrm>
            <a:off x="9768840" y="3720084"/>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digest rolled in</a:t>
            </a:r>
            <a:endParaRPr lang="en-US" sz="1200" dirty="0"/>
          </a:p>
        </p:txBody>
      </p:sp>
      <p:sp>
        <p:nvSpPr>
          <p:cNvPr id="29" name="auto:14:wipeD"/>
          <p:cNvSpPr/>
          <p:nvPr/>
        </p:nvSpPr>
        <p:spPr>
          <a:xfrm>
            <a:off x="8105394" y="4978908"/>
            <a:ext cx="1528572" cy="539496"/>
          </a:xfrm>
          <a:prstGeom prst="roundRect">
            <a:avLst>
              <a:gd name="adj" fmla="val 13559"/>
            </a:avLst>
          </a:prstGeom>
          <a:solidFill>
            <a:srgbClr val="FFFFFF"/>
          </a:solidFill>
          <a:ln w="22225">
            <a:solidFill>
              <a:srgbClr val="E4572E"/>
            </a:solidFill>
            <a:prstDash val="solid"/>
          </a:ln>
        </p:spPr>
      </p:sp>
      <p:sp>
        <p:nvSpPr>
          <p:cNvPr id="30" name="auto:15:fade"/>
          <p:cNvSpPr txBox="1"/>
          <p:nvPr/>
        </p:nvSpPr>
        <p:spPr>
          <a:xfrm>
            <a:off x="8105394" y="497890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CVE patch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rebuilds everything</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18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55" presetID="22" presetClass="entr" presetSubtype="8" fill="hold" grpId="0" nodeType="clickEffect">
                                  <p:stCondLst>
                                    <p:cond delay="0"/>
                                  </p:stCondLst>
                                  <p:childTnLst>
                                    <p:set>
                                      <p:cBhvr>
                                        <p:cTn id="53" dur="1" fill="hold">
                                          <p:stCondLst>
                                            <p:cond delay="0"/>
                                          </p:stCondLst>
                                        </p:cTn>
                                        <p:tgtEl>
                                          <p:spTgt spid="5"/>
                                        </p:tgtEl>
                                        <p:attrNameLst>
                                          <p:attrName>style.visibility</p:attrName>
                                        </p:attrNameLst>
                                      </p:cBhvr>
                                      <p:to>
                                        <p:strVal val="visible"/>
                                      </p:to>
                                    </p:set>
                                    <p:animEffect transition="in" filter="wipe(left)">
                                      <p:cBhvr>
                                        <p:cTn id="54" dur="350"/>
                                        <p:tgtEl>
                                          <p:spTgt spid="5"/>
                                        </p:tgtEl>
                                      </p:cBhvr>
                                    </p:animEffect>
                                  </p:childTnLst>
                                </p:cTn>
                              </p:par>
                              <p:par>
                                <p:cTn id="58" presetID="22" presetClass="entr" presetSubtype="8" fill="hold" grpId="0" nodeType="with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wipe(left)">
                                      <p:cBhvr>
                                        <p:cTn id="57" dur="350"/>
                                        <p:tgtEl>
                                          <p:spTgt spid="6"/>
                                        </p:tgtEl>
                                      </p:cBhvr>
                                    </p:animEffect>
                                  </p:childTnLst>
                                </p:cTn>
                              </p:par>
                            </p:childTnLst>
                          </p:cTn>
                        </p:par>
                      </p:childTnLst>
                    </p:cTn>
                  </p:par>
                  <p:par>
                    <p:cTn id="67" fill="hold">
                      <p:stCondLst>
                        <p:cond delay="indefinite"/>
                      </p:stCondLst>
                      <p:childTnLst>
                        <p:par>
                          <p:cTn id="68" fill="hold">
                            <p:stCondLst>
                              <p:cond delay="0"/>
                            </p:stCondLst>
                            <p:childTnLst>
                              <p:par>
                                <p:cTn id="63" presetID="22" presetClass="entr" presetSubtype="8" fill="hold" grpId="0" nodeType="click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wipe(left)">
                                      <p:cBhvr>
                                        <p:cTn id="62" dur="350"/>
                                        <p:tgtEl>
                                          <p:spTgt spid="7"/>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8"/>
                                        </p:tgtEl>
                                        <p:attrNameLst>
                                          <p:attrName>style.visibility</p:attrName>
                                        </p:attrNameLst>
                                      </p:cBhvr>
                                      <p:to>
                                        <p:strVal val="visible"/>
                                      </p:to>
                                    </p:set>
                                    <p:animEffect transition="in" filter="wipe(left)">
                                      <p:cBhvr>
                                        <p:cTn id="65" dur="350"/>
                                        <p:tgtEl>
                                          <p:spTgt spid="8"/>
                                        </p:tgtEl>
                                      </p:cBhvr>
                                    </p:animEffect>
                                  </p:childTnLst>
                                </p:cTn>
                              </p:par>
                            </p:childTnLst>
                          </p:cTn>
                        </p:par>
                      </p:childTnLst>
                    </p:cTn>
                  </p:par>
                  <p:par>
                    <p:cTn id="75" fill="hold">
                      <p:stCondLst>
                        <p:cond delay="indefinite"/>
                      </p:stCondLst>
                      <p:childTnLst>
                        <p:par>
                          <p:cTn id="76" fill="hold">
                            <p:stCondLst>
                              <p:cond delay="0"/>
                            </p:stCondLst>
                            <p:childTnLst>
                              <p:par>
                                <p:cTn id="71" presetID="22" presetClass="entr" presetSubtype="8" fill="hold" grpId="0" nodeType="clickEffect">
                                  <p:stCondLst>
                                    <p:cond delay="0"/>
                                  </p:stCondLst>
                                  <p:childTnLst>
                                    <p:set>
                                      <p:cBhvr>
                                        <p:cTn id="69" dur="1" fill="hold">
                                          <p:stCondLst>
                                            <p:cond delay="0"/>
                                          </p:stCondLst>
                                        </p:cTn>
                                        <p:tgtEl>
                                          <p:spTgt spid="9"/>
                                        </p:tgtEl>
                                        <p:attrNameLst>
                                          <p:attrName>style.visibility</p:attrName>
                                        </p:attrNameLst>
                                      </p:cBhvr>
                                      <p:to>
                                        <p:strVal val="visible"/>
                                      </p:to>
                                    </p:set>
                                    <p:animEffect transition="in" filter="wipe(left)">
                                      <p:cBhvr>
                                        <p:cTn id="70" dur="350"/>
                                        <p:tgtEl>
                                          <p:spTgt spid="9"/>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wipe(left)">
                                      <p:cBhvr>
                                        <p:cTn id="73" dur="350"/>
                                        <p:tgtEl>
                                          <p:spTgt spid="10"/>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wipe(left)">
                                      <p:cBhvr>
                                        <p:cTn id="78" dur="350"/>
                                        <p:tgtEl>
                                          <p:spTgt spid="11"/>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wipe(left)">
                                      <p:cBhvr>
                                        <p:cTn id="81" dur="350"/>
                                        <p:tgtEl>
                                          <p:spTgt spid="12"/>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wipe(left)">
                                      <p:cBhvr>
                                        <p:cTn id="86" dur="350"/>
                                        <p:tgtEl>
                                          <p:spTgt spid="13"/>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wipe(left)">
                                      <p:cBhvr>
                                        <p:cTn id="8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Buildpacks and kpack</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Dockerfile, buildpacks detect the language</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Rebase: patch the base without rebuilding</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kpack: Image, Build, Pod</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Our kpack repo is a Helm chart</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 mirror scripts included</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ClusterBuilders: go, python, node</a:t>
            </a:r>
            <a:endParaRPr lang="en-US" sz="1700" dirty="0"/>
          </a:p>
        </p:txBody>
      </p:sp>
      <p:sp>
        <p:nvSpPr>
          <p:cNvPr id="17" name="auto:0:wipeL"/>
          <p:cNvSpPr/>
          <p:nvPr/>
        </p:nvSpPr>
        <p:spPr>
          <a:xfrm>
            <a:off x="7880604" y="2461260"/>
            <a:ext cx="539496" cy="899160"/>
          </a:xfrm>
          <a:prstGeom prst="line">
            <a:avLst/>
          </a:prstGeom>
          <a:noFill/>
          <a:ln w="15875">
            <a:solidFill>
              <a:srgbClr val="98A2B3"/>
            </a:solidFill>
            <a:prstDash val="solid"/>
            <a:tailEnd type="triangle"/>
          </a:ln>
        </p:spPr>
      </p:sp>
      <p:sp>
        <p:nvSpPr>
          <p:cNvPr id="18" name="auto:1:wipeL"/>
          <p:cNvSpPr/>
          <p:nvPr/>
        </p:nvSpPr>
        <p:spPr>
          <a:xfrm>
            <a:off x="7880604" y="3360420"/>
            <a:ext cx="539496" cy="0"/>
          </a:xfrm>
          <a:prstGeom prst="line">
            <a:avLst/>
          </a:prstGeom>
          <a:noFill/>
          <a:ln w="15875">
            <a:solidFill>
              <a:srgbClr val="98A2B3"/>
            </a:solidFill>
            <a:prstDash val="solid"/>
            <a:tailEnd type="triangle"/>
          </a:ln>
        </p:spPr>
      </p:sp>
      <p:sp>
        <p:nvSpPr>
          <p:cNvPr id="19" name="auto:2:wipeL"/>
          <p:cNvSpPr/>
          <p:nvPr/>
        </p:nvSpPr>
        <p:spPr>
          <a:xfrm flipV="1">
            <a:off x="7880604" y="3360420"/>
            <a:ext cx="539496" cy="899160"/>
          </a:xfrm>
          <a:prstGeom prst="line">
            <a:avLst/>
          </a:prstGeom>
          <a:noFill/>
          <a:ln w="15875">
            <a:solidFill>
              <a:srgbClr val="98A2B3"/>
            </a:solidFill>
            <a:prstDash val="solid"/>
            <a:tailEnd type="triangle"/>
          </a:ln>
        </p:spPr>
      </p:sp>
      <p:sp>
        <p:nvSpPr>
          <p:cNvPr id="20" name="auto:3:wipeL"/>
          <p:cNvSpPr/>
          <p:nvPr/>
        </p:nvSpPr>
        <p:spPr>
          <a:xfrm>
            <a:off x="9274302" y="3630168"/>
            <a:ext cx="0" cy="1078992"/>
          </a:xfrm>
          <a:prstGeom prst="line">
            <a:avLst/>
          </a:prstGeom>
          <a:noFill/>
          <a:ln w="15875">
            <a:solidFill>
              <a:srgbClr val="98A2B3"/>
            </a:solidFill>
            <a:prstDash val="solid"/>
            <a:tailEnd type="triangle"/>
          </a:ln>
        </p:spPr>
      </p:sp>
      <p:sp>
        <p:nvSpPr>
          <p:cNvPr id="21" name="auto:4:wipeD"/>
          <p:cNvSpPr/>
          <p:nvPr/>
        </p:nvSpPr>
        <p:spPr>
          <a:xfrm>
            <a:off x="6352032" y="2191512"/>
            <a:ext cx="1528572" cy="539496"/>
          </a:xfrm>
          <a:prstGeom prst="roundRect">
            <a:avLst>
              <a:gd name="adj" fmla="val 13559"/>
            </a:avLst>
          </a:prstGeom>
          <a:solidFill>
            <a:srgbClr val="FFFFFF"/>
          </a:solidFill>
          <a:ln w="15875">
            <a:solidFill>
              <a:srgbClr val="0B7A75"/>
            </a:solidFill>
            <a:prstDash val="solid"/>
          </a:ln>
        </p:spPr>
      </p:sp>
      <p:sp>
        <p:nvSpPr>
          <p:cNvPr id="22" name="auto:5:fade"/>
          <p:cNvSpPr txBox="1"/>
          <p:nvPr/>
        </p:nvSpPr>
        <p:spPr>
          <a:xfrm>
            <a:off x="6352032" y="219151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ClusterStack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base images</a:t>
            </a:r>
            <a:endParaRPr lang="en-US" sz="1200" dirty="0"/>
          </a:p>
        </p:txBody>
      </p:sp>
      <p:sp>
        <p:nvSpPr>
          <p:cNvPr id="23" name="auto:6:wipeD"/>
          <p:cNvSpPr/>
          <p:nvPr/>
        </p:nvSpPr>
        <p:spPr>
          <a:xfrm>
            <a:off x="6352032" y="3090672"/>
            <a:ext cx="1528572" cy="539496"/>
          </a:xfrm>
          <a:prstGeom prst="roundRect">
            <a:avLst>
              <a:gd name="adj" fmla="val 13559"/>
            </a:avLst>
          </a:prstGeom>
          <a:solidFill>
            <a:srgbClr val="FFFFFF"/>
          </a:solidFill>
          <a:ln w="15875">
            <a:solidFill>
              <a:srgbClr val="0B7A75"/>
            </a:solidFill>
            <a:prstDash val="solid"/>
          </a:ln>
        </p:spPr>
      </p:sp>
      <p:sp>
        <p:nvSpPr>
          <p:cNvPr id="24" name="auto:7:fade"/>
          <p:cNvSpPr txBox="1"/>
          <p:nvPr/>
        </p:nvSpPr>
        <p:spPr>
          <a:xfrm>
            <a:off x="6352032" y="309067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ClusterStore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buildpackages</a:t>
            </a:r>
            <a:endParaRPr lang="en-US" sz="1200" dirty="0"/>
          </a:p>
        </p:txBody>
      </p:sp>
      <p:sp>
        <p:nvSpPr>
          <p:cNvPr id="25" name="auto:8:wipeD"/>
          <p:cNvSpPr/>
          <p:nvPr/>
        </p:nvSpPr>
        <p:spPr>
          <a:xfrm>
            <a:off x="6352032" y="3989832"/>
            <a:ext cx="1528572" cy="539496"/>
          </a:xfrm>
          <a:prstGeom prst="roundRect">
            <a:avLst>
              <a:gd name="adj" fmla="val 13559"/>
            </a:avLst>
          </a:prstGeom>
          <a:solidFill>
            <a:srgbClr val="FFFFFF"/>
          </a:solidFill>
          <a:ln w="15875">
            <a:solidFill>
              <a:srgbClr val="0B7A75"/>
            </a:solidFill>
            <a:prstDash val="solid"/>
          </a:ln>
        </p:spPr>
      </p:sp>
      <p:sp>
        <p:nvSpPr>
          <p:cNvPr id="26" name="auto:9:fade"/>
          <p:cNvSpPr txBox="1"/>
          <p:nvPr/>
        </p:nvSpPr>
        <p:spPr>
          <a:xfrm>
            <a:off x="6352032" y="398983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order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component list</a:t>
            </a:r>
            <a:endParaRPr lang="en-US" sz="1200" dirty="0"/>
          </a:p>
        </p:txBody>
      </p:sp>
      <p:sp>
        <p:nvSpPr>
          <p:cNvPr id="27" name="auto:10:wipeD"/>
          <p:cNvSpPr/>
          <p:nvPr/>
        </p:nvSpPr>
        <p:spPr>
          <a:xfrm>
            <a:off x="8420100" y="3090672"/>
            <a:ext cx="1708404" cy="539496"/>
          </a:xfrm>
          <a:prstGeom prst="roundRect">
            <a:avLst>
              <a:gd name="adj" fmla="val 13559"/>
            </a:avLst>
          </a:prstGeom>
          <a:solidFill>
            <a:srgbClr val="FFFFFF"/>
          </a:solidFill>
          <a:ln w="22225">
            <a:solidFill>
              <a:srgbClr val="E4572E"/>
            </a:solidFill>
            <a:prstDash val="solid"/>
          </a:ln>
        </p:spPr>
      </p:sp>
      <p:sp>
        <p:nvSpPr>
          <p:cNvPr id="28" name="auto:11:fade"/>
          <p:cNvSpPr txBox="1"/>
          <p:nvPr/>
        </p:nvSpPr>
        <p:spPr>
          <a:xfrm>
            <a:off x="8420100" y="3090672"/>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ClusterBuilder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go · python · node</a:t>
            </a:r>
            <a:endParaRPr lang="en-US" sz="1200" dirty="0"/>
          </a:p>
        </p:txBody>
      </p:sp>
      <p:sp>
        <p:nvSpPr>
          <p:cNvPr id="29" name="auto:12:wipeD"/>
          <p:cNvSpPr/>
          <p:nvPr/>
        </p:nvSpPr>
        <p:spPr>
          <a:xfrm>
            <a:off x="8420100" y="4709160"/>
            <a:ext cx="1708404" cy="539496"/>
          </a:xfrm>
          <a:prstGeom prst="roundRect">
            <a:avLst>
              <a:gd name="adj" fmla="val 13559"/>
            </a:avLst>
          </a:prstGeom>
          <a:solidFill>
            <a:srgbClr val="FFFFFF"/>
          </a:solidFill>
          <a:ln w="15875">
            <a:solidFill>
              <a:srgbClr val="0B7A75"/>
            </a:solidFill>
            <a:prstDash val="solid"/>
          </a:ln>
        </p:spPr>
      </p:sp>
      <p:sp>
        <p:nvSpPr>
          <p:cNvPr id="30" name="auto:13:fade"/>
          <p:cNvSpPr txBox="1"/>
          <p:nvPr/>
        </p:nvSpPr>
        <p:spPr>
          <a:xfrm>
            <a:off x="8420100" y="4709160"/>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declared by the API</a:t>
            </a:r>
            <a:endParaRPr lang="en-US" sz="1200" dirty="0"/>
          </a:p>
        </p:txBody>
      </p:sp>
      <p:sp>
        <p:nvSpPr>
          <p:cNvPr id="31" name="auto:14:wipeD"/>
          <p:cNvSpPr/>
          <p:nvPr/>
        </p:nvSpPr>
        <p:spPr>
          <a:xfrm>
            <a:off x="10398252" y="2191512"/>
            <a:ext cx="989076" cy="2337816"/>
          </a:xfrm>
          <a:prstGeom prst="roundRect">
            <a:avLst>
              <a:gd name="adj" fmla="val 7396"/>
            </a:avLst>
          </a:prstGeom>
          <a:solidFill>
            <a:srgbClr val="FFFFFF"/>
          </a:solidFill>
          <a:ln w="15875">
            <a:solidFill>
              <a:srgbClr val="0B7A75"/>
            </a:solidFill>
            <a:prstDash val="solid"/>
          </a:ln>
        </p:spPr>
      </p:sp>
      <p:sp>
        <p:nvSpPr>
          <p:cNvPr id="32" name="auto:15:fade"/>
          <p:cNvSpPr txBox="1"/>
          <p:nvPr/>
        </p:nvSpPr>
        <p:spPr>
          <a:xfrm>
            <a:off x="10398252" y="2191512"/>
            <a:ext cx="989076" cy="233781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chart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mirror-once content</a:t>
            </a:r>
            <a:endParaRPr lang="en-US" sz="1200" dirty="0"/>
          </a:p>
        </p:txBody>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19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wipe(down)">
                                      <p:cBhvr>
                                        <p:cTn id="46" dur="350"/>
                                        <p:tgtEl>
                                          <p:spTgt spid="31"/>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400"/>
                                        <p:tgtEl>
                                          <p:spTgt spid="32"/>
                                        </p:tgtEl>
                                      </p:cBhvr>
                                    </p:animEffect>
                                  </p:childTnLst>
                                </p:cTn>
                              </p:par>
                            </p:childTnLst>
                          </p:cTn>
                        </p:par>
                      </p:childTnLst>
                    </p:cTn>
                  </p:par>
                  <p:par>
                    <p:cTn id="59" fill="hold">
                      <p:stCondLst>
                        <p:cond delay="indefinite"/>
                      </p:stCondLst>
                      <p:childTnLst>
                        <p:par>
                          <p:cTn id="60" fill="hold">
                            <p:stCondLst>
                              <p:cond delay="0"/>
                            </p:stCondLst>
                            <p:childTnLst>
                              <p:par>
                                <p:cTn id="55" presetID="22" presetClass="entr" presetSubtype="8" fill="hold" grpId="0" nodeType="clickEffect">
                                  <p:stCondLst>
                                    <p:cond delay="0"/>
                                  </p:stCondLst>
                                  <p:childTnLst>
                                    <p:set>
                                      <p:cBhvr>
                                        <p:cTn id="53" dur="1" fill="hold">
                                          <p:stCondLst>
                                            <p:cond delay="0"/>
                                          </p:stCondLst>
                                        </p:cTn>
                                        <p:tgtEl>
                                          <p:spTgt spid="5"/>
                                        </p:tgtEl>
                                        <p:attrNameLst>
                                          <p:attrName>style.visibility</p:attrName>
                                        </p:attrNameLst>
                                      </p:cBhvr>
                                      <p:to>
                                        <p:strVal val="visible"/>
                                      </p:to>
                                    </p:set>
                                    <p:animEffect transition="in" filter="wipe(left)">
                                      <p:cBhvr>
                                        <p:cTn id="54" dur="350"/>
                                        <p:tgtEl>
                                          <p:spTgt spid="5"/>
                                        </p:tgtEl>
                                      </p:cBhvr>
                                    </p:animEffect>
                                  </p:childTnLst>
                                </p:cTn>
                              </p:par>
                              <p:par>
                                <p:cTn id="58" presetID="22" presetClass="entr" presetSubtype="8" fill="hold" grpId="0" nodeType="with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wipe(left)">
                                      <p:cBhvr>
                                        <p:cTn id="57" dur="350"/>
                                        <p:tgtEl>
                                          <p:spTgt spid="6"/>
                                        </p:tgtEl>
                                      </p:cBhvr>
                                    </p:animEffect>
                                  </p:childTnLst>
                                </p:cTn>
                              </p:par>
                            </p:childTnLst>
                          </p:cTn>
                        </p:par>
                      </p:childTnLst>
                    </p:cTn>
                  </p:par>
                  <p:par>
                    <p:cTn id="67" fill="hold">
                      <p:stCondLst>
                        <p:cond delay="indefinite"/>
                      </p:stCondLst>
                      <p:childTnLst>
                        <p:par>
                          <p:cTn id="68" fill="hold">
                            <p:stCondLst>
                              <p:cond delay="0"/>
                            </p:stCondLst>
                            <p:childTnLst>
                              <p:par>
                                <p:cTn id="63" presetID="22" presetClass="entr" presetSubtype="8" fill="hold" grpId="0" nodeType="click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wipe(left)">
                                      <p:cBhvr>
                                        <p:cTn id="62" dur="350"/>
                                        <p:tgtEl>
                                          <p:spTgt spid="7"/>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8"/>
                                        </p:tgtEl>
                                        <p:attrNameLst>
                                          <p:attrName>style.visibility</p:attrName>
                                        </p:attrNameLst>
                                      </p:cBhvr>
                                      <p:to>
                                        <p:strVal val="visible"/>
                                      </p:to>
                                    </p:set>
                                    <p:animEffect transition="in" filter="wipe(left)">
                                      <p:cBhvr>
                                        <p:cTn id="65" dur="350"/>
                                        <p:tgtEl>
                                          <p:spTgt spid="8"/>
                                        </p:tgtEl>
                                      </p:cBhvr>
                                    </p:animEffect>
                                  </p:childTnLst>
                                </p:cTn>
                              </p:par>
                            </p:childTnLst>
                          </p:cTn>
                        </p:par>
                      </p:childTnLst>
                    </p:cTn>
                  </p:par>
                  <p:par>
                    <p:cTn id="75" fill="hold">
                      <p:stCondLst>
                        <p:cond delay="indefinite"/>
                      </p:stCondLst>
                      <p:childTnLst>
                        <p:par>
                          <p:cTn id="76" fill="hold">
                            <p:stCondLst>
                              <p:cond delay="0"/>
                            </p:stCondLst>
                            <p:childTnLst>
                              <p:par>
                                <p:cTn id="71" presetID="22" presetClass="entr" presetSubtype="8" fill="hold" grpId="0" nodeType="clickEffect">
                                  <p:stCondLst>
                                    <p:cond delay="0"/>
                                  </p:stCondLst>
                                  <p:childTnLst>
                                    <p:set>
                                      <p:cBhvr>
                                        <p:cTn id="69" dur="1" fill="hold">
                                          <p:stCondLst>
                                            <p:cond delay="0"/>
                                          </p:stCondLst>
                                        </p:cTn>
                                        <p:tgtEl>
                                          <p:spTgt spid="9"/>
                                        </p:tgtEl>
                                        <p:attrNameLst>
                                          <p:attrName>style.visibility</p:attrName>
                                        </p:attrNameLst>
                                      </p:cBhvr>
                                      <p:to>
                                        <p:strVal val="visible"/>
                                      </p:to>
                                    </p:set>
                                    <p:animEffect transition="in" filter="wipe(left)">
                                      <p:cBhvr>
                                        <p:cTn id="70" dur="350"/>
                                        <p:tgtEl>
                                          <p:spTgt spid="9"/>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wipe(left)">
                                      <p:cBhvr>
                                        <p:cTn id="73" dur="350"/>
                                        <p:tgtEl>
                                          <p:spTgt spid="10"/>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wipe(left)">
                                      <p:cBhvr>
                                        <p:cTn id="78" dur="350"/>
                                        <p:tgtEl>
                                          <p:spTgt spid="11"/>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wipe(left)">
                                      <p:cBhvr>
                                        <p:cTn id="81" dur="350"/>
                                        <p:tgtEl>
                                          <p:spTgt spid="12"/>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wipe(left)">
                                      <p:cBhvr>
                                        <p:cTn id="86" dur="350"/>
                                        <p:tgtEl>
                                          <p:spTgt spid="13"/>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wipe(left)">
                                      <p:cBhvr>
                                        <p:cTn id="89" dur="350"/>
                                        <p:tgtEl>
                                          <p:spTgt spid="14"/>
                                        </p:tgtEl>
                                      </p:cBhvr>
                                    </p:animEffect>
                                  </p:childTnLst>
                                </p:cTn>
                              </p:par>
                            </p:childTnLst>
                          </p:cTn>
                        </p:par>
                      </p:childTnLst>
                    </p:cTn>
                  </p:par>
                  <p:par>
                    <p:cTn id="99" fill="hold">
                      <p:stCondLst>
                        <p:cond delay="indefinite"/>
                      </p:stCondLst>
                      <p:childTnLst>
                        <p:par>
                          <p:cTn id="100" fill="hold">
                            <p:stCondLst>
                              <p:cond delay="0"/>
                            </p:stCondLst>
                            <p:childTnLst>
                              <p:par>
                                <p:cTn id="95" presetID="22" presetClass="entr" presetSubtype="8" fill="hold" grpId="0" nodeType="clickEffect">
                                  <p:stCondLst>
                                    <p:cond delay="0"/>
                                  </p:stCondLst>
                                  <p:childTnLst>
                                    <p:set>
                                      <p:cBhvr>
                                        <p:cTn id="93" dur="1" fill="hold">
                                          <p:stCondLst>
                                            <p:cond delay="0"/>
                                          </p:stCondLst>
                                        </p:cTn>
                                        <p:tgtEl>
                                          <p:spTgt spid="15"/>
                                        </p:tgtEl>
                                        <p:attrNameLst>
                                          <p:attrName>style.visibility</p:attrName>
                                        </p:attrNameLst>
                                      </p:cBhvr>
                                      <p:to>
                                        <p:strVal val="visible"/>
                                      </p:to>
                                    </p:set>
                                    <p:animEffect transition="in" filter="wipe(left)">
                                      <p:cBhvr>
                                        <p:cTn id="94" dur="350"/>
                                        <p:tgtEl>
                                          <p:spTgt spid="15"/>
                                        </p:tgtEl>
                                      </p:cBhvr>
                                    </p:animEffect>
                                  </p:childTnLst>
                                </p:cTn>
                              </p:par>
                              <p:par>
                                <p:cTn id="98" presetID="22" presetClass="entr" presetSubtype="8" fill="hold" grpId="0" nodeType="withEffect">
                                  <p:stCondLst>
                                    <p:cond delay="0"/>
                                  </p:stCondLst>
                                  <p:childTnLst>
                                    <p:set>
                                      <p:cBhvr>
                                        <p:cTn id="96" dur="1" fill="hold">
                                          <p:stCondLst>
                                            <p:cond delay="0"/>
                                          </p:stCondLst>
                                        </p:cTn>
                                        <p:tgtEl>
                                          <p:spTgt spid="16"/>
                                        </p:tgtEl>
                                        <p:attrNameLst>
                                          <p:attrName>style.visibility</p:attrName>
                                        </p:attrNameLst>
                                      </p:cBhvr>
                                      <p:to>
                                        <p:strVal val="visible"/>
                                      </p:to>
                                    </p:set>
                                    <p:animEffect transition="in" filter="wipe(left)">
                                      <p:cBhvr>
                                        <p:cTn id="97"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build, step by step</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Image → SourceResolver → Build → Pod</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is its own container</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has its own log</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Pushed to this region's registry</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Five triggers; two need nobody</a:t>
            </a:r>
            <a:endParaRPr lang="en-US" sz="1900" dirty="0"/>
          </a:p>
        </p:txBody>
      </p:sp>
      <p:sp>
        <p:nvSpPr>
          <p:cNvPr id="15" name="auto:0:wipeD"/>
          <p:cNvSpPr/>
          <p:nvPr/>
        </p:nvSpPr>
        <p:spPr>
          <a:xfrm>
            <a:off x="6172200" y="2286000"/>
            <a:ext cx="1243584" cy="868680"/>
          </a:xfrm>
          <a:prstGeom prst="roundRect">
            <a:avLst>
              <a:gd name="adj" fmla="val 8421"/>
            </a:avLst>
          </a:prstGeom>
          <a:solidFill>
            <a:srgbClr val="FFFFFF"/>
          </a:solidFill>
          <a:ln w="15875">
            <a:solidFill>
              <a:srgbClr val="0B7A75"/>
            </a:solidFill>
            <a:prstDash val="solid"/>
          </a:ln>
        </p:spPr>
      </p:sp>
      <p:sp>
        <p:nvSpPr>
          <p:cNvPr id="16" name="auto:1:fade"/>
          <p:cNvSpPr txBox="1"/>
          <p:nvPr/>
        </p:nvSpPr>
        <p:spPr>
          <a:xfrm>
            <a:off x="7050024"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1</a:t>
            </a:r>
            <a:endParaRPr lang="en-US" sz="850" dirty="0"/>
          </a:p>
        </p:txBody>
      </p:sp>
      <p:sp>
        <p:nvSpPr>
          <p:cNvPr id="17" name="auto:2:fade"/>
          <p:cNvSpPr txBox="1"/>
          <p:nvPr/>
        </p:nvSpPr>
        <p:spPr>
          <a:xfrm>
            <a:off x="6281928"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prepare</a:t>
            </a:r>
            <a:endParaRPr lang="en-US" sz="1200" dirty="0"/>
          </a:p>
        </p:txBody>
      </p:sp>
      <p:sp>
        <p:nvSpPr>
          <p:cNvPr id="18" name="auto:3:fade"/>
          <p:cNvSpPr txBox="1"/>
          <p:nvPr/>
        </p:nvSpPr>
        <p:spPr>
          <a:xfrm>
            <a:off x="6281928"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git clone</a:t>
            </a:r>
            <a:endParaRPr lang="en-US" sz="950" dirty="0"/>
          </a:p>
        </p:txBody>
      </p:sp>
      <p:sp>
        <p:nvSpPr>
          <p:cNvPr id="19" name="auto:4:wipeD"/>
          <p:cNvSpPr/>
          <p:nvPr/>
        </p:nvSpPr>
        <p:spPr>
          <a:xfrm>
            <a:off x="7552944" y="2286000"/>
            <a:ext cx="1243584" cy="868680"/>
          </a:xfrm>
          <a:prstGeom prst="roundRect">
            <a:avLst>
              <a:gd name="adj" fmla="val 8421"/>
            </a:avLst>
          </a:prstGeom>
          <a:solidFill>
            <a:srgbClr val="FFFFFF"/>
          </a:solidFill>
          <a:ln w="15875">
            <a:solidFill>
              <a:srgbClr val="0B7A75"/>
            </a:solidFill>
            <a:prstDash val="solid"/>
          </a:ln>
        </p:spPr>
      </p:sp>
      <p:sp>
        <p:nvSpPr>
          <p:cNvPr id="20" name="auto:5:fade"/>
          <p:cNvSpPr txBox="1"/>
          <p:nvPr/>
        </p:nvSpPr>
        <p:spPr>
          <a:xfrm>
            <a:off x="8430768"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2</a:t>
            </a:r>
            <a:endParaRPr lang="en-US" sz="850" dirty="0"/>
          </a:p>
        </p:txBody>
      </p:sp>
      <p:sp>
        <p:nvSpPr>
          <p:cNvPr id="21" name="auto:6:fade"/>
          <p:cNvSpPr txBox="1"/>
          <p:nvPr/>
        </p:nvSpPr>
        <p:spPr>
          <a:xfrm>
            <a:off x="7662672"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analyze</a:t>
            </a:r>
            <a:endParaRPr lang="en-US" sz="1200" dirty="0"/>
          </a:p>
        </p:txBody>
      </p:sp>
      <p:sp>
        <p:nvSpPr>
          <p:cNvPr id="22" name="auto:7:fade"/>
          <p:cNvSpPr txBox="1"/>
          <p:nvPr/>
        </p:nvSpPr>
        <p:spPr>
          <a:xfrm>
            <a:off x="7662672"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previous image</a:t>
            </a:r>
            <a:endParaRPr lang="en-US" sz="950" dirty="0"/>
          </a:p>
        </p:txBody>
      </p:sp>
      <p:sp>
        <p:nvSpPr>
          <p:cNvPr id="23" name="auto:8:wipeD"/>
          <p:cNvSpPr/>
          <p:nvPr/>
        </p:nvSpPr>
        <p:spPr>
          <a:xfrm>
            <a:off x="8933688" y="2286000"/>
            <a:ext cx="1243584" cy="868680"/>
          </a:xfrm>
          <a:prstGeom prst="roundRect">
            <a:avLst>
              <a:gd name="adj" fmla="val 8421"/>
            </a:avLst>
          </a:prstGeom>
          <a:solidFill>
            <a:srgbClr val="FFFFFF"/>
          </a:solidFill>
          <a:ln w="15875">
            <a:solidFill>
              <a:srgbClr val="0B7A75"/>
            </a:solidFill>
            <a:prstDash val="solid"/>
          </a:ln>
        </p:spPr>
      </p:sp>
      <p:sp>
        <p:nvSpPr>
          <p:cNvPr id="24" name="auto:9:fade"/>
          <p:cNvSpPr txBox="1"/>
          <p:nvPr/>
        </p:nvSpPr>
        <p:spPr>
          <a:xfrm>
            <a:off x="9811512"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3</a:t>
            </a:r>
            <a:endParaRPr lang="en-US" sz="850" dirty="0"/>
          </a:p>
        </p:txBody>
      </p:sp>
      <p:sp>
        <p:nvSpPr>
          <p:cNvPr id="25" name="auto:10:fade"/>
          <p:cNvSpPr txBox="1"/>
          <p:nvPr/>
        </p:nvSpPr>
        <p:spPr>
          <a:xfrm>
            <a:off x="9043416"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detect</a:t>
            </a:r>
            <a:endParaRPr lang="en-US" sz="1200" dirty="0"/>
          </a:p>
        </p:txBody>
      </p:sp>
      <p:sp>
        <p:nvSpPr>
          <p:cNvPr id="26" name="auto:11:fade"/>
          <p:cNvSpPr txBox="1"/>
          <p:nvPr/>
        </p:nvSpPr>
        <p:spPr>
          <a:xfrm>
            <a:off x="9043416"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pick buildpacks</a:t>
            </a:r>
            <a:endParaRPr lang="en-US" sz="950" dirty="0"/>
          </a:p>
        </p:txBody>
      </p:sp>
      <p:sp>
        <p:nvSpPr>
          <p:cNvPr id="27" name="auto:12:wipeD"/>
          <p:cNvSpPr/>
          <p:nvPr/>
        </p:nvSpPr>
        <p:spPr>
          <a:xfrm>
            <a:off x="10314432" y="2286000"/>
            <a:ext cx="1243584" cy="868680"/>
          </a:xfrm>
          <a:prstGeom prst="roundRect">
            <a:avLst>
              <a:gd name="adj" fmla="val 8421"/>
            </a:avLst>
          </a:prstGeom>
          <a:solidFill>
            <a:srgbClr val="FFFFFF"/>
          </a:solidFill>
          <a:ln w="15875">
            <a:solidFill>
              <a:srgbClr val="0B7A75"/>
            </a:solidFill>
            <a:prstDash val="solid"/>
          </a:ln>
        </p:spPr>
      </p:sp>
      <p:sp>
        <p:nvSpPr>
          <p:cNvPr id="28" name="auto:13:fade"/>
          <p:cNvSpPr txBox="1"/>
          <p:nvPr/>
        </p:nvSpPr>
        <p:spPr>
          <a:xfrm>
            <a:off x="11192256"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4</a:t>
            </a:r>
            <a:endParaRPr lang="en-US" sz="850" dirty="0"/>
          </a:p>
        </p:txBody>
      </p:sp>
      <p:sp>
        <p:nvSpPr>
          <p:cNvPr id="29" name="auto:14:fade"/>
          <p:cNvSpPr txBox="1"/>
          <p:nvPr/>
        </p:nvSpPr>
        <p:spPr>
          <a:xfrm>
            <a:off x="10424160"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restore</a:t>
            </a:r>
            <a:endParaRPr lang="en-US" sz="1200" dirty="0"/>
          </a:p>
        </p:txBody>
      </p:sp>
      <p:sp>
        <p:nvSpPr>
          <p:cNvPr id="30" name="auto:15:fade"/>
          <p:cNvSpPr txBox="1"/>
          <p:nvPr/>
        </p:nvSpPr>
        <p:spPr>
          <a:xfrm>
            <a:off x="10424160"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cached layers</a:t>
            </a:r>
            <a:endParaRPr lang="en-US" sz="950" dirty="0"/>
          </a:p>
        </p:txBody>
      </p:sp>
      <p:sp>
        <p:nvSpPr>
          <p:cNvPr id="31" name="auto:16:wipeD"/>
          <p:cNvSpPr/>
          <p:nvPr/>
        </p:nvSpPr>
        <p:spPr>
          <a:xfrm>
            <a:off x="6172200" y="3291840"/>
            <a:ext cx="1243584" cy="868680"/>
          </a:xfrm>
          <a:prstGeom prst="roundRect">
            <a:avLst>
              <a:gd name="adj" fmla="val 8421"/>
            </a:avLst>
          </a:prstGeom>
          <a:solidFill>
            <a:srgbClr val="FFFFFF"/>
          </a:solidFill>
          <a:ln w="15875">
            <a:solidFill>
              <a:srgbClr val="0B7A75"/>
            </a:solidFill>
            <a:prstDash val="solid"/>
          </a:ln>
        </p:spPr>
      </p:sp>
      <p:sp>
        <p:nvSpPr>
          <p:cNvPr id="32" name="auto:17:fade"/>
          <p:cNvSpPr txBox="1"/>
          <p:nvPr/>
        </p:nvSpPr>
        <p:spPr>
          <a:xfrm>
            <a:off x="7050024"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5</a:t>
            </a:r>
            <a:endParaRPr lang="en-US" sz="850" dirty="0"/>
          </a:p>
        </p:txBody>
      </p:sp>
      <p:sp>
        <p:nvSpPr>
          <p:cNvPr id="33" name="auto:18:fade"/>
          <p:cNvSpPr txBox="1"/>
          <p:nvPr/>
        </p:nvSpPr>
        <p:spPr>
          <a:xfrm>
            <a:off x="6281928"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build</a:t>
            </a:r>
            <a:endParaRPr lang="en-US" sz="1200" dirty="0"/>
          </a:p>
        </p:txBody>
      </p:sp>
      <p:sp>
        <p:nvSpPr>
          <p:cNvPr id="34" name="auto:19:fade"/>
          <p:cNvSpPr txBox="1"/>
          <p:nvPr/>
        </p:nvSpPr>
        <p:spPr>
          <a:xfrm>
            <a:off x="6281928"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pip · npm · go</a:t>
            </a:r>
            <a:endParaRPr lang="en-US" sz="950" dirty="0"/>
          </a:p>
        </p:txBody>
      </p:sp>
      <p:sp>
        <p:nvSpPr>
          <p:cNvPr id="35" name="auto:20:wipeD"/>
          <p:cNvSpPr/>
          <p:nvPr/>
        </p:nvSpPr>
        <p:spPr>
          <a:xfrm>
            <a:off x="7552944" y="3291840"/>
            <a:ext cx="1243584" cy="868680"/>
          </a:xfrm>
          <a:prstGeom prst="roundRect">
            <a:avLst>
              <a:gd name="adj" fmla="val 8421"/>
            </a:avLst>
          </a:prstGeom>
          <a:solidFill>
            <a:srgbClr val="FFFFFF"/>
          </a:solidFill>
          <a:ln w="15875">
            <a:solidFill>
              <a:srgbClr val="0B7A75"/>
            </a:solidFill>
            <a:prstDash val="solid"/>
          </a:ln>
        </p:spPr>
      </p:sp>
      <p:sp>
        <p:nvSpPr>
          <p:cNvPr id="36" name="auto:21:fade"/>
          <p:cNvSpPr txBox="1"/>
          <p:nvPr/>
        </p:nvSpPr>
        <p:spPr>
          <a:xfrm>
            <a:off x="8430768"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6</a:t>
            </a:r>
            <a:endParaRPr lang="en-US" sz="850" dirty="0"/>
          </a:p>
        </p:txBody>
      </p:sp>
      <p:sp>
        <p:nvSpPr>
          <p:cNvPr id="37" name="auto:22:fade"/>
          <p:cNvSpPr txBox="1"/>
          <p:nvPr/>
        </p:nvSpPr>
        <p:spPr>
          <a:xfrm>
            <a:off x="7662672"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export</a:t>
            </a:r>
            <a:endParaRPr lang="en-US" sz="1200" dirty="0"/>
          </a:p>
        </p:txBody>
      </p:sp>
      <p:sp>
        <p:nvSpPr>
          <p:cNvPr id="38" name="auto:23:fade"/>
          <p:cNvSpPr txBox="1"/>
          <p:nvPr/>
        </p:nvSpPr>
        <p:spPr>
          <a:xfrm>
            <a:off x="7662672"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push image</a:t>
            </a:r>
            <a:endParaRPr lang="en-US" sz="950" dirty="0"/>
          </a:p>
        </p:txBody>
      </p:sp>
      <p:sp>
        <p:nvSpPr>
          <p:cNvPr id="39" name="auto:24:wipeD"/>
          <p:cNvSpPr/>
          <p:nvPr/>
        </p:nvSpPr>
        <p:spPr>
          <a:xfrm>
            <a:off x="8933688" y="3291840"/>
            <a:ext cx="1243584" cy="868680"/>
          </a:xfrm>
          <a:prstGeom prst="roundRect">
            <a:avLst>
              <a:gd name="adj" fmla="val 8421"/>
            </a:avLst>
          </a:prstGeom>
          <a:solidFill>
            <a:srgbClr val="FFFFFF"/>
          </a:solidFill>
          <a:ln w="15875">
            <a:solidFill>
              <a:srgbClr val="1B8A5A"/>
            </a:solidFill>
            <a:prstDash val="solid"/>
          </a:ln>
        </p:spPr>
      </p:sp>
      <p:sp>
        <p:nvSpPr>
          <p:cNvPr id="40" name="auto:25:fade"/>
          <p:cNvSpPr txBox="1"/>
          <p:nvPr/>
        </p:nvSpPr>
        <p:spPr>
          <a:xfrm>
            <a:off x="9811512"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7</a:t>
            </a:r>
            <a:endParaRPr lang="en-US" sz="850" dirty="0"/>
          </a:p>
        </p:txBody>
      </p:sp>
      <p:sp>
        <p:nvSpPr>
          <p:cNvPr id="41" name="auto:26:fade"/>
          <p:cNvSpPr txBox="1"/>
          <p:nvPr/>
        </p:nvSpPr>
        <p:spPr>
          <a:xfrm>
            <a:off x="9043416"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completion</a:t>
            </a:r>
            <a:endParaRPr lang="en-US" sz="1200" dirty="0"/>
          </a:p>
        </p:txBody>
      </p:sp>
      <p:sp>
        <p:nvSpPr>
          <p:cNvPr id="42" name="auto:27:fade"/>
          <p:cNvSpPr txBox="1"/>
          <p:nvPr/>
        </p:nvSpPr>
        <p:spPr>
          <a:xfrm>
            <a:off x="9043416"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done</a:t>
            </a:r>
            <a:endParaRPr lang="en-US" sz="950" dirty="0"/>
          </a:p>
        </p:txBody>
      </p:sp>
      <p:sp>
        <p:nvSpPr>
          <p:cNvPr id="43" name="Text 4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20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7" fill="hold">
                      <p:stCondLst>
                        <p:cond delay="indefinite"/>
                        <p:cond evt="onBegin" delay="0">
                          <p:tn val="2"/>
                        </p:cond>
                      </p:stCondLst>
                      <p:childTnLst>
                        <p:par>
                          <p:cTn id="88"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down)">
                                      <p:cBhvr>
                                        <p:cTn id="52" dur="350"/>
                                        <p:tgtEl>
                                          <p:spTgt spid="3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400"/>
                                        <p:tgtEl>
                                          <p:spTgt spid="32"/>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400"/>
                                        <p:tgtEl>
                                          <p:spTgt spid="3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down)">
                                      <p:cBhvr>
                                        <p:cTn id="64" dur="350"/>
                                        <p:tgtEl>
                                          <p:spTgt spid="35"/>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400"/>
                                        <p:tgtEl>
                                          <p:spTgt spid="36"/>
                                        </p:tgtEl>
                                      </p:cBhvr>
                                    </p:animEffect>
                                  </p:childTnLst>
                                </p:cTn>
                              </p:par>
                              <p:par>
                                <p:cTn id="71" presetID="10" presetClass="entr" presetSubtype="0" fill="hold" grpId="0" nodeType="withEffect">
                                  <p:stCondLst>
                                    <p:cond delay="176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400"/>
                                        <p:tgtEl>
                                          <p:spTgt spid="37"/>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9"/>
                                        </p:tgtEl>
                                        <p:attrNameLst>
                                          <p:attrName>style.visibility</p:attrName>
                                        </p:attrNameLst>
                                      </p:cBhvr>
                                      <p:to>
                                        <p:strVal val="visible"/>
                                      </p:to>
                                    </p:set>
                                    <p:animEffect transition="in" filter="wipe(down)">
                                      <p:cBhvr>
                                        <p:cTn id="76" dur="350"/>
                                        <p:tgtEl>
                                          <p:spTgt spid="39"/>
                                        </p:tgtEl>
                                      </p:cBhvr>
                                    </p:animEffect>
                                  </p:childTnLst>
                                </p:cTn>
                              </p:par>
                              <p:par>
                                <p:cTn id="80" presetID="10" presetClass="entr" presetSubtype="0" fill="hold" grpId="0" nodeType="withEffect">
                                  <p:stCondLst>
                                    <p:cond delay="200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400"/>
                                        <p:tgtEl>
                                          <p:spTgt spid="40"/>
                                        </p:tgtEl>
                                      </p:cBhvr>
                                    </p:animEffect>
                                  </p:childTnLst>
                                </p:cTn>
                              </p:par>
                              <p:par>
                                <p:cTn id="83" presetID="10" presetClass="entr" presetSubtype="0" fill="hold" grpId="0" nodeType="withEffect">
                                  <p:stCondLst>
                                    <p:cond delay="208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400"/>
                                        <p:tgtEl>
                                          <p:spTgt spid="41"/>
                                        </p:tgtEl>
                                      </p:cBhvr>
                                    </p:animEffect>
                                  </p:childTnLst>
                                </p:cTn>
                              </p:par>
                              <p:par>
                                <p:cTn id="86" presetID="10" presetClass="entr" presetSubtype="0" fill="hold" grpId="0" nodeType="withEffect">
                                  <p:stCondLst>
                                    <p:cond delay="216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childTnLst>
                          </p:cTn>
                        </p:par>
                      </p:childTnLst>
                    </p:cTn>
                  </p:par>
                  <p:par>
                    <p:cTn id="95" fill="hold">
                      <p:stCondLst>
                        <p:cond delay="indefinite"/>
                      </p:stCondLst>
                      <p:childTnLst>
                        <p:par>
                          <p:cTn id="96" fill="hold">
                            <p:stCondLst>
                              <p:cond delay="0"/>
                            </p:stCondLst>
                            <p:childTnLst>
                              <p:par>
                                <p:cTn id="91" presetID="22" presetClass="entr" presetSubtype="8" fill="hold" grpId="0" nodeType="clickEffect">
                                  <p:stCondLst>
                                    <p:cond delay="0"/>
                                  </p:stCondLst>
                                  <p:childTnLst>
                                    <p:set>
                                      <p:cBhvr>
                                        <p:cTn id="89" dur="1" fill="hold">
                                          <p:stCondLst>
                                            <p:cond delay="0"/>
                                          </p:stCondLst>
                                        </p:cTn>
                                        <p:tgtEl>
                                          <p:spTgt spid="5"/>
                                        </p:tgtEl>
                                        <p:attrNameLst>
                                          <p:attrName>style.visibility</p:attrName>
                                        </p:attrNameLst>
                                      </p:cBhvr>
                                      <p:to>
                                        <p:strVal val="visible"/>
                                      </p:to>
                                    </p:set>
                                    <p:animEffect transition="in" filter="wipe(left)">
                                      <p:cBhvr>
                                        <p:cTn id="90" dur="350"/>
                                        <p:tgtEl>
                                          <p:spTgt spid="5"/>
                                        </p:tgtEl>
                                      </p:cBhvr>
                                    </p:animEffect>
                                  </p:childTnLst>
                                </p:cTn>
                              </p:par>
                              <p:par>
                                <p:cTn id="94" presetID="22" presetClass="entr" presetSubtype="8" fill="hold" grpId="0" nodeType="withEffect">
                                  <p:stCondLst>
                                    <p:cond delay="0"/>
                                  </p:stCondLst>
                                  <p:childTnLst>
                                    <p:set>
                                      <p:cBhvr>
                                        <p:cTn id="92" dur="1" fill="hold">
                                          <p:stCondLst>
                                            <p:cond delay="0"/>
                                          </p:stCondLst>
                                        </p:cTn>
                                        <p:tgtEl>
                                          <p:spTgt spid="6"/>
                                        </p:tgtEl>
                                        <p:attrNameLst>
                                          <p:attrName>style.visibility</p:attrName>
                                        </p:attrNameLst>
                                      </p:cBhvr>
                                      <p:to>
                                        <p:strVal val="visible"/>
                                      </p:to>
                                    </p:set>
                                    <p:animEffect transition="in" filter="wipe(left)">
                                      <p:cBhvr>
                                        <p:cTn id="93" dur="350"/>
                                        <p:tgtEl>
                                          <p:spTgt spid="6"/>
                                        </p:tgtEl>
                                      </p:cBhvr>
                                    </p:animEffect>
                                  </p:childTnLst>
                                </p:cTn>
                              </p:par>
                            </p:childTnLst>
                          </p:cTn>
                        </p:par>
                      </p:childTnLst>
                    </p:cTn>
                  </p:par>
                  <p:par>
                    <p:cTn id="103" fill="hold">
                      <p:stCondLst>
                        <p:cond delay="indefinite"/>
                      </p:stCondLst>
                      <p:childTnLst>
                        <p:par>
                          <p:cTn id="104" fill="hold">
                            <p:stCondLst>
                              <p:cond delay="0"/>
                            </p:stCondLst>
                            <p:childTnLst>
                              <p:par>
                                <p:cTn id="99" presetID="22" presetClass="entr" presetSubtype="8" fill="hold" grpId="0" nodeType="clickEffect">
                                  <p:stCondLst>
                                    <p:cond delay="0"/>
                                  </p:stCondLst>
                                  <p:childTnLst>
                                    <p:set>
                                      <p:cBhvr>
                                        <p:cTn id="97" dur="1" fill="hold">
                                          <p:stCondLst>
                                            <p:cond delay="0"/>
                                          </p:stCondLst>
                                        </p:cTn>
                                        <p:tgtEl>
                                          <p:spTgt spid="7"/>
                                        </p:tgtEl>
                                        <p:attrNameLst>
                                          <p:attrName>style.visibility</p:attrName>
                                        </p:attrNameLst>
                                      </p:cBhvr>
                                      <p:to>
                                        <p:strVal val="visible"/>
                                      </p:to>
                                    </p:set>
                                    <p:animEffect transition="in" filter="wipe(left)">
                                      <p:cBhvr>
                                        <p:cTn id="98" dur="350"/>
                                        <p:tgtEl>
                                          <p:spTgt spid="7"/>
                                        </p:tgtEl>
                                      </p:cBhvr>
                                    </p:animEffect>
                                  </p:childTnLst>
                                </p:cTn>
                              </p:par>
                              <p:par>
                                <p:cTn id="102" presetID="22" presetClass="entr" presetSubtype="8" fill="hold" grpId="0" nodeType="with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left)">
                                      <p:cBhvr>
                                        <p:cTn id="101" dur="350"/>
                                        <p:tgtEl>
                                          <p:spTgt spid="8"/>
                                        </p:tgtEl>
                                      </p:cBhvr>
                                    </p:animEffect>
                                  </p:childTnLst>
                                </p:cTn>
                              </p:par>
                            </p:childTnLst>
                          </p:cTn>
                        </p:par>
                      </p:childTnLst>
                    </p:cTn>
                  </p:par>
                  <p:par>
                    <p:cTn id="111" fill="hold">
                      <p:stCondLst>
                        <p:cond delay="indefinite"/>
                      </p:stCondLst>
                      <p:childTnLst>
                        <p:par>
                          <p:cTn id="112" fill="hold">
                            <p:stCondLst>
                              <p:cond delay="0"/>
                            </p:stCondLst>
                            <p:childTnLst>
                              <p:par>
                                <p:cTn id="107" presetID="22" presetClass="entr" presetSubtype="8" fill="hold" grpId="0" nodeType="clickEffect">
                                  <p:stCondLst>
                                    <p:cond delay="0"/>
                                  </p:stCondLst>
                                  <p:childTnLst>
                                    <p:set>
                                      <p:cBhvr>
                                        <p:cTn id="105" dur="1" fill="hold">
                                          <p:stCondLst>
                                            <p:cond delay="0"/>
                                          </p:stCondLst>
                                        </p:cTn>
                                        <p:tgtEl>
                                          <p:spTgt spid="9"/>
                                        </p:tgtEl>
                                        <p:attrNameLst>
                                          <p:attrName>style.visibility</p:attrName>
                                        </p:attrNameLst>
                                      </p:cBhvr>
                                      <p:to>
                                        <p:strVal val="visible"/>
                                      </p:to>
                                    </p:set>
                                    <p:animEffect transition="in" filter="wipe(left)">
                                      <p:cBhvr>
                                        <p:cTn id="106" dur="350"/>
                                        <p:tgtEl>
                                          <p:spTgt spid="9"/>
                                        </p:tgtEl>
                                      </p:cBhvr>
                                    </p:animEffect>
                                  </p:childTnLst>
                                </p:cTn>
                              </p:par>
                              <p:par>
                                <p:cTn id="110" presetID="22" presetClass="entr" presetSubtype="8" fill="hold" grpId="0" nodeType="withEffect">
                                  <p:stCondLst>
                                    <p:cond delay="0"/>
                                  </p:stCondLst>
                                  <p:childTnLst>
                                    <p:set>
                                      <p:cBhvr>
                                        <p:cTn id="108" dur="1" fill="hold">
                                          <p:stCondLst>
                                            <p:cond delay="0"/>
                                          </p:stCondLst>
                                        </p:cTn>
                                        <p:tgtEl>
                                          <p:spTgt spid="10"/>
                                        </p:tgtEl>
                                        <p:attrNameLst>
                                          <p:attrName>style.visibility</p:attrName>
                                        </p:attrNameLst>
                                      </p:cBhvr>
                                      <p:to>
                                        <p:strVal val="visible"/>
                                      </p:to>
                                    </p:set>
                                    <p:animEffect transition="in" filter="wipe(left)">
                                      <p:cBhvr>
                                        <p:cTn id="109" dur="350"/>
                                        <p:tgtEl>
                                          <p:spTgt spid="10"/>
                                        </p:tgtEl>
                                      </p:cBhvr>
                                    </p:animEffect>
                                  </p:childTnLst>
                                </p:cTn>
                              </p:par>
                            </p:childTnLst>
                          </p:cTn>
                        </p:par>
                      </p:childTnLst>
                    </p:cTn>
                  </p:par>
                  <p:par>
                    <p:cTn id="119" fill="hold">
                      <p:stCondLst>
                        <p:cond delay="indefinite"/>
                      </p:stCondLst>
                      <p:childTnLst>
                        <p:par>
                          <p:cTn id="120" fill="hold">
                            <p:stCondLst>
                              <p:cond delay="0"/>
                            </p:stCondLst>
                            <p:childTnLst>
                              <p:par>
                                <p:cTn id="115" presetID="22" presetClass="entr" presetSubtype="8" fill="hold" grpId="0" nodeType="clickEffect">
                                  <p:stCondLst>
                                    <p:cond delay="0"/>
                                  </p:stCondLst>
                                  <p:childTnLst>
                                    <p:set>
                                      <p:cBhvr>
                                        <p:cTn id="113" dur="1" fill="hold">
                                          <p:stCondLst>
                                            <p:cond delay="0"/>
                                          </p:stCondLst>
                                        </p:cTn>
                                        <p:tgtEl>
                                          <p:spTgt spid="11"/>
                                        </p:tgtEl>
                                        <p:attrNameLst>
                                          <p:attrName>style.visibility</p:attrName>
                                        </p:attrNameLst>
                                      </p:cBhvr>
                                      <p:to>
                                        <p:strVal val="visible"/>
                                      </p:to>
                                    </p:set>
                                    <p:animEffect transition="in" filter="wipe(left)">
                                      <p:cBhvr>
                                        <p:cTn id="114" dur="350"/>
                                        <p:tgtEl>
                                          <p:spTgt spid="11"/>
                                        </p:tgtEl>
                                      </p:cBhvr>
                                    </p:animEffect>
                                  </p:childTnLst>
                                </p:cTn>
                              </p:par>
                              <p:par>
                                <p:cTn id="118" presetID="22" presetClass="entr" presetSubtype="8" fill="hold" grpId="0" nodeType="withEffect">
                                  <p:stCondLst>
                                    <p:cond delay="0"/>
                                  </p:stCondLst>
                                  <p:childTnLst>
                                    <p:set>
                                      <p:cBhvr>
                                        <p:cTn id="116" dur="1" fill="hold">
                                          <p:stCondLst>
                                            <p:cond delay="0"/>
                                          </p:stCondLst>
                                        </p:cTn>
                                        <p:tgtEl>
                                          <p:spTgt spid="12"/>
                                        </p:tgtEl>
                                        <p:attrNameLst>
                                          <p:attrName>style.visibility</p:attrName>
                                        </p:attrNameLst>
                                      </p:cBhvr>
                                      <p:to>
                                        <p:strVal val="visible"/>
                                      </p:to>
                                    </p:set>
                                    <p:animEffect transition="in" filter="wipe(left)">
                                      <p:cBhvr>
                                        <p:cTn id="117" dur="350"/>
                                        <p:tgtEl>
                                          <p:spTgt spid="12"/>
                                        </p:tgtEl>
                                      </p:cBhvr>
                                    </p:animEffect>
                                  </p:childTnLst>
                                </p:cTn>
                              </p:par>
                            </p:childTnLst>
                          </p:cTn>
                        </p:par>
                      </p:childTnLst>
                    </p:cTn>
                  </p:par>
                  <p:par>
                    <p:cTn id="127" fill="hold">
                      <p:stCondLst>
                        <p:cond delay="indefinite"/>
                      </p:stCondLst>
                      <p:childTnLst>
                        <p:par>
                          <p:cTn id="128" fill="hold">
                            <p:stCondLst>
                              <p:cond delay="0"/>
                            </p:stCondLst>
                            <p:childTnLst>
                              <p:par>
                                <p:cTn id="123" presetID="22" presetClass="entr" presetSubtype="8" fill="hold" grpId="0" nodeType="clickEffect">
                                  <p:stCondLst>
                                    <p:cond delay="0"/>
                                  </p:stCondLst>
                                  <p:childTnLst>
                                    <p:set>
                                      <p:cBhvr>
                                        <p:cTn id="121" dur="1" fill="hold">
                                          <p:stCondLst>
                                            <p:cond delay="0"/>
                                          </p:stCondLst>
                                        </p:cTn>
                                        <p:tgtEl>
                                          <p:spTgt spid="13"/>
                                        </p:tgtEl>
                                        <p:attrNameLst>
                                          <p:attrName>style.visibility</p:attrName>
                                        </p:attrNameLst>
                                      </p:cBhvr>
                                      <p:to>
                                        <p:strVal val="visible"/>
                                      </p:to>
                                    </p:set>
                                    <p:animEffect transition="in" filter="wipe(left)">
                                      <p:cBhvr>
                                        <p:cTn id="122" dur="350"/>
                                        <p:tgtEl>
                                          <p:spTgt spid="13"/>
                                        </p:tgtEl>
                                      </p:cBhvr>
                                    </p:animEffect>
                                  </p:childTnLst>
                                </p:cTn>
                              </p:par>
                              <p:par>
                                <p:cTn id="126" presetID="22" presetClass="entr" presetSubtype="8" fill="hold" grpId="0" nodeType="withEffect">
                                  <p:stCondLst>
                                    <p:cond delay="0"/>
                                  </p:stCondLst>
                                  <p:childTnLst>
                                    <p:set>
                                      <p:cBhvr>
                                        <p:cTn id="124" dur="1" fill="hold">
                                          <p:stCondLst>
                                            <p:cond delay="0"/>
                                          </p:stCondLst>
                                        </p:cTn>
                                        <p:tgtEl>
                                          <p:spTgt spid="14"/>
                                        </p:tgtEl>
                                        <p:attrNameLst>
                                          <p:attrName>style.visibility</p:attrName>
                                        </p:attrNameLst>
                                      </p:cBhvr>
                                      <p:to>
                                        <p:strVal val="visible"/>
                                      </p:to>
                                    </p:set>
                                    <p:animEffect transition="in" filter="wipe(left)">
                                      <p:cBhvr>
                                        <p:cTn id="125"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P spid="42"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build controller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Watches Image.status.latestImage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Applies the digest onto the Service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Both ends stay in one region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Only ever writes digests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Ships with no web stack</a:t>
            </a:r>
            <a:endParaRPr lang="en-US" sz="1900" dirty="0"/>
          </a:p>
        </p:txBody>
      </p:sp>
      <p:sp>
        <p:nvSpPr>
          <p:cNvPr id="15" name="auto:0:wipeL"/>
          <p:cNvSpPr/>
          <p:nvPr/>
        </p:nvSpPr>
        <p:spPr>
          <a:xfrm>
            <a:off x="7790688" y="2865882"/>
            <a:ext cx="359664" cy="0"/>
          </a:xfrm>
          <a:prstGeom prst="line">
            <a:avLst/>
          </a:prstGeom>
          <a:noFill/>
          <a:ln w="15875">
            <a:solidFill>
              <a:srgbClr val="98A2B3"/>
            </a:solidFill>
            <a:prstDash val="solid"/>
            <a:tailEnd type="triangle"/>
          </a:ln>
        </p:spPr>
      </p:sp>
      <p:sp>
        <p:nvSpPr>
          <p:cNvPr id="16" name="auto:1:wipeL"/>
          <p:cNvSpPr/>
          <p:nvPr/>
        </p:nvSpPr>
        <p:spPr>
          <a:xfrm>
            <a:off x="9589008" y="2865882"/>
            <a:ext cx="359664" cy="0"/>
          </a:xfrm>
          <a:prstGeom prst="line">
            <a:avLst/>
          </a:prstGeom>
          <a:noFill/>
          <a:ln w="15875">
            <a:solidFill>
              <a:srgbClr val="98A2B3"/>
            </a:solidFill>
            <a:prstDash val="solid"/>
            <a:tailEnd type="triangle"/>
          </a:ln>
        </p:spPr>
      </p:sp>
      <p:sp>
        <p:nvSpPr>
          <p:cNvPr id="17" name="auto:2:wipeL"/>
          <p:cNvSpPr/>
          <p:nvPr/>
        </p:nvSpPr>
        <p:spPr>
          <a:xfrm>
            <a:off x="10668000" y="3180588"/>
            <a:ext cx="0" cy="989076"/>
          </a:xfrm>
          <a:prstGeom prst="line">
            <a:avLst/>
          </a:prstGeom>
          <a:noFill/>
          <a:ln w="15875">
            <a:solidFill>
              <a:srgbClr val="98A2B3"/>
            </a:solidFill>
            <a:prstDash val="solid"/>
            <a:tailEnd type="triangle"/>
          </a:ln>
        </p:spPr>
      </p:sp>
      <p:sp>
        <p:nvSpPr>
          <p:cNvPr id="18" name="auto:3:wipeL"/>
          <p:cNvSpPr/>
          <p:nvPr/>
        </p:nvSpPr>
        <p:spPr>
          <a:xfrm flipV="1">
            <a:off x="7071360" y="3180588"/>
            <a:ext cx="0" cy="989076"/>
          </a:xfrm>
          <a:prstGeom prst="line">
            <a:avLst/>
          </a:prstGeom>
          <a:noFill/>
          <a:ln w="15875">
            <a:solidFill>
              <a:srgbClr val="98A2B3"/>
            </a:solidFill>
            <a:prstDash val="dash"/>
            <a:tailEnd type="triangle"/>
          </a:ln>
        </p:spPr>
      </p:sp>
      <p:sp>
        <p:nvSpPr>
          <p:cNvPr id="19" name="auto:4:wipeD"/>
          <p:cNvSpPr/>
          <p:nvPr/>
        </p:nvSpPr>
        <p:spPr>
          <a:xfrm>
            <a:off x="6352032" y="2551176"/>
            <a:ext cx="1438656" cy="629412"/>
          </a:xfrm>
          <a:prstGeom prst="roundRect">
            <a:avLst>
              <a:gd name="adj" fmla="val 11622"/>
            </a:avLst>
          </a:prstGeom>
          <a:solidFill>
            <a:srgbClr val="FFFFFF"/>
          </a:solidFill>
          <a:ln w="15875">
            <a:solidFill>
              <a:srgbClr val="0B7A75"/>
            </a:solidFill>
            <a:prstDash val="solid"/>
          </a:ln>
        </p:spPr>
      </p:sp>
      <p:sp>
        <p:nvSpPr>
          <p:cNvPr id="20" name="auto:5:fade"/>
          <p:cNvSpPr txBox="1"/>
          <p:nvPr/>
        </p:nvSpPr>
        <p:spPr>
          <a:xfrm>
            <a:off x="635203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latestImage changes</a:t>
            </a:r>
            <a:endParaRPr lang="en-US" sz="1200" dirty="0"/>
          </a:p>
        </p:txBody>
      </p:sp>
      <p:sp>
        <p:nvSpPr>
          <p:cNvPr id="21" name="auto:6:wipeD"/>
          <p:cNvSpPr/>
          <p:nvPr/>
        </p:nvSpPr>
        <p:spPr>
          <a:xfrm>
            <a:off x="8150352" y="2551176"/>
            <a:ext cx="1438656" cy="629412"/>
          </a:xfrm>
          <a:prstGeom prst="roundRect">
            <a:avLst>
              <a:gd name="adj" fmla="val 11622"/>
            </a:avLst>
          </a:prstGeom>
          <a:solidFill>
            <a:srgbClr val="FFFFFF"/>
          </a:solidFill>
          <a:ln w="22225">
            <a:solidFill>
              <a:srgbClr val="E4572E"/>
            </a:solidFill>
            <a:prstDash val="solid"/>
          </a:ln>
        </p:spPr>
      </p:sp>
      <p:sp>
        <p:nvSpPr>
          <p:cNvPr id="22" name="auto:7:fade"/>
          <p:cNvSpPr txBox="1"/>
          <p:nvPr/>
        </p:nvSpPr>
        <p:spPr>
          <a:xfrm>
            <a:off x="815035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watch</a:t>
            </a:r>
            <a:endParaRPr lang="en-US" sz="1200" dirty="0"/>
          </a:p>
        </p:txBody>
      </p:sp>
      <p:sp>
        <p:nvSpPr>
          <p:cNvPr id="23" name="auto:8:wipeD"/>
          <p:cNvSpPr/>
          <p:nvPr/>
        </p:nvSpPr>
        <p:spPr>
          <a:xfrm>
            <a:off x="9948672" y="2551176"/>
            <a:ext cx="1438656" cy="629412"/>
          </a:xfrm>
          <a:prstGeom prst="roundRect">
            <a:avLst>
              <a:gd name="adj" fmla="val 11622"/>
            </a:avLst>
          </a:prstGeom>
          <a:solidFill>
            <a:srgbClr val="FFFFFF"/>
          </a:solidFill>
          <a:ln w="15875">
            <a:solidFill>
              <a:srgbClr val="0B7A75"/>
            </a:solidFill>
            <a:prstDash val="solid"/>
          </a:ln>
        </p:spPr>
      </p:sp>
      <p:sp>
        <p:nvSpPr>
          <p:cNvPr id="24" name="auto:9:fade"/>
          <p:cNvSpPr txBox="1"/>
          <p:nvPr/>
        </p:nvSpPr>
        <p:spPr>
          <a:xfrm>
            <a:off x="994867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image @sha256</a:t>
            </a:r>
            <a:endParaRPr lang="en-US" sz="1200" dirty="0"/>
          </a:p>
        </p:txBody>
      </p:sp>
      <p:sp>
        <p:nvSpPr>
          <p:cNvPr id="25" name="auto:10:wipeD"/>
          <p:cNvSpPr/>
          <p:nvPr/>
        </p:nvSpPr>
        <p:spPr>
          <a:xfrm>
            <a:off x="9948672" y="4169664"/>
            <a:ext cx="1438656" cy="629412"/>
          </a:xfrm>
          <a:prstGeom prst="roundRect">
            <a:avLst>
              <a:gd name="adj" fmla="val 11622"/>
            </a:avLst>
          </a:prstGeom>
          <a:solidFill>
            <a:srgbClr val="FFFFFF"/>
          </a:solidFill>
          <a:ln w="15875">
            <a:solidFill>
              <a:srgbClr val="0B7A75"/>
            </a:solidFill>
            <a:prstDash val="solid"/>
          </a:ln>
        </p:spPr>
      </p:sp>
      <p:sp>
        <p:nvSpPr>
          <p:cNvPr id="26" name="auto:11:fade"/>
          <p:cNvSpPr txBox="1"/>
          <p:nvPr/>
        </p:nvSpPr>
        <p:spPr>
          <a:xfrm>
            <a:off x="994867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new 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Knative rolls it out</a:t>
            </a:r>
            <a:endParaRPr lang="en-US" sz="1200" dirty="0"/>
          </a:p>
        </p:txBody>
      </p:sp>
      <p:sp>
        <p:nvSpPr>
          <p:cNvPr id="27" name="auto:12:wipeD"/>
          <p:cNvSpPr/>
          <p:nvPr/>
        </p:nvSpPr>
        <p:spPr>
          <a:xfrm>
            <a:off x="6352032" y="4169664"/>
            <a:ext cx="1438656" cy="629412"/>
          </a:xfrm>
          <a:prstGeom prst="roundRect">
            <a:avLst>
              <a:gd name="adj" fmla="val 11622"/>
            </a:avLst>
          </a:prstGeom>
          <a:solidFill>
            <a:srgbClr val="FFFFFF"/>
          </a:solidFill>
          <a:ln w="15875">
            <a:solidFill>
              <a:srgbClr val="0B7A75"/>
            </a:solidFill>
            <a:prstDash val="solid"/>
          </a:ln>
        </p:spPr>
      </p:sp>
      <p:sp>
        <p:nvSpPr>
          <p:cNvPr id="28" name="auto:13:fade"/>
          <p:cNvSpPr txBox="1"/>
          <p:nvPr/>
        </p:nvSpPr>
        <p:spPr>
          <a:xfrm>
            <a:off x="635203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digest lives here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21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Portal &amp; the future</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A console, and a library for the next API.</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22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portal wires it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Next.js 16, server components</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Keycloak token stays server-side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SSO group is the project</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Forms are built from /info</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Live logs over SSE tickets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Airgap-native: no CDN, no fonts</a:t>
            </a:r>
            <a:endParaRPr lang="en-US" sz="1700" dirty="0"/>
          </a:p>
        </p:txBody>
      </p:sp>
      <p:sp>
        <p:nvSpPr>
          <p:cNvPr id="17" name="auto:0:wipeL"/>
          <p:cNvSpPr/>
          <p:nvPr/>
        </p:nvSpPr>
        <p:spPr>
          <a:xfrm>
            <a:off x="7700772" y="2865882"/>
            <a:ext cx="494538" cy="0"/>
          </a:xfrm>
          <a:prstGeom prst="line">
            <a:avLst/>
          </a:prstGeom>
          <a:noFill/>
          <a:ln w="15875">
            <a:solidFill>
              <a:srgbClr val="98A2B3"/>
            </a:solidFill>
            <a:prstDash val="solid"/>
            <a:tailEnd type="triangle"/>
          </a:ln>
        </p:spPr>
      </p:sp>
      <p:sp>
        <p:nvSpPr>
          <p:cNvPr id="18" name="auto:1:wipeL"/>
          <p:cNvSpPr/>
          <p:nvPr/>
        </p:nvSpPr>
        <p:spPr>
          <a:xfrm>
            <a:off x="9544050" y="2865882"/>
            <a:ext cx="494538" cy="0"/>
          </a:xfrm>
          <a:prstGeom prst="line">
            <a:avLst/>
          </a:prstGeom>
          <a:noFill/>
          <a:ln w="15875">
            <a:solidFill>
              <a:srgbClr val="98A2B3"/>
            </a:solidFill>
            <a:prstDash val="solid"/>
            <a:tailEnd type="triangle"/>
          </a:ln>
        </p:spPr>
      </p:sp>
      <p:sp>
        <p:nvSpPr>
          <p:cNvPr id="19" name="auto:2:wipeL"/>
          <p:cNvSpPr/>
          <p:nvPr/>
        </p:nvSpPr>
        <p:spPr>
          <a:xfrm>
            <a:off x="8869680" y="3180588"/>
            <a:ext cx="0" cy="899160"/>
          </a:xfrm>
          <a:prstGeom prst="line">
            <a:avLst/>
          </a:prstGeom>
          <a:noFill/>
          <a:ln w="15875">
            <a:solidFill>
              <a:srgbClr val="98A2B3"/>
            </a:solidFill>
            <a:prstDash val="dash"/>
            <a:tailEnd type="triangle"/>
          </a:ln>
        </p:spPr>
      </p:sp>
      <p:sp>
        <p:nvSpPr>
          <p:cNvPr id="20" name="auto:3:wipeL"/>
          <p:cNvSpPr/>
          <p:nvPr/>
        </p:nvSpPr>
        <p:spPr>
          <a:xfrm flipV="1">
            <a:off x="7700772" y="2865882"/>
            <a:ext cx="2337816" cy="1528572"/>
          </a:xfrm>
          <a:prstGeom prst="line">
            <a:avLst/>
          </a:prstGeom>
          <a:noFill/>
          <a:ln w="15875">
            <a:solidFill>
              <a:srgbClr val="98A2B3"/>
            </a:solidFill>
            <a:prstDash val="dash"/>
            <a:tailEnd type="triangle"/>
          </a:ln>
        </p:spPr>
      </p:sp>
      <p:sp>
        <p:nvSpPr>
          <p:cNvPr id="21" name="auto:4:wipeL"/>
          <p:cNvSpPr/>
          <p:nvPr/>
        </p:nvSpPr>
        <p:spPr>
          <a:xfrm>
            <a:off x="7026402" y="3180588"/>
            <a:ext cx="0" cy="899160"/>
          </a:xfrm>
          <a:prstGeom prst="line">
            <a:avLst/>
          </a:prstGeom>
          <a:noFill/>
          <a:ln w="15875">
            <a:solidFill>
              <a:srgbClr val="98A2B3"/>
            </a:solidFill>
            <a:prstDash val="dash"/>
            <a:tailEnd type="triangle"/>
          </a:ln>
        </p:spPr>
      </p:sp>
      <p:sp>
        <p:nvSpPr>
          <p:cNvPr id="22" name="auto:5:wipeD"/>
          <p:cNvSpPr/>
          <p:nvPr/>
        </p:nvSpPr>
        <p:spPr>
          <a:xfrm>
            <a:off x="6352032" y="2551176"/>
            <a:ext cx="1348740" cy="629412"/>
          </a:xfrm>
          <a:prstGeom prst="roundRect">
            <a:avLst>
              <a:gd name="adj" fmla="val 11622"/>
            </a:avLst>
          </a:prstGeom>
          <a:solidFill>
            <a:srgbClr val="FFFFFF"/>
          </a:solidFill>
          <a:ln w="15875">
            <a:solidFill>
              <a:srgbClr val="0B7A75"/>
            </a:solidFill>
            <a:prstDash val="solid"/>
          </a:ln>
        </p:spPr>
      </p:sp>
      <p:sp>
        <p:nvSpPr>
          <p:cNvPr id="23" name="auto:6:fade"/>
          <p:cNvSpPr txBox="1"/>
          <p:nvPr/>
        </p:nvSpPr>
        <p:spPr>
          <a:xfrm>
            <a:off x="6352032"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Browser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React 19</a:t>
            </a:r>
            <a:endParaRPr lang="en-US" sz="1200" dirty="0"/>
          </a:p>
        </p:txBody>
      </p:sp>
      <p:sp>
        <p:nvSpPr>
          <p:cNvPr id="24" name="auto:7:wipeD"/>
          <p:cNvSpPr/>
          <p:nvPr/>
        </p:nvSpPr>
        <p:spPr>
          <a:xfrm>
            <a:off x="8195310" y="2551176"/>
            <a:ext cx="1348740" cy="629412"/>
          </a:xfrm>
          <a:prstGeom prst="roundRect">
            <a:avLst>
              <a:gd name="adj" fmla="val 11622"/>
            </a:avLst>
          </a:prstGeom>
          <a:solidFill>
            <a:srgbClr val="FFFFFF"/>
          </a:solidFill>
          <a:ln w="22225">
            <a:solidFill>
              <a:srgbClr val="E4572E"/>
            </a:solidFill>
            <a:prstDash val="solid"/>
          </a:ln>
        </p:spPr>
      </p:sp>
      <p:sp>
        <p:nvSpPr>
          <p:cNvPr id="25" name="auto:8:fade"/>
          <p:cNvSpPr txBox="1"/>
          <p:nvPr/>
        </p:nvSpPr>
        <p:spPr>
          <a:xfrm>
            <a:off x="8195310"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Portal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 actions</a:t>
            </a:r>
            <a:endParaRPr lang="en-US" sz="1200" dirty="0"/>
          </a:p>
        </p:txBody>
      </p:sp>
      <p:sp>
        <p:nvSpPr>
          <p:cNvPr id="26" name="auto:9:wipeD"/>
          <p:cNvSpPr/>
          <p:nvPr/>
        </p:nvSpPr>
        <p:spPr>
          <a:xfrm>
            <a:off x="10038588" y="2551176"/>
            <a:ext cx="1348740" cy="629412"/>
          </a:xfrm>
          <a:prstGeom prst="roundRect">
            <a:avLst>
              <a:gd name="adj" fmla="val 11622"/>
            </a:avLst>
          </a:prstGeom>
          <a:solidFill>
            <a:srgbClr val="FFFFFF"/>
          </a:solidFill>
          <a:ln w="15875">
            <a:solidFill>
              <a:srgbClr val="0B7A75"/>
            </a:solidFill>
            <a:prstDash val="solid"/>
          </a:ln>
        </p:spPr>
      </p:sp>
      <p:sp>
        <p:nvSpPr>
          <p:cNvPr id="27" name="auto:10:fade"/>
          <p:cNvSpPr txBox="1"/>
          <p:nvPr/>
        </p:nvSpPr>
        <p:spPr>
          <a:xfrm>
            <a:off x="10038588"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Serverless 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/api/serverless/v1</a:t>
            </a:r>
            <a:endParaRPr lang="en-US" sz="1200" dirty="0"/>
          </a:p>
        </p:txBody>
      </p:sp>
      <p:sp>
        <p:nvSpPr>
          <p:cNvPr id="28" name="auto:11:wipeD"/>
          <p:cNvSpPr/>
          <p:nvPr/>
        </p:nvSpPr>
        <p:spPr>
          <a:xfrm>
            <a:off x="8195310" y="4079748"/>
            <a:ext cx="1348740" cy="629412"/>
          </a:xfrm>
          <a:prstGeom prst="roundRect">
            <a:avLst>
              <a:gd name="adj" fmla="val 11622"/>
            </a:avLst>
          </a:prstGeom>
          <a:solidFill>
            <a:srgbClr val="FFFFFF"/>
          </a:solidFill>
          <a:ln w="15875">
            <a:solidFill>
              <a:srgbClr val="0B7A75"/>
            </a:solidFill>
            <a:prstDash val="solid"/>
          </a:ln>
        </p:spPr>
      </p:sp>
      <p:sp>
        <p:nvSpPr>
          <p:cNvPr id="29" name="auto:12:fade"/>
          <p:cNvSpPr txBox="1"/>
          <p:nvPr/>
        </p:nvSpPr>
        <p:spPr>
          <a:xfrm>
            <a:off x="8195310"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Keycloak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OIDC, groups claim</a:t>
            </a:r>
            <a:endParaRPr lang="en-US" sz="1200" dirty="0"/>
          </a:p>
        </p:txBody>
      </p:sp>
      <p:sp>
        <p:nvSpPr>
          <p:cNvPr id="30" name="auto:13:wipeD"/>
          <p:cNvSpPr/>
          <p:nvPr/>
        </p:nvSpPr>
        <p:spPr>
          <a:xfrm>
            <a:off x="6352032" y="4079748"/>
            <a:ext cx="1348740" cy="629412"/>
          </a:xfrm>
          <a:prstGeom prst="roundRect">
            <a:avLst>
              <a:gd name="adj" fmla="val 11622"/>
            </a:avLst>
          </a:prstGeom>
          <a:solidFill>
            <a:srgbClr val="FFFFFF"/>
          </a:solidFill>
          <a:ln w="15875">
            <a:solidFill>
              <a:srgbClr val="0B7A75"/>
            </a:solidFill>
            <a:prstDash val="solid"/>
          </a:ln>
        </p:spPr>
      </p:sp>
      <p:sp>
        <p:nvSpPr>
          <p:cNvPr id="31" name="auto:14:fade"/>
          <p:cNvSpPr txBox="1"/>
          <p:nvPr/>
        </p:nvSpPr>
        <p:spPr>
          <a:xfrm>
            <a:off x="6352032"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?ticket=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60 s, one path</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23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left)">
                                      <p:cBhvr>
                                        <p:cTn id="16" dur="350"/>
                                        <p:tgtEl>
                                          <p:spTgt spid="21"/>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350"/>
                                        <p:tgtEl>
                                          <p:spTgt spid="22"/>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wipe(down)">
                                      <p:cBhvr>
                                        <p:cTn id="25" dur="350"/>
                                        <p:tgtEl>
                                          <p:spTgt spid="24"/>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wipe(down)">
                                      <p:cBhvr>
                                        <p:cTn id="31" dur="350"/>
                                        <p:tgtEl>
                                          <p:spTgt spid="26"/>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350"/>
                                        <p:tgtEl>
                                          <p:spTgt spid="28"/>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wipe(down)">
                                      <p:cBhvr>
                                        <p:cTn id="43" dur="350"/>
                                        <p:tgtEl>
                                          <p:spTgt spid="30"/>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par>
                    <p:cTn id="96" fill="hold">
                      <p:stCondLst>
                        <p:cond delay="indefinite"/>
                      </p:stCondLst>
                      <p:childTnLst>
                        <p:par>
                          <p:cTn id="97" fill="hold">
                            <p:stCondLst>
                              <p:cond delay="0"/>
                            </p:stCondLst>
                            <p:childTnLst>
                              <p:par>
                                <p:cTn id="92" presetID="22" presetClass="entr" presetSubtype="8" fill="hold" grpId="0" nodeType="clickEffect">
                                  <p:stCondLst>
                                    <p:cond delay="0"/>
                                  </p:stCondLst>
                                  <p:childTnLst>
                                    <p:set>
                                      <p:cBhvr>
                                        <p:cTn id="90" dur="1" fill="hold">
                                          <p:stCondLst>
                                            <p:cond delay="0"/>
                                          </p:stCondLst>
                                        </p:cTn>
                                        <p:tgtEl>
                                          <p:spTgt spid="15"/>
                                        </p:tgtEl>
                                        <p:attrNameLst>
                                          <p:attrName>style.visibility</p:attrName>
                                        </p:attrNameLst>
                                      </p:cBhvr>
                                      <p:to>
                                        <p:strVal val="visible"/>
                                      </p:to>
                                    </p:set>
                                    <p:animEffect transition="in" filter="wipe(left)">
                                      <p:cBhvr>
                                        <p:cTn id="91" dur="350"/>
                                        <p:tgtEl>
                                          <p:spTgt spid="15"/>
                                        </p:tgtEl>
                                      </p:cBhvr>
                                    </p:animEffect>
                                  </p:childTnLst>
                                </p:cTn>
                              </p:par>
                              <p:par>
                                <p:cTn id="95" presetID="22" presetClass="entr" presetSubtype="8" fill="hold" grpId="0" nodeType="withEffect">
                                  <p:stCondLst>
                                    <p:cond delay="0"/>
                                  </p:stCondLst>
                                  <p:childTnLst>
                                    <p:set>
                                      <p:cBhvr>
                                        <p:cTn id="93" dur="1" fill="hold">
                                          <p:stCondLst>
                                            <p:cond delay="0"/>
                                          </p:stCondLst>
                                        </p:cTn>
                                        <p:tgtEl>
                                          <p:spTgt spid="16"/>
                                        </p:tgtEl>
                                        <p:attrNameLst>
                                          <p:attrName>style.visibility</p:attrName>
                                        </p:attrNameLst>
                                      </p:cBhvr>
                                      <p:to>
                                        <p:strVal val="visible"/>
                                      </p:to>
                                    </p:set>
                                    <p:animEffect transition="in" filter="wipe(left)">
                                      <p:cBhvr>
                                        <p:cTn id="94"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console, not a Serverless UI</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is live, Storage is next</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offering is data, not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shell is already generic</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Next: shared layer, generated client</a:t>
            </a:r>
            <a:endParaRPr lang="en-US" sz="1900" dirty="0"/>
          </a:p>
        </p:txBody>
      </p:sp>
      <p:sp>
        <p:nvSpPr>
          <p:cNvPr id="13" name="auto:0:wipeD"/>
          <p:cNvSpPr/>
          <p:nvPr/>
        </p:nvSpPr>
        <p:spPr>
          <a:xfrm>
            <a:off x="6172200" y="2286000"/>
            <a:ext cx="1261872" cy="658368"/>
          </a:xfrm>
          <a:prstGeom prst="roundRect">
            <a:avLst>
              <a:gd name="adj" fmla="val 11111"/>
            </a:avLst>
          </a:prstGeom>
          <a:solidFill>
            <a:srgbClr val="F4F5F7"/>
          </a:solidFill>
          <a:ln w="12700">
            <a:solidFill>
              <a:srgbClr val="E4E7EC"/>
            </a:solidFill>
            <a:prstDash val="solid"/>
          </a:ln>
        </p:spPr>
      </p:sp>
      <p:sp>
        <p:nvSpPr>
          <p:cNvPr id="14" name="auto:1:fade"/>
          <p:cNvSpPr txBox="1"/>
          <p:nvPr/>
        </p:nvSpPr>
        <p:spPr>
          <a:xfrm>
            <a:off x="62819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Compute</a:t>
            </a:r>
            <a:endParaRPr lang="en-US" sz="1050" dirty="0"/>
          </a:p>
        </p:txBody>
      </p:sp>
      <p:sp>
        <p:nvSpPr>
          <p:cNvPr id="15" name="auto:2:wipeD"/>
          <p:cNvSpPr/>
          <p:nvPr/>
        </p:nvSpPr>
        <p:spPr>
          <a:xfrm>
            <a:off x="7543800" y="2286000"/>
            <a:ext cx="1261872" cy="658368"/>
          </a:xfrm>
          <a:prstGeom prst="roundRect">
            <a:avLst>
              <a:gd name="adj" fmla="val 11111"/>
            </a:avLst>
          </a:prstGeom>
          <a:solidFill>
            <a:srgbClr val="E4572E"/>
          </a:solidFill>
          <a:ln w="12700">
            <a:solidFill>
              <a:srgbClr val="E4572E"/>
            </a:solidFill>
            <a:prstDash val="solid"/>
          </a:ln>
        </p:spPr>
      </p:sp>
      <p:sp>
        <p:nvSpPr>
          <p:cNvPr id="16" name="auto:3:fade"/>
          <p:cNvSpPr txBox="1"/>
          <p:nvPr/>
        </p:nvSpPr>
        <p:spPr>
          <a:xfrm>
            <a:off x="7653528" y="2286000"/>
            <a:ext cx="1042416"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Serverless</a:t>
            </a:r>
            <a:endParaRPr lang="en-US" sz="1050" dirty="0"/>
          </a:p>
        </p:txBody>
      </p:sp>
      <p:sp>
        <p:nvSpPr>
          <p:cNvPr id="17" name="auto:4:fade"/>
          <p:cNvSpPr txBox="1"/>
          <p:nvPr/>
        </p:nvSpPr>
        <p:spPr>
          <a:xfrm>
            <a:off x="8257032" y="2340864"/>
            <a:ext cx="457200" cy="182880"/>
          </a:xfrm>
          <a:prstGeom prst="rect">
            <a:avLst/>
          </a:prstGeom>
          <a:noFill/>
          <a:ln/>
        </p:spPr>
        <p:txBody>
          <a:bodyPr wrap="square" lIns="0" tIns="0" rIns="0" bIns="0" rtlCol="0" anchor="ctr"/>
          <a:lstStyle/>
          <a:p>
            <a:pPr algn="r" indent="0" marL="0">
              <a:buNone/>
            </a:pPr>
            <a:r>
              <a:rPr lang="en-US" sz="750" b="1" dirty="0">
                <a:solidFill>
                  <a:srgbClr val="FFFFFF"/>
                </a:solidFill>
                <a:latin typeface="Courier New" pitchFamily="34" charset="0"/>
                <a:ea typeface="Courier New" pitchFamily="34" charset="-122"/>
                <a:cs typeface="Courier New" pitchFamily="34" charset="-120"/>
              </a:rPr>
              <a:t>LIVE</a:t>
            </a:r>
            <a:endParaRPr lang="en-US" sz="750" dirty="0"/>
          </a:p>
        </p:txBody>
      </p:sp>
      <p:sp>
        <p:nvSpPr>
          <p:cNvPr id="18" name="auto:5:wipeD"/>
          <p:cNvSpPr/>
          <p:nvPr/>
        </p:nvSpPr>
        <p:spPr>
          <a:xfrm>
            <a:off x="8915400" y="2286000"/>
            <a:ext cx="1261872" cy="658368"/>
          </a:xfrm>
          <a:prstGeom prst="roundRect">
            <a:avLst>
              <a:gd name="adj" fmla="val 11111"/>
            </a:avLst>
          </a:prstGeom>
          <a:solidFill>
            <a:srgbClr val="F4F5F7"/>
          </a:solidFill>
          <a:ln w="12700">
            <a:solidFill>
              <a:srgbClr val="E4E7EC"/>
            </a:solidFill>
            <a:prstDash val="solid"/>
          </a:ln>
        </p:spPr>
      </p:sp>
      <p:sp>
        <p:nvSpPr>
          <p:cNvPr id="19" name="auto:6:fade"/>
          <p:cNvSpPr txBox="1"/>
          <p:nvPr/>
        </p:nvSpPr>
        <p:spPr>
          <a:xfrm>
            <a:off x="90251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Databases</a:t>
            </a:r>
            <a:endParaRPr lang="en-US" sz="1050" dirty="0"/>
          </a:p>
        </p:txBody>
      </p:sp>
      <p:sp>
        <p:nvSpPr>
          <p:cNvPr id="20" name="auto:7:wipeD"/>
          <p:cNvSpPr/>
          <p:nvPr/>
        </p:nvSpPr>
        <p:spPr>
          <a:xfrm>
            <a:off x="10287000" y="2286000"/>
            <a:ext cx="1261872" cy="658368"/>
          </a:xfrm>
          <a:prstGeom prst="roundRect">
            <a:avLst>
              <a:gd name="adj" fmla="val 11111"/>
            </a:avLst>
          </a:prstGeom>
          <a:solidFill>
            <a:srgbClr val="F4F5F7"/>
          </a:solidFill>
          <a:ln w="12700">
            <a:solidFill>
              <a:srgbClr val="E4E7EC"/>
            </a:solidFill>
            <a:prstDash val="solid"/>
          </a:ln>
        </p:spPr>
      </p:sp>
      <p:sp>
        <p:nvSpPr>
          <p:cNvPr id="21" name="auto:8:fade"/>
          <p:cNvSpPr txBox="1"/>
          <p:nvPr/>
        </p:nvSpPr>
        <p:spPr>
          <a:xfrm>
            <a:off x="103967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Networking</a:t>
            </a:r>
            <a:endParaRPr lang="en-US" sz="1050" dirty="0"/>
          </a:p>
        </p:txBody>
      </p:sp>
      <p:sp>
        <p:nvSpPr>
          <p:cNvPr id="22" name="auto:9:wipeD"/>
          <p:cNvSpPr/>
          <p:nvPr/>
        </p:nvSpPr>
        <p:spPr>
          <a:xfrm>
            <a:off x="6172200" y="3054096"/>
            <a:ext cx="1261872" cy="658368"/>
          </a:xfrm>
          <a:prstGeom prst="roundRect">
            <a:avLst>
              <a:gd name="adj" fmla="val 11111"/>
            </a:avLst>
          </a:prstGeom>
          <a:solidFill>
            <a:srgbClr val="FFFFFF"/>
          </a:solidFill>
          <a:ln w="12700">
            <a:solidFill>
              <a:srgbClr val="E4572E"/>
            </a:solidFill>
            <a:prstDash val="solid"/>
          </a:ln>
        </p:spPr>
      </p:sp>
      <p:sp>
        <p:nvSpPr>
          <p:cNvPr id="23" name="auto:10:fade"/>
          <p:cNvSpPr txBox="1"/>
          <p:nvPr/>
        </p:nvSpPr>
        <p:spPr>
          <a:xfrm>
            <a:off x="6281928" y="3054096"/>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Object Storage</a:t>
            </a:r>
            <a:endParaRPr lang="en-US" sz="1050" dirty="0"/>
          </a:p>
        </p:txBody>
      </p:sp>
      <p:sp>
        <p:nvSpPr>
          <p:cNvPr id="24" name="auto:11:fade"/>
          <p:cNvSpPr txBox="1"/>
          <p:nvPr/>
        </p:nvSpPr>
        <p:spPr>
          <a:xfrm>
            <a:off x="6885432" y="3108960"/>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25" name="auto:12:wipeD"/>
          <p:cNvSpPr/>
          <p:nvPr/>
        </p:nvSpPr>
        <p:spPr>
          <a:xfrm>
            <a:off x="7543800" y="3054096"/>
            <a:ext cx="1261872" cy="658368"/>
          </a:xfrm>
          <a:prstGeom prst="roundRect">
            <a:avLst>
              <a:gd name="adj" fmla="val 11111"/>
            </a:avLst>
          </a:prstGeom>
          <a:solidFill>
            <a:srgbClr val="F4F5F7"/>
          </a:solidFill>
          <a:ln w="12700">
            <a:solidFill>
              <a:srgbClr val="E4E7EC"/>
            </a:solidFill>
            <a:prstDash val="solid"/>
          </a:ln>
        </p:spPr>
      </p:sp>
      <p:sp>
        <p:nvSpPr>
          <p:cNvPr id="26" name="auto:13:fade"/>
          <p:cNvSpPr txBox="1"/>
          <p:nvPr/>
        </p:nvSpPr>
        <p:spPr>
          <a:xfrm>
            <a:off x="76535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Observability</a:t>
            </a:r>
            <a:endParaRPr lang="en-US" sz="1050" dirty="0"/>
          </a:p>
        </p:txBody>
      </p:sp>
      <p:sp>
        <p:nvSpPr>
          <p:cNvPr id="27" name="auto:14:wipeD"/>
          <p:cNvSpPr/>
          <p:nvPr/>
        </p:nvSpPr>
        <p:spPr>
          <a:xfrm>
            <a:off x="8915400" y="3054096"/>
            <a:ext cx="1261872" cy="658368"/>
          </a:xfrm>
          <a:prstGeom prst="roundRect">
            <a:avLst>
              <a:gd name="adj" fmla="val 11111"/>
            </a:avLst>
          </a:prstGeom>
          <a:solidFill>
            <a:srgbClr val="F4F5F7"/>
          </a:solidFill>
          <a:ln w="12700">
            <a:solidFill>
              <a:srgbClr val="E4E7EC"/>
            </a:solidFill>
            <a:prstDash val="solid"/>
          </a:ln>
        </p:spPr>
      </p:sp>
      <p:sp>
        <p:nvSpPr>
          <p:cNvPr id="28" name="auto:15:fade"/>
          <p:cNvSpPr txBox="1"/>
          <p:nvPr/>
        </p:nvSpPr>
        <p:spPr>
          <a:xfrm>
            <a:off x="90251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Integration</a:t>
            </a:r>
            <a:endParaRPr lang="en-US" sz="1050" dirty="0"/>
          </a:p>
        </p:txBody>
      </p:sp>
      <p:sp>
        <p:nvSpPr>
          <p:cNvPr id="29" name="auto:16:wipeD"/>
          <p:cNvSpPr/>
          <p:nvPr/>
        </p:nvSpPr>
        <p:spPr>
          <a:xfrm>
            <a:off x="10287000" y="3054096"/>
            <a:ext cx="1261872" cy="658368"/>
          </a:xfrm>
          <a:prstGeom prst="roundRect">
            <a:avLst>
              <a:gd name="adj" fmla="val 11111"/>
            </a:avLst>
          </a:prstGeom>
          <a:solidFill>
            <a:srgbClr val="F4F5F7"/>
          </a:solidFill>
          <a:ln w="12700">
            <a:solidFill>
              <a:srgbClr val="E4E7EC"/>
            </a:solidFill>
            <a:prstDash val="solid"/>
          </a:ln>
        </p:spPr>
      </p:sp>
      <p:sp>
        <p:nvSpPr>
          <p:cNvPr id="30" name="auto:17:fade"/>
          <p:cNvSpPr txBox="1"/>
          <p:nvPr/>
        </p:nvSpPr>
        <p:spPr>
          <a:xfrm>
            <a:off x="103967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Analytics</a:t>
            </a:r>
            <a:endParaRPr lang="en-US" sz="1050" dirty="0"/>
          </a:p>
        </p:txBody>
      </p:sp>
      <p:sp>
        <p:nvSpPr>
          <p:cNvPr id="31" name="auto:18:wipeD"/>
          <p:cNvSpPr/>
          <p:nvPr/>
        </p:nvSpPr>
        <p:spPr>
          <a:xfrm>
            <a:off x="6172200" y="3822192"/>
            <a:ext cx="1261872" cy="658368"/>
          </a:xfrm>
          <a:prstGeom prst="roundRect">
            <a:avLst>
              <a:gd name="adj" fmla="val 11111"/>
            </a:avLst>
          </a:prstGeom>
          <a:solidFill>
            <a:srgbClr val="F4F5F7"/>
          </a:solidFill>
          <a:ln w="12700">
            <a:solidFill>
              <a:srgbClr val="E4E7EC"/>
            </a:solidFill>
            <a:prstDash val="solid"/>
          </a:ln>
        </p:spPr>
      </p:sp>
      <p:sp>
        <p:nvSpPr>
          <p:cNvPr id="32" name="auto:19:fade"/>
          <p:cNvSpPr txBox="1"/>
          <p:nvPr/>
        </p:nvSpPr>
        <p:spPr>
          <a:xfrm>
            <a:off x="62819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Dev Tools</a:t>
            </a:r>
            <a:endParaRPr lang="en-US" sz="1050" dirty="0"/>
          </a:p>
        </p:txBody>
      </p:sp>
      <p:sp>
        <p:nvSpPr>
          <p:cNvPr id="33" name="auto:20:wipeD"/>
          <p:cNvSpPr/>
          <p:nvPr/>
        </p:nvSpPr>
        <p:spPr>
          <a:xfrm>
            <a:off x="7543800" y="3822192"/>
            <a:ext cx="1261872" cy="658368"/>
          </a:xfrm>
          <a:prstGeom prst="roundRect">
            <a:avLst>
              <a:gd name="adj" fmla="val 11111"/>
            </a:avLst>
          </a:prstGeom>
          <a:solidFill>
            <a:srgbClr val="F4F5F7"/>
          </a:solidFill>
          <a:ln w="12700">
            <a:solidFill>
              <a:srgbClr val="E4E7EC"/>
            </a:solidFill>
            <a:prstDash val="solid"/>
          </a:ln>
        </p:spPr>
      </p:sp>
      <p:sp>
        <p:nvSpPr>
          <p:cNvPr id="34" name="auto:21:fade"/>
          <p:cNvSpPr txBox="1"/>
          <p:nvPr/>
        </p:nvSpPr>
        <p:spPr>
          <a:xfrm>
            <a:off x="76535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Machine Learning</a:t>
            </a:r>
            <a:endParaRPr lang="en-US" sz="1050" dirty="0"/>
          </a:p>
        </p:txBody>
      </p:sp>
      <p:sp>
        <p:nvSpPr>
          <p:cNvPr id="35" name="auto:22:wipeD"/>
          <p:cNvSpPr/>
          <p:nvPr/>
        </p:nvSpPr>
        <p:spPr>
          <a:xfrm>
            <a:off x="8915400" y="3822192"/>
            <a:ext cx="1261872" cy="658368"/>
          </a:xfrm>
          <a:prstGeom prst="roundRect">
            <a:avLst>
              <a:gd name="adj" fmla="val 11111"/>
            </a:avLst>
          </a:prstGeom>
          <a:solidFill>
            <a:srgbClr val="F4F5F7"/>
          </a:solidFill>
          <a:ln w="12700">
            <a:solidFill>
              <a:srgbClr val="E4E7EC"/>
            </a:solidFill>
            <a:prstDash val="solid"/>
          </a:ln>
        </p:spPr>
      </p:sp>
      <p:sp>
        <p:nvSpPr>
          <p:cNvPr id="36" name="auto:23:fade"/>
          <p:cNvSpPr txBox="1"/>
          <p:nvPr/>
        </p:nvSpPr>
        <p:spPr>
          <a:xfrm>
            <a:off x="90251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Security</a:t>
            </a:r>
            <a:endParaRPr lang="en-US" sz="1050" dirty="0"/>
          </a:p>
        </p:txBody>
      </p:sp>
      <p:sp>
        <p:nvSpPr>
          <p:cNvPr id="37" name="auto:24:wipeD"/>
          <p:cNvSpPr/>
          <p:nvPr/>
        </p:nvSpPr>
        <p:spPr>
          <a:xfrm>
            <a:off x="10287000" y="3822192"/>
            <a:ext cx="1261872" cy="658368"/>
          </a:xfrm>
          <a:prstGeom prst="roundRect">
            <a:avLst>
              <a:gd name="adj" fmla="val 11111"/>
            </a:avLst>
          </a:prstGeom>
          <a:solidFill>
            <a:srgbClr val="F4F5F7"/>
          </a:solidFill>
          <a:ln w="12700">
            <a:solidFill>
              <a:srgbClr val="E4E7EC"/>
            </a:solidFill>
            <a:prstDash val="solid"/>
          </a:ln>
        </p:spPr>
      </p:sp>
      <p:sp>
        <p:nvSpPr>
          <p:cNvPr id="38" name="auto:25:fade"/>
          <p:cNvSpPr txBox="1"/>
          <p:nvPr/>
        </p:nvSpPr>
        <p:spPr>
          <a:xfrm>
            <a:off x="103967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…as data</a:t>
            </a:r>
            <a:endParaRPr lang="en-US" sz="10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24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1" fill="hold">
                      <p:stCondLst>
                        <p:cond delay="indefinite"/>
                        <p:cond evt="onBegin" delay="0">
                          <p:tn val="2"/>
                        </p:cond>
                      </p:stCondLst>
                      <p:childTnLst>
                        <p:par>
                          <p:cTn id="82"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18"/>
                                        </p:tgtEl>
                                        <p:attrNameLst>
                                          <p:attrName>style.visibility</p:attrName>
                                        </p:attrNameLst>
                                      </p:cBhvr>
                                      <p:to>
                                        <p:strVal val="visible"/>
                                      </p:to>
                                    </p:set>
                                    <p:animEffect transition="in" filter="wipe(down)">
                                      <p:cBhvr>
                                        <p:cTn id="19" dur="350"/>
                                        <p:tgtEl>
                                          <p:spTgt spid="18"/>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0"/>
                                        </p:tgtEl>
                                        <p:attrNameLst>
                                          <p:attrName>style.visibility</p:attrName>
                                        </p:attrNameLst>
                                      </p:cBhvr>
                                      <p:to>
                                        <p:strVal val="visible"/>
                                      </p:to>
                                    </p:set>
                                    <p:animEffect transition="in" filter="wipe(down)">
                                      <p:cBhvr>
                                        <p:cTn id="25" dur="350"/>
                                        <p:tgtEl>
                                          <p:spTgt spid="20"/>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00"/>
                                        <p:tgtEl>
                                          <p:spTgt spid="21"/>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2"/>
                                        </p:tgtEl>
                                        <p:attrNameLst>
                                          <p:attrName>style.visibility</p:attrName>
                                        </p:attrNameLst>
                                      </p:cBhvr>
                                      <p:to>
                                        <p:strVal val="visible"/>
                                      </p:to>
                                    </p:set>
                                    <p:animEffect transition="in" filter="wipe(down)">
                                      <p:cBhvr>
                                        <p:cTn id="31" dur="350"/>
                                        <p:tgtEl>
                                          <p:spTgt spid="22"/>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5"/>
                                        </p:tgtEl>
                                        <p:attrNameLst>
                                          <p:attrName>style.visibility</p:attrName>
                                        </p:attrNameLst>
                                      </p:cBhvr>
                                      <p:to>
                                        <p:strVal val="visible"/>
                                      </p:to>
                                    </p:set>
                                    <p:animEffect transition="in" filter="wipe(down)">
                                      <p:cBhvr>
                                        <p:cTn id="40" dur="350"/>
                                        <p:tgtEl>
                                          <p:spTgt spid="25"/>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7"/>
                                        </p:tgtEl>
                                        <p:attrNameLst>
                                          <p:attrName>style.visibility</p:attrName>
                                        </p:attrNameLst>
                                      </p:cBhvr>
                                      <p:to>
                                        <p:strVal val="visible"/>
                                      </p:to>
                                    </p:set>
                                    <p:animEffect transition="in" filter="wipe(down)">
                                      <p:cBhvr>
                                        <p:cTn id="46" dur="350"/>
                                        <p:tgtEl>
                                          <p:spTgt spid="27"/>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29"/>
                                        </p:tgtEl>
                                        <p:attrNameLst>
                                          <p:attrName>style.visibility</p:attrName>
                                        </p:attrNameLst>
                                      </p:cBhvr>
                                      <p:to>
                                        <p:strVal val="visible"/>
                                      </p:to>
                                    </p:set>
                                    <p:animEffect transition="in" filter="wipe(down)">
                                      <p:cBhvr>
                                        <p:cTn id="52" dur="350"/>
                                        <p:tgtEl>
                                          <p:spTgt spid="29"/>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1"/>
                                        </p:tgtEl>
                                        <p:attrNameLst>
                                          <p:attrName>style.visibility</p:attrName>
                                        </p:attrNameLst>
                                      </p:cBhvr>
                                      <p:to>
                                        <p:strVal val="visible"/>
                                      </p:to>
                                    </p:set>
                                    <p:animEffect transition="in" filter="wipe(down)">
                                      <p:cBhvr>
                                        <p:cTn id="58" dur="350"/>
                                        <p:tgtEl>
                                          <p:spTgt spid="31"/>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3"/>
                                        </p:tgtEl>
                                        <p:attrNameLst>
                                          <p:attrName>style.visibility</p:attrName>
                                        </p:attrNameLst>
                                      </p:cBhvr>
                                      <p:to>
                                        <p:strVal val="visible"/>
                                      </p:to>
                                    </p:set>
                                    <p:animEffect transition="in" filter="wipe(down)">
                                      <p:cBhvr>
                                        <p:cTn id="64" dur="350"/>
                                        <p:tgtEl>
                                          <p:spTgt spid="33"/>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5"/>
                                        </p:tgtEl>
                                        <p:attrNameLst>
                                          <p:attrName>style.visibility</p:attrName>
                                        </p:attrNameLst>
                                      </p:cBhvr>
                                      <p:to>
                                        <p:strVal val="visible"/>
                                      </p:to>
                                    </p:set>
                                    <p:animEffect transition="in" filter="wipe(down)">
                                      <p:cBhvr>
                                        <p:cTn id="70" dur="350"/>
                                        <p:tgtEl>
                                          <p:spTgt spid="35"/>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7"/>
                                        </p:tgtEl>
                                        <p:attrNameLst>
                                          <p:attrName>style.visibility</p:attrName>
                                        </p:attrNameLst>
                                      </p:cBhvr>
                                      <p:to>
                                        <p:strVal val="visible"/>
                                      </p:to>
                                    </p:set>
                                    <p:animEffect transition="in" filter="wipe(down)">
                                      <p:cBhvr>
                                        <p:cTn id="76" dur="350"/>
                                        <p:tgtEl>
                                          <p:spTgt spid="37"/>
                                        </p:tgtEl>
                                      </p:cBhvr>
                                    </p:animEffect>
                                  </p:childTnLst>
                                </p:cTn>
                              </p:par>
                              <p:par>
                                <p:cTn id="80" presetID="10" presetClass="entr" presetSubtype="0" fill="hold" grpId="0" nodeType="withEffect">
                                  <p:stCondLst>
                                    <p:cond delay="200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childTnLst>
                          </p:cTn>
                        </p:par>
                      </p:childTnLst>
                    </p:cTn>
                  </p:par>
                  <p:par>
                    <p:cTn id="89" fill="hold">
                      <p:stCondLst>
                        <p:cond delay="indefinite"/>
                      </p:stCondLst>
                      <p:childTnLst>
                        <p:par>
                          <p:cTn id="90" fill="hold">
                            <p:stCondLst>
                              <p:cond delay="0"/>
                            </p:stCondLst>
                            <p:childTnLst>
                              <p:par>
                                <p:cTn id="85" presetID="22" presetClass="entr" presetSubtype="8" fill="hold" grpId="0" nodeType="clickEffect">
                                  <p:stCondLst>
                                    <p:cond delay="0"/>
                                  </p:stCondLst>
                                  <p:childTnLst>
                                    <p:set>
                                      <p:cBhvr>
                                        <p:cTn id="83" dur="1" fill="hold">
                                          <p:stCondLst>
                                            <p:cond delay="0"/>
                                          </p:stCondLst>
                                        </p:cTn>
                                        <p:tgtEl>
                                          <p:spTgt spid="5"/>
                                        </p:tgtEl>
                                        <p:attrNameLst>
                                          <p:attrName>style.visibility</p:attrName>
                                        </p:attrNameLst>
                                      </p:cBhvr>
                                      <p:to>
                                        <p:strVal val="visible"/>
                                      </p:to>
                                    </p:set>
                                    <p:animEffect transition="in" filter="wipe(left)">
                                      <p:cBhvr>
                                        <p:cTn id="84" dur="350"/>
                                        <p:tgtEl>
                                          <p:spTgt spid="5"/>
                                        </p:tgtEl>
                                      </p:cBhvr>
                                    </p:animEffect>
                                  </p:childTnLst>
                                </p:cTn>
                              </p:par>
                              <p:par>
                                <p:cTn id="88" presetID="22" presetClass="entr" presetSubtype="8" fill="hold" grpId="0" nodeType="withEffect">
                                  <p:stCondLst>
                                    <p:cond delay="0"/>
                                  </p:stCondLst>
                                  <p:childTnLst>
                                    <p:set>
                                      <p:cBhvr>
                                        <p:cTn id="86" dur="1" fill="hold">
                                          <p:stCondLst>
                                            <p:cond delay="0"/>
                                          </p:stCondLst>
                                        </p:cTn>
                                        <p:tgtEl>
                                          <p:spTgt spid="6"/>
                                        </p:tgtEl>
                                        <p:attrNameLst>
                                          <p:attrName>style.visibility</p:attrName>
                                        </p:attrNameLst>
                                      </p:cBhvr>
                                      <p:to>
                                        <p:strVal val="visible"/>
                                      </p:to>
                                    </p:set>
                                    <p:animEffect transition="in" filter="wipe(left)">
                                      <p:cBhvr>
                                        <p:cTn id="87" dur="350"/>
                                        <p:tgtEl>
                                          <p:spTgt spid="6"/>
                                        </p:tgtEl>
                                      </p:cBhvr>
                                    </p:animEffect>
                                  </p:childTnLst>
                                </p:cTn>
                              </p:par>
                            </p:childTnLst>
                          </p:cTn>
                        </p:par>
                      </p:childTnLst>
                    </p:cTn>
                  </p:par>
                  <p:par>
                    <p:cTn id="97" fill="hold">
                      <p:stCondLst>
                        <p:cond delay="indefinite"/>
                      </p:stCondLst>
                      <p:childTnLst>
                        <p:par>
                          <p:cTn id="98" fill="hold">
                            <p:stCondLst>
                              <p:cond delay="0"/>
                            </p:stCondLst>
                            <p:childTnLst>
                              <p:par>
                                <p:cTn id="93" presetID="22" presetClass="entr" presetSubtype="8" fill="hold" grpId="0" nodeType="clickEffect">
                                  <p:stCondLst>
                                    <p:cond delay="0"/>
                                  </p:stCondLst>
                                  <p:childTnLst>
                                    <p:set>
                                      <p:cBhvr>
                                        <p:cTn id="91" dur="1" fill="hold">
                                          <p:stCondLst>
                                            <p:cond delay="0"/>
                                          </p:stCondLst>
                                        </p:cTn>
                                        <p:tgtEl>
                                          <p:spTgt spid="7"/>
                                        </p:tgtEl>
                                        <p:attrNameLst>
                                          <p:attrName>style.visibility</p:attrName>
                                        </p:attrNameLst>
                                      </p:cBhvr>
                                      <p:to>
                                        <p:strVal val="visible"/>
                                      </p:to>
                                    </p:set>
                                    <p:animEffect transition="in" filter="wipe(left)">
                                      <p:cBhvr>
                                        <p:cTn id="92" dur="350"/>
                                        <p:tgtEl>
                                          <p:spTgt spid="7"/>
                                        </p:tgtEl>
                                      </p:cBhvr>
                                    </p:animEffect>
                                  </p:childTnLst>
                                </p:cTn>
                              </p:par>
                              <p:par>
                                <p:cTn id="96" presetID="22" presetClass="entr" presetSubtype="8" fill="hold" grpId="0" nodeType="withEffect">
                                  <p:stCondLst>
                                    <p:cond delay="0"/>
                                  </p:stCondLst>
                                  <p:childTnLst>
                                    <p:set>
                                      <p:cBhvr>
                                        <p:cTn id="94" dur="1" fill="hold">
                                          <p:stCondLst>
                                            <p:cond delay="0"/>
                                          </p:stCondLst>
                                        </p:cTn>
                                        <p:tgtEl>
                                          <p:spTgt spid="8"/>
                                        </p:tgtEl>
                                        <p:attrNameLst>
                                          <p:attrName>style.visibility</p:attrName>
                                        </p:attrNameLst>
                                      </p:cBhvr>
                                      <p:to>
                                        <p:strVal val="visible"/>
                                      </p:to>
                                    </p:set>
                                    <p:animEffect transition="in" filter="wipe(left)">
                                      <p:cBhvr>
                                        <p:cTn id="95" dur="350"/>
                                        <p:tgtEl>
                                          <p:spTgt spid="8"/>
                                        </p:tgtEl>
                                      </p:cBhvr>
                                    </p:animEffect>
                                  </p:childTnLst>
                                </p:cTn>
                              </p:par>
                            </p:childTnLst>
                          </p:cTn>
                        </p:par>
                      </p:childTnLst>
                    </p:cTn>
                  </p:par>
                  <p:par>
                    <p:cTn id="105" fill="hold">
                      <p:stCondLst>
                        <p:cond delay="indefinite"/>
                      </p:stCondLst>
                      <p:childTnLst>
                        <p:par>
                          <p:cTn id="106" fill="hold">
                            <p:stCondLst>
                              <p:cond delay="0"/>
                            </p:stCondLst>
                            <p:childTnLst>
                              <p:par>
                                <p:cTn id="101" presetID="22" presetClass="entr" presetSubtype="8" fill="hold" grpId="0" nodeType="clickEffect">
                                  <p:stCondLst>
                                    <p:cond delay="0"/>
                                  </p:stCondLst>
                                  <p:childTnLst>
                                    <p:set>
                                      <p:cBhvr>
                                        <p:cTn id="99" dur="1" fill="hold">
                                          <p:stCondLst>
                                            <p:cond delay="0"/>
                                          </p:stCondLst>
                                        </p:cTn>
                                        <p:tgtEl>
                                          <p:spTgt spid="9"/>
                                        </p:tgtEl>
                                        <p:attrNameLst>
                                          <p:attrName>style.visibility</p:attrName>
                                        </p:attrNameLst>
                                      </p:cBhvr>
                                      <p:to>
                                        <p:strVal val="visible"/>
                                      </p:to>
                                    </p:set>
                                    <p:animEffect transition="in" filter="wipe(left)">
                                      <p:cBhvr>
                                        <p:cTn id="100" dur="350"/>
                                        <p:tgtEl>
                                          <p:spTgt spid="9"/>
                                        </p:tgtEl>
                                      </p:cBhvr>
                                    </p:animEffect>
                                  </p:childTnLst>
                                </p:cTn>
                              </p:par>
                              <p:par>
                                <p:cTn id="104" presetID="22" presetClass="entr" presetSubtype="8" fill="hold" grpId="0" nodeType="withEffect">
                                  <p:stCondLst>
                                    <p:cond delay="0"/>
                                  </p:stCondLst>
                                  <p:childTnLst>
                                    <p:set>
                                      <p:cBhvr>
                                        <p:cTn id="102" dur="1" fill="hold">
                                          <p:stCondLst>
                                            <p:cond delay="0"/>
                                          </p:stCondLst>
                                        </p:cTn>
                                        <p:tgtEl>
                                          <p:spTgt spid="10"/>
                                        </p:tgtEl>
                                        <p:attrNameLst>
                                          <p:attrName>style.visibility</p:attrName>
                                        </p:attrNameLst>
                                      </p:cBhvr>
                                      <p:to>
                                        <p:strVal val="visible"/>
                                      </p:to>
                                    </p:set>
                                    <p:animEffect transition="in" filter="wipe(left)">
                                      <p:cBhvr>
                                        <p:cTn id="103" dur="350"/>
                                        <p:tgtEl>
                                          <p:spTgt spid="10"/>
                                        </p:tgtEl>
                                      </p:cBhvr>
                                    </p:animEffect>
                                  </p:childTnLst>
                                </p:cTn>
                              </p:par>
                            </p:childTnLst>
                          </p:cTn>
                        </p:par>
                      </p:childTnLst>
                    </p:cTn>
                  </p:par>
                  <p:par>
                    <p:cTn id="113" fill="hold">
                      <p:stCondLst>
                        <p:cond delay="indefinite"/>
                      </p:stCondLst>
                      <p:childTnLst>
                        <p:par>
                          <p:cTn id="114" fill="hold">
                            <p:stCondLst>
                              <p:cond delay="0"/>
                            </p:stCondLst>
                            <p:childTnLst>
                              <p:par>
                                <p:cTn id="109" presetID="22" presetClass="entr" presetSubtype="8" fill="hold" grpId="0" nodeType="clickEffect">
                                  <p:stCondLst>
                                    <p:cond delay="0"/>
                                  </p:stCondLst>
                                  <p:childTnLst>
                                    <p:set>
                                      <p:cBhvr>
                                        <p:cTn id="107" dur="1" fill="hold">
                                          <p:stCondLst>
                                            <p:cond delay="0"/>
                                          </p:stCondLst>
                                        </p:cTn>
                                        <p:tgtEl>
                                          <p:spTgt spid="11"/>
                                        </p:tgtEl>
                                        <p:attrNameLst>
                                          <p:attrName>style.visibility</p:attrName>
                                        </p:attrNameLst>
                                      </p:cBhvr>
                                      <p:to>
                                        <p:strVal val="visible"/>
                                      </p:to>
                                    </p:set>
                                    <p:animEffect transition="in" filter="wipe(left)">
                                      <p:cBhvr>
                                        <p:cTn id="108" dur="350"/>
                                        <p:tgtEl>
                                          <p:spTgt spid="11"/>
                                        </p:tgtEl>
                                      </p:cBhvr>
                                    </p:animEffect>
                                  </p:childTnLst>
                                </p:cTn>
                              </p:par>
                              <p:par>
                                <p:cTn id="112" presetID="22" presetClass="entr" presetSubtype="8" fill="hold" grpId="0" nodeType="withEffect">
                                  <p:stCondLst>
                                    <p:cond delay="0"/>
                                  </p:stCondLst>
                                  <p:childTnLst>
                                    <p:set>
                                      <p:cBhvr>
                                        <p:cTn id="110" dur="1" fill="hold">
                                          <p:stCondLst>
                                            <p:cond delay="0"/>
                                          </p:stCondLst>
                                        </p:cTn>
                                        <p:tgtEl>
                                          <p:spTgt spid="12"/>
                                        </p:tgtEl>
                                        <p:attrNameLst>
                                          <p:attrName>style.visibility</p:attrName>
                                        </p:attrNameLst>
                                      </p:cBhvr>
                                      <p:to>
                                        <p:strVal val="visible"/>
                                      </p:to>
                                    </p:set>
                                    <p:animEffect transition="in" filter="wipe(left)">
                                      <p:cBhvr>
                                        <p:cTn id="111"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cloudlet-apis: start at step five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Extracted from the Serverless API</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core, web and auth extras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Layering enforced by tests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new API wires in five steps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Same group rules everywhere</a:t>
            </a:r>
            <a:endParaRPr lang="en-US" sz="1900" dirty="0"/>
          </a:p>
        </p:txBody>
      </p:sp>
      <p:sp>
        <p:nvSpPr>
          <p:cNvPr id="15" name="auto:0:wipeD"/>
          <p:cNvSpPr/>
          <p:nvPr/>
        </p:nvSpPr>
        <p:spPr>
          <a:xfrm>
            <a:off x="6172200" y="2011680"/>
            <a:ext cx="5394960" cy="713232"/>
          </a:xfrm>
          <a:prstGeom prst="roundRect">
            <a:avLst>
              <a:gd name="adj" fmla="val 10256"/>
            </a:avLst>
          </a:prstGeom>
          <a:solidFill>
            <a:srgbClr val="FFFFFF"/>
          </a:solidFill>
          <a:ln w="22225">
            <a:solidFill>
              <a:srgbClr val="E4572E"/>
            </a:solidFill>
            <a:prstDash val="solid"/>
          </a:ln>
        </p:spPr>
      </p:sp>
      <p:sp>
        <p:nvSpPr>
          <p:cNvPr id="16" name="auto:1:fade"/>
          <p:cNvSpPr txBox="1"/>
          <p:nvPr/>
        </p:nvSpPr>
        <p:spPr>
          <a:xfrm>
            <a:off x="6355080" y="201168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[auth]</a:t>
            </a:r>
            <a:endParaRPr lang="en-US" sz="1400" dirty="0"/>
          </a:p>
        </p:txBody>
      </p:sp>
      <p:sp>
        <p:nvSpPr>
          <p:cNvPr id="17" name="auto:2:fade"/>
          <p:cNvSpPr txBox="1"/>
          <p:nvPr/>
        </p:nvSpPr>
        <p:spPr>
          <a:xfrm>
            <a:off x="8549640" y="201168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OIDC · admin key · token proxy · tickets</a:t>
            </a:r>
            <a:endParaRPr lang="en-US" sz="950" dirty="0"/>
          </a:p>
        </p:txBody>
      </p:sp>
      <p:sp>
        <p:nvSpPr>
          <p:cNvPr id="18" name="auto:3:wipeD"/>
          <p:cNvSpPr/>
          <p:nvPr/>
        </p:nvSpPr>
        <p:spPr>
          <a:xfrm>
            <a:off x="6172200" y="2834640"/>
            <a:ext cx="5394960" cy="713232"/>
          </a:xfrm>
          <a:prstGeom prst="roundRect">
            <a:avLst>
              <a:gd name="adj" fmla="val 10256"/>
            </a:avLst>
          </a:prstGeom>
          <a:solidFill>
            <a:srgbClr val="FFFFFF"/>
          </a:solidFill>
          <a:ln w="15875">
            <a:solidFill>
              <a:srgbClr val="0B7A75"/>
            </a:solidFill>
            <a:prstDash val="solid"/>
          </a:ln>
        </p:spPr>
      </p:sp>
      <p:sp>
        <p:nvSpPr>
          <p:cNvPr id="19" name="auto:4:fade"/>
          <p:cNvSpPr txBox="1"/>
          <p:nvPr/>
        </p:nvSpPr>
        <p:spPr>
          <a:xfrm>
            <a:off x="6355080" y="283464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[web]</a:t>
            </a:r>
            <a:endParaRPr lang="en-US" sz="1400" dirty="0"/>
          </a:p>
        </p:txBody>
      </p:sp>
      <p:sp>
        <p:nvSpPr>
          <p:cNvPr id="20" name="auto:5:fade"/>
          <p:cNvSpPr txBox="1"/>
          <p:nvPr/>
        </p:nvSpPr>
        <p:spPr>
          <a:xfrm>
            <a:off x="8549640" y="283464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health · error envelope · offline docs</a:t>
            </a:r>
            <a:endParaRPr lang="en-US" sz="950" dirty="0"/>
          </a:p>
        </p:txBody>
      </p:sp>
      <p:sp>
        <p:nvSpPr>
          <p:cNvPr id="21" name="auto:6:wipeD"/>
          <p:cNvSpPr/>
          <p:nvPr/>
        </p:nvSpPr>
        <p:spPr>
          <a:xfrm>
            <a:off x="6172200" y="3657600"/>
            <a:ext cx="5394960" cy="713232"/>
          </a:xfrm>
          <a:prstGeom prst="roundRect">
            <a:avLst>
              <a:gd name="adj" fmla="val 10256"/>
            </a:avLst>
          </a:prstGeom>
          <a:solidFill>
            <a:srgbClr val="FFFFFF"/>
          </a:solidFill>
          <a:ln w="15875">
            <a:solidFill>
              <a:srgbClr val="0B7A75"/>
            </a:solidFill>
            <a:prstDash val="solid"/>
          </a:ln>
        </p:spPr>
      </p:sp>
      <p:sp>
        <p:nvSpPr>
          <p:cNvPr id="22" name="auto:7:fade"/>
          <p:cNvSpPr txBox="1"/>
          <p:nvPr/>
        </p:nvSpPr>
        <p:spPr>
          <a:xfrm>
            <a:off x="6355080" y="365760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core</a:t>
            </a:r>
            <a:endParaRPr lang="en-US" sz="1400" dirty="0"/>
          </a:p>
        </p:txBody>
      </p:sp>
      <p:sp>
        <p:nvSpPr>
          <p:cNvPr id="23" name="auto:8:fade"/>
          <p:cNvSpPr txBox="1"/>
          <p:nvPr/>
        </p:nvSpPr>
        <p:spPr>
          <a:xfrm>
            <a:off x="8549640" y="365760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errors · names · logging · request id</a:t>
            </a:r>
            <a:endParaRPr lang="en-US" sz="950" dirty="0"/>
          </a:p>
        </p:txBody>
      </p:sp>
      <p:sp>
        <p:nvSpPr>
          <p:cNvPr id="24" name="Text 2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25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1"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Effect transition="in" filter="wipe(left)">
                                      <p:cBhvr>
                                        <p:cTn id="33" dur="350"/>
                                        <p:tgtEl>
                                          <p:spTgt spid="5"/>
                                        </p:tgtEl>
                                      </p:cBhvr>
                                    </p:animEffect>
                                  </p:childTnLst>
                                </p:cTn>
                              </p:par>
                              <p:par>
                                <p:cTn id="37" presetID="22" presetClass="entr" presetSubtype="8" fill="hold" grpId="0" nodeType="with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wipe(left)">
                                      <p:cBhvr>
                                        <p:cTn id="36" dur="350"/>
                                        <p:tgtEl>
                                          <p:spTgt spid="6"/>
                                        </p:tgtEl>
                                      </p:cBhvr>
                                    </p:animEffect>
                                  </p:childTnLst>
                                </p:cTn>
                              </p:par>
                            </p:childTnLst>
                          </p:cTn>
                        </p:par>
                      </p:childTnLst>
                    </p:cTn>
                  </p:par>
                  <p:par>
                    <p:cTn id="46" fill="hold">
                      <p:stCondLst>
                        <p:cond delay="indefinite"/>
                      </p:stCondLst>
                      <p:childTnLst>
                        <p:par>
                          <p:cTn id="47" fill="hold">
                            <p:stCondLst>
                              <p:cond delay="0"/>
                            </p:stCondLst>
                            <p:childTnLst>
                              <p:par>
                                <p:cTn id="42" presetID="22" presetClass="entr" presetSubtype="8"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350"/>
                                        <p:tgtEl>
                                          <p:spTgt spid="7"/>
                                        </p:tgtEl>
                                      </p:cBhvr>
                                    </p:animEffect>
                                  </p:childTnLst>
                                </p:cTn>
                              </p:par>
                              <p:par>
                                <p:cTn id="45" presetID="22" presetClass="entr" presetSubtype="8" fill="hold" grpId="0" nodeType="with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wipe(left)">
                                      <p:cBhvr>
                                        <p:cTn id="44" dur="350"/>
                                        <p:tgtEl>
                                          <p:spTgt spid="8"/>
                                        </p:tgtEl>
                                      </p:cBhvr>
                                    </p:animEffect>
                                  </p:childTnLst>
                                </p:cTn>
                              </p:par>
                            </p:childTnLst>
                          </p:cTn>
                        </p:par>
                      </p:childTnLst>
                    </p:cTn>
                  </p:par>
                  <p:par>
                    <p:cTn id="54" fill="hold">
                      <p:stCondLst>
                        <p:cond delay="indefinite"/>
                      </p:stCondLst>
                      <p:childTnLst>
                        <p:par>
                          <p:cTn id="55" fill="hold">
                            <p:stCondLst>
                              <p:cond delay="0"/>
                            </p:stCondLst>
                            <p:childTnLst>
                              <p:par>
                                <p:cTn id="50" presetID="22" presetClass="entr" presetSubtype="8"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animEffect transition="in" filter="wipe(left)">
                                      <p:cBhvr>
                                        <p:cTn id="49" dur="350"/>
                                        <p:tgtEl>
                                          <p:spTgt spid="9"/>
                                        </p:tgtEl>
                                      </p:cBhvr>
                                    </p:animEffect>
                                  </p:childTnLst>
                                </p:cTn>
                              </p:par>
                              <p:par>
                                <p:cTn id="53" presetID="22" presetClass="entr" presetSubtype="8" fill="hold" grpId="0" nodeType="with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350"/>
                                        <p:tgtEl>
                                          <p:spTgt spid="10"/>
                                        </p:tgtEl>
                                      </p:cBhvr>
                                    </p:animEffect>
                                  </p:childTnLst>
                                </p:cTn>
                              </p:par>
                            </p:childTnLst>
                          </p:cTn>
                        </p:par>
                      </p:childTnLst>
                    </p:cTn>
                  </p:par>
                  <p:par>
                    <p:cTn id="62" fill="hold">
                      <p:stCondLst>
                        <p:cond delay="indefinite"/>
                      </p:stCondLst>
                      <p:childTnLst>
                        <p:par>
                          <p:cTn id="63" fill="hold">
                            <p:stCondLst>
                              <p:cond delay="0"/>
                            </p:stCondLst>
                            <p:childTnLst>
                              <p:par>
                                <p:cTn id="58" presetID="22" presetClass="entr" presetSubtype="8" fill="hold" grpId="0" nodeType="click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wipe(left)">
                                      <p:cBhvr>
                                        <p:cTn id="57" dur="350"/>
                                        <p:tgtEl>
                                          <p:spTgt spid="11"/>
                                        </p:tgtEl>
                                      </p:cBhvr>
                                    </p:animEffect>
                                  </p:childTnLst>
                                </p:cTn>
                              </p:par>
                              <p:par>
                                <p:cTn id="61" presetID="22" presetClass="entr" presetSubtype="8" fill="hold" grpId="0" nodeType="withEffect">
                                  <p:stCondLst>
                                    <p:cond delay="0"/>
                                  </p:stCondLst>
                                  <p:childTnLst>
                                    <p:set>
                                      <p:cBhvr>
                                        <p:cTn id="59" dur="1" fill="hold">
                                          <p:stCondLst>
                                            <p:cond delay="0"/>
                                          </p:stCondLst>
                                        </p:cTn>
                                        <p:tgtEl>
                                          <p:spTgt spid="12"/>
                                        </p:tgtEl>
                                        <p:attrNameLst>
                                          <p:attrName>style.visibility</p:attrName>
                                        </p:attrNameLst>
                                      </p:cBhvr>
                                      <p:to>
                                        <p:strVal val="visible"/>
                                      </p:to>
                                    </p:set>
                                    <p:animEffect transition="in" filter="wipe(left)">
                                      <p:cBhvr>
                                        <p:cTn id="60" dur="350"/>
                                        <p:tgtEl>
                                          <p:spTgt spid="12"/>
                                        </p:tgtEl>
                                      </p:cBhvr>
                                    </p:animEffect>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grpId="0" nodeType="click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wipe(left)">
                                      <p:cBhvr>
                                        <p:cTn id="65" dur="350"/>
                                        <p:tgtEl>
                                          <p:spTgt spid="13"/>
                                        </p:tgtEl>
                                      </p:cBhvr>
                                    </p:animEffect>
                                  </p:childTnLst>
                                </p:cTn>
                              </p:par>
                              <p:par>
                                <p:cTn id="69" presetID="22" presetClass="entr" presetSubtype="8"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wipe(left)">
                                      <p:cBhvr>
                                        <p:cTn id="6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WHAT WE BUILT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4200" b="1" dirty="0">
                <a:solidFill>
                  <a:srgbClr val="1B1F2A"/>
                </a:solidFill>
                <a:latin typeface="Century Schoolbook" pitchFamily="34" charset="0"/>
                <a:ea typeface="Century Schoolbook" pitchFamily="34" charset="-122"/>
                <a:cs typeface="Century Schoolbook" pitchFamily="34" charset="-120"/>
              </a:rPr>
              <a:t>Code in, a running service out.</a:t>
            </a:r>
            <a:endParaRPr lang="en-US" sz="4200" dirty="0"/>
          </a:p>
        </p:txBody>
      </p:sp>
      <p:sp>
        <p:nvSpPr>
          <p:cNvPr id="5" name="step:1:zoom"/>
          <p:cNvSpPr txBox="1"/>
          <p:nvPr/>
        </p:nvSpPr>
        <p:spPr>
          <a:xfrm>
            <a:off x="640080"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4</a:t>
            </a:r>
            <a:endParaRPr lang="en-US" sz="4800" dirty="0"/>
          </a:p>
        </p:txBody>
      </p:sp>
      <p:sp>
        <p:nvSpPr>
          <p:cNvPr id="6" name="step:1:fade"/>
          <p:cNvSpPr txBox="1"/>
          <p:nvPr/>
        </p:nvSpPr>
        <p:spPr>
          <a:xfrm>
            <a:off x="640080"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repositories</a:t>
            </a:r>
            <a:endParaRPr lang="en-US" sz="1050" dirty="0"/>
          </a:p>
        </p:txBody>
      </p:sp>
      <p:sp>
        <p:nvSpPr>
          <p:cNvPr id="7" name="step:2:zoom"/>
          <p:cNvSpPr txBox="1"/>
          <p:nvPr/>
        </p:nvSpPr>
        <p:spPr>
          <a:xfrm>
            <a:off x="2496769"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8" name="step:2:fade"/>
          <p:cNvSpPr txBox="1"/>
          <p:nvPr/>
        </p:nvSpPr>
        <p:spPr>
          <a:xfrm>
            <a:off x="2496769"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services</a:t>
            </a:r>
            <a:endParaRPr lang="en-US" sz="1050" dirty="0"/>
          </a:p>
        </p:txBody>
      </p:sp>
      <p:sp>
        <p:nvSpPr>
          <p:cNvPr id="9" name="step:3:zoom"/>
          <p:cNvSpPr txBox="1"/>
          <p:nvPr/>
        </p:nvSpPr>
        <p:spPr>
          <a:xfrm>
            <a:off x="435345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23</a:t>
            </a:r>
            <a:endParaRPr lang="en-US" sz="4800" dirty="0"/>
          </a:p>
        </p:txBody>
      </p:sp>
      <p:sp>
        <p:nvSpPr>
          <p:cNvPr id="10" name="step:3:fade"/>
          <p:cNvSpPr txBox="1"/>
          <p:nvPr/>
        </p:nvSpPr>
        <p:spPr>
          <a:xfrm>
            <a:off x="435345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1" name="step:4:zoom"/>
          <p:cNvSpPr txBox="1"/>
          <p:nvPr/>
        </p:nvSpPr>
        <p:spPr>
          <a:xfrm>
            <a:off x="621014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a:t>
            </a:r>
            <a:endParaRPr lang="en-US" sz="4800" dirty="0"/>
          </a:p>
        </p:txBody>
      </p:sp>
      <p:sp>
        <p:nvSpPr>
          <p:cNvPr id="12" name="step:4:fade"/>
          <p:cNvSpPr txBox="1"/>
          <p:nvPr/>
        </p:nvSpPr>
        <p:spPr>
          <a:xfrm>
            <a:off x="621014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a:t>
            </a:r>
            <a:endParaRPr lang="en-US" sz="1050" dirty="0"/>
          </a:p>
        </p:txBody>
      </p:sp>
      <p:sp>
        <p:nvSpPr>
          <p:cNvPr id="13" name="step:5:zoom"/>
          <p:cNvSpPr txBox="1"/>
          <p:nvPr/>
        </p:nvSpPr>
        <p:spPr>
          <a:xfrm>
            <a:off x="8066837"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14" name="step:5:fade"/>
          <p:cNvSpPr txBox="1"/>
          <p:nvPr/>
        </p:nvSpPr>
        <p:spPr>
          <a:xfrm>
            <a:off x="8066837"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15" name="step:6:zoom"/>
          <p:cNvSpPr txBox="1"/>
          <p:nvPr/>
        </p:nvSpPr>
        <p:spPr>
          <a:xfrm>
            <a:off x="9923526"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0</a:t>
            </a:r>
            <a:endParaRPr lang="en-US" sz="4800" dirty="0"/>
          </a:p>
        </p:txBody>
      </p:sp>
      <p:sp>
        <p:nvSpPr>
          <p:cNvPr id="16" name="step:6:fade"/>
          <p:cNvSpPr txBox="1"/>
          <p:nvPr/>
        </p:nvSpPr>
        <p:spPr>
          <a:xfrm>
            <a:off x="9923526"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a:t>
            </a:r>
            <a:endParaRPr lang="en-US" sz="1050" dirty="0"/>
          </a:p>
        </p:txBody>
      </p:sp>
      <p:sp>
        <p:nvSpPr>
          <p:cNvPr id="17" name="step:7:wipeL"/>
          <p:cNvSpPr/>
          <p:nvPr/>
        </p:nvSpPr>
        <p:spPr>
          <a:xfrm>
            <a:off x="640080" y="3922776"/>
            <a:ext cx="109728" cy="109728"/>
          </a:xfrm>
          <a:prstGeom prst="rect">
            <a:avLst/>
          </a:prstGeom>
          <a:solidFill>
            <a:srgbClr val="E4572E"/>
          </a:solidFill>
          <a:ln w="12700">
            <a:solidFill>
              <a:srgbClr val="E4572E"/>
            </a:solidFill>
            <a:prstDash val="solid"/>
          </a:ln>
        </p:spPr>
      </p:sp>
      <p:sp>
        <p:nvSpPr>
          <p:cNvPr id="18" name="step:7:wipeL"/>
          <p:cNvSpPr txBox="1"/>
          <p:nvPr/>
        </p:nvSpPr>
        <p:spPr>
          <a:xfrm>
            <a:off x="932688" y="374904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Operator owns Knative; we own the contract</a:t>
            </a:r>
            <a:endParaRPr lang="en-US" sz="1800" dirty="0"/>
          </a:p>
        </p:txBody>
      </p:sp>
      <p:sp>
        <p:nvSpPr>
          <p:cNvPr id="19" name="step:8:wipeL"/>
          <p:cNvSpPr/>
          <p:nvPr/>
        </p:nvSpPr>
        <p:spPr>
          <a:xfrm>
            <a:off x="640080" y="4425696"/>
            <a:ext cx="109728" cy="109728"/>
          </a:xfrm>
          <a:prstGeom prst="rect">
            <a:avLst/>
          </a:prstGeom>
          <a:solidFill>
            <a:srgbClr val="E4572E"/>
          </a:solidFill>
          <a:ln w="12700">
            <a:solidFill>
              <a:srgbClr val="E4572E"/>
            </a:solidFill>
            <a:prstDash val="solid"/>
          </a:ln>
        </p:spPr>
      </p:sp>
      <p:sp>
        <p:nvSpPr>
          <p:cNvPr id="20" name="step:8:wipeL"/>
          <p:cNvSpPr txBox="1"/>
          <p:nvPr/>
        </p:nvSpPr>
        <p:spPr>
          <a:xfrm>
            <a:off x="932688" y="425196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Deterministic specs, so no leader</a:t>
            </a:r>
            <a:endParaRPr lang="en-US" sz="1800" dirty="0"/>
          </a:p>
        </p:txBody>
      </p:sp>
      <p:sp>
        <p:nvSpPr>
          <p:cNvPr id="21" name="step:9:wipeL"/>
          <p:cNvSpPr/>
          <p:nvPr/>
        </p:nvSpPr>
        <p:spPr>
          <a:xfrm>
            <a:off x="640080" y="4928616"/>
            <a:ext cx="109728" cy="109728"/>
          </a:xfrm>
          <a:prstGeom prst="rect">
            <a:avLst/>
          </a:prstGeom>
          <a:solidFill>
            <a:srgbClr val="E4572E"/>
          </a:solidFill>
          <a:ln w="12700">
            <a:solidFill>
              <a:srgbClr val="E4572E"/>
            </a:solidFill>
            <a:prstDash val="solid"/>
          </a:ln>
        </p:spPr>
      </p:sp>
      <p:sp>
        <p:nvSpPr>
          <p:cNvPr id="22" name="step:9:wipeL"/>
          <p:cNvSpPr txBox="1"/>
          <p:nvPr/>
        </p:nvSpPr>
        <p:spPr>
          <a:xfrm>
            <a:off x="932688" y="475488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Builds declared, watched, rolled in</a:t>
            </a:r>
            <a:endParaRPr lang="en-US" sz="1800" dirty="0"/>
          </a:p>
        </p:txBody>
      </p:sp>
      <p:sp>
        <p:nvSpPr>
          <p:cNvPr id="23" name="step:10:wipeL"/>
          <p:cNvSpPr/>
          <p:nvPr/>
        </p:nvSpPr>
        <p:spPr>
          <a:xfrm>
            <a:off x="640080" y="5431536"/>
            <a:ext cx="109728" cy="109728"/>
          </a:xfrm>
          <a:prstGeom prst="rect">
            <a:avLst/>
          </a:prstGeom>
          <a:solidFill>
            <a:srgbClr val="E4572E"/>
          </a:solidFill>
          <a:ln w="12700">
            <a:solidFill>
              <a:srgbClr val="E4572E"/>
            </a:solidFill>
            <a:prstDash val="solid"/>
          </a:ln>
        </p:spPr>
      </p:sp>
      <p:sp>
        <p:nvSpPr>
          <p:cNvPr id="24" name="step:10:wipeL"/>
          <p:cNvSpPr txBox="1"/>
          <p:nvPr/>
        </p:nvSpPr>
        <p:spPr>
          <a:xfrm>
            <a:off x="932688" y="525780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The second product is cheaper</a:t>
            </a:r>
            <a:endParaRPr lang="en-US" sz="1800" dirty="0"/>
          </a:p>
        </p:txBody>
      </p:sp>
      <p:sp>
        <p:nvSpPr>
          <p:cNvPr id="25" name="step:11:zoom"/>
          <p:cNvSpPr txBox="1"/>
          <p:nvPr/>
        </p:nvSpPr>
        <p:spPr>
          <a:xfrm>
            <a:off x="7772400" y="5303520"/>
            <a:ext cx="3749040" cy="640080"/>
          </a:xfrm>
          <a:prstGeom prst="rect">
            <a:avLst/>
          </a:prstGeom>
          <a:noFill/>
          <a:ln/>
        </p:spPr>
        <p:txBody>
          <a:bodyPr wrap="square" lIns="0" tIns="0" rIns="0" bIns="0" rtlCol="0" anchor="ctr"/>
          <a:lstStyle/>
          <a:p>
            <a:pPr algn="r" indent="0" marL="0">
              <a:buNone/>
            </a:pPr>
            <a:r>
              <a:rPr lang="en-US" sz="2600" b="1" dirty="0">
                <a:solidFill>
                  <a:srgbClr val="1B1F2A"/>
                </a:solidFill>
                <a:latin typeface="Century Schoolbook" pitchFamily="34" charset="0"/>
                <a:ea typeface="Century Schoolbook" pitchFamily="34" charset="-122"/>
                <a:cs typeface="Century Schoolbook" pitchFamily="34" charset="-120"/>
              </a:rPr>
              <a:t>Thank you. Questions?</a:t>
            </a:r>
            <a:endParaRPr lang="en-US" sz="2600" dirty="0"/>
          </a:p>
        </p:txBody>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26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6" presetID="53"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50"/>
                                        <p:tgtEl>
                                          <p:spTgt spid="5"/>
                                        </p:tgtEl>
                                      </p:cBhvr>
                                    </p:animEffect>
                                    <p:animScale>
                                      <p:cBhvr>
                                        <p:cTn id="5" dur="450" fill="hold"/>
                                        <p:tgtEl>
                                          <p:spTgt spid="5"/>
                                        </p:tgtEl>
                                      </p:cBhvr>
                                      <p:from x="60000" y="60000"/>
                                      <p:to x="100000" y="100000"/>
                                    </p:animScale>
                                  </p:childTnLst>
                                </p:cTn>
                              </p:par>
                              <p:par>
                                <p:cTn id="9"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9" fill="hold">
                      <p:stCondLst>
                        <p:cond delay="indefinite"/>
                      </p:stCondLst>
                      <p:childTnLst>
                        <p:par>
                          <p:cTn id="20" fill="hold">
                            <p:stCondLst>
                              <p:cond delay="0"/>
                            </p:stCondLst>
                            <p:childTnLst>
                              <p:par>
                                <p:cTn id="15" presetID="53"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animScale>
                                      <p:cBhvr>
                                        <p:cTn id="14" dur="450" fill="hold"/>
                                        <p:tgtEl>
                                          <p:spTgt spid="7"/>
                                        </p:tgtEl>
                                      </p:cBhvr>
                                      <p:from x="60000" y="60000"/>
                                      <p:to x="100000" y="100000"/>
                                    </p:animScale>
                                  </p:childTnLst>
                                </p:cTn>
                              </p:par>
                              <p:par>
                                <p:cTn id="18"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childTnLst>
                          </p:cTn>
                        </p:par>
                      </p:childTnLst>
                    </p:cTn>
                  </p:par>
                  <p:par>
                    <p:cTn id="28" fill="hold">
                      <p:stCondLst>
                        <p:cond delay="indefinite"/>
                      </p:stCondLst>
                      <p:childTnLst>
                        <p:par>
                          <p:cTn id="29" fill="hold">
                            <p:stCondLst>
                              <p:cond delay="0"/>
                            </p:stCondLst>
                            <p:childTnLst>
                              <p:par>
                                <p:cTn id="24" presetID="53"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Scale>
                                      <p:cBhvr>
                                        <p:cTn id="23" dur="450" fill="hold"/>
                                        <p:tgtEl>
                                          <p:spTgt spid="9"/>
                                        </p:tgtEl>
                                      </p:cBhvr>
                                      <p:from x="60000" y="60000"/>
                                      <p:to x="100000" y="100000"/>
                                    </p:animScale>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3" presetID="53"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animScale>
                                      <p:cBhvr>
                                        <p:cTn id="32" dur="450" fill="hold"/>
                                        <p:tgtEl>
                                          <p:spTgt spid="11"/>
                                        </p:tgtEl>
                                      </p:cBhvr>
                                      <p:from x="60000" y="60000"/>
                                      <p:to x="100000" y="100000"/>
                                    </p:animScale>
                                  </p:childTnLst>
                                </p:cTn>
                              </p:par>
                              <p:par>
                                <p:cTn id="36"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2" presetID="53" presetClass="entr" presetSubtype="0" fill="hold" grpId="0"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450"/>
                                        <p:tgtEl>
                                          <p:spTgt spid="13"/>
                                        </p:tgtEl>
                                      </p:cBhvr>
                                    </p:animEffect>
                                    <p:animScale>
                                      <p:cBhvr>
                                        <p:cTn id="41" dur="450" fill="hold"/>
                                        <p:tgtEl>
                                          <p:spTgt spid="13"/>
                                        </p:tgtEl>
                                      </p:cBhvr>
                                      <p:from x="60000" y="60000"/>
                                      <p:to x="100000" y="100000"/>
                                    </p:animScale>
                                  </p:childTnLst>
                                </p:cTn>
                              </p:par>
                              <p:par>
                                <p:cTn id="45"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childTnLst>
                          </p:cTn>
                        </p:par>
                      </p:childTnLst>
                    </p:cTn>
                  </p:par>
                  <p:par>
                    <p:cTn id="55" fill="hold">
                      <p:stCondLst>
                        <p:cond delay="indefinite"/>
                      </p:stCondLst>
                      <p:childTnLst>
                        <p:par>
                          <p:cTn id="56" fill="hold">
                            <p:stCondLst>
                              <p:cond delay="0"/>
                            </p:stCondLst>
                            <p:childTnLst>
                              <p:par>
                                <p:cTn id="51" presetID="53"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Scale>
                                      <p:cBhvr>
                                        <p:cTn id="50" dur="450" fill="hold"/>
                                        <p:tgtEl>
                                          <p:spTgt spid="15"/>
                                        </p:tgtEl>
                                      </p:cBhvr>
                                      <p:from x="60000" y="60000"/>
                                      <p:to x="100000" y="100000"/>
                                    </p:animScale>
                                  </p:childTnLst>
                                </p:cTn>
                              </p:par>
                              <p:par>
                                <p:cTn id="54"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00"/>
                                        <p:tgtEl>
                                          <p:spTgt spid="16"/>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350"/>
                                        <p:tgtEl>
                                          <p:spTgt spid="18"/>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wipe(left)">
                                      <p:cBhvr>
                                        <p:cTn id="66" dur="350"/>
                                        <p:tgtEl>
                                          <p:spTgt spid="19"/>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350"/>
                                        <p:tgtEl>
                                          <p:spTgt spid="20"/>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grpId="0" nodeType="click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4" dur="350"/>
                                        <p:tgtEl>
                                          <p:spTgt spid="21"/>
                                        </p:tgtEl>
                                      </p:cBhvr>
                                    </p:animEffect>
                                  </p:childTnLst>
                                </p:cTn>
                              </p:par>
                              <p:par>
                                <p:cTn id="78" presetID="22" presetClass="entr" presetSubtype="8"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wipe(left)">
                                      <p:cBhvr>
                                        <p:cTn id="77" dur="350"/>
                                        <p:tgtEl>
                                          <p:spTgt spid="22"/>
                                        </p:tgtEl>
                                      </p:cBhvr>
                                    </p:animEffect>
                                  </p:childTnLst>
                                </p:cTn>
                              </p:par>
                            </p:childTnLst>
                          </p:cTn>
                        </p:par>
                      </p:childTnLst>
                    </p:cTn>
                  </p:par>
                  <p:par>
                    <p:cTn id="87" fill="hold">
                      <p:stCondLst>
                        <p:cond delay="indefinite"/>
                      </p:stCondLst>
                      <p:childTnLst>
                        <p:par>
                          <p:cTn id="88" fill="hold">
                            <p:stCondLst>
                              <p:cond delay="0"/>
                            </p:stCondLst>
                            <p:childTnLst>
                              <p:par>
                                <p:cTn id="83" presetID="22" presetClass="entr" presetSubtype="8" fill="hold" grpId="0" nodeType="click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wipe(left)">
                                      <p:cBhvr>
                                        <p:cTn id="82" dur="350"/>
                                        <p:tgtEl>
                                          <p:spTgt spid="23"/>
                                        </p:tgtEl>
                                      </p:cBhvr>
                                    </p:animEffect>
                                  </p:childTnLst>
                                </p:cTn>
                              </p:par>
                              <p:par>
                                <p:cTn id="86" presetID="22" presetClass="entr" presetSubtype="8"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wipe(left)">
                                      <p:cBhvr>
                                        <p:cTn id="85" dur="350"/>
                                        <p:tgtEl>
                                          <p:spTgt spid="24"/>
                                        </p:tgtEl>
                                      </p:cBhvr>
                                    </p:animEffect>
                                  </p:childTnLst>
                                </p:cTn>
                              </p:par>
                            </p:childTnLst>
                          </p:cTn>
                        </p:par>
                      </p:childTnLst>
                    </p:cTn>
                  </p:par>
                  <p:par>
                    <p:cTn id="93" fill="hold">
                      <p:stCondLst>
                        <p:cond delay="indefinite"/>
                      </p:stCondLst>
                      <p:childTnLst>
                        <p:par>
                          <p:cTn id="94" fill="hold">
                            <p:stCondLst>
                              <p:cond delay="0"/>
                            </p:stCondLst>
                            <p:childTnLst>
                              <p:par>
                                <p:cTn id="92" presetID="53" presetClass="entr" presetSubtype="0" fill="hold" grpId="0" nodeType="click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450"/>
                                        <p:tgtEl>
                                          <p:spTgt spid="25"/>
                                        </p:tgtEl>
                                      </p:cBhvr>
                                    </p:animEffect>
                                    <p:animScale>
                                      <p:cBhvr>
                                        <p:cTn id="91" dur="450" fill="hold"/>
                                        <p:tgtEl>
                                          <p:spTgt spid="25"/>
                                        </p:tgtEl>
                                      </p:cBhvr>
                                      <p:from x="60000" y="60000"/>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Knative to the Portal</dc:title>
  <dc:subject>PptxGenJS Presentation</dc:subject>
  <dc:creator>PptxGenJS</dc:creator>
  <cp:lastModifiedBy>PptxGenJS</cp:lastModifiedBy>
  <cp:revision>1</cp:revision>
  <dcterms:created xsi:type="dcterms:W3CDTF">2026-09-04T15:01:23Z</dcterms:created>
  <dcterms:modified xsi:type="dcterms:W3CDTF">2026-09-04T15:01:23Z</dcterms:modified>
</cp:coreProperties>
</file>