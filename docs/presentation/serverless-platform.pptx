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varyColors val="0"/>
        <c:ser>
          <c:idx val="0"/>
          <c:order val="0"/>
          <c:tx>
            <c:strRef>
              <c:f>Sheet1!$B$1</c:f>
              <c:strCache>
                <c:ptCount val="1"/>
                <c:pt idx="0">
                  <c:v>Replicas</c:v>
                </c:pt>
              </c:strCache>
            </c:strRef>
          </c:tx>
          <c:spPr>
            <a:solidFill>
              <a:srgbClr val="22D3EE">
                <a:alpha val="35000"/>
              </a:srgbClr>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00:00</c:v>
                  </c:pt>
                  <c:pt idx="1">
                    <c:v>03:00</c:v>
                  </c:pt>
                  <c:pt idx="2">
                    <c:v>06:00</c:v>
                  </c:pt>
                  <c:pt idx="3">
                    <c:v>09:00</c:v>
                  </c:pt>
                  <c:pt idx="4">
                    <c:v>12:00</c:v>
                  </c:pt>
                  <c:pt idx="5">
                    <c:v>15:00</c:v>
                  </c:pt>
                  <c:pt idx="6">
                    <c:v>18:00</c:v>
                  </c:pt>
                  <c:pt idx="7">
                    <c:v>21:00</c:v>
                  </c:pt>
                  <c:pt idx="8">
                    <c:v>24:00</c:v>
                  </c:pt>
                </c:lvl>
              </c:multiLvlStrCache>
            </c:multiLvlStrRef>
          </c:cat>
          <c:val>
            <c:numRef>
              <c:f>Sheet1!$B$2:$B$10</c:f>
              <c:numCache>
                <c:formatCode>General</c:formatCode>
                <c:ptCount val="9"/>
                <c:pt idx="0">
                  <c:v>0</c:v>
                </c:pt>
                <c:pt idx="1">
                  <c:v>0</c:v>
                </c:pt>
                <c:pt idx="2">
                  <c:v>1</c:v>
                </c:pt>
                <c:pt idx="3">
                  <c:v>6</c:v>
                </c:pt>
                <c:pt idx="4">
                  <c:v>11</c:v>
                </c:pt>
                <c:pt idx="5">
                  <c:v>7</c:v>
                </c:pt>
                <c:pt idx="6">
                  <c:v>3</c:v>
                </c:pt>
                <c:pt idx="7">
                  <c:v>0</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xId val="2094734556"/>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5B6B8A"/>
                </a:solidFill>
                <a:latin typeface="Courier New"/>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6350" cap="flat">
              <a:solidFill>
                <a:srgbClr val="1C274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5B6B8A"/>
                </a:solidFill>
                <a:latin typeface="Courier New"/>
              </a:defRPr>
            </a:pPr>
            <a:endParaRPr lang="en-US"/>
          </a:p>
        </c:txPr>
        <c:crossAx val="2094734554"/>
        <c:crosses val="autoZero"/>
        <c:crossBetween val="between"/>
      </c:valAx>
      <c:spPr>
        <a:solidFill>
          <a:srgbClr val="121A2C"/>
        </a:solidFill>
        <a:ln>
          <a:noFill/>
        </a:ln>
        <a:effectLst/>
      </c:spPr>
    </c:plotArea>
    <c:plotVisOnly val="1"/>
    <c:dispBlanksAs val="span"/>
  </c:chart>
  <c:spPr>
    <a:solidFill>
      <a:srgbClr val="121A2C"/>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one-sentence promise: a developer gives us code or an image and gets a running, addressable service in both regions without ever seeing Kubernetes. Everything that follows explains how that sentence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chapters. Foundations is the vocabulary. The API is the contract. Functions and builds is where most of the engineering went. Portal and future is what the platform becomes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Serverless is a billing and operations model, not a technology. Scale to zero is the defining property: an idle workload costs nothing and needs nobody. The chart is illustrative,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Knative Serving: a Service owns a Configuration and a Route. Every change to the Configuration stamps an immutable Revision. The KPA autoscaler scales revisions on concurrency, including to zero; the Activator buffers requests while a revision wakes. We do not expose Eventing. DomainMapping is the piece that lets us give one workload the same host in both clusters.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Red Hat's packaging of Knative. One KnativeServing CR, reconciled by the operator, upgraded through OLM. Kourier is the ingress; Routes are created for us. The catalog mirrors with oc-mirror, which is what makes it viable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decision is about ownership. Upstream would mean maintaining the install, the ingress, the Routes and the mirror ourselves, with community support. The chart assumes the operator's conventions and the API deliberately holds no routes RBAC. This is recorded in docs/DEPLOYING.md and the locked decisions table in docs/ARCHITECTURE.md.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is a FastAPI control plane. Two offerings: functions from git, containers from an image. Every write validates synchronously then returns 202 with a statusUrl; the status vocabulary is closed and published on /info so no client hardcodes it. One Helm chart, rendered by ArgoCD once per region from a central GitOps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path /api/serverless/v1. The SSO group is a path segment, so authorization is a path check against the groups claim. Ten endpoints per offering, two public info endpoints, one ticket mint. Same Authorization header carries either a Keycloak JWT or the static admin key, told apart by shape. EventSource cannot send headers, hence the 60-second HMAC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request fields: identity, source, runtime, scaling. Sizes map to CPU request-only and memory request equals limit. Concurrency and rps use the KPA and can scale to zero; cpu and memory switch to HPA. Failed always carries a machine-readable reason. PUT is a full replace but keeps redacted secrets when omitted.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kubeconfig and no service-account path. cert-manager issues an ACME client certificate; its CN is a DNS name because ACME only issues to DNS identities, and that CN is the Kubernetes user RBAC binds. The API server address is derived from the region's cluster name. Every write is a server-side apply with force, so retries heal partial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OpenShift clusters, both trusting the same CA. The API runs in both; DNS fronts the active one. A deploy fans out to both concurrently and rolls up per-region results. No leader election: specs contain no timestamps, UUIDs or counters, so two writers converge on one object. Each region builds into its own registry. There is no database; the Knative Service and its annotations are the replicated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Privilege separation is the reason this is a separate process: namespace and RBAC creation is cluster-scoped power the internet-facing API must not hold. Namespace per SSO group, identical in both clusters, rendered from region-neutral templates. Provision is called before every deploy and fails closed. Reconcile is local-cluster only so the regions never fight. The stamp protocol makes a converge crash-safe.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container is run this image. A function is here is my repo, which means a build: asynchronous, retried, observable per phase, and fired automatically when a stack or buildpack is patched. That last property is why kpack was chosen over Tekton or func.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Dockerfile: Paketo buildpacks detect the language from the repo. Rebase swaps the run image without a rebuild. Our kpack repo is not a fork; it is a Helm chart packaging upstream 0.18 with the airgap pieces: CRDs as templates, cluster build content, and mirror scripts that also pull the runtimes buildpacks download at build time. The serverless chart composes the three ClusterBuilders because composing is 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Image to SourceResolver to Build to Pod. The CNB lifecycle runs as named init containers, so every phase has its own log. Five build reasons; BUILDPACK and STACK fire with no user action. Images go to the region registry under group and name; the layer cache is a registry tag. A Kyverno policy injects the CA into initContainers; the dependency mirror uses originalHost because upstream hosts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API declares a build and walks away. The build controller watches kpack Images in its own region and, when latestImage changes, server-side applies the live Knative Service with the digest. Both ends are local. Exactly one writer per phase, and the controller only ever writes digests. It ships without a web stack, and CI proves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16 with server components and server actions in front of the API. The user's Keycloak token stays in the encrypted session and is forwarded server-side. The SSO group is the project. Forms are built from /info; the create flow turns 202 into a tracker toast. Live logs and stats stream over SSE using re-minted tickets and fall back to polling honestly. Everything renders in an airgap.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catalog already names ten future offerings; Serverless is live and Object Storage has its env hook. Adding an offering is data, not code. The shell is generic; the serverless tree is the only product-specific part. The next step is a shared resource layer and a generated TypeScript client so the contract stops being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cloudlet-apis is the shared Python library extracted from the Serverless API: core, web and auth as install extras, with layering enforced by tests. A new API wires it in five steps and inherits the security review. The reason it exists: two APIs normalizing groups differently is an authorization bug. Next extraction candidates are the mTLS multi-cluster client and the region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four takeaways and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5" Type="http://schemas.openxmlformats.org/officeDocument/2006/relationships/chart" Target="/ppt/charts/chart1.xml"/><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image" Target="../media/image-21-10.png"/><Relationship Id="rId11" Type="http://schemas.openxmlformats.org/officeDocument/2006/relationships/image" Target="../media/image-21-11.png"/><Relationship Id="rId12" Type="http://schemas.openxmlformats.org/officeDocument/2006/relationships/image" Target="../media/image-21-12.png"/><Relationship Id="rId13" Type="http://schemas.openxmlformats.org/officeDocument/2006/relationships/image" Target="../media/image-21-13.png"/><Relationship Id="rId14" Type="http://schemas.openxmlformats.org/officeDocument/2006/relationships/image" Target="../media/image-21-14.png"/><Relationship Id="rId15" Type="http://schemas.openxmlformats.org/officeDocument/2006/relationships/image" Target="../media/image-21-15.png"/><Relationship Id="rId16" Type="http://schemas.openxmlformats.org/officeDocument/2006/relationships/image" Target="../media/image-21-16.png"/><Relationship Id="rId17" Type="http://schemas.openxmlformats.org/officeDocument/2006/relationships/image" Target="../media/image-21-17.png"/><Relationship Id="rId18" Type="http://schemas.openxmlformats.org/officeDocument/2006/relationships/slideLayout" Target="../slideLayouts/slideLayout1.xml"/><Relationship Id="rId1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1600200"/>
            <a:ext cx="7315200" cy="320040"/>
          </a:xfrm>
          <a:prstGeom prst="rect">
            <a:avLst/>
          </a:prstGeom>
          <a:noFill/>
          <a:ln/>
        </p:spPr>
        <p:txBody>
          <a:bodyPr wrap="square" lIns="0" tIns="0" rIns="0" bIns="0" rtlCol="0" anchor="ctr"/>
          <a:lstStyle/>
          <a:p>
            <a:pPr indent="0" marL="0">
              <a:buNone/>
            </a:pPr>
            <a:r>
              <a:rPr lang="en-US" sz="1200" b="1" spc="400" kern="0" dirty="0">
                <a:solidFill>
                  <a:srgbClr val="22D3EE"/>
                </a:solidFill>
                <a:latin typeface="Calibri" pitchFamily="34" charset="0"/>
                <a:ea typeface="Calibri" pitchFamily="34" charset="-122"/>
                <a:cs typeface="Calibri" pitchFamily="34" charset="-120"/>
              </a:rPr>
              <a:t>SERVERLESS ON CLOUDLET</a:t>
            </a:r>
            <a:endParaRPr lang="en-US" sz="1200" dirty="0"/>
          </a:p>
        </p:txBody>
      </p:sp>
      <p:sp>
        <p:nvSpPr>
          <p:cNvPr id="3" name="Text 1"/>
          <p:cNvSpPr txBox="1"/>
          <p:nvPr/>
        </p:nvSpPr>
        <p:spPr>
          <a:xfrm>
            <a:off x="594360" y="1965960"/>
            <a:ext cx="7498080" cy="2103120"/>
          </a:xfrm>
          <a:prstGeom prst="rect">
            <a:avLst/>
          </a:prstGeom>
          <a:noFill/>
          <a:ln/>
        </p:spPr>
        <p:txBody>
          <a:bodyPr wrap="square" lIns="0" tIns="0" rIns="0" bIns="0" rtlCol="0" anchor="ctr"/>
          <a:lstStyle/>
          <a:p>
            <a:pPr indent="0" marL="0">
              <a:lnSpc>
                <a:spcPct val="95000"/>
              </a:lnSpc>
              <a:buNone/>
            </a:pPr>
            <a:r>
              <a:rPr lang="en-US" sz="6200" b="1" dirty="0">
                <a:solidFill>
                  <a:srgbClr val="F1F5F9"/>
                </a:solidFill>
                <a:latin typeface="Cambria" pitchFamily="34" charset="0"/>
                <a:ea typeface="Cambria" pitchFamily="34" charset="-122"/>
                <a:cs typeface="Cambria" pitchFamily="34" charset="-120"/>
              </a:rPr>
              <a:t>From Knative</a:t>
            </a:r>
            <a:endParaRPr lang="en-US" sz="6200" dirty="0"/>
          </a:p>
          <a:p>
            <a:pPr indent="0" marL="0">
              <a:lnSpc>
                <a:spcPct val="95000"/>
              </a:lnSpc>
              <a:buNone/>
            </a:pPr>
            <a:r>
              <a:rPr lang="en-US" sz="6200" b="1" dirty="0">
                <a:solidFill>
                  <a:srgbClr val="F1F5F9"/>
                </a:solidFill>
                <a:latin typeface="Cambria" pitchFamily="34" charset="0"/>
                <a:ea typeface="Cambria" pitchFamily="34" charset="-122"/>
                <a:cs typeface="Cambria" pitchFamily="34" charset="-120"/>
              </a:rPr>
              <a:t>to the Portal</a:t>
            </a:r>
            <a:endParaRPr lang="en-US" sz="6200" dirty="0"/>
          </a:p>
        </p:txBody>
      </p:sp>
      <p:sp>
        <p:nvSpPr>
          <p:cNvPr id="4" name="Text 2"/>
          <p:cNvSpPr txBox="1"/>
          <p:nvPr/>
        </p:nvSpPr>
        <p:spPr>
          <a:xfrm>
            <a:off x="594360" y="4160520"/>
            <a:ext cx="6949440" cy="548640"/>
          </a:xfrm>
          <a:prstGeom prst="rect">
            <a:avLst/>
          </a:prstGeom>
          <a:noFill/>
          <a:ln/>
        </p:spPr>
        <p:txBody>
          <a:bodyPr wrap="square" lIns="0" tIns="0" rIns="0" bIns="0" rtlCol="0" anchor="ctr"/>
          <a:lstStyle/>
          <a:p>
            <a:pPr indent="0" marL="0">
              <a:buNone/>
            </a:pPr>
            <a:r>
              <a:rPr lang="en-US" sz="1800" i="1" dirty="0">
                <a:solidFill>
                  <a:srgbClr val="94A3B8"/>
                </a:solidFill>
                <a:latin typeface="Calibri" pitchFamily="34" charset="0"/>
                <a:ea typeface="Calibri" pitchFamily="34" charset="-122"/>
                <a:cs typeface="Calibri" pitchFamily="34" charset="-120"/>
              </a:rPr>
              <a:t>What we built, how it fits together, and why we built it this way.</a:t>
            </a:r>
            <a:endParaRPr lang="en-US" sz="1800" dirty="0"/>
          </a:p>
        </p:txBody>
      </p:sp>
      <p:sp>
        <p:nvSpPr>
          <p:cNvPr id="5" name="Text 3"/>
          <p:cNvSpPr txBox="1"/>
          <p:nvPr/>
        </p:nvSpPr>
        <p:spPr>
          <a:xfrm>
            <a:off x="594360" y="4892040"/>
            <a:ext cx="5486400" cy="320040"/>
          </a:xfrm>
          <a:prstGeom prst="rect">
            <a:avLst/>
          </a:prstGeom>
          <a:noFill/>
          <a:ln/>
        </p:spPr>
        <p:txBody>
          <a:bodyPr wrap="square" lIns="0" tIns="0" rIns="0" bIns="0" rtlCol="0" anchor="ctr"/>
          <a:lstStyle/>
          <a:p>
            <a:pPr indent="0" marL="0">
              <a:buNone/>
            </a:pPr>
            <a:r>
              <a:rPr lang="en-US" sz="1100" dirty="0">
                <a:solidFill>
                  <a:srgbClr val="5B6B8A"/>
                </a:solidFill>
                <a:latin typeface="Courier New" pitchFamily="34" charset="0"/>
                <a:ea typeface="Courier New" pitchFamily="34" charset="-122"/>
                <a:cs typeface="Courier New" pitchFamily="34" charset="-120"/>
              </a:rPr>
              <a:t>Team review  ·  September 2026</a:t>
            </a:r>
            <a:endParaRPr lang="en-US" sz="1100" dirty="0"/>
          </a:p>
        </p:txBody>
      </p:sp>
      <p:sp>
        <p:nvSpPr>
          <p:cNvPr id="6" name="Shape 4"/>
          <p:cNvSpPr/>
          <p:nvPr/>
        </p:nvSpPr>
        <p:spPr>
          <a:xfrm>
            <a:off x="9326880" y="1554480"/>
            <a:ext cx="640080" cy="1371600"/>
          </a:xfrm>
          <a:prstGeom prst="line">
            <a:avLst/>
          </a:prstGeom>
          <a:noFill/>
          <a:ln w="15875">
            <a:solidFill>
              <a:srgbClr val="2C3A5C"/>
            </a:solidFill>
            <a:prstDash val="solid"/>
          </a:ln>
        </p:spPr>
      </p:sp>
      <p:sp>
        <p:nvSpPr>
          <p:cNvPr id="7" name="Shape 5"/>
          <p:cNvSpPr/>
          <p:nvPr/>
        </p:nvSpPr>
        <p:spPr>
          <a:xfrm flipH="1">
            <a:off x="8778240" y="2926080"/>
            <a:ext cx="1188720" cy="1554480"/>
          </a:xfrm>
          <a:prstGeom prst="line">
            <a:avLst/>
          </a:prstGeom>
          <a:noFill/>
          <a:ln w="15875">
            <a:solidFill>
              <a:srgbClr val="2C3A5C"/>
            </a:solidFill>
            <a:prstDash val="solid"/>
          </a:ln>
        </p:spPr>
      </p:sp>
      <p:sp>
        <p:nvSpPr>
          <p:cNvPr id="8" name="Shape 6"/>
          <p:cNvSpPr/>
          <p:nvPr/>
        </p:nvSpPr>
        <p:spPr>
          <a:xfrm>
            <a:off x="9966960" y="2926080"/>
            <a:ext cx="1188720" cy="1280160"/>
          </a:xfrm>
          <a:prstGeom prst="line">
            <a:avLst/>
          </a:prstGeom>
          <a:noFill/>
          <a:ln w="15875">
            <a:solidFill>
              <a:srgbClr val="2C3A5C"/>
            </a:solidFill>
            <a:prstDash val="solid"/>
          </a:ln>
        </p:spPr>
      </p:sp>
      <p:sp>
        <p:nvSpPr>
          <p:cNvPr id="9" name="Shape 7"/>
          <p:cNvSpPr/>
          <p:nvPr/>
        </p:nvSpPr>
        <p:spPr>
          <a:xfrm flipV="1">
            <a:off x="9966960" y="2194560"/>
            <a:ext cx="1097280" cy="731520"/>
          </a:xfrm>
          <a:prstGeom prst="line">
            <a:avLst/>
          </a:prstGeom>
          <a:noFill/>
          <a:ln w="15875">
            <a:solidFill>
              <a:srgbClr val="2C3A5C"/>
            </a:solidFill>
            <a:prstDash val="solid"/>
          </a:ln>
        </p:spPr>
      </p:sp>
      <p:sp>
        <p:nvSpPr>
          <p:cNvPr id="10" name="Shape 8"/>
          <p:cNvSpPr/>
          <p:nvPr/>
        </p:nvSpPr>
        <p:spPr>
          <a:xfrm>
            <a:off x="7863840" y="2743200"/>
            <a:ext cx="914400" cy="1737360"/>
          </a:xfrm>
          <a:prstGeom prst="line">
            <a:avLst/>
          </a:prstGeom>
          <a:noFill/>
          <a:ln w="15875">
            <a:solidFill>
              <a:srgbClr val="2C3A5C"/>
            </a:solidFill>
            <a:prstDash val="solid"/>
          </a:ln>
        </p:spPr>
      </p:sp>
      <p:sp>
        <p:nvSpPr>
          <p:cNvPr id="11" name="Shape 9"/>
          <p:cNvSpPr/>
          <p:nvPr/>
        </p:nvSpPr>
        <p:spPr>
          <a:xfrm>
            <a:off x="7863840" y="2743200"/>
            <a:ext cx="2103120" cy="182880"/>
          </a:xfrm>
          <a:prstGeom prst="line">
            <a:avLst/>
          </a:prstGeom>
          <a:noFill/>
          <a:ln w="15875">
            <a:solidFill>
              <a:srgbClr val="2C3A5C"/>
            </a:solidFill>
            <a:prstDash val="solid"/>
          </a:ln>
        </p:spPr>
      </p:sp>
      <p:sp>
        <p:nvSpPr>
          <p:cNvPr id="12" name="Shape 10"/>
          <p:cNvSpPr/>
          <p:nvPr/>
        </p:nvSpPr>
        <p:spPr>
          <a:xfrm flipV="1">
            <a:off x="8778240" y="4206240"/>
            <a:ext cx="2377440" cy="274320"/>
          </a:xfrm>
          <a:prstGeom prst="line">
            <a:avLst/>
          </a:prstGeom>
          <a:noFill/>
          <a:ln w="15875">
            <a:solidFill>
              <a:srgbClr val="2C3A5C"/>
            </a:solidFill>
            <a:prstDash val="solid"/>
          </a:ln>
        </p:spPr>
      </p:sp>
      <p:sp>
        <p:nvSpPr>
          <p:cNvPr id="13" name="Shape 11"/>
          <p:cNvSpPr/>
          <p:nvPr/>
        </p:nvSpPr>
        <p:spPr>
          <a:xfrm>
            <a:off x="9015984" y="1243584"/>
            <a:ext cx="621792" cy="621792"/>
          </a:xfrm>
          <a:prstGeom prst="ellipse">
            <a:avLst/>
          </a:prstGeom>
          <a:solidFill>
            <a:srgbClr val="0B1120"/>
          </a:solidFill>
          <a:ln w="15875">
            <a:solidFill>
              <a:srgbClr val="A78BFA"/>
            </a:solidFill>
            <a:prstDash val="solid"/>
          </a:ln>
          <a:effectLst>
            <a:outerShdw sx="100000" sy="100000" kx="0" ky="0" algn="bl" rotWithShape="0" blurRad="101600" dist="38100" dir="5400000">
              <a:srgbClr val="000000">
                <a:alpha val="35000"/>
              </a:srgbClr>
            </a:outerShdw>
          </a:effectLst>
        </p:spPr>
      </p:sp>
      <p:pic>
        <p:nvPicPr>
          <p:cNvPr id="14" name="Image 0" descr="preencoded.png">    </p:cNvPr>
          <p:cNvPicPr>
            <a:picLocks noChangeAspect="1"/>
          </p:cNvPicPr>
          <p:nvPr/>
        </p:nvPicPr>
        <p:blipFill>
          <a:blip r:embed="rId2"/>
          <a:stretch>
            <a:fillRect/>
          </a:stretch>
        </p:blipFill>
        <p:spPr>
          <a:xfrm>
            <a:off x="9183868" y="1411468"/>
            <a:ext cx="286024" cy="286024"/>
          </a:xfrm>
          <a:prstGeom prst="rect">
            <a:avLst/>
          </a:prstGeom>
        </p:spPr>
      </p:pic>
      <p:sp>
        <p:nvSpPr>
          <p:cNvPr id="15" name="Shape 12"/>
          <p:cNvSpPr/>
          <p:nvPr/>
        </p:nvSpPr>
        <p:spPr>
          <a:xfrm>
            <a:off x="9555480" y="2514600"/>
            <a:ext cx="822960" cy="822960"/>
          </a:xfrm>
          <a:prstGeom prst="ellipse">
            <a:avLst/>
          </a:prstGeom>
          <a:solidFill>
            <a:srgbClr val="0B1120"/>
          </a:solidFill>
          <a:ln w="15875">
            <a:solidFill>
              <a:srgbClr val="22D3EE"/>
            </a:solidFill>
            <a:prstDash val="solid"/>
          </a:ln>
          <a:effectLst>
            <a:outerShdw sx="100000" sy="100000" kx="0" ky="0" algn="bl" rotWithShape="0" blurRad="101600" dist="38100" dir="5400000">
              <a:srgbClr val="000000">
                <a:alpha val="35000"/>
              </a:srgbClr>
            </a:outerShdw>
          </a:effectLst>
        </p:spPr>
      </p:sp>
      <p:pic>
        <p:nvPicPr>
          <p:cNvPr id="16" name="Image 1" descr="preencoded.png">    </p:cNvPr>
          <p:cNvPicPr>
            <a:picLocks noChangeAspect="1"/>
          </p:cNvPicPr>
          <p:nvPr/>
        </p:nvPicPr>
        <p:blipFill>
          <a:blip r:embed="rId3"/>
          <a:stretch>
            <a:fillRect/>
          </a:stretch>
        </p:blipFill>
        <p:spPr>
          <a:xfrm>
            <a:off x="9777679" y="2736799"/>
            <a:ext cx="378562" cy="378562"/>
          </a:xfrm>
          <a:prstGeom prst="rect">
            <a:avLst/>
          </a:prstGeom>
        </p:spPr>
      </p:pic>
      <p:sp>
        <p:nvSpPr>
          <p:cNvPr id="17" name="Shape 13"/>
          <p:cNvSpPr/>
          <p:nvPr/>
        </p:nvSpPr>
        <p:spPr>
          <a:xfrm>
            <a:off x="8467344" y="4169664"/>
            <a:ext cx="621792" cy="621792"/>
          </a:xfrm>
          <a:prstGeom prst="ellipse">
            <a:avLst/>
          </a:prstGeom>
          <a:solidFill>
            <a:srgbClr val="0B1120"/>
          </a:solidFill>
          <a:ln w="15875">
            <a:solidFill>
              <a:srgbClr val="22D3EE"/>
            </a:solidFill>
            <a:prstDash val="solid"/>
          </a:ln>
          <a:effectLst>
            <a:outerShdw sx="100000" sy="100000" kx="0" ky="0" algn="bl" rotWithShape="0" blurRad="101600" dist="38100" dir="5400000">
              <a:srgbClr val="000000">
                <a:alpha val="35000"/>
              </a:srgbClr>
            </a:outerShdw>
          </a:effectLst>
        </p:spPr>
      </p:sp>
      <p:pic>
        <p:nvPicPr>
          <p:cNvPr id="18" name="Image 2" descr="preencoded.png">    </p:cNvPr>
          <p:cNvPicPr>
            <a:picLocks noChangeAspect="1"/>
          </p:cNvPicPr>
          <p:nvPr/>
        </p:nvPicPr>
        <p:blipFill>
          <a:blip r:embed="rId4"/>
          <a:stretch>
            <a:fillRect/>
          </a:stretch>
        </p:blipFill>
        <p:spPr>
          <a:xfrm>
            <a:off x="8635228" y="4337548"/>
            <a:ext cx="286024" cy="286024"/>
          </a:xfrm>
          <a:prstGeom prst="rect">
            <a:avLst/>
          </a:prstGeom>
        </p:spPr>
      </p:pic>
      <p:sp>
        <p:nvSpPr>
          <p:cNvPr id="19" name="Shape 14"/>
          <p:cNvSpPr/>
          <p:nvPr/>
        </p:nvSpPr>
        <p:spPr>
          <a:xfrm>
            <a:off x="10844784" y="3895344"/>
            <a:ext cx="621792" cy="621792"/>
          </a:xfrm>
          <a:prstGeom prst="ellipse">
            <a:avLst/>
          </a:prstGeom>
          <a:solidFill>
            <a:srgbClr val="0B1120"/>
          </a:solidFill>
          <a:ln w="15875">
            <a:solidFill>
              <a:srgbClr val="22D3EE"/>
            </a:solidFill>
            <a:prstDash val="solid"/>
          </a:ln>
          <a:effectLst>
            <a:outerShdw sx="100000" sy="100000" kx="0" ky="0" algn="bl" rotWithShape="0" blurRad="101600" dist="38100" dir="5400000">
              <a:srgbClr val="000000">
                <a:alpha val="35000"/>
              </a:srgbClr>
            </a:outerShdw>
          </a:effectLst>
        </p:spPr>
      </p:sp>
      <p:pic>
        <p:nvPicPr>
          <p:cNvPr id="20" name="Image 3" descr="preencoded.png">    </p:cNvPr>
          <p:cNvPicPr>
            <a:picLocks noChangeAspect="1"/>
          </p:cNvPicPr>
          <p:nvPr/>
        </p:nvPicPr>
        <p:blipFill>
          <a:blip r:embed="rId5"/>
          <a:stretch>
            <a:fillRect/>
          </a:stretch>
        </p:blipFill>
        <p:spPr>
          <a:xfrm>
            <a:off x="11012668" y="4063228"/>
            <a:ext cx="286024" cy="286024"/>
          </a:xfrm>
          <a:prstGeom prst="rect">
            <a:avLst/>
          </a:prstGeom>
        </p:spPr>
      </p:pic>
      <p:sp>
        <p:nvSpPr>
          <p:cNvPr id="21" name="Shape 15"/>
          <p:cNvSpPr/>
          <p:nvPr/>
        </p:nvSpPr>
        <p:spPr>
          <a:xfrm>
            <a:off x="10753344" y="1883664"/>
            <a:ext cx="621792" cy="621792"/>
          </a:xfrm>
          <a:prstGeom prst="ellipse">
            <a:avLst/>
          </a:prstGeom>
          <a:solidFill>
            <a:srgbClr val="0B1120"/>
          </a:solidFill>
          <a:ln w="15875">
            <a:solidFill>
              <a:srgbClr val="F59E0B"/>
            </a:solidFill>
            <a:prstDash val="solid"/>
          </a:ln>
          <a:effectLst>
            <a:outerShdw sx="100000" sy="100000" kx="0" ky="0" algn="bl" rotWithShape="0" blurRad="101600" dist="38100" dir="5400000">
              <a:srgbClr val="000000">
                <a:alpha val="35000"/>
              </a:srgbClr>
            </a:outerShdw>
          </a:effectLst>
        </p:spPr>
      </p:sp>
      <p:pic>
        <p:nvPicPr>
          <p:cNvPr id="22" name="Image 4" descr="preencoded.png">    </p:cNvPr>
          <p:cNvPicPr>
            <a:picLocks noChangeAspect="1"/>
          </p:cNvPicPr>
          <p:nvPr/>
        </p:nvPicPr>
        <p:blipFill>
          <a:blip r:embed="rId6"/>
          <a:stretch>
            <a:fillRect/>
          </a:stretch>
        </p:blipFill>
        <p:spPr>
          <a:xfrm>
            <a:off x="10921228" y="2051548"/>
            <a:ext cx="286024" cy="286024"/>
          </a:xfrm>
          <a:prstGeom prst="rect">
            <a:avLst/>
          </a:prstGeom>
        </p:spPr>
      </p:pic>
      <p:sp>
        <p:nvSpPr>
          <p:cNvPr id="23" name="Shape 16"/>
          <p:cNvSpPr/>
          <p:nvPr/>
        </p:nvSpPr>
        <p:spPr>
          <a:xfrm>
            <a:off x="7552944" y="2432304"/>
            <a:ext cx="621792" cy="621792"/>
          </a:xfrm>
          <a:prstGeom prst="ellipse">
            <a:avLst/>
          </a:prstGeom>
          <a:solidFill>
            <a:srgbClr val="0B1120"/>
          </a:solidFill>
          <a:ln w="15875">
            <a:solidFill>
              <a:srgbClr val="F59E0B"/>
            </a:solidFill>
            <a:prstDash val="solid"/>
          </a:ln>
          <a:effectLst>
            <a:outerShdw sx="100000" sy="100000" kx="0" ky="0" algn="bl" rotWithShape="0" blurRad="101600" dist="38100" dir="5400000">
              <a:srgbClr val="000000">
                <a:alpha val="35000"/>
              </a:srgbClr>
            </a:outerShdw>
          </a:effectLst>
        </p:spPr>
      </p:sp>
      <p:pic>
        <p:nvPicPr>
          <p:cNvPr id="24" name="Image 5" descr="preencoded.png">    </p:cNvPr>
          <p:cNvPicPr>
            <a:picLocks noChangeAspect="1"/>
          </p:cNvPicPr>
          <p:nvPr/>
        </p:nvPicPr>
        <p:blipFill>
          <a:blip r:embed="rId7"/>
          <a:stretch>
            <a:fillRect/>
          </a:stretch>
        </p:blipFill>
        <p:spPr>
          <a:xfrm>
            <a:off x="7720828" y="2600188"/>
            <a:ext cx="286024" cy="286024"/>
          </a:xfrm>
          <a:prstGeom prst="rect">
            <a:avLst/>
          </a:prstGeom>
        </p:spPr>
      </p:pic>
      <p:sp>
        <p:nvSpPr>
          <p:cNvPr id="25" name="Text 17"/>
          <p:cNvSpPr txBox="1"/>
          <p:nvPr/>
        </p:nvSpPr>
        <p:spPr>
          <a:xfrm>
            <a:off x="8229600" y="4846320"/>
            <a:ext cx="1097280" cy="274320"/>
          </a:xfrm>
          <a:prstGeom prst="rect">
            <a:avLst/>
          </a:prstGeom>
          <a:noFill/>
          <a:ln/>
        </p:spPr>
        <p:txBody>
          <a:bodyPr wrap="square" lIns="0" tIns="0" rIns="0" bIns="0" rtlCol="0" anchor="ctr"/>
          <a:lstStyle/>
          <a:p>
            <a:pPr algn="ctr" indent="0" marL="0">
              <a:buNone/>
            </a:pPr>
            <a:r>
              <a:rPr lang="en-US" sz="900" dirty="0">
                <a:solidFill>
                  <a:srgbClr val="5B6B8A"/>
                </a:solidFill>
                <a:latin typeface="Courier New" pitchFamily="34" charset="0"/>
                <a:ea typeface="Courier New" pitchFamily="34" charset="-122"/>
                <a:cs typeface="Courier New" pitchFamily="34" charset="-120"/>
              </a:rPr>
              <a:t>central</a:t>
            </a:r>
            <a:endParaRPr lang="en-US" sz="900" dirty="0"/>
          </a:p>
        </p:txBody>
      </p:sp>
      <p:sp>
        <p:nvSpPr>
          <p:cNvPr id="26" name="Text 18"/>
          <p:cNvSpPr txBox="1"/>
          <p:nvPr/>
        </p:nvSpPr>
        <p:spPr>
          <a:xfrm>
            <a:off x="10607040" y="4572000"/>
            <a:ext cx="1097280" cy="274320"/>
          </a:xfrm>
          <a:prstGeom prst="rect">
            <a:avLst/>
          </a:prstGeom>
          <a:noFill/>
          <a:ln/>
        </p:spPr>
        <p:txBody>
          <a:bodyPr wrap="square" lIns="0" tIns="0" rIns="0" bIns="0" rtlCol="0" anchor="ctr"/>
          <a:lstStyle/>
          <a:p>
            <a:pPr algn="ctr" indent="0" marL="0">
              <a:buNone/>
            </a:pPr>
            <a:r>
              <a:rPr lang="en-US" sz="900" dirty="0">
                <a:solidFill>
                  <a:srgbClr val="5B6B8A"/>
                </a:solidFill>
                <a:latin typeface="Courier New" pitchFamily="34" charset="0"/>
                <a:ea typeface="Courier New" pitchFamily="34" charset="-122"/>
                <a:cs typeface="Courier New" pitchFamily="34" charset="-120"/>
              </a:rPr>
              <a:t>south</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02 / 23</a:t>
            </a:r>
            <a:endParaRPr lang="en-US" sz="950" dirty="0"/>
          </a:p>
        </p:txBody>
      </p:sp>
      <p:sp>
        <p:nvSpPr>
          <p:cNvPr id="3" name="Text 1"/>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The journey, in four chapters</a:t>
            </a:r>
            <a:endParaRPr lang="en-US" sz="3400" dirty="0"/>
          </a:p>
        </p:txBody>
      </p:sp>
      <p:sp>
        <p:nvSpPr>
          <p:cNvPr id="4" name="Text 2"/>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Fourteen questions, one platform. We start at the idea and end at the console.</a:t>
            </a:r>
            <a:endParaRPr lang="en-US" sz="1500" dirty="0"/>
          </a:p>
        </p:txBody>
      </p:sp>
      <p:sp>
        <p:nvSpPr>
          <p:cNvPr id="5" name="Shape 3"/>
          <p:cNvSpPr/>
          <p:nvPr/>
        </p:nvSpPr>
        <p:spPr>
          <a:xfrm>
            <a:off x="594360" y="2057400"/>
            <a:ext cx="2544318" cy="3840480"/>
          </a:xfrm>
          <a:prstGeom prst="roundRect">
            <a:avLst>
              <a:gd name="adj" fmla="val 4313"/>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6" name="Text 4"/>
          <p:cNvSpPr txBox="1"/>
          <p:nvPr/>
        </p:nvSpPr>
        <p:spPr>
          <a:xfrm>
            <a:off x="822960" y="2240280"/>
            <a:ext cx="1371600" cy="731520"/>
          </a:xfrm>
          <a:prstGeom prst="rect">
            <a:avLst/>
          </a:prstGeom>
          <a:noFill/>
          <a:ln/>
        </p:spPr>
        <p:txBody>
          <a:bodyPr wrap="square" lIns="0" tIns="0" rIns="0" bIns="0" rtlCol="0" anchor="ctr"/>
          <a:lstStyle/>
          <a:p>
            <a:pPr indent="0" marL="0">
              <a:buNone/>
            </a:pPr>
            <a:r>
              <a:rPr lang="en-US" sz="4000" b="1" dirty="0">
                <a:solidFill>
                  <a:srgbClr val="22D3EE"/>
                </a:solidFill>
                <a:latin typeface="Cambria" pitchFamily="34" charset="0"/>
                <a:ea typeface="Cambria" pitchFamily="34" charset="-122"/>
                <a:cs typeface="Cambria" pitchFamily="34" charset="-120"/>
              </a:rPr>
              <a:t>01</a:t>
            </a:r>
            <a:endParaRPr lang="en-US" sz="4000" dirty="0"/>
          </a:p>
        </p:txBody>
      </p:sp>
      <p:sp>
        <p:nvSpPr>
          <p:cNvPr id="7" name="Shape 5"/>
          <p:cNvSpPr/>
          <p:nvPr/>
        </p:nvSpPr>
        <p:spPr>
          <a:xfrm>
            <a:off x="2361438" y="2331720"/>
            <a:ext cx="548640" cy="548640"/>
          </a:xfrm>
          <a:prstGeom prst="roundRect">
            <a:avLst>
              <a:gd name="adj" fmla="val 16667"/>
            </a:avLst>
          </a:prstGeom>
          <a:solidFill>
            <a:srgbClr val="22D3EE">
              <a:alpha val="18000"/>
            </a:srgbClr>
          </a:solidFill>
          <a:ln w="6350">
            <a:solidFill>
              <a:srgbClr val="22D3EE">
                <a:alpha val="60000"/>
              </a:srgbClr>
            </a:solidFill>
            <a:prstDash val="solid"/>
          </a:ln>
        </p:spPr>
      </p:sp>
      <p:pic>
        <p:nvPicPr>
          <p:cNvPr id="8" name="Image 0" descr="preencoded.png">    </p:cNvPr>
          <p:cNvPicPr>
            <a:picLocks noChangeAspect="1"/>
          </p:cNvPicPr>
          <p:nvPr/>
        </p:nvPicPr>
        <p:blipFill>
          <a:blip r:embed="rId2"/>
          <a:stretch>
            <a:fillRect/>
          </a:stretch>
        </p:blipFill>
        <p:spPr>
          <a:xfrm>
            <a:off x="2493112" y="2463394"/>
            <a:ext cx="285293" cy="285293"/>
          </a:xfrm>
          <a:prstGeom prst="rect">
            <a:avLst/>
          </a:prstGeom>
        </p:spPr>
      </p:pic>
      <p:sp>
        <p:nvSpPr>
          <p:cNvPr id="9" name="Text 6"/>
          <p:cNvSpPr txBox="1"/>
          <p:nvPr/>
        </p:nvSpPr>
        <p:spPr>
          <a:xfrm>
            <a:off x="822960" y="3017520"/>
            <a:ext cx="2087118" cy="411480"/>
          </a:xfrm>
          <a:prstGeom prst="rect">
            <a:avLst/>
          </a:prstGeom>
          <a:noFill/>
          <a:ln/>
        </p:spPr>
        <p:txBody>
          <a:bodyPr wrap="square" lIns="0" tIns="0" rIns="0" bIns="0" rtlCol="0" anchor="ctr"/>
          <a:lstStyle/>
          <a:p>
            <a:pPr indent="0" marL="0">
              <a:buNone/>
            </a:pPr>
            <a:r>
              <a:rPr lang="en-US" sz="1800" b="1" dirty="0">
                <a:solidFill>
                  <a:srgbClr val="F1F5F9"/>
                </a:solidFill>
                <a:latin typeface="Calibri" pitchFamily="34" charset="0"/>
                <a:ea typeface="Calibri" pitchFamily="34" charset="-122"/>
                <a:cs typeface="Calibri" pitchFamily="34" charset="-120"/>
              </a:rPr>
              <a:t>Foundations</a:t>
            </a:r>
            <a:endParaRPr lang="en-US" sz="1800" dirty="0"/>
          </a:p>
        </p:txBody>
      </p:sp>
      <p:sp>
        <p:nvSpPr>
          <p:cNvPr id="10" name="Text 7"/>
          <p:cNvSpPr txBox="1"/>
          <p:nvPr/>
        </p:nvSpPr>
        <p:spPr>
          <a:xfrm>
            <a:off x="822960" y="3520440"/>
            <a:ext cx="2087118" cy="219456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What is serverless</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What is Knative</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The OpenShift Serverless Operator</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Why we chose it</a:t>
            </a:r>
            <a:endParaRPr lang="en-US" sz="1300" dirty="0"/>
          </a:p>
        </p:txBody>
      </p:sp>
      <p:sp>
        <p:nvSpPr>
          <p:cNvPr id="11" name="Shape 8"/>
          <p:cNvSpPr/>
          <p:nvPr/>
        </p:nvSpPr>
        <p:spPr>
          <a:xfrm>
            <a:off x="3412998" y="2057400"/>
            <a:ext cx="2544318" cy="3840480"/>
          </a:xfrm>
          <a:prstGeom prst="roundRect">
            <a:avLst>
              <a:gd name="adj" fmla="val 4313"/>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12" name="Text 9"/>
          <p:cNvSpPr txBox="1"/>
          <p:nvPr/>
        </p:nvSpPr>
        <p:spPr>
          <a:xfrm>
            <a:off x="3641598" y="2240280"/>
            <a:ext cx="1371600" cy="731520"/>
          </a:xfrm>
          <a:prstGeom prst="rect">
            <a:avLst/>
          </a:prstGeom>
          <a:noFill/>
          <a:ln/>
        </p:spPr>
        <p:txBody>
          <a:bodyPr wrap="square" lIns="0" tIns="0" rIns="0" bIns="0" rtlCol="0" anchor="ctr"/>
          <a:lstStyle/>
          <a:p>
            <a:pPr indent="0" marL="0">
              <a:buNone/>
            </a:pPr>
            <a:r>
              <a:rPr lang="en-US" sz="4000" b="1" dirty="0">
                <a:solidFill>
                  <a:srgbClr val="22D3EE"/>
                </a:solidFill>
                <a:latin typeface="Cambria" pitchFamily="34" charset="0"/>
                <a:ea typeface="Cambria" pitchFamily="34" charset="-122"/>
                <a:cs typeface="Cambria" pitchFamily="34" charset="-120"/>
              </a:rPr>
              <a:t>02</a:t>
            </a:r>
            <a:endParaRPr lang="en-US" sz="4000" dirty="0"/>
          </a:p>
        </p:txBody>
      </p:sp>
      <p:sp>
        <p:nvSpPr>
          <p:cNvPr id="13" name="Shape 10"/>
          <p:cNvSpPr/>
          <p:nvPr/>
        </p:nvSpPr>
        <p:spPr>
          <a:xfrm>
            <a:off x="5180076" y="2331720"/>
            <a:ext cx="548640" cy="548640"/>
          </a:xfrm>
          <a:prstGeom prst="roundRect">
            <a:avLst>
              <a:gd name="adj" fmla="val 16667"/>
            </a:avLst>
          </a:prstGeom>
          <a:solidFill>
            <a:srgbClr val="22D3EE">
              <a:alpha val="18000"/>
            </a:srgbClr>
          </a:solidFill>
          <a:ln w="6350">
            <a:solidFill>
              <a:srgbClr val="22D3EE">
                <a:alpha val="60000"/>
              </a:srgbClr>
            </a:solidFill>
            <a:prstDash val="solid"/>
          </a:ln>
        </p:spPr>
      </p:sp>
      <p:pic>
        <p:nvPicPr>
          <p:cNvPr id="14" name="Image 1" descr="preencoded.png">    </p:cNvPr>
          <p:cNvPicPr>
            <a:picLocks noChangeAspect="1"/>
          </p:cNvPicPr>
          <p:nvPr/>
        </p:nvPicPr>
        <p:blipFill>
          <a:blip r:embed="rId3"/>
          <a:stretch>
            <a:fillRect/>
          </a:stretch>
        </p:blipFill>
        <p:spPr>
          <a:xfrm>
            <a:off x="5311750" y="2463394"/>
            <a:ext cx="285293" cy="285293"/>
          </a:xfrm>
          <a:prstGeom prst="rect">
            <a:avLst/>
          </a:prstGeom>
        </p:spPr>
      </p:pic>
      <p:sp>
        <p:nvSpPr>
          <p:cNvPr id="15" name="Text 11"/>
          <p:cNvSpPr txBox="1"/>
          <p:nvPr/>
        </p:nvSpPr>
        <p:spPr>
          <a:xfrm>
            <a:off x="3641598" y="3017520"/>
            <a:ext cx="2087118" cy="411480"/>
          </a:xfrm>
          <a:prstGeom prst="rect">
            <a:avLst/>
          </a:prstGeom>
          <a:noFill/>
          <a:ln/>
        </p:spPr>
        <p:txBody>
          <a:bodyPr wrap="square" lIns="0" tIns="0" rIns="0" bIns="0" rtlCol="0" anchor="ctr"/>
          <a:lstStyle/>
          <a:p>
            <a:pPr indent="0" marL="0">
              <a:buNone/>
            </a:pPr>
            <a:r>
              <a:rPr lang="en-US" sz="1800" b="1" dirty="0">
                <a:solidFill>
                  <a:srgbClr val="F1F5F9"/>
                </a:solidFill>
                <a:latin typeface="Calibri" pitchFamily="34" charset="0"/>
                <a:ea typeface="Calibri" pitchFamily="34" charset="-122"/>
                <a:cs typeface="Calibri" pitchFamily="34" charset="-120"/>
              </a:rPr>
              <a:t>The API</a:t>
            </a:r>
            <a:endParaRPr lang="en-US" sz="1800" dirty="0"/>
          </a:p>
        </p:txBody>
      </p:sp>
      <p:sp>
        <p:nvSpPr>
          <p:cNvPr id="16" name="Text 12"/>
          <p:cNvSpPr txBox="1"/>
          <p:nvPr/>
        </p:nvSpPr>
        <p:spPr>
          <a:xfrm>
            <a:off x="3641598" y="3520440"/>
            <a:ext cx="2087118" cy="219456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Purpose and structure</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Talking to the cluster with mTLS</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Active/active across two regions</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The tenant controller</a:t>
            </a:r>
            <a:endParaRPr lang="en-US" sz="1300" dirty="0"/>
          </a:p>
        </p:txBody>
      </p:sp>
      <p:sp>
        <p:nvSpPr>
          <p:cNvPr id="17" name="Shape 13"/>
          <p:cNvSpPr/>
          <p:nvPr/>
        </p:nvSpPr>
        <p:spPr>
          <a:xfrm>
            <a:off x="6231636" y="2057400"/>
            <a:ext cx="2544318" cy="3840480"/>
          </a:xfrm>
          <a:prstGeom prst="roundRect">
            <a:avLst>
              <a:gd name="adj" fmla="val 4313"/>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18" name="Text 14"/>
          <p:cNvSpPr txBox="1"/>
          <p:nvPr/>
        </p:nvSpPr>
        <p:spPr>
          <a:xfrm>
            <a:off x="6460236" y="2240280"/>
            <a:ext cx="1371600" cy="731520"/>
          </a:xfrm>
          <a:prstGeom prst="rect">
            <a:avLst/>
          </a:prstGeom>
          <a:noFill/>
          <a:ln/>
        </p:spPr>
        <p:txBody>
          <a:bodyPr wrap="square" lIns="0" tIns="0" rIns="0" bIns="0" rtlCol="0" anchor="ctr"/>
          <a:lstStyle/>
          <a:p>
            <a:pPr indent="0" marL="0">
              <a:buNone/>
            </a:pPr>
            <a:r>
              <a:rPr lang="en-US" sz="4000" b="1" dirty="0">
                <a:solidFill>
                  <a:srgbClr val="F59E0B"/>
                </a:solidFill>
                <a:latin typeface="Cambria" pitchFamily="34" charset="0"/>
                <a:ea typeface="Cambria" pitchFamily="34" charset="-122"/>
                <a:cs typeface="Cambria" pitchFamily="34" charset="-120"/>
              </a:rPr>
              <a:t>03</a:t>
            </a:r>
            <a:endParaRPr lang="en-US" sz="4000" dirty="0"/>
          </a:p>
        </p:txBody>
      </p:sp>
      <p:sp>
        <p:nvSpPr>
          <p:cNvPr id="19" name="Shape 15"/>
          <p:cNvSpPr/>
          <p:nvPr/>
        </p:nvSpPr>
        <p:spPr>
          <a:xfrm>
            <a:off x="7998714" y="2331720"/>
            <a:ext cx="548640" cy="548640"/>
          </a:xfrm>
          <a:prstGeom prst="roundRect">
            <a:avLst>
              <a:gd name="adj" fmla="val 16667"/>
            </a:avLst>
          </a:prstGeom>
          <a:solidFill>
            <a:srgbClr val="F59E0B">
              <a:alpha val="18000"/>
            </a:srgbClr>
          </a:solidFill>
          <a:ln w="6350">
            <a:solidFill>
              <a:srgbClr val="F59E0B">
                <a:alpha val="60000"/>
              </a:srgbClr>
            </a:solidFill>
            <a:prstDash val="solid"/>
          </a:ln>
        </p:spPr>
      </p:sp>
      <p:pic>
        <p:nvPicPr>
          <p:cNvPr id="20" name="Image 2" descr="preencoded.png">    </p:cNvPr>
          <p:cNvPicPr>
            <a:picLocks noChangeAspect="1"/>
          </p:cNvPicPr>
          <p:nvPr/>
        </p:nvPicPr>
        <p:blipFill>
          <a:blip r:embed="rId4"/>
          <a:stretch>
            <a:fillRect/>
          </a:stretch>
        </p:blipFill>
        <p:spPr>
          <a:xfrm>
            <a:off x="8130388" y="2463394"/>
            <a:ext cx="285293" cy="285293"/>
          </a:xfrm>
          <a:prstGeom prst="rect">
            <a:avLst/>
          </a:prstGeom>
        </p:spPr>
      </p:pic>
      <p:sp>
        <p:nvSpPr>
          <p:cNvPr id="21" name="Text 16"/>
          <p:cNvSpPr txBox="1"/>
          <p:nvPr/>
        </p:nvSpPr>
        <p:spPr>
          <a:xfrm>
            <a:off x="6460236" y="3017520"/>
            <a:ext cx="2087118" cy="411480"/>
          </a:xfrm>
          <a:prstGeom prst="rect">
            <a:avLst/>
          </a:prstGeom>
          <a:noFill/>
          <a:ln/>
        </p:spPr>
        <p:txBody>
          <a:bodyPr wrap="square" lIns="0" tIns="0" rIns="0" bIns="0" rtlCol="0" anchor="ctr"/>
          <a:lstStyle/>
          <a:p>
            <a:pPr indent="0" marL="0">
              <a:buNone/>
            </a:pPr>
            <a:r>
              <a:rPr lang="en-US" sz="1800" b="1" dirty="0">
                <a:solidFill>
                  <a:srgbClr val="F1F5F9"/>
                </a:solidFill>
                <a:latin typeface="Calibri" pitchFamily="34" charset="0"/>
                <a:ea typeface="Calibri" pitchFamily="34" charset="-122"/>
                <a:cs typeface="Calibri" pitchFamily="34" charset="-120"/>
              </a:rPr>
              <a:t>Functions &amp; builds</a:t>
            </a:r>
            <a:endParaRPr lang="en-US" sz="1800" dirty="0"/>
          </a:p>
        </p:txBody>
      </p:sp>
      <p:sp>
        <p:nvSpPr>
          <p:cNvPr id="22" name="Text 17"/>
          <p:cNvSpPr txBox="1"/>
          <p:nvPr/>
        </p:nvSpPr>
        <p:spPr>
          <a:xfrm>
            <a:off x="6460236" y="3520440"/>
            <a:ext cx="2087118" cy="219456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Why functions are different</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Buildpacks and kpack</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A build, step by step</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The build controller</a:t>
            </a:r>
            <a:endParaRPr lang="en-US" sz="1300" dirty="0"/>
          </a:p>
        </p:txBody>
      </p:sp>
      <p:sp>
        <p:nvSpPr>
          <p:cNvPr id="23" name="Shape 18"/>
          <p:cNvSpPr/>
          <p:nvPr/>
        </p:nvSpPr>
        <p:spPr>
          <a:xfrm>
            <a:off x="9050274" y="2057400"/>
            <a:ext cx="2544318" cy="3840480"/>
          </a:xfrm>
          <a:prstGeom prst="roundRect">
            <a:avLst>
              <a:gd name="adj" fmla="val 4313"/>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4" name="Text 19"/>
          <p:cNvSpPr txBox="1"/>
          <p:nvPr/>
        </p:nvSpPr>
        <p:spPr>
          <a:xfrm>
            <a:off x="9278874" y="2240280"/>
            <a:ext cx="1371600" cy="731520"/>
          </a:xfrm>
          <a:prstGeom prst="rect">
            <a:avLst/>
          </a:prstGeom>
          <a:noFill/>
          <a:ln/>
        </p:spPr>
        <p:txBody>
          <a:bodyPr wrap="square" lIns="0" tIns="0" rIns="0" bIns="0" rtlCol="0" anchor="ctr"/>
          <a:lstStyle/>
          <a:p>
            <a:pPr indent="0" marL="0">
              <a:buNone/>
            </a:pPr>
            <a:r>
              <a:rPr lang="en-US" sz="4000" b="1" dirty="0">
                <a:solidFill>
                  <a:srgbClr val="A78BFA"/>
                </a:solidFill>
                <a:latin typeface="Cambria" pitchFamily="34" charset="0"/>
                <a:ea typeface="Cambria" pitchFamily="34" charset="-122"/>
                <a:cs typeface="Cambria" pitchFamily="34" charset="-120"/>
              </a:rPr>
              <a:t>04</a:t>
            </a:r>
            <a:endParaRPr lang="en-US" sz="4000" dirty="0"/>
          </a:p>
        </p:txBody>
      </p:sp>
      <p:sp>
        <p:nvSpPr>
          <p:cNvPr id="25" name="Shape 20"/>
          <p:cNvSpPr/>
          <p:nvPr/>
        </p:nvSpPr>
        <p:spPr>
          <a:xfrm>
            <a:off x="10817352" y="2331720"/>
            <a:ext cx="548640" cy="548640"/>
          </a:xfrm>
          <a:prstGeom prst="roundRect">
            <a:avLst>
              <a:gd name="adj" fmla="val 16667"/>
            </a:avLst>
          </a:prstGeom>
          <a:solidFill>
            <a:srgbClr val="A78BFA">
              <a:alpha val="18000"/>
            </a:srgbClr>
          </a:solidFill>
          <a:ln w="6350">
            <a:solidFill>
              <a:srgbClr val="A78BFA">
                <a:alpha val="60000"/>
              </a:srgbClr>
            </a:solidFill>
            <a:prstDash val="solid"/>
          </a:ln>
        </p:spPr>
      </p:sp>
      <p:pic>
        <p:nvPicPr>
          <p:cNvPr id="26" name="Image 3" descr="preencoded.png">    </p:cNvPr>
          <p:cNvPicPr>
            <a:picLocks noChangeAspect="1"/>
          </p:cNvPicPr>
          <p:nvPr/>
        </p:nvPicPr>
        <p:blipFill>
          <a:blip r:embed="rId5"/>
          <a:stretch>
            <a:fillRect/>
          </a:stretch>
        </p:blipFill>
        <p:spPr>
          <a:xfrm>
            <a:off x="10949026" y="2463394"/>
            <a:ext cx="285293" cy="285293"/>
          </a:xfrm>
          <a:prstGeom prst="rect">
            <a:avLst/>
          </a:prstGeom>
        </p:spPr>
      </p:pic>
      <p:sp>
        <p:nvSpPr>
          <p:cNvPr id="27" name="Text 21"/>
          <p:cNvSpPr txBox="1"/>
          <p:nvPr/>
        </p:nvSpPr>
        <p:spPr>
          <a:xfrm>
            <a:off x="9278874" y="3017520"/>
            <a:ext cx="2087118" cy="411480"/>
          </a:xfrm>
          <a:prstGeom prst="rect">
            <a:avLst/>
          </a:prstGeom>
          <a:noFill/>
          <a:ln/>
        </p:spPr>
        <p:txBody>
          <a:bodyPr wrap="square" lIns="0" tIns="0" rIns="0" bIns="0" rtlCol="0" anchor="ctr"/>
          <a:lstStyle/>
          <a:p>
            <a:pPr indent="0" marL="0">
              <a:buNone/>
            </a:pPr>
            <a:r>
              <a:rPr lang="en-US" sz="1800" b="1" dirty="0">
                <a:solidFill>
                  <a:srgbClr val="F1F5F9"/>
                </a:solidFill>
                <a:latin typeface="Calibri" pitchFamily="34" charset="0"/>
                <a:ea typeface="Calibri" pitchFamily="34" charset="-122"/>
                <a:cs typeface="Calibri" pitchFamily="34" charset="-120"/>
              </a:rPr>
              <a:t>Portal &amp; future</a:t>
            </a:r>
            <a:endParaRPr lang="en-US" sz="1800" dirty="0"/>
          </a:p>
        </p:txBody>
      </p:sp>
      <p:sp>
        <p:nvSpPr>
          <p:cNvPr id="28" name="Text 22"/>
          <p:cNvSpPr txBox="1"/>
          <p:nvPr/>
        </p:nvSpPr>
        <p:spPr>
          <a:xfrm>
            <a:off x="9278874" y="3520440"/>
            <a:ext cx="2087118" cy="2194560"/>
          </a:xfrm>
          <a:prstGeom prst="rect">
            <a:avLst/>
          </a:prstGeom>
          <a:noFill/>
          <a:ln/>
        </p:spPr>
        <p:txBody>
          <a:bodyPr wrap="square" lIns="0" tIns="0" rIns="0" bIns="0" rtlCol="0" anchor="t"/>
          <a:lstStyle/>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How the portal wires it together</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The portal beyond serverless</a:t>
            </a:r>
            <a:endParaRPr lang="en-US" sz="1300" dirty="0"/>
          </a:p>
          <a:p>
            <a:pPr marL="152400" indent="-152400">
              <a:spcAft>
                <a:spcPts val="700"/>
              </a:spcAft>
              <a:buSzPct val="100000"/>
              <a:buChar char="•"/>
            </a:pPr>
            <a:r>
              <a:rPr lang="en-US" sz="1300" dirty="0">
                <a:solidFill>
                  <a:srgbClr val="94A3B8"/>
                </a:solidFill>
                <a:latin typeface="Calibri" pitchFamily="34" charset="0"/>
                <a:ea typeface="Calibri" pitchFamily="34" charset="-122"/>
                <a:cs typeface="Calibri" pitchFamily="34" charset="-120"/>
              </a:rPr>
              <a:t>cloudlet-apis: the next API</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01  ·  FOUNDATIONS</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03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What is serverless?</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You bring code. The platform brings the servers, the scaling, and a bill only for what actually runs.</a:t>
            </a:r>
            <a:endParaRPr lang="en-US" sz="1500" dirty="0"/>
          </a:p>
        </p:txBody>
      </p:sp>
      <p:sp>
        <p:nvSpPr>
          <p:cNvPr id="6" name="Shape 4"/>
          <p:cNvSpPr/>
          <p:nvPr/>
        </p:nvSpPr>
        <p:spPr>
          <a:xfrm>
            <a:off x="594360" y="212140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7" name="Image 0" descr="preencoded.png">    </p:cNvPr>
          <p:cNvPicPr>
            <a:picLocks noChangeAspect="1"/>
          </p:cNvPicPr>
          <p:nvPr/>
        </p:nvPicPr>
        <p:blipFill>
          <a:blip r:embed="rId2"/>
          <a:stretch>
            <a:fillRect/>
          </a:stretch>
        </p:blipFill>
        <p:spPr>
          <a:xfrm>
            <a:off x="717255" y="2244303"/>
            <a:ext cx="266273" cy="266273"/>
          </a:xfrm>
          <a:prstGeom prst="rect">
            <a:avLst/>
          </a:prstGeom>
        </p:spPr>
      </p:pic>
      <p:sp>
        <p:nvSpPr>
          <p:cNvPr id="8" name="Text 5"/>
          <p:cNvSpPr txBox="1"/>
          <p:nvPr/>
        </p:nvSpPr>
        <p:spPr>
          <a:xfrm>
            <a:off x="1307592" y="2103120"/>
            <a:ext cx="440740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Scale to zero, and back</a:t>
            </a:r>
            <a:endParaRPr lang="en-US" sz="1500" dirty="0"/>
          </a:p>
        </p:txBody>
      </p:sp>
      <p:sp>
        <p:nvSpPr>
          <p:cNvPr id="9" name="Text 6"/>
          <p:cNvSpPr txBox="1"/>
          <p:nvPr/>
        </p:nvSpPr>
        <p:spPr>
          <a:xfrm>
            <a:off x="1307592" y="2404872"/>
            <a:ext cx="4407408" cy="749808"/>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An idle workload costs nothing. The first request wakes it; a burst fans it out to as many replicas as the traffic needs.</a:t>
            </a:r>
            <a:endParaRPr lang="en-US" sz="1250" dirty="0"/>
          </a:p>
        </p:txBody>
      </p:sp>
      <p:sp>
        <p:nvSpPr>
          <p:cNvPr id="10" name="Shape 7"/>
          <p:cNvSpPr/>
          <p:nvPr/>
        </p:nvSpPr>
        <p:spPr>
          <a:xfrm>
            <a:off x="594360" y="335584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11" name="Image 1" descr="preencoded.png">    </p:cNvPr>
          <p:cNvPicPr>
            <a:picLocks noChangeAspect="1"/>
          </p:cNvPicPr>
          <p:nvPr/>
        </p:nvPicPr>
        <p:blipFill>
          <a:blip r:embed="rId3"/>
          <a:stretch>
            <a:fillRect/>
          </a:stretch>
        </p:blipFill>
        <p:spPr>
          <a:xfrm>
            <a:off x="717255" y="3478743"/>
            <a:ext cx="266273" cy="266273"/>
          </a:xfrm>
          <a:prstGeom prst="rect">
            <a:avLst/>
          </a:prstGeom>
        </p:spPr>
      </p:pic>
      <p:sp>
        <p:nvSpPr>
          <p:cNvPr id="12" name="Text 8"/>
          <p:cNvSpPr txBox="1"/>
          <p:nvPr/>
        </p:nvSpPr>
        <p:spPr>
          <a:xfrm>
            <a:off x="1307592" y="3337560"/>
            <a:ext cx="440740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No servers to own</a:t>
            </a:r>
            <a:endParaRPr lang="en-US" sz="1500" dirty="0"/>
          </a:p>
        </p:txBody>
      </p:sp>
      <p:sp>
        <p:nvSpPr>
          <p:cNvPr id="13" name="Text 9"/>
          <p:cNvSpPr txBox="1"/>
          <p:nvPr/>
        </p:nvSpPr>
        <p:spPr>
          <a:xfrm>
            <a:off x="1307592" y="3639312"/>
            <a:ext cx="4407408" cy="749808"/>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No VMs to patch, no capacity to plan, no cluster to learn. You deploy a unit of work, not a machine.</a:t>
            </a:r>
            <a:endParaRPr lang="en-US" sz="1250" dirty="0"/>
          </a:p>
        </p:txBody>
      </p:sp>
      <p:sp>
        <p:nvSpPr>
          <p:cNvPr id="14" name="Shape 10"/>
          <p:cNvSpPr/>
          <p:nvPr/>
        </p:nvSpPr>
        <p:spPr>
          <a:xfrm>
            <a:off x="594360" y="459028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15" name="Image 2" descr="preencoded.png">    </p:cNvPr>
          <p:cNvPicPr>
            <a:picLocks noChangeAspect="1"/>
          </p:cNvPicPr>
          <p:nvPr/>
        </p:nvPicPr>
        <p:blipFill>
          <a:blip r:embed="rId4"/>
          <a:stretch>
            <a:fillRect/>
          </a:stretch>
        </p:blipFill>
        <p:spPr>
          <a:xfrm>
            <a:off x="717255" y="4713183"/>
            <a:ext cx="266273" cy="266273"/>
          </a:xfrm>
          <a:prstGeom prst="rect">
            <a:avLst/>
          </a:prstGeom>
        </p:spPr>
      </p:pic>
      <p:sp>
        <p:nvSpPr>
          <p:cNvPr id="16" name="Text 11"/>
          <p:cNvSpPr txBox="1"/>
          <p:nvPr/>
        </p:nvSpPr>
        <p:spPr>
          <a:xfrm>
            <a:off x="1307592" y="4572000"/>
            <a:ext cx="440740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Driven by requests</a:t>
            </a:r>
            <a:endParaRPr lang="en-US" sz="1500" dirty="0"/>
          </a:p>
        </p:txBody>
      </p:sp>
      <p:sp>
        <p:nvSpPr>
          <p:cNvPr id="17" name="Text 12"/>
          <p:cNvSpPr txBox="1"/>
          <p:nvPr/>
        </p:nvSpPr>
        <p:spPr>
          <a:xfrm>
            <a:off x="1307592" y="4873752"/>
            <a:ext cx="4407408" cy="749808"/>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Every instance exists because traffic asked for it, and disappears when the traffic stops. The unit of billing is the request, not the hour.</a:t>
            </a:r>
            <a:endParaRPr lang="en-US" sz="1250" dirty="0"/>
          </a:p>
        </p:txBody>
      </p:sp>
      <p:sp>
        <p:nvSpPr>
          <p:cNvPr id="18" name="Shape 13"/>
          <p:cNvSpPr/>
          <p:nvPr/>
        </p:nvSpPr>
        <p:spPr>
          <a:xfrm>
            <a:off x="6309360" y="2057400"/>
            <a:ext cx="5285232" cy="3840480"/>
          </a:xfrm>
          <a:prstGeom prst="roundRect">
            <a:avLst>
              <a:gd name="adj" fmla="val 2857"/>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19" name="Text 14"/>
          <p:cNvSpPr txBox="1"/>
          <p:nvPr/>
        </p:nvSpPr>
        <p:spPr>
          <a:xfrm>
            <a:off x="6537960" y="2194560"/>
            <a:ext cx="4572000" cy="32004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Replicas follow traffic</a:t>
            </a:r>
            <a:endParaRPr lang="en-US" sz="1400" dirty="0"/>
          </a:p>
        </p:txBody>
      </p:sp>
      <p:sp>
        <p:nvSpPr>
          <p:cNvPr id="20" name="Text 15"/>
          <p:cNvSpPr txBox="1"/>
          <p:nvPr/>
        </p:nvSpPr>
        <p:spPr>
          <a:xfrm>
            <a:off x="6537960" y="2487168"/>
            <a:ext cx="4754880" cy="274320"/>
          </a:xfrm>
          <a:prstGeom prst="rect">
            <a:avLst/>
          </a:prstGeom>
          <a:noFill/>
          <a:ln/>
        </p:spPr>
        <p:txBody>
          <a:bodyPr wrap="square" lIns="0" tIns="0" rIns="0" bIns="0" rtlCol="0" anchor="ctr"/>
          <a:lstStyle/>
          <a:p>
            <a:pPr indent="0" marL="0">
              <a:buNone/>
            </a:pPr>
            <a:r>
              <a:rPr lang="en-US" sz="1100" i="1" dirty="0">
                <a:solidFill>
                  <a:srgbClr val="94A3B8"/>
                </a:solidFill>
                <a:latin typeface="Calibri" pitchFamily="34" charset="0"/>
                <a:ea typeface="Calibri" pitchFamily="34" charset="-122"/>
                <a:cs typeface="Calibri" pitchFamily="34" charset="-120"/>
              </a:rPr>
              <a:t>A function's day: nothing, a burst, nothing again.</a:t>
            </a:r>
            <a:endParaRPr lang="en-US" sz="1100" dirty="0"/>
          </a:p>
        </p:txBody>
      </p:sp>
      <p:graphicFrame>
        <p:nvGraphicFramePr>
          <p:cNvPr id="21" name="Chart 0" descr=""/>
          <p:cNvGraphicFramePr/>
          <p:nvPr/>
        </p:nvGraphicFramePr>
        <p:xfrm>
          <a:off x="6446520" y="2788920"/>
          <a:ext cx="5029200" cy="3017520"/>
        </p:xfrm>
        <a:graphic xmlns:a="http://schemas.openxmlformats.org/drawingml/2006/main">
          <a:graphicData uri="http://schemas.openxmlformats.org/drawingml/2006/chart">
            <c:chart xmlns:c="http://schemas.openxmlformats.org/drawingml/2006/chart" r:id="rId5"/>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01  ·  FOUNDATIONS</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04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What is Knative?</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The Kubernetes-native building blocks for serverless. We use Serving: one object in, a routed, autoscaled, versioned workload out.</a:t>
            </a:r>
            <a:endParaRPr lang="en-US" sz="1500" dirty="0"/>
          </a:p>
        </p:txBody>
      </p:sp>
      <p:sp>
        <p:nvSpPr>
          <p:cNvPr id="6" name="Shape 4"/>
          <p:cNvSpPr/>
          <p:nvPr/>
        </p:nvSpPr>
        <p:spPr>
          <a:xfrm>
            <a:off x="2057400" y="2103120"/>
            <a:ext cx="2651760" cy="731520"/>
          </a:xfrm>
          <a:prstGeom prst="roundRect">
            <a:avLst>
              <a:gd name="adj" fmla="val 12500"/>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2057400" y="2103120"/>
            <a:ext cx="2651760" cy="73152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Knative Service</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serving.knative.dev/v1 · the one object you write</a:t>
            </a:r>
            <a:endParaRPr lang="en-US" sz="1300" dirty="0"/>
          </a:p>
        </p:txBody>
      </p:sp>
      <p:sp>
        <p:nvSpPr>
          <p:cNvPr id="8" name="Shape 6"/>
          <p:cNvSpPr/>
          <p:nvPr/>
        </p:nvSpPr>
        <p:spPr>
          <a:xfrm flipH="1">
            <a:off x="1783080" y="2834640"/>
            <a:ext cx="914400" cy="640080"/>
          </a:xfrm>
          <a:prstGeom prst="line">
            <a:avLst/>
          </a:prstGeom>
          <a:noFill/>
          <a:ln w="19050">
            <a:solidFill>
              <a:srgbClr val="5B6B8A"/>
            </a:solidFill>
            <a:prstDash val="solid"/>
            <a:tailEnd type="triangle"/>
          </a:ln>
        </p:spPr>
      </p:sp>
      <p:sp>
        <p:nvSpPr>
          <p:cNvPr id="9" name="Shape 7"/>
          <p:cNvSpPr/>
          <p:nvPr/>
        </p:nvSpPr>
        <p:spPr>
          <a:xfrm>
            <a:off x="4069080" y="2834640"/>
            <a:ext cx="914400" cy="640080"/>
          </a:xfrm>
          <a:prstGeom prst="line">
            <a:avLst/>
          </a:prstGeom>
          <a:noFill/>
          <a:ln w="19050">
            <a:solidFill>
              <a:srgbClr val="5B6B8A"/>
            </a:solidFill>
            <a:prstDash val="solid"/>
            <a:tailEnd type="triangle"/>
          </a:ln>
        </p:spPr>
      </p:sp>
      <p:sp>
        <p:nvSpPr>
          <p:cNvPr id="10" name="Shape 8"/>
          <p:cNvSpPr/>
          <p:nvPr/>
        </p:nvSpPr>
        <p:spPr>
          <a:xfrm>
            <a:off x="594360" y="3474720"/>
            <a:ext cx="2377440" cy="731520"/>
          </a:xfrm>
          <a:prstGeom prst="roundRect">
            <a:avLst>
              <a:gd name="adj" fmla="val 12500"/>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1" name="Text 9"/>
          <p:cNvSpPr txBox="1"/>
          <p:nvPr/>
        </p:nvSpPr>
        <p:spPr>
          <a:xfrm>
            <a:off x="594360" y="3474720"/>
            <a:ext cx="2377440" cy="73152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Configuration</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desired state of the code</a:t>
            </a:r>
            <a:endParaRPr lang="en-US" sz="1300" dirty="0"/>
          </a:p>
        </p:txBody>
      </p:sp>
      <p:sp>
        <p:nvSpPr>
          <p:cNvPr id="12" name="Shape 10"/>
          <p:cNvSpPr/>
          <p:nvPr/>
        </p:nvSpPr>
        <p:spPr>
          <a:xfrm>
            <a:off x="3794760" y="3474720"/>
            <a:ext cx="2377440" cy="731520"/>
          </a:xfrm>
          <a:prstGeom prst="roundRect">
            <a:avLst>
              <a:gd name="adj" fmla="val 12500"/>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3" name="Text 11"/>
          <p:cNvSpPr txBox="1"/>
          <p:nvPr/>
        </p:nvSpPr>
        <p:spPr>
          <a:xfrm>
            <a:off x="3794760" y="3474720"/>
            <a:ext cx="2377440" cy="73152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Route</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traffic → revisions, 100% or split</a:t>
            </a:r>
            <a:endParaRPr lang="en-US" sz="1300" dirty="0"/>
          </a:p>
        </p:txBody>
      </p:sp>
      <p:sp>
        <p:nvSpPr>
          <p:cNvPr id="14" name="Shape 12"/>
          <p:cNvSpPr/>
          <p:nvPr/>
        </p:nvSpPr>
        <p:spPr>
          <a:xfrm>
            <a:off x="1783080" y="4206240"/>
            <a:ext cx="0" cy="640080"/>
          </a:xfrm>
          <a:prstGeom prst="line">
            <a:avLst/>
          </a:prstGeom>
          <a:noFill/>
          <a:ln w="19050">
            <a:solidFill>
              <a:srgbClr val="5B6B8A"/>
            </a:solidFill>
            <a:prstDash val="solid"/>
            <a:tailEnd type="triangle"/>
          </a:ln>
        </p:spPr>
      </p:sp>
      <p:sp>
        <p:nvSpPr>
          <p:cNvPr id="15" name="Shape 13"/>
          <p:cNvSpPr/>
          <p:nvPr/>
        </p:nvSpPr>
        <p:spPr>
          <a:xfrm>
            <a:off x="594360" y="4846320"/>
            <a:ext cx="2377440" cy="777240"/>
          </a:xfrm>
          <a:prstGeom prst="roundRect">
            <a:avLst>
              <a:gd name="adj" fmla="val 11765"/>
            </a:avLst>
          </a:prstGeom>
          <a:solidFill>
            <a:srgbClr val="121A2C"/>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6" name="Text 14"/>
          <p:cNvSpPr txBox="1"/>
          <p:nvPr/>
        </p:nvSpPr>
        <p:spPr>
          <a:xfrm>
            <a:off x="594360" y="4846320"/>
            <a:ext cx="2377440" cy="77724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Revision N</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immutable snapshot: image + config</a:t>
            </a:r>
            <a:endParaRPr lang="en-US" sz="1300" dirty="0"/>
          </a:p>
        </p:txBody>
      </p:sp>
      <p:sp>
        <p:nvSpPr>
          <p:cNvPr id="17" name="Shape 15"/>
          <p:cNvSpPr/>
          <p:nvPr/>
        </p:nvSpPr>
        <p:spPr>
          <a:xfrm flipH="1">
            <a:off x="2971800" y="5212080"/>
            <a:ext cx="822960" cy="0"/>
          </a:xfrm>
          <a:prstGeom prst="line">
            <a:avLst/>
          </a:prstGeom>
          <a:noFill/>
          <a:ln w="19050">
            <a:solidFill>
              <a:srgbClr val="5B6B8A"/>
            </a:solidFill>
            <a:prstDash val="dash"/>
            <a:tailEnd type="triangle"/>
          </a:ln>
        </p:spPr>
      </p:sp>
      <p:sp>
        <p:nvSpPr>
          <p:cNvPr id="18" name="Shape 16"/>
          <p:cNvSpPr/>
          <p:nvPr/>
        </p:nvSpPr>
        <p:spPr>
          <a:xfrm>
            <a:off x="3794760" y="4846320"/>
            <a:ext cx="2377440" cy="777240"/>
          </a:xfrm>
          <a:prstGeom prst="roundRect">
            <a:avLst>
              <a:gd name="adj" fmla="val 11765"/>
            </a:avLst>
          </a:prstGeom>
          <a:solidFill>
            <a:srgbClr val="18213A"/>
          </a:solidFill>
          <a:ln w="12700">
            <a:solidFill>
              <a:srgbClr val="34D399"/>
            </a:solidFill>
            <a:prstDash val="solid"/>
          </a:ln>
          <a:effectLst>
            <a:outerShdw sx="100000" sy="100000" kx="0" ky="0" algn="bl" rotWithShape="0" blurRad="101600" dist="38100" dir="5400000">
              <a:srgbClr val="000000">
                <a:alpha val="35000"/>
              </a:srgbClr>
            </a:outerShdw>
          </a:effectLst>
        </p:spPr>
      </p:sp>
      <p:sp>
        <p:nvSpPr>
          <p:cNvPr id="19" name="Text 17"/>
          <p:cNvSpPr txBox="1"/>
          <p:nvPr/>
        </p:nvSpPr>
        <p:spPr>
          <a:xfrm>
            <a:off x="3794760" y="4846320"/>
            <a:ext cx="2377440" cy="77724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Autoscaler (KPA)</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concurrency in → replicas out, 0…N</a:t>
            </a:r>
            <a:endParaRPr lang="en-US" sz="1300" dirty="0"/>
          </a:p>
        </p:txBody>
      </p:sp>
      <p:sp>
        <p:nvSpPr>
          <p:cNvPr id="20" name="Text 18"/>
          <p:cNvSpPr txBox="1"/>
          <p:nvPr/>
        </p:nvSpPr>
        <p:spPr>
          <a:xfrm>
            <a:off x="594360" y="5715000"/>
            <a:ext cx="5577840" cy="274320"/>
          </a:xfrm>
          <a:prstGeom prst="rect">
            <a:avLst/>
          </a:prstGeom>
          <a:noFill/>
          <a:ln/>
        </p:spPr>
        <p:txBody>
          <a:bodyPr wrap="square" lIns="0" tIns="0" rIns="0" bIns="0" rtlCol="0" anchor="ctr"/>
          <a:lstStyle/>
          <a:p>
            <a:pPr algn="l" indent="0" marL="0">
              <a:buNone/>
            </a:pPr>
            <a:r>
              <a:rPr lang="en-US" sz="1050" i="1" dirty="0">
                <a:solidFill>
                  <a:srgbClr val="5B6B8A"/>
                </a:solidFill>
                <a:latin typeface="Calibri" pitchFamily="34" charset="0"/>
                <a:ea typeface="Calibri" pitchFamily="34" charset="-122"/>
                <a:cs typeface="Calibri" pitchFamily="34" charset="-120"/>
              </a:rPr>
              <a:t>The Activator holds requests while a revision scales up from zero.</a:t>
            </a:r>
            <a:endParaRPr lang="en-US" sz="1050" dirty="0"/>
          </a:p>
        </p:txBody>
      </p:sp>
      <p:sp>
        <p:nvSpPr>
          <p:cNvPr id="21" name="Shape 19"/>
          <p:cNvSpPr/>
          <p:nvPr/>
        </p:nvSpPr>
        <p:spPr>
          <a:xfrm>
            <a:off x="6812280" y="2103120"/>
            <a:ext cx="4782312" cy="1298448"/>
          </a:xfrm>
          <a:prstGeom prst="roundRect">
            <a:avLst>
              <a:gd name="adj" fmla="val 8451"/>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2" name="Shape 20"/>
          <p:cNvSpPr/>
          <p:nvPr/>
        </p:nvSpPr>
        <p:spPr>
          <a:xfrm>
            <a:off x="7013448" y="230428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23" name="Image 0" descr="preencoded.png">    </p:cNvPr>
          <p:cNvPicPr>
            <a:picLocks noChangeAspect="1"/>
          </p:cNvPicPr>
          <p:nvPr/>
        </p:nvPicPr>
        <p:blipFill>
          <a:blip r:embed="rId2"/>
          <a:stretch>
            <a:fillRect/>
          </a:stretch>
        </p:blipFill>
        <p:spPr>
          <a:xfrm>
            <a:off x="7123176" y="2414016"/>
            <a:ext cx="237744" cy="237744"/>
          </a:xfrm>
          <a:prstGeom prst="rect">
            <a:avLst/>
          </a:prstGeom>
        </p:spPr>
      </p:pic>
      <p:sp>
        <p:nvSpPr>
          <p:cNvPr id="24" name="Text 21"/>
          <p:cNvSpPr txBox="1"/>
          <p:nvPr/>
        </p:nvSpPr>
        <p:spPr>
          <a:xfrm>
            <a:off x="7607808" y="2304288"/>
            <a:ext cx="3803904"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Serving</a:t>
            </a:r>
            <a:endParaRPr lang="en-US" sz="1500" dirty="0"/>
          </a:p>
        </p:txBody>
      </p:sp>
      <p:sp>
        <p:nvSpPr>
          <p:cNvPr id="25" name="Text 22"/>
          <p:cNvSpPr txBox="1"/>
          <p:nvPr/>
        </p:nvSpPr>
        <p:spPr>
          <a:xfrm>
            <a:off x="7013448" y="2926080"/>
            <a:ext cx="4379976" cy="338328"/>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Request-driven workloads with scale-to-zero, revision history and traffic routing. The half we run in production.</a:t>
            </a:r>
            <a:endParaRPr lang="en-US" sz="1150" dirty="0"/>
          </a:p>
        </p:txBody>
      </p:sp>
      <p:sp>
        <p:nvSpPr>
          <p:cNvPr id="26" name="Shape 23"/>
          <p:cNvSpPr/>
          <p:nvPr/>
        </p:nvSpPr>
        <p:spPr>
          <a:xfrm>
            <a:off x="6812280" y="3493008"/>
            <a:ext cx="4782312" cy="1298448"/>
          </a:xfrm>
          <a:prstGeom prst="roundRect">
            <a:avLst>
              <a:gd name="adj" fmla="val 8451"/>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7" name="Shape 24"/>
          <p:cNvSpPr/>
          <p:nvPr/>
        </p:nvSpPr>
        <p:spPr>
          <a:xfrm>
            <a:off x="7013448" y="3694176"/>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28" name="Image 1" descr="preencoded.png">    </p:cNvPr>
          <p:cNvPicPr>
            <a:picLocks noChangeAspect="1"/>
          </p:cNvPicPr>
          <p:nvPr/>
        </p:nvPicPr>
        <p:blipFill>
          <a:blip r:embed="rId3"/>
          <a:stretch>
            <a:fillRect/>
          </a:stretch>
        </p:blipFill>
        <p:spPr>
          <a:xfrm>
            <a:off x="7123176" y="3803904"/>
            <a:ext cx="237744" cy="237744"/>
          </a:xfrm>
          <a:prstGeom prst="rect">
            <a:avLst/>
          </a:prstGeom>
        </p:spPr>
      </p:pic>
      <p:sp>
        <p:nvSpPr>
          <p:cNvPr id="29" name="Text 25"/>
          <p:cNvSpPr txBox="1"/>
          <p:nvPr/>
        </p:nvSpPr>
        <p:spPr>
          <a:xfrm>
            <a:off x="7607808" y="3694176"/>
            <a:ext cx="3803904"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Eventing</a:t>
            </a:r>
            <a:endParaRPr lang="en-US" sz="1500" dirty="0"/>
          </a:p>
        </p:txBody>
      </p:sp>
      <p:sp>
        <p:nvSpPr>
          <p:cNvPr id="30" name="Text 26"/>
          <p:cNvSpPr txBox="1"/>
          <p:nvPr/>
        </p:nvSpPr>
        <p:spPr>
          <a:xfrm>
            <a:off x="7013448" y="4315968"/>
            <a:ext cx="4379976" cy="338328"/>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Brokers, triggers and CloudEvents for event-driven flows. Knative ships it; our platform does not expose it yet.</a:t>
            </a:r>
            <a:endParaRPr lang="en-US" sz="1150" dirty="0"/>
          </a:p>
        </p:txBody>
      </p:sp>
      <p:sp>
        <p:nvSpPr>
          <p:cNvPr id="31" name="Shape 27"/>
          <p:cNvSpPr/>
          <p:nvPr/>
        </p:nvSpPr>
        <p:spPr>
          <a:xfrm>
            <a:off x="6812280" y="4882896"/>
            <a:ext cx="4782312" cy="1298448"/>
          </a:xfrm>
          <a:prstGeom prst="roundRect">
            <a:avLst>
              <a:gd name="adj" fmla="val 8451"/>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2" name="Shape 28"/>
          <p:cNvSpPr/>
          <p:nvPr/>
        </p:nvSpPr>
        <p:spPr>
          <a:xfrm>
            <a:off x="7013448" y="5084064"/>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33" name="Image 2" descr="preencoded.png">    </p:cNvPr>
          <p:cNvPicPr>
            <a:picLocks noChangeAspect="1"/>
          </p:cNvPicPr>
          <p:nvPr/>
        </p:nvPicPr>
        <p:blipFill>
          <a:blip r:embed="rId4"/>
          <a:stretch>
            <a:fillRect/>
          </a:stretch>
        </p:blipFill>
        <p:spPr>
          <a:xfrm>
            <a:off x="7123176" y="5193792"/>
            <a:ext cx="237744" cy="237744"/>
          </a:xfrm>
          <a:prstGeom prst="rect">
            <a:avLst/>
          </a:prstGeom>
        </p:spPr>
      </p:pic>
      <p:sp>
        <p:nvSpPr>
          <p:cNvPr id="34" name="Text 29"/>
          <p:cNvSpPr txBox="1"/>
          <p:nvPr/>
        </p:nvSpPr>
        <p:spPr>
          <a:xfrm>
            <a:off x="7607808" y="5084064"/>
            <a:ext cx="3803904"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DomainMapping</a:t>
            </a:r>
            <a:endParaRPr lang="en-US" sz="1500" dirty="0"/>
          </a:p>
        </p:txBody>
      </p:sp>
      <p:sp>
        <p:nvSpPr>
          <p:cNvPr id="35" name="Text 30"/>
          <p:cNvSpPr txBox="1"/>
          <p:nvPr/>
        </p:nvSpPr>
        <p:spPr>
          <a:xfrm>
            <a:off x="7013448" y="5705856"/>
            <a:ext cx="4379976" cy="338328"/>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Your own hostname on a Service. It becomes the way we give one workload the same address in both regions.</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01  ·  FOUNDATIONS</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05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What is the OpenShift Serverless Operator?</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Red Hat's supported distribution of Knative, installed, configured and upgraded by the Operator Lifecycle Manager.</a:t>
            </a:r>
            <a:endParaRPr lang="en-US" sz="1500" dirty="0"/>
          </a:p>
        </p:txBody>
      </p:sp>
      <p:sp>
        <p:nvSpPr>
          <p:cNvPr id="6" name="Shape 4"/>
          <p:cNvSpPr/>
          <p:nvPr/>
        </p:nvSpPr>
        <p:spPr>
          <a:xfrm>
            <a:off x="594360" y="212140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7" name="Image 0" descr="preencoded.png">    </p:cNvPr>
          <p:cNvPicPr>
            <a:picLocks noChangeAspect="1"/>
          </p:cNvPicPr>
          <p:nvPr/>
        </p:nvPicPr>
        <p:blipFill>
          <a:blip r:embed="rId2"/>
          <a:stretch>
            <a:fillRect/>
          </a:stretch>
        </p:blipFill>
        <p:spPr>
          <a:xfrm>
            <a:off x="717255" y="2244303"/>
            <a:ext cx="266273" cy="266273"/>
          </a:xfrm>
          <a:prstGeom prst="rect">
            <a:avLst/>
          </a:prstGeom>
        </p:spPr>
      </p:pic>
      <p:sp>
        <p:nvSpPr>
          <p:cNvPr id="8" name="Text 5"/>
          <p:cNvSpPr txBox="1"/>
          <p:nvPr/>
        </p:nvSpPr>
        <p:spPr>
          <a:xfrm>
            <a:off x="1307592" y="2103120"/>
            <a:ext cx="523036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One CR describes Knative</a:t>
            </a:r>
            <a:endParaRPr lang="en-US" sz="1500" dirty="0"/>
          </a:p>
        </p:txBody>
      </p:sp>
      <p:sp>
        <p:nvSpPr>
          <p:cNvPr id="9" name="Text 6"/>
          <p:cNvSpPr txBox="1"/>
          <p:nvPr/>
        </p:nvSpPr>
        <p:spPr>
          <a:xfrm>
            <a:off x="1307592" y="2404872"/>
            <a:ext cx="5230368" cy="886968"/>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A KnativeServing custom resource in the knative-serving namespace. The operator installs every component from it and upgrades them with the catalog.</a:t>
            </a:r>
            <a:endParaRPr lang="en-US" sz="1250" dirty="0"/>
          </a:p>
        </p:txBody>
      </p:sp>
      <p:sp>
        <p:nvSpPr>
          <p:cNvPr id="10" name="Shape 7"/>
          <p:cNvSpPr/>
          <p:nvPr/>
        </p:nvSpPr>
        <p:spPr>
          <a:xfrm>
            <a:off x="594360" y="340156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11" name="Image 1" descr="preencoded.png">    </p:cNvPr>
          <p:cNvPicPr>
            <a:picLocks noChangeAspect="1"/>
          </p:cNvPicPr>
          <p:nvPr/>
        </p:nvPicPr>
        <p:blipFill>
          <a:blip r:embed="rId3"/>
          <a:stretch>
            <a:fillRect/>
          </a:stretch>
        </p:blipFill>
        <p:spPr>
          <a:xfrm>
            <a:off x="717255" y="3524463"/>
            <a:ext cx="266273" cy="266273"/>
          </a:xfrm>
          <a:prstGeom prst="rect">
            <a:avLst/>
          </a:prstGeom>
        </p:spPr>
      </p:pic>
      <p:sp>
        <p:nvSpPr>
          <p:cNvPr id="12" name="Text 8"/>
          <p:cNvSpPr txBox="1"/>
          <p:nvPr/>
        </p:nvSpPr>
        <p:spPr>
          <a:xfrm>
            <a:off x="1307592" y="3383280"/>
            <a:ext cx="523036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Kourier ingress and real Routes</a:t>
            </a:r>
            <a:endParaRPr lang="en-US" sz="1500" dirty="0"/>
          </a:p>
        </p:txBody>
      </p:sp>
      <p:sp>
        <p:nvSpPr>
          <p:cNvPr id="13" name="Text 9"/>
          <p:cNvSpPr txBox="1"/>
          <p:nvPr/>
        </p:nvSpPr>
        <p:spPr>
          <a:xfrm>
            <a:off x="1307592" y="3685032"/>
            <a:ext cx="5230368" cy="886968"/>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Ingress runs in knative-serving-ingress. Every Knative Service and DomainMapping gets an OpenShift Route created for it, edge-terminated with the cluster wildcard.</a:t>
            </a:r>
            <a:endParaRPr lang="en-US" sz="1250" dirty="0"/>
          </a:p>
        </p:txBody>
      </p:sp>
      <p:sp>
        <p:nvSpPr>
          <p:cNvPr id="14" name="Shape 10"/>
          <p:cNvSpPr/>
          <p:nvPr/>
        </p:nvSpPr>
        <p:spPr>
          <a:xfrm>
            <a:off x="594360" y="468172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15" name="Image 2" descr="preencoded.png">    </p:cNvPr>
          <p:cNvPicPr>
            <a:picLocks noChangeAspect="1"/>
          </p:cNvPicPr>
          <p:nvPr/>
        </p:nvPicPr>
        <p:blipFill>
          <a:blip r:embed="rId4"/>
          <a:stretch>
            <a:fillRect/>
          </a:stretch>
        </p:blipFill>
        <p:spPr>
          <a:xfrm>
            <a:off x="717255" y="4804623"/>
            <a:ext cx="266273" cy="266273"/>
          </a:xfrm>
          <a:prstGeom prst="rect">
            <a:avLst/>
          </a:prstGeom>
        </p:spPr>
      </p:pic>
      <p:sp>
        <p:nvSpPr>
          <p:cNvPr id="16" name="Text 11"/>
          <p:cNvSpPr txBox="1"/>
          <p:nvPr/>
        </p:nvSpPr>
        <p:spPr>
          <a:xfrm>
            <a:off x="1307592" y="4663440"/>
            <a:ext cx="523036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Supported and mirrorable</a:t>
            </a:r>
            <a:endParaRPr lang="en-US" sz="1500" dirty="0"/>
          </a:p>
        </p:txBody>
      </p:sp>
      <p:sp>
        <p:nvSpPr>
          <p:cNvPr id="17" name="Text 12"/>
          <p:cNvSpPr txBox="1"/>
          <p:nvPr/>
        </p:nvSpPr>
        <p:spPr>
          <a:xfrm>
            <a:off x="1307592" y="4965192"/>
            <a:ext cx="5230368" cy="886968"/>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OLM catalog images mirror with oc-mirror, which is how a supported Knative reaches an airgapped datacenter at all.</a:t>
            </a:r>
            <a:endParaRPr lang="en-US" sz="1250" dirty="0"/>
          </a:p>
        </p:txBody>
      </p:sp>
      <p:sp>
        <p:nvSpPr>
          <p:cNvPr id="18" name="Shape 13"/>
          <p:cNvSpPr/>
          <p:nvPr/>
        </p:nvSpPr>
        <p:spPr>
          <a:xfrm>
            <a:off x="7406640" y="2103120"/>
            <a:ext cx="4160520" cy="658368"/>
          </a:xfrm>
          <a:prstGeom prst="roundRect">
            <a:avLst>
              <a:gd name="adj" fmla="val 13889"/>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9" name="Text 14"/>
          <p:cNvSpPr txBox="1"/>
          <p:nvPr/>
        </p:nvSpPr>
        <p:spPr>
          <a:xfrm>
            <a:off x="7406640" y="2103120"/>
            <a:ext cx="4160520" cy="658368"/>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Knative Serving</a:t>
            </a:r>
            <a:endParaRPr lang="en-US" sz="1300" dirty="0"/>
          </a:p>
          <a:p>
            <a:pPr algn="ctr" indent="0" marL="0">
              <a:buNone/>
            </a:pPr>
            <a:r>
              <a:rPr lang="en-US" sz="950" dirty="0">
                <a:solidFill>
                  <a:srgbClr val="94A3B8"/>
                </a:solidFill>
                <a:latin typeface="Calibri" pitchFamily="34" charset="0"/>
                <a:ea typeface="Calibri" pitchFamily="34" charset="-122"/>
                <a:cs typeface="Calibri" pitchFamily="34" charset="-120"/>
              </a:rPr>
              <a:t>Service · Revision · Route · autoscaler · DomainMapping</a:t>
            </a:r>
            <a:endParaRPr lang="en-US" sz="1300" dirty="0"/>
          </a:p>
        </p:txBody>
      </p:sp>
      <p:sp>
        <p:nvSpPr>
          <p:cNvPr id="20" name="Shape 15"/>
          <p:cNvSpPr/>
          <p:nvPr/>
        </p:nvSpPr>
        <p:spPr>
          <a:xfrm>
            <a:off x="7406640" y="2852928"/>
            <a:ext cx="4160520" cy="658368"/>
          </a:xfrm>
          <a:prstGeom prst="roundRect">
            <a:avLst>
              <a:gd name="adj" fmla="val 13889"/>
            </a:avLst>
          </a:prstGeom>
          <a:solidFill>
            <a:srgbClr val="121A2C"/>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21" name="Text 16"/>
          <p:cNvSpPr txBox="1"/>
          <p:nvPr/>
        </p:nvSpPr>
        <p:spPr>
          <a:xfrm>
            <a:off x="7406640" y="2852928"/>
            <a:ext cx="4160520" cy="658368"/>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KnativeServing CR</a:t>
            </a:r>
            <a:endParaRPr lang="en-US" sz="1300" dirty="0"/>
          </a:p>
          <a:p>
            <a:pPr algn="ctr" indent="0" marL="0">
              <a:buNone/>
            </a:pPr>
            <a:r>
              <a:rPr lang="en-US" sz="950" dirty="0">
                <a:solidFill>
                  <a:srgbClr val="94A3B8"/>
                </a:solidFill>
                <a:latin typeface="Calibri" pitchFamily="34" charset="0"/>
                <a:ea typeface="Calibri" pitchFamily="34" charset="-122"/>
                <a:cs typeface="Calibri" pitchFamily="34" charset="-120"/>
              </a:rPr>
              <a:t>one document: ingress class, domains, autoscaling defaults</a:t>
            </a:r>
            <a:endParaRPr lang="en-US" sz="1300" dirty="0"/>
          </a:p>
        </p:txBody>
      </p:sp>
      <p:sp>
        <p:nvSpPr>
          <p:cNvPr id="22" name="Shape 17"/>
          <p:cNvSpPr/>
          <p:nvPr/>
        </p:nvSpPr>
        <p:spPr>
          <a:xfrm>
            <a:off x="7406640" y="3602736"/>
            <a:ext cx="4160520" cy="658368"/>
          </a:xfrm>
          <a:prstGeom prst="roundRect">
            <a:avLst>
              <a:gd name="adj" fmla="val 13889"/>
            </a:avLst>
          </a:prstGeom>
          <a:solidFill>
            <a:srgbClr val="121A2C"/>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23" name="Text 18"/>
          <p:cNvSpPr txBox="1"/>
          <p:nvPr/>
        </p:nvSpPr>
        <p:spPr>
          <a:xfrm>
            <a:off x="7406640" y="3602736"/>
            <a:ext cx="4160520" cy="658368"/>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OpenShift Serverless Operator</a:t>
            </a:r>
            <a:endParaRPr lang="en-US" sz="1300" dirty="0"/>
          </a:p>
          <a:p>
            <a:pPr algn="ctr" indent="0" marL="0">
              <a:buNone/>
            </a:pPr>
            <a:r>
              <a:rPr lang="en-US" sz="950" dirty="0">
                <a:solidFill>
                  <a:srgbClr val="94A3B8"/>
                </a:solidFill>
                <a:latin typeface="Calibri" pitchFamily="34" charset="0"/>
                <a:ea typeface="Calibri" pitchFamily="34" charset="-122"/>
                <a:cs typeface="Calibri" pitchFamily="34" charset="-120"/>
              </a:rPr>
              <a:t>reconciles the CR, owns upgrades</a:t>
            </a:r>
            <a:endParaRPr lang="en-US" sz="1300" dirty="0"/>
          </a:p>
        </p:txBody>
      </p:sp>
      <p:sp>
        <p:nvSpPr>
          <p:cNvPr id="24" name="Shape 19"/>
          <p:cNvSpPr/>
          <p:nvPr/>
        </p:nvSpPr>
        <p:spPr>
          <a:xfrm>
            <a:off x="7406640" y="4352544"/>
            <a:ext cx="4160520" cy="658368"/>
          </a:xfrm>
          <a:prstGeom prst="roundRect">
            <a:avLst>
              <a:gd name="adj" fmla="val 13889"/>
            </a:avLst>
          </a:prstGeom>
          <a:solidFill>
            <a:srgbClr val="121A2C"/>
          </a:solidFill>
          <a:ln w="12700">
            <a:solidFill>
              <a:srgbClr val="5B6B8A"/>
            </a:solidFill>
            <a:prstDash val="solid"/>
          </a:ln>
          <a:effectLst>
            <a:outerShdw sx="100000" sy="100000" kx="0" ky="0" algn="bl" rotWithShape="0" blurRad="101600" dist="38100" dir="5400000">
              <a:srgbClr val="000000">
                <a:alpha val="35000"/>
              </a:srgbClr>
            </a:outerShdw>
          </a:effectLst>
        </p:spPr>
      </p:sp>
      <p:sp>
        <p:nvSpPr>
          <p:cNvPr id="25" name="Text 20"/>
          <p:cNvSpPr txBox="1"/>
          <p:nvPr/>
        </p:nvSpPr>
        <p:spPr>
          <a:xfrm>
            <a:off x="7406640" y="4352544"/>
            <a:ext cx="4160520" cy="658368"/>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Operator Lifecycle Manager</a:t>
            </a:r>
            <a:endParaRPr lang="en-US" sz="1300" dirty="0"/>
          </a:p>
          <a:p>
            <a:pPr algn="ctr" indent="0" marL="0">
              <a:buNone/>
            </a:pPr>
            <a:r>
              <a:rPr lang="en-US" sz="950" dirty="0">
                <a:solidFill>
                  <a:srgbClr val="94A3B8"/>
                </a:solidFill>
                <a:latin typeface="Calibri" pitchFamily="34" charset="0"/>
                <a:ea typeface="Calibri" pitchFamily="34" charset="-122"/>
                <a:cs typeface="Calibri" pitchFamily="34" charset="-120"/>
              </a:rPr>
              <a:t>Subscription → CSV → catalog</a:t>
            </a:r>
            <a:endParaRPr lang="en-US" sz="1300" dirty="0"/>
          </a:p>
        </p:txBody>
      </p:sp>
      <p:sp>
        <p:nvSpPr>
          <p:cNvPr id="26" name="Shape 21"/>
          <p:cNvSpPr/>
          <p:nvPr/>
        </p:nvSpPr>
        <p:spPr>
          <a:xfrm>
            <a:off x="7406640" y="5102352"/>
            <a:ext cx="4160520" cy="658368"/>
          </a:xfrm>
          <a:prstGeom prst="roundRect">
            <a:avLst>
              <a:gd name="adj" fmla="val 13889"/>
            </a:avLst>
          </a:prstGeom>
          <a:solidFill>
            <a:srgbClr val="121A2C"/>
          </a:solidFill>
          <a:ln w="12700">
            <a:solidFill>
              <a:srgbClr val="5B6B8A"/>
            </a:solidFill>
            <a:prstDash val="solid"/>
          </a:ln>
          <a:effectLst>
            <a:outerShdw sx="100000" sy="100000" kx="0" ky="0" algn="bl" rotWithShape="0" blurRad="101600" dist="38100" dir="5400000">
              <a:srgbClr val="000000">
                <a:alpha val="35000"/>
              </a:srgbClr>
            </a:outerShdw>
          </a:effectLst>
        </p:spPr>
      </p:sp>
      <p:sp>
        <p:nvSpPr>
          <p:cNvPr id="27" name="Text 22"/>
          <p:cNvSpPr txBox="1"/>
          <p:nvPr/>
        </p:nvSpPr>
        <p:spPr>
          <a:xfrm>
            <a:off x="7406640" y="5102352"/>
            <a:ext cx="4160520" cy="658368"/>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OpenShift</a:t>
            </a:r>
            <a:endParaRPr lang="en-US" sz="1300" dirty="0"/>
          </a:p>
          <a:p>
            <a:pPr algn="ctr" indent="0" marL="0">
              <a:buNone/>
            </a:pPr>
            <a:r>
              <a:rPr lang="en-US" sz="950" dirty="0">
                <a:solidFill>
                  <a:srgbClr val="94A3B8"/>
                </a:solidFill>
                <a:latin typeface="Calibri" pitchFamily="34" charset="0"/>
                <a:ea typeface="Calibri" pitchFamily="34" charset="-122"/>
                <a:cs typeface="Calibri" pitchFamily="34" charset="-120"/>
              </a:rPr>
              <a:t>the cluster, in each region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01  ·  FOUNDATIONS</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06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Why the Operator, not upstream Knative</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Every alternative made us own something Red Hat already owns. In an airgapped datacenter, ownership is expensive.</a:t>
            </a:r>
            <a:endParaRPr lang="en-US" sz="1500" dirty="0"/>
          </a:p>
        </p:txBody>
      </p:sp>
      <p:sp>
        <p:nvSpPr>
          <p:cNvPr id="6" name="Text 4"/>
          <p:cNvSpPr txBox="1"/>
          <p:nvPr/>
        </p:nvSpPr>
        <p:spPr>
          <a:xfrm>
            <a:off x="2880360" y="2103120"/>
            <a:ext cx="4206240" cy="365760"/>
          </a:xfrm>
          <a:prstGeom prst="rect">
            <a:avLst/>
          </a:prstGeom>
          <a:noFill/>
          <a:ln/>
        </p:spPr>
        <p:txBody>
          <a:bodyPr wrap="square" lIns="0" tIns="0" rIns="0" bIns="0" rtlCol="0" anchor="ctr"/>
          <a:lstStyle/>
          <a:p>
            <a:pPr algn="l" indent="0" marL="0">
              <a:buNone/>
            </a:pPr>
            <a:r>
              <a:rPr lang="en-US" sz="1050" b="1" dirty="0">
                <a:solidFill>
                  <a:srgbClr val="5B6B8A"/>
                </a:solidFill>
                <a:latin typeface="Calibri" pitchFamily="34" charset="0"/>
                <a:ea typeface="Calibri" pitchFamily="34" charset="-122"/>
                <a:cs typeface="Calibri" pitchFamily="34" charset="-120"/>
              </a:rPr>
              <a:t>UPSTREAM / COMMUNITY KNATIVE</a:t>
            </a:r>
            <a:endParaRPr lang="en-US" sz="1050" dirty="0"/>
          </a:p>
        </p:txBody>
      </p:sp>
      <p:sp>
        <p:nvSpPr>
          <p:cNvPr id="7" name="Text 5"/>
          <p:cNvSpPr txBox="1"/>
          <p:nvPr/>
        </p:nvSpPr>
        <p:spPr>
          <a:xfrm>
            <a:off x="7388352" y="2103120"/>
            <a:ext cx="4206240" cy="365760"/>
          </a:xfrm>
          <a:prstGeom prst="rect">
            <a:avLst/>
          </a:prstGeom>
          <a:noFill/>
          <a:ln/>
        </p:spPr>
        <p:txBody>
          <a:bodyPr wrap="square" lIns="0" tIns="0" rIns="0" bIns="0" rtlCol="0" anchor="ctr"/>
          <a:lstStyle/>
          <a:p>
            <a:pPr algn="l" indent="0" marL="0">
              <a:buNone/>
            </a:pPr>
            <a:r>
              <a:rPr lang="en-US" sz="1050" b="1" dirty="0">
                <a:solidFill>
                  <a:srgbClr val="22D3EE"/>
                </a:solidFill>
                <a:latin typeface="Calibri" pitchFamily="34" charset="0"/>
                <a:ea typeface="Calibri" pitchFamily="34" charset="-122"/>
                <a:cs typeface="Calibri" pitchFamily="34" charset="-120"/>
              </a:rPr>
              <a:t>OPENSHIFT SERVERLESS OPERATOR</a:t>
            </a:r>
            <a:endParaRPr lang="en-US" sz="1050" dirty="0"/>
          </a:p>
        </p:txBody>
      </p:sp>
      <p:sp>
        <p:nvSpPr>
          <p:cNvPr id="8" name="Shape 6"/>
          <p:cNvSpPr/>
          <p:nvPr/>
        </p:nvSpPr>
        <p:spPr>
          <a:xfrm>
            <a:off x="7269480" y="2441448"/>
            <a:ext cx="4443984" cy="2926080"/>
          </a:xfrm>
          <a:prstGeom prst="roundRect">
            <a:avLst>
              <a:gd name="adj" fmla="val 3125"/>
            </a:avLst>
          </a:prstGeom>
          <a:solidFill>
            <a:srgbClr val="22D3EE">
              <a:alpha val="10000"/>
            </a:srgbClr>
          </a:solidFill>
          <a:ln w="9525">
            <a:solidFill>
              <a:srgbClr val="22D3EE">
                <a:alpha val="50000"/>
              </a:srgbClr>
            </a:solidFill>
            <a:prstDash val="solid"/>
          </a:ln>
        </p:spPr>
      </p:sp>
      <p:sp>
        <p:nvSpPr>
          <p:cNvPr id="9" name="Text 7"/>
          <p:cNvSpPr txBox="1"/>
          <p:nvPr/>
        </p:nvSpPr>
        <p:spPr>
          <a:xfrm>
            <a:off x="594360" y="2514600"/>
            <a:ext cx="2286000" cy="566928"/>
          </a:xfrm>
          <a:prstGeom prst="rect">
            <a:avLst/>
          </a:prstGeom>
          <a:noFill/>
          <a:ln/>
        </p:spPr>
        <p:txBody>
          <a:bodyPr wrap="square" lIns="0" tIns="0" rIns="0" bIns="0" rtlCol="0" anchor="ctr"/>
          <a:lstStyle/>
          <a:p>
            <a:pPr algn="l" indent="0" marL="0">
              <a:buNone/>
            </a:pPr>
            <a:r>
              <a:rPr lang="en-US" sz="1300" b="1" dirty="0">
                <a:solidFill>
                  <a:srgbClr val="F1F5F9"/>
                </a:solidFill>
                <a:latin typeface="Calibri" pitchFamily="34" charset="0"/>
                <a:ea typeface="Calibri" pitchFamily="34" charset="-122"/>
                <a:cs typeface="Calibri" pitchFamily="34" charset="-120"/>
              </a:rPr>
              <a:t>Install and upgrades</a:t>
            </a:r>
            <a:endParaRPr lang="en-US" sz="1300" dirty="0"/>
          </a:p>
        </p:txBody>
      </p:sp>
      <p:sp>
        <p:nvSpPr>
          <p:cNvPr id="10" name="Text 8"/>
          <p:cNvSpPr txBox="1"/>
          <p:nvPr/>
        </p:nvSpPr>
        <p:spPr>
          <a:xfrm>
            <a:off x="2880360" y="2514600"/>
            <a:ext cx="4206240" cy="566928"/>
          </a:xfrm>
          <a:prstGeom prst="rect">
            <a:avLst/>
          </a:prstGeom>
          <a:noFill/>
          <a:ln/>
        </p:spPr>
        <p:txBody>
          <a:bodyPr wrap="square" lIns="0" tIns="0" rIns="0" bIns="0" rtlCol="0" anchor="ctr"/>
          <a:lstStyle/>
          <a:p>
            <a:pPr algn="l" indent="0" marL="0">
              <a:buNone/>
            </a:pPr>
            <a:r>
              <a:rPr lang="en-US" sz="1200" dirty="0">
                <a:solidFill>
                  <a:srgbClr val="94A3B8"/>
                </a:solidFill>
                <a:latin typeface="Calibri" pitchFamily="34" charset="0"/>
                <a:ea typeface="Calibri" pitchFamily="34" charset="-122"/>
                <a:cs typeface="Calibri" pitchFamily="34" charset="-120"/>
              </a:rPr>
              <a:t>Helm or YAML we maintain, version by version</a:t>
            </a:r>
            <a:endParaRPr lang="en-US" sz="1200" dirty="0"/>
          </a:p>
        </p:txBody>
      </p:sp>
      <p:sp>
        <p:nvSpPr>
          <p:cNvPr id="11" name="Text 9"/>
          <p:cNvSpPr txBox="1"/>
          <p:nvPr/>
        </p:nvSpPr>
        <p:spPr>
          <a:xfrm>
            <a:off x="7388352" y="2514600"/>
            <a:ext cx="4206240" cy="566928"/>
          </a:xfrm>
          <a:prstGeom prst="rect">
            <a:avLst/>
          </a:prstGeom>
          <a:noFill/>
          <a:ln/>
        </p:spPr>
        <p:txBody>
          <a:bodyPr wrap="square" lIns="0" tIns="0" rIns="0" bIns="0" rtlCol="0" anchor="ctr"/>
          <a:lstStyle/>
          <a:p>
            <a:pPr algn="l" indent="0" marL="0">
              <a:buNone/>
            </a:pPr>
            <a:r>
              <a:rPr lang="en-US" sz="1200" dirty="0">
                <a:solidFill>
                  <a:srgbClr val="F1F5F9"/>
                </a:solidFill>
                <a:latin typeface="Calibri" pitchFamily="34" charset="0"/>
                <a:ea typeface="Calibri" pitchFamily="34" charset="-122"/>
                <a:cs typeface="Calibri" pitchFamily="34" charset="-120"/>
              </a:rPr>
              <a:t>An OLM Subscription; the catalog carries the upgrade</a:t>
            </a:r>
            <a:endParaRPr lang="en-US" sz="1200" dirty="0"/>
          </a:p>
        </p:txBody>
      </p:sp>
      <p:sp>
        <p:nvSpPr>
          <p:cNvPr id="12" name="Shape 10"/>
          <p:cNvSpPr/>
          <p:nvPr/>
        </p:nvSpPr>
        <p:spPr>
          <a:xfrm>
            <a:off x="594360" y="3081528"/>
            <a:ext cx="11000232" cy="0"/>
          </a:xfrm>
          <a:prstGeom prst="line">
            <a:avLst/>
          </a:prstGeom>
          <a:noFill/>
          <a:ln w="6350">
            <a:solidFill>
              <a:srgbClr val="24304D"/>
            </a:solidFill>
            <a:prstDash val="solid"/>
          </a:ln>
        </p:spPr>
      </p:sp>
      <p:sp>
        <p:nvSpPr>
          <p:cNvPr id="13" name="Text 11"/>
          <p:cNvSpPr txBox="1"/>
          <p:nvPr/>
        </p:nvSpPr>
        <p:spPr>
          <a:xfrm>
            <a:off x="594360" y="3081528"/>
            <a:ext cx="2286000" cy="566928"/>
          </a:xfrm>
          <a:prstGeom prst="rect">
            <a:avLst/>
          </a:prstGeom>
          <a:noFill/>
          <a:ln/>
        </p:spPr>
        <p:txBody>
          <a:bodyPr wrap="square" lIns="0" tIns="0" rIns="0" bIns="0" rtlCol="0" anchor="ctr"/>
          <a:lstStyle/>
          <a:p>
            <a:pPr algn="l" indent="0" marL="0">
              <a:buNone/>
            </a:pPr>
            <a:r>
              <a:rPr lang="en-US" sz="1300" b="1" dirty="0">
                <a:solidFill>
                  <a:srgbClr val="F1F5F9"/>
                </a:solidFill>
                <a:latin typeface="Calibri" pitchFamily="34" charset="0"/>
                <a:ea typeface="Calibri" pitchFamily="34" charset="-122"/>
                <a:cs typeface="Calibri" pitchFamily="34" charset="-120"/>
              </a:rPr>
              <a:t>Ingress</a:t>
            </a:r>
            <a:endParaRPr lang="en-US" sz="1300" dirty="0"/>
          </a:p>
        </p:txBody>
      </p:sp>
      <p:sp>
        <p:nvSpPr>
          <p:cNvPr id="14" name="Text 12"/>
          <p:cNvSpPr txBox="1"/>
          <p:nvPr/>
        </p:nvSpPr>
        <p:spPr>
          <a:xfrm>
            <a:off x="2880360" y="3081528"/>
            <a:ext cx="4206240" cy="566928"/>
          </a:xfrm>
          <a:prstGeom prst="rect">
            <a:avLst/>
          </a:prstGeom>
          <a:noFill/>
          <a:ln/>
        </p:spPr>
        <p:txBody>
          <a:bodyPr wrap="square" lIns="0" tIns="0" rIns="0" bIns="0" rtlCol="0" anchor="ctr"/>
          <a:lstStyle/>
          <a:p>
            <a:pPr algn="l" indent="0" marL="0">
              <a:buNone/>
            </a:pPr>
            <a:r>
              <a:rPr lang="en-US" sz="1200" dirty="0">
                <a:solidFill>
                  <a:srgbClr val="94A3B8"/>
                </a:solidFill>
                <a:latin typeface="Calibri" pitchFamily="34" charset="0"/>
                <a:ea typeface="Calibri" pitchFamily="34" charset="-122"/>
                <a:cs typeface="Calibri" pitchFamily="34" charset="-120"/>
              </a:rPr>
              <a:t>Pick and run kourier or Istio ourselves</a:t>
            </a:r>
            <a:endParaRPr lang="en-US" sz="1200" dirty="0"/>
          </a:p>
        </p:txBody>
      </p:sp>
      <p:sp>
        <p:nvSpPr>
          <p:cNvPr id="15" name="Text 13"/>
          <p:cNvSpPr txBox="1"/>
          <p:nvPr/>
        </p:nvSpPr>
        <p:spPr>
          <a:xfrm>
            <a:off x="7388352" y="3081528"/>
            <a:ext cx="4206240" cy="566928"/>
          </a:xfrm>
          <a:prstGeom prst="rect">
            <a:avLst/>
          </a:prstGeom>
          <a:noFill/>
          <a:ln/>
        </p:spPr>
        <p:txBody>
          <a:bodyPr wrap="square" lIns="0" tIns="0" rIns="0" bIns="0" rtlCol="0" anchor="ctr"/>
          <a:lstStyle/>
          <a:p>
            <a:pPr algn="l" indent="0" marL="0">
              <a:buNone/>
            </a:pPr>
            <a:r>
              <a:rPr lang="en-US" sz="1200" dirty="0">
                <a:solidFill>
                  <a:srgbClr val="F1F5F9"/>
                </a:solidFill>
                <a:latin typeface="Calibri" pitchFamily="34" charset="0"/>
                <a:ea typeface="Calibri" pitchFamily="34" charset="-122"/>
                <a:cs typeface="Calibri" pitchFamily="34" charset="-120"/>
              </a:rPr>
              <a:t>Kourier, managed, in knative-serving-ingress</a:t>
            </a:r>
            <a:endParaRPr lang="en-US" sz="1200" dirty="0"/>
          </a:p>
        </p:txBody>
      </p:sp>
      <p:sp>
        <p:nvSpPr>
          <p:cNvPr id="16" name="Shape 14"/>
          <p:cNvSpPr/>
          <p:nvPr/>
        </p:nvSpPr>
        <p:spPr>
          <a:xfrm>
            <a:off x="594360" y="3648456"/>
            <a:ext cx="11000232" cy="0"/>
          </a:xfrm>
          <a:prstGeom prst="line">
            <a:avLst/>
          </a:prstGeom>
          <a:noFill/>
          <a:ln w="6350">
            <a:solidFill>
              <a:srgbClr val="24304D"/>
            </a:solidFill>
            <a:prstDash val="solid"/>
          </a:ln>
        </p:spPr>
      </p:sp>
      <p:sp>
        <p:nvSpPr>
          <p:cNvPr id="17" name="Text 15"/>
          <p:cNvSpPr txBox="1"/>
          <p:nvPr/>
        </p:nvSpPr>
        <p:spPr>
          <a:xfrm>
            <a:off x="594360" y="3648456"/>
            <a:ext cx="2286000" cy="566928"/>
          </a:xfrm>
          <a:prstGeom prst="rect">
            <a:avLst/>
          </a:prstGeom>
          <a:noFill/>
          <a:ln/>
        </p:spPr>
        <p:txBody>
          <a:bodyPr wrap="square" lIns="0" tIns="0" rIns="0" bIns="0" rtlCol="0" anchor="ctr"/>
          <a:lstStyle/>
          <a:p>
            <a:pPr algn="l" indent="0" marL="0">
              <a:buNone/>
            </a:pPr>
            <a:r>
              <a:rPr lang="en-US" sz="1300" b="1" dirty="0">
                <a:solidFill>
                  <a:srgbClr val="F1F5F9"/>
                </a:solidFill>
                <a:latin typeface="Calibri" pitchFamily="34" charset="0"/>
                <a:ea typeface="Calibri" pitchFamily="34" charset="-122"/>
                <a:cs typeface="Calibri" pitchFamily="34" charset="-120"/>
              </a:rPr>
              <a:t>Routes and TLS</a:t>
            </a:r>
            <a:endParaRPr lang="en-US" sz="1300" dirty="0"/>
          </a:p>
        </p:txBody>
      </p:sp>
      <p:sp>
        <p:nvSpPr>
          <p:cNvPr id="18" name="Text 16"/>
          <p:cNvSpPr txBox="1"/>
          <p:nvPr/>
        </p:nvSpPr>
        <p:spPr>
          <a:xfrm>
            <a:off x="2880360" y="3648456"/>
            <a:ext cx="4206240" cy="566928"/>
          </a:xfrm>
          <a:prstGeom prst="rect">
            <a:avLst/>
          </a:prstGeom>
          <a:noFill/>
          <a:ln/>
        </p:spPr>
        <p:txBody>
          <a:bodyPr wrap="square" lIns="0" tIns="0" rIns="0" bIns="0" rtlCol="0" anchor="ctr"/>
          <a:lstStyle/>
          <a:p>
            <a:pPr algn="l" indent="0" marL="0">
              <a:buNone/>
            </a:pPr>
            <a:r>
              <a:rPr lang="en-US" sz="1200" dirty="0">
                <a:solidFill>
                  <a:srgbClr val="94A3B8"/>
                </a:solidFill>
                <a:latin typeface="Calibri" pitchFamily="34" charset="0"/>
                <a:ea typeface="Calibri" pitchFamily="34" charset="-122"/>
                <a:cs typeface="Calibri" pitchFamily="34" charset="-120"/>
              </a:rPr>
              <a:t>Hand-made Routes with RBAC to write them</a:t>
            </a:r>
            <a:endParaRPr lang="en-US" sz="1200" dirty="0"/>
          </a:p>
        </p:txBody>
      </p:sp>
      <p:sp>
        <p:nvSpPr>
          <p:cNvPr id="19" name="Text 17"/>
          <p:cNvSpPr txBox="1"/>
          <p:nvPr/>
        </p:nvSpPr>
        <p:spPr>
          <a:xfrm>
            <a:off x="7388352" y="3648456"/>
            <a:ext cx="4206240" cy="566928"/>
          </a:xfrm>
          <a:prstGeom prst="rect">
            <a:avLst/>
          </a:prstGeom>
          <a:noFill/>
          <a:ln/>
        </p:spPr>
        <p:txBody>
          <a:bodyPr wrap="square" lIns="0" tIns="0" rIns="0" bIns="0" rtlCol="0" anchor="ctr"/>
          <a:lstStyle/>
          <a:p>
            <a:pPr algn="l" indent="0" marL="0">
              <a:buNone/>
            </a:pPr>
            <a:r>
              <a:rPr lang="en-US" sz="1200" dirty="0">
                <a:solidFill>
                  <a:srgbClr val="F1F5F9"/>
                </a:solidFill>
                <a:latin typeface="Calibri" pitchFamily="34" charset="0"/>
                <a:ea typeface="Calibri" pitchFamily="34" charset="-122"/>
                <a:cs typeface="Calibri" pitchFamily="34" charset="-120"/>
              </a:rPr>
              <a:t>Operator-created, edge-terminated, no routes RBAC for us</a:t>
            </a:r>
            <a:endParaRPr lang="en-US" sz="1200" dirty="0"/>
          </a:p>
        </p:txBody>
      </p:sp>
      <p:sp>
        <p:nvSpPr>
          <p:cNvPr id="20" name="Shape 18"/>
          <p:cNvSpPr/>
          <p:nvPr/>
        </p:nvSpPr>
        <p:spPr>
          <a:xfrm>
            <a:off x="594360" y="4215384"/>
            <a:ext cx="11000232" cy="0"/>
          </a:xfrm>
          <a:prstGeom prst="line">
            <a:avLst/>
          </a:prstGeom>
          <a:noFill/>
          <a:ln w="6350">
            <a:solidFill>
              <a:srgbClr val="24304D"/>
            </a:solidFill>
            <a:prstDash val="solid"/>
          </a:ln>
        </p:spPr>
      </p:sp>
      <p:sp>
        <p:nvSpPr>
          <p:cNvPr id="21" name="Text 19"/>
          <p:cNvSpPr txBox="1"/>
          <p:nvPr/>
        </p:nvSpPr>
        <p:spPr>
          <a:xfrm>
            <a:off x="594360" y="4215384"/>
            <a:ext cx="2286000" cy="566928"/>
          </a:xfrm>
          <a:prstGeom prst="rect">
            <a:avLst/>
          </a:prstGeom>
          <a:noFill/>
          <a:ln/>
        </p:spPr>
        <p:txBody>
          <a:bodyPr wrap="square" lIns="0" tIns="0" rIns="0" bIns="0" rtlCol="0" anchor="ctr"/>
          <a:lstStyle/>
          <a:p>
            <a:pPr algn="l" indent="0" marL="0">
              <a:buNone/>
            </a:pPr>
            <a:r>
              <a:rPr lang="en-US" sz="1300" b="1" dirty="0">
                <a:solidFill>
                  <a:srgbClr val="F1F5F9"/>
                </a:solidFill>
                <a:latin typeface="Calibri" pitchFamily="34" charset="0"/>
                <a:ea typeface="Calibri" pitchFamily="34" charset="-122"/>
                <a:cs typeface="Calibri" pitchFamily="34" charset="-120"/>
              </a:rPr>
              <a:t>Airgap</a:t>
            </a:r>
            <a:endParaRPr lang="en-US" sz="1300" dirty="0"/>
          </a:p>
        </p:txBody>
      </p:sp>
      <p:sp>
        <p:nvSpPr>
          <p:cNvPr id="22" name="Text 20"/>
          <p:cNvSpPr txBox="1"/>
          <p:nvPr/>
        </p:nvSpPr>
        <p:spPr>
          <a:xfrm>
            <a:off x="2880360" y="4215384"/>
            <a:ext cx="4206240" cy="566928"/>
          </a:xfrm>
          <a:prstGeom prst="rect">
            <a:avLst/>
          </a:prstGeom>
          <a:noFill/>
          <a:ln/>
        </p:spPr>
        <p:txBody>
          <a:bodyPr wrap="square" lIns="0" tIns="0" rIns="0" bIns="0" rtlCol="0" anchor="ctr"/>
          <a:lstStyle/>
          <a:p>
            <a:pPr algn="l" indent="0" marL="0">
              <a:buNone/>
            </a:pPr>
            <a:r>
              <a:rPr lang="en-US" sz="1200" dirty="0">
                <a:solidFill>
                  <a:srgbClr val="94A3B8"/>
                </a:solidFill>
                <a:latin typeface="Calibri" pitchFamily="34" charset="0"/>
                <a:ea typeface="Calibri" pitchFamily="34" charset="-122"/>
                <a:cs typeface="Calibri" pitchFamily="34" charset="-120"/>
              </a:rPr>
              <a:t>Mirror each image by hand</a:t>
            </a:r>
            <a:endParaRPr lang="en-US" sz="1200" dirty="0"/>
          </a:p>
        </p:txBody>
      </p:sp>
      <p:sp>
        <p:nvSpPr>
          <p:cNvPr id="23" name="Text 21"/>
          <p:cNvSpPr txBox="1"/>
          <p:nvPr/>
        </p:nvSpPr>
        <p:spPr>
          <a:xfrm>
            <a:off x="7388352" y="4215384"/>
            <a:ext cx="4206240" cy="566928"/>
          </a:xfrm>
          <a:prstGeom prst="rect">
            <a:avLst/>
          </a:prstGeom>
          <a:noFill/>
          <a:ln/>
        </p:spPr>
        <p:txBody>
          <a:bodyPr wrap="square" lIns="0" tIns="0" rIns="0" bIns="0" rtlCol="0" anchor="ctr"/>
          <a:lstStyle/>
          <a:p>
            <a:pPr algn="l" indent="0" marL="0">
              <a:buNone/>
            </a:pPr>
            <a:r>
              <a:rPr lang="en-US" sz="1200" dirty="0">
                <a:solidFill>
                  <a:srgbClr val="F1F5F9"/>
                </a:solidFill>
                <a:latin typeface="Calibri" pitchFamily="34" charset="0"/>
                <a:ea typeface="Calibri" pitchFamily="34" charset="-122"/>
                <a:cs typeface="Calibri" pitchFamily="34" charset="-120"/>
              </a:rPr>
              <a:t>oc-mirror the catalog, once</a:t>
            </a:r>
            <a:endParaRPr lang="en-US" sz="1200" dirty="0"/>
          </a:p>
        </p:txBody>
      </p:sp>
      <p:sp>
        <p:nvSpPr>
          <p:cNvPr id="24" name="Shape 22"/>
          <p:cNvSpPr/>
          <p:nvPr/>
        </p:nvSpPr>
        <p:spPr>
          <a:xfrm>
            <a:off x="594360" y="4782312"/>
            <a:ext cx="11000232" cy="0"/>
          </a:xfrm>
          <a:prstGeom prst="line">
            <a:avLst/>
          </a:prstGeom>
          <a:noFill/>
          <a:ln w="6350">
            <a:solidFill>
              <a:srgbClr val="24304D"/>
            </a:solidFill>
            <a:prstDash val="solid"/>
          </a:ln>
        </p:spPr>
      </p:sp>
      <p:sp>
        <p:nvSpPr>
          <p:cNvPr id="25" name="Text 23"/>
          <p:cNvSpPr txBox="1"/>
          <p:nvPr/>
        </p:nvSpPr>
        <p:spPr>
          <a:xfrm>
            <a:off x="594360" y="4782312"/>
            <a:ext cx="2286000" cy="566928"/>
          </a:xfrm>
          <a:prstGeom prst="rect">
            <a:avLst/>
          </a:prstGeom>
          <a:noFill/>
          <a:ln/>
        </p:spPr>
        <p:txBody>
          <a:bodyPr wrap="square" lIns="0" tIns="0" rIns="0" bIns="0" rtlCol="0" anchor="ctr"/>
          <a:lstStyle/>
          <a:p>
            <a:pPr algn="l" indent="0" marL="0">
              <a:buNone/>
            </a:pPr>
            <a:r>
              <a:rPr lang="en-US" sz="1300" b="1" dirty="0">
                <a:solidFill>
                  <a:srgbClr val="F1F5F9"/>
                </a:solidFill>
                <a:latin typeface="Calibri" pitchFamily="34" charset="0"/>
                <a:ea typeface="Calibri" pitchFamily="34" charset="-122"/>
                <a:cs typeface="Calibri" pitchFamily="34" charset="-120"/>
              </a:rPr>
              <a:t>Support</a:t>
            </a:r>
            <a:endParaRPr lang="en-US" sz="1300" dirty="0"/>
          </a:p>
        </p:txBody>
      </p:sp>
      <p:sp>
        <p:nvSpPr>
          <p:cNvPr id="26" name="Text 24"/>
          <p:cNvSpPr txBox="1"/>
          <p:nvPr/>
        </p:nvSpPr>
        <p:spPr>
          <a:xfrm>
            <a:off x="2880360" y="4782312"/>
            <a:ext cx="4206240" cy="566928"/>
          </a:xfrm>
          <a:prstGeom prst="rect">
            <a:avLst/>
          </a:prstGeom>
          <a:noFill/>
          <a:ln/>
        </p:spPr>
        <p:txBody>
          <a:bodyPr wrap="square" lIns="0" tIns="0" rIns="0" bIns="0" rtlCol="0" anchor="ctr"/>
          <a:lstStyle/>
          <a:p>
            <a:pPr algn="l" indent="0" marL="0">
              <a:buNone/>
            </a:pPr>
            <a:r>
              <a:rPr lang="en-US" sz="1200" dirty="0">
                <a:solidFill>
                  <a:srgbClr val="94A3B8"/>
                </a:solidFill>
                <a:latin typeface="Calibri" pitchFamily="34" charset="0"/>
                <a:ea typeface="Calibri" pitchFamily="34" charset="-122"/>
                <a:cs typeface="Calibri" pitchFamily="34" charset="-120"/>
              </a:rPr>
              <a:t>Community issues and our own patches</a:t>
            </a:r>
            <a:endParaRPr lang="en-US" sz="1200" dirty="0"/>
          </a:p>
        </p:txBody>
      </p:sp>
      <p:sp>
        <p:nvSpPr>
          <p:cNvPr id="27" name="Text 25"/>
          <p:cNvSpPr txBox="1"/>
          <p:nvPr/>
        </p:nvSpPr>
        <p:spPr>
          <a:xfrm>
            <a:off x="7388352" y="4782312"/>
            <a:ext cx="4206240" cy="566928"/>
          </a:xfrm>
          <a:prstGeom prst="rect">
            <a:avLst/>
          </a:prstGeom>
          <a:noFill/>
          <a:ln/>
        </p:spPr>
        <p:txBody>
          <a:bodyPr wrap="square" lIns="0" tIns="0" rIns="0" bIns="0" rtlCol="0" anchor="ctr"/>
          <a:lstStyle/>
          <a:p>
            <a:pPr algn="l" indent="0" marL="0">
              <a:buNone/>
            </a:pPr>
            <a:r>
              <a:rPr lang="en-US" sz="1200" dirty="0">
                <a:solidFill>
                  <a:srgbClr val="F1F5F9"/>
                </a:solidFill>
                <a:latin typeface="Calibri" pitchFamily="34" charset="0"/>
                <a:ea typeface="Calibri" pitchFamily="34" charset="-122"/>
                <a:cs typeface="Calibri" pitchFamily="34" charset="-120"/>
              </a:rPr>
              <a:t>Red Hat, on the OpenShift we already run</a:t>
            </a:r>
            <a:endParaRPr lang="en-US" sz="1200" dirty="0"/>
          </a:p>
        </p:txBody>
      </p:sp>
      <p:sp>
        <p:nvSpPr>
          <p:cNvPr id="28" name="Shape 26"/>
          <p:cNvSpPr/>
          <p:nvPr/>
        </p:nvSpPr>
        <p:spPr>
          <a:xfrm>
            <a:off x="594360" y="5486400"/>
            <a:ext cx="11000232" cy="777240"/>
          </a:xfrm>
          <a:prstGeom prst="roundRect">
            <a:avLst>
              <a:gd name="adj" fmla="val 14118"/>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9" name="Shape 27"/>
          <p:cNvSpPr/>
          <p:nvPr/>
        </p:nvSpPr>
        <p:spPr>
          <a:xfrm>
            <a:off x="777240" y="564184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30" name="Image 0" descr="preencoded.png">    </p:cNvPr>
          <p:cNvPicPr>
            <a:picLocks noChangeAspect="1"/>
          </p:cNvPicPr>
          <p:nvPr/>
        </p:nvPicPr>
        <p:blipFill>
          <a:blip r:embed="rId2"/>
          <a:stretch>
            <a:fillRect/>
          </a:stretch>
        </p:blipFill>
        <p:spPr>
          <a:xfrm>
            <a:off x="886968" y="5751576"/>
            <a:ext cx="237744" cy="237744"/>
          </a:xfrm>
          <a:prstGeom prst="rect">
            <a:avLst/>
          </a:prstGeom>
        </p:spPr>
      </p:pic>
      <p:sp>
        <p:nvSpPr>
          <p:cNvPr id="31" name="Text 28"/>
          <p:cNvSpPr txBox="1"/>
          <p:nvPr/>
        </p:nvSpPr>
        <p:spPr>
          <a:xfrm>
            <a:off x="1371600" y="5532120"/>
            <a:ext cx="9994392" cy="685800"/>
          </a:xfrm>
          <a:prstGeom prst="rect">
            <a:avLst/>
          </a:prstGeom>
          <a:noFill/>
          <a:ln/>
        </p:spPr>
        <p:txBody>
          <a:bodyPr wrap="square" lIns="0" tIns="0" rIns="0" bIns="0" rtlCol="0" anchor="ctr"/>
          <a:lstStyle/>
          <a:p>
            <a:pPr indent="0" marL="0">
              <a:buNone/>
            </a:pPr>
            <a:r>
              <a:rPr lang="en-US" sz="1200" b="1" dirty="0">
                <a:solidFill>
                  <a:srgbClr val="F1F5F9"/>
                </a:solidFill>
                <a:latin typeface="Calibri" pitchFamily="34" charset="0"/>
                <a:ea typeface="Calibri" pitchFamily="34" charset="-122"/>
                <a:cs typeface="Calibri" pitchFamily="34" charset="-120"/>
              </a:rPr>
              <a:t>Our chart assumes the operator's conventions. </a:t>
            </a:r>
            <a:pPr indent="0" marL="0">
              <a:buNone/>
            </a:pPr>
            <a:r>
              <a:rPr lang="en-US" sz="1200" dirty="0">
                <a:solidFill>
                  <a:srgbClr val="94A3B8"/>
                </a:solidFill>
                <a:latin typeface="Calibri" pitchFamily="34" charset="0"/>
                <a:ea typeface="Calibri" pitchFamily="34" charset="-122"/>
                <a:cs typeface="Calibri" pitchFamily="34" charset="-120"/>
              </a:rPr>
              <a:t>Kourier in knative-serving-ingress, operator-managed Routes, DomainMapping for hosts. The API never creates a Route and holds no routes RBAC: that is the operator's job.</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1188720"/>
            <a:ext cx="5486400" cy="2194560"/>
          </a:xfrm>
          <a:prstGeom prst="rect">
            <a:avLst/>
          </a:prstGeom>
          <a:noFill/>
          <a:ln/>
        </p:spPr>
        <p:txBody>
          <a:bodyPr wrap="square" lIns="0" tIns="0" rIns="0" bIns="0" rtlCol="0" anchor="ctr"/>
          <a:lstStyle/>
          <a:p>
            <a:pPr indent="0" marL="0">
              <a:buNone/>
            </a:pPr>
            <a:r>
              <a:rPr lang="en-US" sz="15000" b="1" dirty="0">
                <a:solidFill>
                  <a:srgbClr val="22D3EE"/>
                </a:solidFill>
                <a:latin typeface="Cambria" pitchFamily="34" charset="0"/>
                <a:ea typeface="Cambria" pitchFamily="34" charset="-122"/>
                <a:cs typeface="Cambria" pitchFamily="34" charset="-120"/>
              </a:rPr>
              <a:t>02</a:t>
            </a:r>
            <a:endParaRPr lang="en-US" sz="15000" dirty="0"/>
          </a:p>
        </p:txBody>
      </p:sp>
      <p:sp>
        <p:nvSpPr>
          <p:cNvPr id="3" name="Text 1"/>
          <p:cNvSpPr txBox="1"/>
          <p:nvPr/>
        </p:nvSpPr>
        <p:spPr>
          <a:xfrm>
            <a:off x="594360" y="3474720"/>
            <a:ext cx="9144000" cy="914400"/>
          </a:xfrm>
          <a:prstGeom prst="rect">
            <a:avLst/>
          </a:prstGeom>
          <a:noFill/>
          <a:ln/>
        </p:spPr>
        <p:txBody>
          <a:bodyPr wrap="square" lIns="0" tIns="0" rIns="0" bIns="0" rtlCol="0" anchor="ctr"/>
          <a:lstStyle/>
          <a:p>
            <a:pPr indent="0" marL="0">
              <a:buNone/>
            </a:pPr>
            <a:r>
              <a:rPr lang="en-US" sz="4400" b="1" dirty="0">
                <a:solidFill>
                  <a:srgbClr val="F1F5F9"/>
                </a:solidFill>
                <a:latin typeface="Cambria" pitchFamily="34" charset="0"/>
                <a:ea typeface="Cambria" pitchFamily="34" charset="-122"/>
                <a:cs typeface="Cambria" pitchFamily="34" charset="-120"/>
              </a:rPr>
              <a:t>The API</a:t>
            </a:r>
            <a:endParaRPr lang="en-US" sz="4400" dirty="0"/>
          </a:p>
        </p:txBody>
      </p:sp>
      <p:sp>
        <p:nvSpPr>
          <p:cNvPr id="4" name="Text 2"/>
          <p:cNvSpPr txBox="1"/>
          <p:nvPr/>
        </p:nvSpPr>
        <p:spPr>
          <a:xfrm>
            <a:off x="594360" y="4434840"/>
            <a:ext cx="7772400" cy="914400"/>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A Python control plane that turns one HTTP call into a workload on every cluster.</a:t>
            </a:r>
            <a:endParaRPr lang="en-US" sz="1700" dirty="0"/>
          </a:p>
        </p:txBody>
      </p:sp>
      <p:sp>
        <p:nvSpPr>
          <p:cNvPr id="5" name="Text 3"/>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07 / 23</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02  ·  THE API</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08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The API: one call, every cluster</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Customers describe a workload. The API turns it into Knative objects on both clusters and reports back a single status.</a:t>
            </a:r>
            <a:endParaRPr lang="en-US" sz="1500" dirty="0"/>
          </a:p>
        </p:txBody>
      </p:sp>
      <p:sp>
        <p:nvSpPr>
          <p:cNvPr id="6" name="Text 4"/>
          <p:cNvSpPr txBox="1"/>
          <p:nvPr/>
        </p:nvSpPr>
        <p:spPr>
          <a:xfrm>
            <a:off x="594360" y="2011680"/>
            <a:ext cx="2544318" cy="777240"/>
          </a:xfrm>
          <a:prstGeom prst="rect">
            <a:avLst/>
          </a:prstGeom>
          <a:noFill/>
          <a:ln/>
        </p:spPr>
        <p:txBody>
          <a:bodyPr wrap="square" lIns="0" tIns="0" rIns="0" bIns="0" rtlCol="0" anchor="b"/>
          <a:lstStyle/>
          <a:p>
            <a:pPr indent="0" marL="0">
              <a:buNone/>
            </a:pPr>
            <a:r>
              <a:rPr lang="en-US" sz="4800" b="1" dirty="0">
                <a:solidFill>
                  <a:srgbClr val="22D3EE"/>
                </a:solidFill>
                <a:latin typeface="Cambria" pitchFamily="34" charset="0"/>
                <a:ea typeface="Cambria" pitchFamily="34" charset="-122"/>
                <a:cs typeface="Cambria" pitchFamily="34" charset="-120"/>
              </a:rPr>
              <a:t>2</a:t>
            </a:r>
            <a:endParaRPr lang="en-US" sz="4800" dirty="0"/>
          </a:p>
        </p:txBody>
      </p:sp>
      <p:sp>
        <p:nvSpPr>
          <p:cNvPr id="7" name="Text 5"/>
          <p:cNvSpPr txBox="1"/>
          <p:nvPr/>
        </p:nvSpPr>
        <p:spPr>
          <a:xfrm>
            <a:off x="594360" y="2816352"/>
            <a:ext cx="2544318"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offerings: functions and containers</a:t>
            </a:r>
            <a:endParaRPr lang="en-US" sz="1250" dirty="0"/>
          </a:p>
        </p:txBody>
      </p:sp>
      <p:sp>
        <p:nvSpPr>
          <p:cNvPr id="8" name="Text 6"/>
          <p:cNvSpPr txBox="1"/>
          <p:nvPr/>
        </p:nvSpPr>
        <p:spPr>
          <a:xfrm>
            <a:off x="3412998" y="2011680"/>
            <a:ext cx="2544318" cy="777240"/>
          </a:xfrm>
          <a:prstGeom prst="rect">
            <a:avLst/>
          </a:prstGeom>
          <a:noFill/>
          <a:ln/>
        </p:spPr>
        <p:txBody>
          <a:bodyPr wrap="square" lIns="0" tIns="0" rIns="0" bIns="0" rtlCol="0" anchor="b"/>
          <a:lstStyle/>
          <a:p>
            <a:pPr indent="0" marL="0">
              <a:buNone/>
            </a:pPr>
            <a:r>
              <a:rPr lang="en-US" sz="4800" b="1" dirty="0">
                <a:solidFill>
                  <a:srgbClr val="22D3EE"/>
                </a:solidFill>
                <a:latin typeface="Cambria" pitchFamily="34" charset="0"/>
                <a:ea typeface="Cambria" pitchFamily="34" charset="-122"/>
                <a:cs typeface="Cambria" pitchFamily="34" charset="-120"/>
              </a:rPr>
              <a:t>202</a:t>
            </a:r>
            <a:endParaRPr lang="en-US" sz="4800" dirty="0"/>
          </a:p>
        </p:txBody>
      </p:sp>
      <p:sp>
        <p:nvSpPr>
          <p:cNvPr id="9" name="Text 7"/>
          <p:cNvSpPr txBox="1"/>
          <p:nvPr/>
        </p:nvSpPr>
        <p:spPr>
          <a:xfrm>
            <a:off x="3412998" y="2816352"/>
            <a:ext cx="2544318"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every write is asynchronous</a:t>
            </a:r>
            <a:endParaRPr lang="en-US" sz="1250" dirty="0"/>
          </a:p>
        </p:txBody>
      </p:sp>
      <p:sp>
        <p:nvSpPr>
          <p:cNvPr id="10" name="Text 8"/>
          <p:cNvSpPr txBox="1"/>
          <p:nvPr/>
        </p:nvSpPr>
        <p:spPr>
          <a:xfrm>
            <a:off x="6231636" y="2011680"/>
            <a:ext cx="2544318" cy="777240"/>
          </a:xfrm>
          <a:prstGeom prst="rect">
            <a:avLst/>
          </a:prstGeom>
          <a:noFill/>
          <a:ln/>
        </p:spPr>
        <p:txBody>
          <a:bodyPr wrap="square" lIns="0" tIns="0" rIns="0" bIns="0" rtlCol="0" anchor="b"/>
          <a:lstStyle/>
          <a:p>
            <a:pPr indent="0" marL="0">
              <a:buNone/>
            </a:pPr>
            <a:r>
              <a:rPr lang="en-US" sz="4800" b="1" dirty="0">
                <a:solidFill>
                  <a:srgbClr val="22D3EE"/>
                </a:solidFill>
                <a:latin typeface="Cambria" pitchFamily="34" charset="0"/>
                <a:ea typeface="Cambria" pitchFamily="34" charset="-122"/>
                <a:cs typeface="Cambria" pitchFamily="34" charset="-120"/>
              </a:rPr>
              <a:t>0</a:t>
            </a:r>
            <a:endParaRPr lang="en-US" sz="4800" dirty="0"/>
          </a:p>
        </p:txBody>
      </p:sp>
      <p:sp>
        <p:nvSpPr>
          <p:cNvPr id="11" name="Text 9"/>
          <p:cNvSpPr txBox="1"/>
          <p:nvPr/>
        </p:nvSpPr>
        <p:spPr>
          <a:xfrm>
            <a:off x="6231636" y="2816352"/>
            <a:ext cx="2544318"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kubectl. Customers never see Kubernetes</a:t>
            </a:r>
            <a:endParaRPr lang="en-US" sz="1250" dirty="0"/>
          </a:p>
        </p:txBody>
      </p:sp>
      <p:sp>
        <p:nvSpPr>
          <p:cNvPr id="12" name="Text 10"/>
          <p:cNvSpPr txBox="1"/>
          <p:nvPr/>
        </p:nvSpPr>
        <p:spPr>
          <a:xfrm>
            <a:off x="9050274" y="2011680"/>
            <a:ext cx="2544318" cy="777240"/>
          </a:xfrm>
          <a:prstGeom prst="rect">
            <a:avLst/>
          </a:prstGeom>
          <a:noFill/>
          <a:ln/>
        </p:spPr>
        <p:txBody>
          <a:bodyPr wrap="square" lIns="0" tIns="0" rIns="0" bIns="0" rtlCol="0" anchor="b"/>
          <a:lstStyle/>
          <a:p>
            <a:pPr indent="0" marL="0">
              <a:buNone/>
            </a:pPr>
            <a:r>
              <a:rPr lang="en-US" sz="4800" b="1" dirty="0">
                <a:solidFill>
                  <a:srgbClr val="22D3EE"/>
                </a:solidFill>
                <a:latin typeface="Cambria" pitchFamily="34" charset="0"/>
                <a:ea typeface="Cambria" pitchFamily="34" charset="-122"/>
                <a:cs typeface="Cambria" pitchFamily="34" charset="-120"/>
              </a:rPr>
              <a:t>2</a:t>
            </a:r>
            <a:endParaRPr lang="en-US" sz="4800" dirty="0"/>
          </a:p>
        </p:txBody>
      </p:sp>
      <p:sp>
        <p:nvSpPr>
          <p:cNvPr id="13" name="Text 11"/>
          <p:cNvSpPr txBox="1"/>
          <p:nvPr/>
        </p:nvSpPr>
        <p:spPr>
          <a:xfrm>
            <a:off x="9050274" y="2816352"/>
            <a:ext cx="2544318"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regions in every deploy</a:t>
            </a:r>
            <a:endParaRPr lang="en-US" sz="1250" dirty="0"/>
          </a:p>
        </p:txBody>
      </p:sp>
      <p:sp>
        <p:nvSpPr>
          <p:cNvPr id="14" name="Shape 12"/>
          <p:cNvSpPr/>
          <p:nvPr/>
        </p:nvSpPr>
        <p:spPr>
          <a:xfrm>
            <a:off x="594360" y="3520440"/>
            <a:ext cx="3483864" cy="2697480"/>
          </a:xfrm>
          <a:prstGeom prst="roundRect">
            <a:avLst>
              <a:gd name="adj" fmla="val 4068"/>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15" name="Shape 13"/>
          <p:cNvSpPr/>
          <p:nvPr/>
        </p:nvSpPr>
        <p:spPr>
          <a:xfrm>
            <a:off x="795528" y="372160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16" name="Image 0" descr="preencoded.png">    </p:cNvPr>
          <p:cNvPicPr>
            <a:picLocks noChangeAspect="1"/>
          </p:cNvPicPr>
          <p:nvPr/>
        </p:nvPicPr>
        <p:blipFill>
          <a:blip r:embed="rId2"/>
          <a:stretch>
            <a:fillRect/>
          </a:stretch>
        </p:blipFill>
        <p:spPr>
          <a:xfrm>
            <a:off x="905256" y="3831336"/>
            <a:ext cx="237744" cy="237744"/>
          </a:xfrm>
          <a:prstGeom prst="rect">
            <a:avLst/>
          </a:prstGeom>
        </p:spPr>
      </p:pic>
      <p:sp>
        <p:nvSpPr>
          <p:cNvPr id="17" name="Text 14"/>
          <p:cNvSpPr txBox="1"/>
          <p:nvPr/>
        </p:nvSpPr>
        <p:spPr>
          <a:xfrm>
            <a:off x="1389888" y="3721608"/>
            <a:ext cx="2505456"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What it hides</a:t>
            </a:r>
            <a:endParaRPr lang="en-US" sz="1500" dirty="0"/>
          </a:p>
        </p:txBody>
      </p:sp>
      <p:sp>
        <p:nvSpPr>
          <p:cNvPr id="18" name="Text 15"/>
          <p:cNvSpPr txBox="1"/>
          <p:nvPr/>
        </p:nvSpPr>
        <p:spPr>
          <a:xfrm>
            <a:off x="795528" y="4343400"/>
            <a:ext cx="3081528" cy="173736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Knative Services and DomainMappings</a:t>
            </a:r>
            <a:endParaRPr lang="en-US" sz="1200" dirty="0"/>
          </a:p>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kpack Images, git and registry secrets</a:t>
            </a:r>
            <a:endParaRPr lang="en-US" sz="1200" dirty="0"/>
          </a:p>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Namespaces, RBAC, NetworkPolicies</a:t>
            </a:r>
            <a:endParaRPr lang="en-US" sz="1200" dirty="0"/>
          </a:p>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Two clusters that must agree</a:t>
            </a:r>
            <a:endParaRPr lang="en-US" sz="1200" dirty="0"/>
          </a:p>
        </p:txBody>
      </p:sp>
      <p:sp>
        <p:nvSpPr>
          <p:cNvPr id="19" name="Shape 16"/>
          <p:cNvSpPr/>
          <p:nvPr/>
        </p:nvSpPr>
        <p:spPr>
          <a:xfrm>
            <a:off x="4352544" y="3520440"/>
            <a:ext cx="3483864" cy="2697480"/>
          </a:xfrm>
          <a:prstGeom prst="roundRect">
            <a:avLst>
              <a:gd name="adj" fmla="val 4068"/>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0" name="Shape 17"/>
          <p:cNvSpPr/>
          <p:nvPr/>
        </p:nvSpPr>
        <p:spPr>
          <a:xfrm>
            <a:off x="4553712" y="372160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21" name="Image 1" descr="preencoded.png">    </p:cNvPr>
          <p:cNvPicPr>
            <a:picLocks noChangeAspect="1"/>
          </p:cNvPicPr>
          <p:nvPr/>
        </p:nvPicPr>
        <p:blipFill>
          <a:blip r:embed="rId3"/>
          <a:stretch>
            <a:fillRect/>
          </a:stretch>
        </p:blipFill>
        <p:spPr>
          <a:xfrm>
            <a:off x="4663440" y="3831336"/>
            <a:ext cx="237744" cy="237744"/>
          </a:xfrm>
          <a:prstGeom prst="rect">
            <a:avLst/>
          </a:prstGeom>
        </p:spPr>
      </p:pic>
      <p:sp>
        <p:nvSpPr>
          <p:cNvPr id="22" name="Text 18"/>
          <p:cNvSpPr txBox="1"/>
          <p:nvPr/>
        </p:nvSpPr>
        <p:spPr>
          <a:xfrm>
            <a:off x="5148072" y="3721608"/>
            <a:ext cx="2505456"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What it guarantees</a:t>
            </a:r>
            <a:endParaRPr lang="en-US" sz="1500" dirty="0"/>
          </a:p>
        </p:txBody>
      </p:sp>
      <p:sp>
        <p:nvSpPr>
          <p:cNvPr id="23" name="Text 19"/>
          <p:cNvSpPr txBox="1"/>
          <p:nvPr/>
        </p:nvSpPr>
        <p:spPr>
          <a:xfrm>
            <a:off x="4553712" y="4343400"/>
            <a:ext cx="3081528" cy="173736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Validation up front, then 202 with a statusUrl</a:t>
            </a:r>
            <a:endParaRPr lang="en-US" sz="1200" dirty="0"/>
          </a:p>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A closed status vocabulary: Pending · Building · Deploying · Ready · Failed · Terminating</a:t>
            </a:r>
            <a:endParaRPr lang="en-US" sz="1200" dirty="0"/>
          </a:p>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Machine-readable reasons and one error envelope with a request id</a:t>
            </a:r>
            <a:endParaRPr lang="en-US" sz="1200" dirty="0"/>
          </a:p>
        </p:txBody>
      </p:sp>
      <p:sp>
        <p:nvSpPr>
          <p:cNvPr id="24" name="Shape 20"/>
          <p:cNvSpPr/>
          <p:nvPr/>
        </p:nvSpPr>
        <p:spPr>
          <a:xfrm>
            <a:off x="8110728" y="3520440"/>
            <a:ext cx="3483864" cy="2697480"/>
          </a:xfrm>
          <a:prstGeom prst="roundRect">
            <a:avLst>
              <a:gd name="adj" fmla="val 4068"/>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5" name="Shape 21"/>
          <p:cNvSpPr/>
          <p:nvPr/>
        </p:nvSpPr>
        <p:spPr>
          <a:xfrm>
            <a:off x="8311896" y="372160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26" name="Image 2" descr="preencoded.png">    </p:cNvPr>
          <p:cNvPicPr>
            <a:picLocks noChangeAspect="1"/>
          </p:cNvPicPr>
          <p:nvPr/>
        </p:nvPicPr>
        <p:blipFill>
          <a:blip r:embed="rId4"/>
          <a:stretch>
            <a:fillRect/>
          </a:stretch>
        </p:blipFill>
        <p:spPr>
          <a:xfrm>
            <a:off x="8421624" y="3831336"/>
            <a:ext cx="237744" cy="237744"/>
          </a:xfrm>
          <a:prstGeom prst="rect">
            <a:avLst/>
          </a:prstGeom>
        </p:spPr>
      </p:pic>
      <p:sp>
        <p:nvSpPr>
          <p:cNvPr id="27" name="Text 22"/>
          <p:cNvSpPr txBox="1"/>
          <p:nvPr/>
        </p:nvSpPr>
        <p:spPr>
          <a:xfrm>
            <a:off x="8906256" y="3721608"/>
            <a:ext cx="2505456"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What it is built with</a:t>
            </a:r>
            <a:endParaRPr lang="en-US" sz="1500" dirty="0"/>
          </a:p>
        </p:txBody>
      </p:sp>
      <p:sp>
        <p:nvSpPr>
          <p:cNvPr id="28" name="Text 23"/>
          <p:cNvSpPr txBox="1"/>
          <p:nvPr/>
        </p:nvSpPr>
        <p:spPr>
          <a:xfrm>
            <a:off x="8311896" y="4343400"/>
            <a:ext cx="3081528" cy="173736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FastAPI + Pydantic v2, the official kubernetes client</a:t>
            </a:r>
            <a:endParaRPr lang="en-US" sz="1200" dirty="0"/>
          </a:p>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cloudlet-apis for auth, errors, logging, docs</a:t>
            </a:r>
            <a:endParaRPr lang="en-US" sz="1200" dirty="0"/>
          </a:p>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37 test modules, ruff, layering tests</a:t>
            </a:r>
            <a:endParaRPr lang="en-US" sz="1200" dirty="0"/>
          </a:p>
          <a:p>
            <a:pPr marL="152400" indent="-152400">
              <a:spcAft>
                <a:spcPts val="500"/>
              </a:spcAft>
              <a:buSzPct val="100000"/>
              <a:buChar char="•"/>
            </a:pPr>
            <a:r>
              <a:rPr lang="en-US" sz="1200" dirty="0">
                <a:solidFill>
                  <a:srgbClr val="94A3B8"/>
                </a:solidFill>
                <a:latin typeface="Calibri" pitchFamily="34" charset="0"/>
                <a:ea typeface="Calibri" pitchFamily="34" charset="-122"/>
                <a:cs typeface="Calibri" pitchFamily="34" charset="-120"/>
              </a:rPr>
              <a:t>One Helm chart, rendered by ArgoCD once per region</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02  ·  THE API</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09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The API structure</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Everything hangs off one base path. The SSO group is a path segment on every workload call, never a body field.</a:t>
            </a:r>
            <a:endParaRPr lang="en-US" sz="1500" dirty="0"/>
          </a:p>
        </p:txBody>
      </p:sp>
      <p:sp>
        <p:nvSpPr>
          <p:cNvPr id="6" name="Shape 4"/>
          <p:cNvSpPr/>
          <p:nvPr/>
        </p:nvSpPr>
        <p:spPr>
          <a:xfrm>
            <a:off x="594360" y="2057400"/>
            <a:ext cx="6766560" cy="4160520"/>
          </a:xfrm>
          <a:prstGeom prst="roundRect">
            <a:avLst>
              <a:gd name="adj" fmla="val 2198"/>
            </a:avLst>
          </a:prstGeom>
          <a:solidFill>
            <a:srgbClr val="080D19"/>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795528" y="2221992"/>
            <a:ext cx="6400800" cy="3886200"/>
          </a:xfrm>
          <a:prstGeom prst="rect">
            <a:avLst/>
          </a:prstGeom>
          <a:noFill/>
          <a:ln/>
        </p:spPr>
        <p:txBody>
          <a:bodyPr wrap="square" lIns="0" tIns="0" rIns="0" bIns="0" rtlCol="0" anchor="t"/>
          <a:lstStyle/>
          <a:p>
            <a:pPr indent="0" marL="0">
              <a:lnSpc>
                <a:spcPct val="112000"/>
              </a:lnSpc>
              <a:buNone/>
            </a:pPr>
            <a:r>
              <a:rPr lang="en-US" sz="1150" b="1" dirty="0">
                <a:solidFill>
                  <a:srgbClr val="22D3EE"/>
                </a:solidFill>
                <a:latin typeface="Courier New" pitchFamily="34" charset="0"/>
                <a:ea typeface="Courier New" pitchFamily="34" charset="-122"/>
                <a:cs typeface="Courier New" pitchFamily="34" charset="-120"/>
              </a:rPr>
              <a:t>/api/serverless/v1</a:t>
            </a:r>
            <a:endParaRPr lang="en-US" sz="1150" dirty="0"/>
          </a:p>
          <a:p>
            <a:pPr indent="0" marL="0">
              <a:lnSpc>
                <a:spcPct val="112000"/>
              </a:lnSpc>
              <a:buNone/>
            </a:pPr>
            <a:r>
              <a:rPr lang="en-US" sz="1150" b="1" dirty="0">
                <a:solidFill>
                  <a:srgbClr val="F1F5F9"/>
                </a:solidFill>
                <a:latin typeface="Courier New" pitchFamily="34" charset="0"/>
                <a:ea typeface="Courier New" pitchFamily="34" charset="-122"/>
                <a:cs typeface="Courier New" pitchFamily="34" charset="-120"/>
              </a:rPr>
              <a:t>├── /groups/{group}/functions</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POST                </a:t>
            </a:r>
            <a:pPr indent="0" marL="0">
              <a:lnSpc>
                <a:spcPct val="112000"/>
              </a:lnSpc>
              <a:buNone/>
            </a:pPr>
            <a:r>
              <a:rPr lang="en-US" sz="1150" b="1" dirty="0">
                <a:solidFill>
                  <a:srgbClr val="34D399"/>
                </a:solidFill>
                <a:latin typeface="Courier New" pitchFamily="34" charset="0"/>
                <a:ea typeface="Courier New" pitchFamily="34" charset="-122"/>
                <a:cs typeface="Courier New" pitchFamily="34" charset="-120"/>
              </a:rPr>
              <a:t>create → 202</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GET                 </a:t>
            </a:r>
            <a:pPr indent="0" marL="0">
              <a:lnSpc>
                <a:spcPct val="112000"/>
              </a:lnSpc>
              <a:buNone/>
            </a:pPr>
            <a:r>
              <a:rPr lang="en-US" sz="1150" dirty="0">
                <a:solidFill>
                  <a:srgbClr val="F1F5F9"/>
                </a:solidFill>
                <a:latin typeface="Courier New" pitchFamily="34" charset="0"/>
                <a:ea typeface="Courier New" pitchFamily="34" charset="-122"/>
                <a:cs typeface="Courier New" pitchFamily="34" charset="-120"/>
              </a:rPr>
              <a:t>list  ?sort=name|createdAt</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GET     /{name}     </a:t>
            </a:r>
            <a:pPr indent="0" marL="0">
              <a:lnSpc>
                <a:spcPct val="112000"/>
              </a:lnSpc>
              <a:buNone/>
            </a:pPr>
            <a:r>
              <a:rPr lang="en-US" sz="1150" dirty="0">
                <a:solidFill>
                  <a:srgbClr val="F1F5F9"/>
                </a:solidFill>
                <a:latin typeface="Courier New" pitchFamily="34" charset="0"/>
                <a:ea typeface="Courier New" pitchFamily="34" charset="-122"/>
                <a:cs typeface="Courier New" pitchFamily="34" charset="-120"/>
              </a:rPr>
              <a:t>read, secrets redacted</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PUT     /{name}     </a:t>
            </a:r>
            <a:pPr indent="0" marL="0">
              <a:lnSpc>
                <a:spcPct val="112000"/>
              </a:lnSpc>
              <a:buNone/>
            </a:pPr>
            <a:r>
              <a:rPr lang="en-US" sz="1150" b="1" dirty="0">
                <a:solidFill>
                  <a:srgbClr val="34D399"/>
                </a:solidFill>
                <a:latin typeface="Courier New" pitchFamily="34" charset="0"/>
                <a:ea typeface="Courier New" pitchFamily="34" charset="-122"/>
                <a:cs typeface="Courier New" pitchFamily="34" charset="-120"/>
              </a:rPr>
              <a:t>full replace → 202</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DELETE  /{name}     </a:t>
            </a:r>
            <a:pPr indent="0" marL="0">
              <a:lnSpc>
                <a:spcPct val="112000"/>
              </a:lnSpc>
              <a:buNone/>
            </a:pPr>
            <a:r>
              <a:rPr lang="en-US" sz="1150" b="1" dirty="0">
                <a:solidFill>
                  <a:srgbClr val="34D399"/>
                </a:solidFill>
                <a:latin typeface="Courier New" pitchFamily="34" charset="0"/>
                <a:ea typeface="Courier New" pitchFamily="34" charset="-122"/>
                <a:cs typeface="Courier New" pitchFamily="34" charset="-120"/>
              </a:rPr>
              <a:t>→ 204</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POST    /{name}/build</a:t>
            </a:r>
            <a:pPr indent="0" marL="0">
              <a:lnSpc>
                <a:spcPct val="112000"/>
              </a:lnSpc>
              <a:buNone/>
            </a:pPr>
            <a:r>
              <a:rPr lang="en-US" sz="1150" b="1" dirty="0">
                <a:solidFill>
                  <a:srgbClr val="34D399"/>
                </a:solidFill>
                <a:latin typeface="Courier New" pitchFamily="34" charset="0"/>
                <a:ea typeface="Courier New" pitchFamily="34" charset="-122"/>
                <a:cs typeface="Courier New" pitchFamily="34" charset="-120"/>
              </a:rPr>
              <a:t>   rebuild → 202</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GET     /{name}/stats  · /stats/stream</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GET     /{name}/pods   · /logs/pods/{pod}</a:t>
            </a:r>
            <a:endParaRPr lang="en-US" sz="1150" dirty="0"/>
          </a:p>
          <a:p>
            <a:pPr indent="0" marL="0">
              <a:lnSpc>
                <a:spcPct val="112000"/>
              </a:lnSpc>
              <a:buNone/>
            </a:pPr>
            <a:r>
              <a:rPr lang="en-US" sz="1150" b="1" dirty="0">
                <a:solidFill>
                  <a:srgbClr val="F1F5F9"/>
                </a:solidFill>
                <a:latin typeface="Courier New" pitchFamily="34" charset="0"/>
                <a:ea typeface="Courier New" pitchFamily="34" charset="-122"/>
                <a:cs typeface="Courier New" pitchFamily="34" charset="-120"/>
              </a:rPr>
              <a:t>├── /groups/{group}/containers</a:t>
            </a:r>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same set; /pull instead of /build</a:t>
            </a:r>
            <a:endParaRPr lang="en-US" sz="1150" dirty="0"/>
          </a:p>
          <a:p>
            <a:pPr indent="0" marL="0">
              <a:lnSpc>
                <a:spcPct val="112000"/>
              </a:lnSpc>
              <a:buNone/>
            </a:pPr>
            <a:r>
              <a:rPr lang="en-US" sz="1150" b="1" dirty="0">
                <a:solidFill>
                  <a:srgbClr val="F1F5F9"/>
                </a:solidFill>
                <a:latin typeface="Courier New" pitchFamily="34" charset="0"/>
                <a:ea typeface="Courier New" pitchFamily="34" charset="-122"/>
                <a:cs typeface="Courier New" pitchFamily="34" charset="-120"/>
              </a:rPr>
              <a:t>├── /functions/info · /containers/info</a:t>
            </a:r>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public capabilities</a:t>
            </a:r>
            <a:endParaRPr lang="en-US" sz="1150" dirty="0"/>
          </a:p>
          <a:p>
            <a:pPr indent="0" marL="0">
              <a:lnSpc>
                <a:spcPct val="112000"/>
              </a:lnSpc>
              <a:buNone/>
            </a:pPr>
            <a:r>
              <a:rPr lang="en-US" sz="1150" b="1" dirty="0">
                <a:solidFill>
                  <a:srgbClr val="F1F5F9"/>
                </a:solidFill>
                <a:latin typeface="Courier New" pitchFamily="34" charset="0"/>
                <a:ea typeface="Courier New" pitchFamily="34" charset="-122"/>
                <a:cs typeface="Courier New" pitchFamily="34" charset="-120"/>
              </a:rPr>
              <a:t>├── /stream-tickets</a:t>
            </a:r>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HMAC ticket for EventSource</a:t>
            </a:r>
            <a:endParaRPr lang="en-US" sz="1150" dirty="0"/>
          </a:p>
          <a:p>
            <a:pPr indent="0" marL="0">
              <a:lnSpc>
                <a:spcPct val="112000"/>
              </a:lnSpc>
              <a:buNone/>
            </a:pPr>
            <a:r>
              <a:rPr lang="en-US" sz="1150" dirty="0">
                <a:solidFill>
                  <a:srgbClr val="94A3B8"/>
                </a:solidFill>
                <a:latin typeface="Courier New" pitchFamily="34" charset="0"/>
                <a:ea typeface="Courier New" pitchFamily="34" charset="-122"/>
                <a:cs typeface="Courier New" pitchFamily="34" charset="-120"/>
              </a:rPr>
              <a:t>└── /healthz · /readyz · /docs · /openapi.json</a:t>
            </a:r>
            <a:endParaRPr lang="en-US" sz="1150" dirty="0"/>
          </a:p>
        </p:txBody>
      </p:sp>
      <p:sp>
        <p:nvSpPr>
          <p:cNvPr id="8" name="Shape 6"/>
          <p:cNvSpPr/>
          <p:nvPr/>
        </p:nvSpPr>
        <p:spPr>
          <a:xfrm>
            <a:off x="7726680" y="207568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9" name="Image 0" descr="preencoded.png">    </p:cNvPr>
          <p:cNvPicPr>
            <a:picLocks noChangeAspect="1"/>
          </p:cNvPicPr>
          <p:nvPr/>
        </p:nvPicPr>
        <p:blipFill>
          <a:blip r:embed="rId2"/>
          <a:stretch>
            <a:fillRect/>
          </a:stretch>
        </p:blipFill>
        <p:spPr>
          <a:xfrm>
            <a:off x="7849575" y="2198583"/>
            <a:ext cx="266273" cy="266273"/>
          </a:xfrm>
          <a:prstGeom prst="rect">
            <a:avLst/>
          </a:prstGeom>
        </p:spPr>
      </p:pic>
      <p:sp>
        <p:nvSpPr>
          <p:cNvPr id="10" name="Text 7"/>
          <p:cNvSpPr txBox="1"/>
          <p:nvPr/>
        </p:nvSpPr>
        <p:spPr>
          <a:xfrm>
            <a:off x="8439912" y="2057400"/>
            <a:ext cx="317296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23 endpoints</a:t>
            </a:r>
            <a:endParaRPr lang="en-US" sz="1500" dirty="0"/>
          </a:p>
        </p:txBody>
      </p:sp>
      <p:sp>
        <p:nvSpPr>
          <p:cNvPr id="11" name="Text 8"/>
          <p:cNvSpPr txBox="1"/>
          <p:nvPr/>
        </p:nvSpPr>
        <p:spPr>
          <a:xfrm>
            <a:off x="8439912" y="2359152"/>
            <a:ext cx="3172968" cy="658368"/>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10 for functions, 10 for containers, two public info endpoints and the ticket mint.</a:t>
            </a:r>
            <a:endParaRPr lang="en-US" sz="1150" dirty="0"/>
          </a:p>
        </p:txBody>
      </p:sp>
      <p:sp>
        <p:nvSpPr>
          <p:cNvPr id="12" name="Shape 9"/>
          <p:cNvSpPr/>
          <p:nvPr/>
        </p:nvSpPr>
        <p:spPr>
          <a:xfrm>
            <a:off x="7726680" y="312724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13" name="Image 1" descr="preencoded.png">    </p:cNvPr>
          <p:cNvPicPr>
            <a:picLocks noChangeAspect="1"/>
          </p:cNvPicPr>
          <p:nvPr/>
        </p:nvPicPr>
        <p:blipFill>
          <a:blip r:embed="rId3"/>
          <a:stretch>
            <a:fillRect/>
          </a:stretch>
        </p:blipFill>
        <p:spPr>
          <a:xfrm>
            <a:off x="7849575" y="3250143"/>
            <a:ext cx="266273" cy="266273"/>
          </a:xfrm>
          <a:prstGeom prst="rect">
            <a:avLst/>
          </a:prstGeom>
        </p:spPr>
      </p:pic>
      <p:sp>
        <p:nvSpPr>
          <p:cNvPr id="14" name="Text 10"/>
          <p:cNvSpPr txBox="1"/>
          <p:nvPr/>
        </p:nvSpPr>
        <p:spPr>
          <a:xfrm>
            <a:off x="8439912" y="3108960"/>
            <a:ext cx="317296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One header, two credentials</a:t>
            </a:r>
            <a:endParaRPr lang="en-US" sz="1500" dirty="0"/>
          </a:p>
        </p:txBody>
      </p:sp>
      <p:sp>
        <p:nvSpPr>
          <p:cNvPr id="15" name="Text 11"/>
          <p:cNvSpPr txBox="1"/>
          <p:nvPr/>
        </p:nvSpPr>
        <p:spPr>
          <a:xfrm>
            <a:off x="8439912" y="3410712"/>
            <a:ext cx="3172968" cy="658368"/>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A Keycloak OIDC bearer token, validated offline against cached JWKS, or a static admin key, told apart by shape.</a:t>
            </a:r>
            <a:endParaRPr lang="en-US" sz="1150" dirty="0"/>
          </a:p>
        </p:txBody>
      </p:sp>
      <p:sp>
        <p:nvSpPr>
          <p:cNvPr id="16" name="Shape 12"/>
          <p:cNvSpPr/>
          <p:nvPr/>
        </p:nvSpPr>
        <p:spPr>
          <a:xfrm>
            <a:off x="7726680" y="417880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17" name="Image 2" descr="preencoded.png">    </p:cNvPr>
          <p:cNvPicPr>
            <a:picLocks noChangeAspect="1"/>
          </p:cNvPicPr>
          <p:nvPr/>
        </p:nvPicPr>
        <p:blipFill>
          <a:blip r:embed="rId4"/>
          <a:stretch>
            <a:fillRect/>
          </a:stretch>
        </p:blipFill>
        <p:spPr>
          <a:xfrm>
            <a:off x="7849575" y="4301703"/>
            <a:ext cx="266273" cy="266273"/>
          </a:xfrm>
          <a:prstGeom prst="rect">
            <a:avLst/>
          </a:prstGeom>
        </p:spPr>
      </p:pic>
      <p:sp>
        <p:nvSpPr>
          <p:cNvPr id="18" name="Text 13"/>
          <p:cNvSpPr txBox="1"/>
          <p:nvPr/>
        </p:nvSpPr>
        <p:spPr>
          <a:xfrm>
            <a:off x="8439912" y="4160520"/>
            <a:ext cx="317296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403 outside your {group}</a:t>
            </a:r>
            <a:endParaRPr lang="en-US" sz="1500" dirty="0"/>
          </a:p>
        </p:txBody>
      </p:sp>
      <p:sp>
        <p:nvSpPr>
          <p:cNvPr id="19" name="Text 14"/>
          <p:cNvSpPr txBox="1"/>
          <p:nvPr/>
        </p:nvSpPr>
        <p:spPr>
          <a:xfrm>
            <a:off x="8439912" y="4462272"/>
            <a:ext cx="3172968" cy="658368"/>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Authorization is the groups claim. Names are normalized in one place; admin groups may act for anyone.</a:t>
            </a:r>
            <a:endParaRPr lang="en-US" sz="1150" dirty="0"/>
          </a:p>
        </p:txBody>
      </p:sp>
      <p:sp>
        <p:nvSpPr>
          <p:cNvPr id="20" name="Shape 15"/>
          <p:cNvSpPr/>
          <p:nvPr/>
        </p:nvSpPr>
        <p:spPr>
          <a:xfrm>
            <a:off x="7726680" y="5230368"/>
            <a:ext cx="512064" cy="512064"/>
          </a:xfrm>
          <a:prstGeom prst="roundRect">
            <a:avLst>
              <a:gd name="adj" fmla="val 17857"/>
            </a:avLst>
          </a:prstGeom>
          <a:solidFill>
            <a:srgbClr val="22D3EE">
              <a:alpha val="18000"/>
            </a:srgbClr>
          </a:solidFill>
          <a:ln w="6350">
            <a:solidFill>
              <a:srgbClr val="22D3EE">
                <a:alpha val="60000"/>
              </a:srgbClr>
            </a:solidFill>
            <a:prstDash val="solid"/>
          </a:ln>
        </p:spPr>
      </p:sp>
      <p:pic>
        <p:nvPicPr>
          <p:cNvPr id="21" name="Image 3" descr="preencoded.png">    </p:cNvPr>
          <p:cNvPicPr>
            <a:picLocks noChangeAspect="1"/>
          </p:cNvPicPr>
          <p:nvPr/>
        </p:nvPicPr>
        <p:blipFill>
          <a:blip r:embed="rId5"/>
          <a:stretch>
            <a:fillRect/>
          </a:stretch>
        </p:blipFill>
        <p:spPr>
          <a:xfrm>
            <a:off x="7849575" y="5353263"/>
            <a:ext cx="266273" cy="266273"/>
          </a:xfrm>
          <a:prstGeom prst="rect">
            <a:avLst/>
          </a:prstGeom>
        </p:spPr>
      </p:pic>
      <p:sp>
        <p:nvSpPr>
          <p:cNvPr id="22" name="Text 16"/>
          <p:cNvSpPr txBox="1"/>
          <p:nvPr/>
        </p:nvSpPr>
        <p:spPr>
          <a:xfrm>
            <a:off x="8439912" y="5212080"/>
            <a:ext cx="317296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Streams get tickets</a:t>
            </a:r>
            <a:endParaRPr lang="en-US" sz="1500" dirty="0"/>
          </a:p>
        </p:txBody>
      </p:sp>
      <p:sp>
        <p:nvSpPr>
          <p:cNvPr id="23" name="Text 17"/>
          <p:cNvSpPr txBox="1"/>
          <p:nvPr/>
        </p:nvSpPr>
        <p:spPr>
          <a:xfrm>
            <a:off x="8439912" y="5513832"/>
            <a:ext cx="3172968" cy="658368"/>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EventSource cannot send a header, so the browser gets a 60-second, single-path HMAC ticket instead.</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02  ·  THE API</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10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Anatomy of a workload</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The same body shape for functions and containers, one closed lifecycle, and a response that is the request with secrets redacted.</a:t>
            </a:r>
            <a:endParaRPr lang="en-US" sz="1500" dirty="0"/>
          </a:p>
        </p:txBody>
      </p:sp>
      <p:sp>
        <p:nvSpPr>
          <p:cNvPr id="6" name="Shape 4"/>
          <p:cNvSpPr/>
          <p:nvPr/>
        </p:nvSpPr>
        <p:spPr>
          <a:xfrm>
            <a:off x="594360" y="2057400"/>
            <a:ext cx="6035040" cy="4160520"/>
          </a:xfrm>
          <a:prstGeom prst="roundRect">
            <a:avLst>
              <a:gd name="adj" fmla="val 2637"/>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822960" y="2194560"/>
            <a:ext cx="2743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THE REQUEST</a:t>
            </a:r>
            <a:endParaRPr lang="en-US" sz="1050" dirty="0"/>
          </a:p>
        </p:txBody>
      </p:sp>
      <p:sp>
        <p:nvSpPr>
          <p:cNvPr id="8" name="Text 6"/>
          <p:cNvSpPr txBox="1"/>
          <p:nvPr/>
        </p:nvSpPr>
        <p:spPr>
          <a:xfrm>
            <a:off x="822960" y="2560320"/>
            <a:ext cx="1554480" cy="658368"/>
          </a:xfrm>
          <a:prstGeom prst="rect">
            <a:avLst/>
          </a:prstGeom>
          <a:noFill/>
          <a:ln/>
        </p:spPr>
        <p:txBody>
          <a:bodyPr wrap="square" lIns="0" tIns="0" rIns="0" bIns="0" rtlCol="0" anchor="t"/>
          <a:lstStyle/>
          <a:p>
            <a:pPr algn="l" indent="0" marL="0">
              <a:buNone/>
            </a:pPr>
            <a:r>
              <a:rPr lang="en-US" sz="1250" b="1" dirty="0">
                <a:solidFill>
                  <a:srgbClr val="F1F5F9"/>
                </a:solidFill>
                <a:latin typeface="Calibri" pitchFamily="34" charset="0"/>
                <a:ea typeface="Calibri" pitchFamily="34" charset="-122"/>
                <a:cs typeface="Calibri" pitchFamily="34" charset="-120"/>
              </a:rPr>
              <a:t>Identity</a:t>
            </a:r>
            <a:endParaRPr lang="en-US" sz="1250" dirty="0"/>
          </a:p>
        </p:txBody>
      </p:sp>
      <p:sp>
        <p:nvSpPr>
          <p:cNvPr id="9" name="Text 7"/>
          <p:cNvSpPr txBox="1"/>
          <p:nvPr/>
        </p:nvSpPr>
        <p:spPr>
          <a:xfrm>
            <a:off x="2423160" y="2560320"/>
            <a:ext cx="3977640" cy="658368"/>
          </a:xfrm>
          <a:prstGeom prst="rect">
            <a:avLst/>
          </a:prstGeom>
          <a:noFill/>
          <a:ln/>
        </p:spPr>
        <p:txBody>
          <a:bodyPr wrap="square" lIns="0" tIns="0" rIns="0" bIns="0" rtlCol="0" anchor="t"/>
          <a:lstStyle/>
          <a:p>
            <a:pPr indent="0" marL="0">
              <a:buNone/>
            </a:pPr>
            <a:r>
              <a:rPr lang="en-US" sz="1000" dirty="0">
                <a:solidFill>
                  <a:srgbClr val="94A3B8"/>
                </a:solidFill>
                <a:latin typeface="Courier New" pitchFamily="34" charset="0"/>
                <a:ea typeface="Courier New" pitchFamily="34" charset="-122"/>
                <a:cs typeface="Courier New" pitchFamily="34" charset="-120"/>
              </a:rPr>
              <a:t>name · hostname · regions[]</a:t>
            </a:r>
            <a:endParaRPr lang="en-US" sz="1000" dirty="0"/>
          </a:p>
        </p:txBody>
      </p:sp>
      <p:sp>
        <p:nvSpPr>
          <p:cNvPr id="10" name="Text 8"/>
          <p:cNvSpPr txBox="1"/>
          <p:nvPr/>
        </p:nvSpPr>
        <p:spPr>
          <a:xfrm>
            <a:off x="822960" y="3273552"/>
            <a:ext cx="1554480" cy="658368"/>
          </a:xfrm>
          <a:prstGeom prst="rect">
            <a:avLst/>
          </a:prstGeom>
          <a:noFill/>
          <a:ln/>
        </p:spPr>
        <p:txBody>
          <a:bodyPr wrap="square" lIns="0" tIns="0" rIns="0" bIns="0" rtlCol="0" anchor="t"/>
          <a:lstStyle/>
          <a:p>
            <a:pPr algn="l" indent="0" marL="0">
              <a:buNone/>
            </a:pPr>
            <a:r>
              <a:rPr lang="en-US" sz="1250" b="1" dirty="0">
                <a:solidFill>
                  <a:srgbClr val="F1F5F9"/>
                </a:solidFill>
                <a:latin typeface="Calibri" pitchFamily="34" charset="0"/>
                <a:ea typeface="Calibri" pitchFamily="34" charset="-122"/>
                <a:cs typeface="Calibri" pitchFamily="34" charset="-120"/>
              </a:rPr>
              <a:t>Source (function)</a:t>
            </a:r>
            <a:endParaRPr lang="en-US" sz="1250" dirty="0"/>
          </a:p>
        </p:txBody>
      </p:sp>
      <p:sp>
        <p:nvSpPr>
          <p:cNvPr id="11" name="Text 9"/>
          <p:cNvSpPr txBox="1"/>
          <p:nvPr/>
        </p:nvSpPr>
        <p:spPr>
          <a:xfrm>
            <a:off x="2423160" y="3273552"/>
            <a:ext cx="3977640" cy="658368"/>
          </a:xfrm>
          <a:prstGeom prst="rect">
            <a:avLst/>
          </a:prstGeom>
          <a:noFill/>
          <a:ln/>
        </p:spPr>
        <p:txBody>
          <a:bodyPr wrap="square" lIns="0" tIns="0" rIns="0" bIns="0" rtlCol="0" anchor="t"/>
          <a:lstStyle/>
          <a:p>
            <a:pPr indent="0" marL="0">
              <a:buNone/>
            </a:pPr>
            <a:r>
              <a:rPr lang="en-US" sz="1000" dirty="0">
                <a:solidFill>
                  <a:srgbClr val="94A3B8"/>
                </a:solidFill>
                <a:latin typeface="Courier New" pitchFamily="34" charset="0"/>
                <a:ea typeface="Courier New" pitchFamily="34" charset="-122"/>
                <a:cs typeface="Courier New" pitchFamily="34" charset="-120"/>
              </a:rPr>
              <a:t>gitRepo · branch · path · gitToken · runtime · version</a:t>
            </a:r>
            <a:endParaRPr lang="en-US" sz="1000" dirty="0"/>
          </a:p>
        </p:txBody>
      </p:sp>
      <p:sp>
        <p:nvSpPr>
          <p:cNvPr id="12" name="Text 10"/>
          <p:cNvSpPr txBox="1"/>
          <p:nvPr/>
        </p:nvSpPr>
        <p:spPr>
          <a:xfrm>
            <a:off x="822960" y="3986784"/>
            <a:ext cx="1554480" cy="658368"/>
          </a:xfrm>
          <a:prstGeom prst="rect">
            <a:avLst/>
          </a:prstGeom>
          <a:noFill/>
          <a:ln/>
        </p:spPr>
        <p:txBody>
          <a:bodyPr wrap="square" lIns="0" tIns="0" rIns="0" bIns="0" rtlCol="0" anchor="t"/>
          <a:lstStyle/>
          <a:p>
            <a:pPr algn="l" indent="0" marL="0">
              <a:buNone/>
            </a:pPr>
            <a:r>
              <a:rPr lang="en-US" sz="1250" b="1" dirty="0">
                <a:solidFill>
                  <a:srgbClr val="F1F5F9"/>
                </a:solidFill>
                <a:latin typeface="Calibri" pitchFamily="34" charset="0"/>
                <a:ea typeface="Calibri" pitchFamily="34" charset="-122"/>
                <a:cs typeface="Calibri" pitchFamily="34" charset="-120"/>
              </a:rPr>
              <a:t>Source (container)</a:t>
            </a:r>
            <a:endParaRPr lang="en-US" sz="1250" dirty="0"/>
          </a:p>
        </p:txBody>
      </p:sp>
      <p:sp>
        <p:nvSpPr>
          <p:cNvPr id="13" name="Text 11"/>
          <p:cNvSpPr txBox="1"/>
          <p:nvPr/>
        </p:nvSpPr>
        <p:spPr>
          <a:xfrm>
            <a:off x="2423160" y="3986784"/>
            <a:ext cx="3977640" cy="658368"/>
          </a:xfrm>
          <a:prstGeom prst="rect">
            <a:avLst/>
          </a:prstGeom>
          <a:noFill/>
          <a:ln/>
        </p:spPr>
        <p:txBody>
          <a:bodyPr wrap="square" lIns="0" tIns="0" rIns="0" bIns="0" rtlCol="0" anchor="t"/>
          <a:lstStyle/>
          <a:p>
            <a:pPr indent="0" marL="0">
              <a:buNone/>
            </a:pPr>
            <a:r>
              <a:rPr lang="en-US" sz="1000" dirty="0">
                <a:solidFill>
                  <a:srgbClr val="94A3B8"/>
                </a:solidFill>
                <a:latin typeface="Courier New" pitchFamily="34" charset="0"/>
                <a:ea typeface="Courier New" pitchFamily="34" charset="-122"/>
                <a:cs typeface="Courier New" pitchFamily="34" charset="-120"/>
              </a:rPr>
              <a:t>image · registryUsername · registryToken</a:t>
            </a:r>
            <a:endParaRPr lang="en-US" sz="1000" dirty="0"/>
          </a:p>
        </p:txBody>
      </p:sp>
      <p:sp>
        <p:nvSpPr>
          <p:cNvPr id="14" name="Text 12"/>
          <p:cNvSpPr txBox="1"/>
          <p:nvPr/>
        </p:nvSpPr>
        <p:spPr>
          <a:xfrm>
            <a:off x="822960" y="4700016"/>
            <a:ext cx="1554480" cy="658368"/>
          </a:xfrm>
          <a:prstGeom prst="rect">
            <a:avLst/>
          </a:prstGeom>
          <a:noFill/>
          <a:ln/>
        </p:spPr>
        <p:txBody>
          <a:bodyPr wrap="square" lIns="0" tIns="0" rIns="0" bIns="0" rtlCol="0" anchor="t"/>
          <a:lstStyle/>
          <a:p>
            <a:pPr algn="l" indent="0" marL="0">
              <a:buNone/>
            </a:pPr>
            <a:r>
              <a:rPr lang="en-US" sz="1250" b="1" dirty="0">
                <a:solidFill>
                  <a:srgbClr val="F1F5F9"/>
                </a:solidFill>
                <a:latin typeface="Calibri" pitchFamily="34" charset="0"/>
                <a:ea typeface="Calibri" pitchFamily="34" charset="-122"/>
                <a:cs typeface="Calibri" pitchFamily="34" charset="-120"/>
              </a:rPr>
              <a:t>Runtime</a:t>
            </a:r>
            <a:endParaRPr lang="en-US" sz="1250" dirty="0"/>
          </a:p>
        </p:txBody>
      </p:sp>
      <p:sp>
        <p:nvSpPr>
          <p:cNvPr id="15" name="Text 13"/>
          <p:cNvSpPr txBox="1"/>
          <p:nvPr/>
        </p:nvSpPr>
        <p:spPr>
          <a:xfrm>
            <a:off x="2423160" y="4700016"/>
            <a:ext cx="3977640" cy="658368"/>
          </a:xfrm>
          <a:prstGeom prst="rect">
            <a:avLst/>
          </a:prstGeom>
          <a:noFill/>
          <a:ln/>
        </p:spPr>
        <p:txBody>
          <a:bodyPr wrap="square" lIns="0" tIns="0" rIns="0" bIns="0" rtlCol="0" anchor="t"/>
          <a:lstStyle/>
          <a:p>
            <a:pPr indent="0" marL="0">
              <a:buNone/>
            </a:pPr>
            <a:r>
              <a:rPr lang="en-US" sz="1000" dirty="0">
                <a:solidFill>
                  <a:srgbClr val="94A3B8"/>
                </a:solidFill>
                <a:latin typeface="Courier New" pitchFamily="34" charset="0"/>
                <a:ea typeface="Courier New" pitchFamily="34" charset="-122"/>
                <a:cs typeface="Courier New" pitchFamily="34" charset="-120"/>
              </a:rPr>
              <a:t>env[] with secret flag · files[] text or base64 · port · size small | medium | large</a:t>
            </a:r>
            <a:endParaRPr lang="en-US" sz="1000" dirty="0"/>
          </a:p>
        </p:txBody>
      </p:sp>
      <p:sp>
        <p:nvSpPr>
          <p:cNvPr id="16" name="Text 14"/>
          <p:cNvSpPr txBox="1"/>
          <p:nvPr/>
        </p:nvSpPr>
        <p:spPr>
          <a:xfrm>
            <a:off x="822960" y="5413248"/>
            <a:ext cx="1554480" cy="658368"/>
          </a:xfrm>
          <a:prstGeom prst="rect">
            <a:avLst/>
          </a:prstGeom>
          <a:noFill/>
          <a:ln/>
        </p:spPr>
        <p:txBody>
          <a:bodyPr wrap="square" lIns="0" tIns="0" rIns="0" bIns="0" rtlCol="0" anchor="t"/>
          <a:lstStyle/>
          <a:p>
            <a:pPr algn="l" indent="0" marL="0">
              <a:buNone/>
            </a:pPr>
            <a:r>
              <a:rPr lang="en-US" sz="1250" b="1" dirty="0">
                <a:solidFill>
                  <a:srgbClr val="F1F5F9"/>
                </a:solidFill>
                <a:latin typeface="Calibri" pitchFamily="34" charset="0"/>
                <a:ea typeface="Calibri" pitchFamily="34" charset="-122"/>
                <a:cs typeface="Calibri" pitchFamily="34" charset="-120"/>
              </a:rPr>
              <a:t>Scaling</a:t>
            </a:r>
            <a:endParaRPr lang="en-US" sz="1250" dirty="0"/>
          </a:p>
        </p:txBody>
      </p:sp>
      <p:sp>
        <p:nvSpPr>
          <p:cNvPr id="17" name="Text 15"/>
          <p:cNvSpPr txBox="1"/>
          <p:nvPr/>
        </p:nvSpPr>
        <p:spPr>
          <a:xfrm>
            <a:off x="2423160" y="5413248"/>
            <a:ext cx="3977640" cy="658368"/>
          </a:xfrm>
          <a:prstGeom prst="rect">
            <a:avLst/>
          </a:prstGeom>
          <a:noFill/>
          <a:ln/>
        </p:spPr>
        <p:txBody>
          <a:bodyPr wrap="square" lIns="0" tIns="0" rIns="0" bIns="0" rtlCol="0" anchor="t"/>
          <a:lstStyle/>
          <a:p>
            <a:pPr indent="0" marL="0">
              <a:buNone/>
            </a:pPr>
            <a:r>
              <a:rPr lang="en-US" sz="1000" dirty="0">
                <a:solidFill>
                  <a:srgbClr val="94A3B8"/>
                </a:solidFill>
                <a:latin typeface="Courier New" pitchFamily="34" charset="0"/>
                <a:ea typeface="Courier New" pitchFamily="34" charset="-122"/>
                <a:cs typeface="Courier New" pitchFamily="34" charset="-120"/>
              </a:rPr>
              <a:t>minScale · maxScale · metric concurrency | rps | cpu | memory · target · scaleDownDelay</a:t>
            </a:r>
            <a:endParaRPr lang="en-US" sz="1000" dirty="0"/>
          </a:p>
        </p:txBody>
      </p:sp>
      <p:sp>
        <p:nvSpPr>
          <p:cNvPr id="18" name="Text 16"/>
          <p:cNvSpPr txBox="1"/>
          <p:nvPr/>
        </p:nvSpPr>
        <p:spPr>
          <a:xfrm>
            <a:off x="6903720" y="2103120"/>
            <a:ext cx="3657600" cy="274320"/>
          </a:xfrm>
          <a:prstGeom prst="rect">
            <a:avLst/>
          </a:prstGeom>
          <a:noFill/>
          <a:ln/>
        </p:spPr>
        <p:txBody>
          <a:bodyPr wrap="square" lIns="0" tIns="0" rIns="0" bIns="0" rtlCol="0" anchor="ctr"/>
          <a:lstStyle/>
          <a:p>
            <a:pPr algn="l" indent="0" marL="0">
              <a:buNone/>
            </a:pPr>
            <a:r>
              <a:rPr lang="en-US" sz="1050" b="1" dirty="0">
                <a:solidFill>
                  <a:srgbClr val="22D3EE"/>
                </a:solidFill>
                <a:latin typeface="Calibri" pitchFamily="34" charset="0"/>
                <a:ea typeface="Calibri" pitchFamily="34" charset="-122"/>
                <a:cs typeface="Calibri" pitchFamily="34" charset="-120"/>
              </a:rPr>
              <a:t>THE LIFECYCLE</a:t>
            </a:r>
            <a:endParaRPr lang="en-US" sz="1050" dirty="0"/>
          </a:p>
        </p:txBody>
      </p:sp>
      <p:sp>
        <p:nvSpPr>
          <p:cNvPr id="19" name="Shape 17"/>
          <p:cNvSpPr/>
          <p:nvPr/>
        </p:nvSpPr>
        <p:spPr>
          <a:xfrm>
            <a:off x="6903720" y="2468880"/>
            <a:ext cx="1024128" cy="384048"/>
          </a:xfrm>
          <a:prstGeom prst="roundRect">
            <a:avLst>
              <a:gd name="adj" fmla="val 19048"/>
            </a:avLst>
          </a:prstGeom>
          <a:solidFill>
            <a:srgbClr val="22D3EE">
              <a:alpha val="16000"/>
            </a:srgbClr>
          </a:solidFill>
          <a:ln w="6350">
            <a:solidFill>
              <a:srgbClr val="22D3EE">
                <a:alpha val="55000"/>
              </a:srgbClr>
            </a:solidFill>
            <a:prstDash val="solid"/>
          </a:ln>
        </p:spPr>
      </p:sp>
      <p:sp>
        <p:nvSpPr>
          <p:cNvPr id="20" name="Text 18"/>
          <p:cNvSpPr txBox="1"/>
          <p:nvPr/>
        </p:nvSpPr>
        <p:spPr>
          <a:xfrm>
            <a:off x="6903720" y="2468880"/>
            <a:ext cx="1024128" cy="384048"/>
          </a:xfrm>
          <a:prstGeom prst="rect">
            <a:avLst/>
          </a:prstGeom>
          <a:noFill/>
          <a:ln/>
        </p:spPr>
        <p:txBody>
          <a:bodyPr wrap="square" lIns="508" tIns="508" rIns="508" bIns="508"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Pending</a:t>
            </a:r>
            <a:endParaRPr lang="en-US" sz="1150" dirty="0"/>
          </a:p>
        </p:txBody>
      </p:sp>
      <p:sp>
        <p:nvSpPr>
          <p:cNvPr id="21" name="Shape 19"/>
          <p:cNvSpPr/>
          <p:nvPr/>
        </p:nvSpPr>
        <p:spPr>
          <a:xfrm>
            <a:off x="7927848" y="2660904"/>
            <a:ext cx="201168" cy="0"/>
          </a:xfrm>
          <a:prstGeom prst="line">
            <a:avLst/>
          </a:prstGeom>
          <a:noFill/>
          <a:ln w="15875">
            <a:solidFill>
              <a:srgbClr val="5B6B8A"/>
            </a:solidFill>
            <a:prstDash val="solid"/>
            <a:tailEnd type="triangle"/>
          </a:ln>
        </p:spPr>
      </p:sp>
      <p:sp>
        <p:nvSpPr>
          <p:cNvPr id="22" name="Shape 20"/>
          <p:cNvSpPr/>
          <p:nvPr/>
        </p:nvSpPr>
        <p:spPr>
          <a:xfrm>
            <a:off x="8129016" y="2468880"/>
            <a:ext cx="1024128" cy="384048"/>
          </a:xfrm>
          <a:prstGeom prst="roundRect">
            <a:avLst>
              <a:gd name="adj" fmla="val 19048"/>
            </a:avLst>
          </a:prstGeom>
          <a:solidFill>
            <a:srgbClr val="22D3EE">
              <a:alpha val="16000"/>
            </a:srgbClr>
          </a:solidFill>
          <a:ln w="6350">
            <a:solidFill>
              <a:srgbClr val="22D3EE">
                <a:alpha val="55000"/>
              </a:srgbClr>
            </a:solidFill>
            <a:prstDash val="solid"/>
          </a:ln>
        </p:spPr>
      </p:sp>
      <p:sp>
        <p:nvSpPr>
          <p:cNvPr id="23" name="Text 21"/>
          <p:cNvSpPr txBox="1"/>
          <p:nvPr/>
        </p:nvSpPr>
        <p:spPr>
          <a:xfrm>
            <a:off x="8129016" y="2468880"/>
            <a:ext cx="1024128" cy="384048"/>
          </a:xfrm>
          <a:prstGeom prst="rect">
            <a:avLst/>
          </a:prstGeom>
          <a:noFill/>
          <a:ln/>
        </p:spPr>
        <p:txBody>
          <a:bodyPr wrap="square" lIns="508" tIns="508" rIns="508" bIns="508"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Building</a:t>
            </a:r>
            <a:endParaRPr lang="en-US" sz="1150" dirty="0"/>
          </a:p>
        </p:txBody>
      </p:sp>
      <p:sp>
        <p:nvSpPr>
          <p:cNvPr id="24" name="Shape 22"/>
          <p:cNvSpPr/>
          <p:nvPr/>
        </p:nvSpPr>
        <p:spPr>
          <a:xfrm>
            <a:off x="9153144" y="2660904"/>
            <a:ext cx="201168" cy="0"/>
          </a:xfrm>
          <a:prstGeom prst="line">
            <a:avLst/>
          </a:prstGeom>
          <a:noFill/>
          <a:ln w="15875">
            <a:solidFill>
              <a:srgbClr val="5B6B8A"/>
            </a:solidFill>
            <a:prstDash val="solid"/>
            <a:tailEnd type="triangle"/>
          </a:ln>
        </p:spPr>
      </p:sp>
      <p:sp>
        <p:nvSpPr>
          <p:cNvPr id="25" name="Shape 23"/>
          <p:cNvSpPr/>
          <p:nvPr/>
        </p:nvSpPr>
        <p:spPr>
          <a:xfrm>
            <a:off x="9354312" y="2468880"/>
            <a:ext cx="1024128" cy="384048"/>
          </a:xfrm>
          <a:prstGeom prst="roundRect">
            <a:avLst>
              <a:gd name="adj" fmla="val 19048"/>
            </a:avLst>
          </a:prstGeom>
          <a:solidFill>
            <a:srgbClr val="22D3EE">
              <a:alpha val="16000"/>
            </a:srgbClr>
          </a:solidFill>
          <a:ln w="6350">
            <a:solidFill>
              <a:srgbClr val="22D3EE">
                <a:alpha val="55000"/>
              </a:srgbClr>
            </a:solidFill>
            <a:prstDash val="solid"/>
          </a:ln>
        </p:spPr>
      </p:sp>
      <p:sp>
        <p:nvSpPr>
          <p:cNvPr id="26" name="Text 24"/>
          <p:cNvSpPr txBox="1"/>
          <p:nvPr/>
        </p:nvSpPr>
        <p:spPr>
          <a:xfrm>
            <a:off x="9354312" y="2468880"/>
            <a:ext cx="1024128" cy="384048"/>
          </a:xfrm>
          <a:prstGeom prst="rect">
            <a:avLst/>
          </a:prstGeom>
          <a:noFill/>
          <a:ln/>
        </p:spPr>
        <p:txBody>
          <a:bodyPr wrap="square" lIns="508" tIns="508" rIns="508" bIns="508" rtlCol="0" anchor="ctr"/>
          <a:lstStyle/>
          <a:p>
            <a:pPr algn="ctr" indent="0" marL="0">
              <a:buNone/>
            </a:pPr>
            <a:r>
              <a:rPr lang="en-US" sz="1150" b="1" dirty="0">
                <a:solidFill>
                  <a:srgbClr val="22D3EE"/>
                </a:solidFill>
                <a:latin typeface="Calibri" pitchFamily="34" charset="0"/>
                <a:ea typeface="Calibri" pitchFamily="34" charset="-122"/>
                <a:cs typeface="Calibri" pitchFamily="34" charset="-120"/>
              </a:rPr>
              <a:t>Deploying</a:t>
            </a:r>
            <a:endParaRPr lang="en-US" sz="1150" dirty="0"/>
          </a:p>
        </p:txBody>
      </p:sp>
      <p:sp>
        <p:nvSpPr>
          <p:cNvPr id="27" name="Shape 25"/>
          <p:cNvSpPr/>
          <p:nvPr/>
        </p:nvSpPr>
        <p:spPr>
          <a:xfrm>
            <a:off x="10378440" y="2660904"/>
            <a:ext cx="201168" cy="0"/>
          </a:xfrm>
          <a:prstGeom prst="line">
            <a:avLst/>
          </a:prstGeom>
          <a:noFill/>
          <a:ln w="15875">
            <a:solidFill>
              <a:srgbClr val="5B6B8A"/>
            </a:solidFill>
            <a:prstDash val="solid"/>
            <a:tailEnd type="triangle"/>
          </a:ln>
        </p:spPr>
      </p:sp>
      <p:sp>
        <p:nvSpPr>
          <p:cNvPr id="28" name="Shape 26"/>
          <p:cNvSpPr/>
          <p:nvPr/>
        </p:nvSpPr>
        <p:spPr>
          <a:xfrm>
            <a:off x="10579608" y="2468880"/>
            <a:ext cx="1024128" cy="384048"/>
          </a:xfrm>
          <a:prstGeom prst="roundRect">
            <a:avLst>
              <a:gd name="adj" fmla="val 19048"/>
            </a:avLst>
          </a:prstGeom>
          <a:solidFill>
            <a:srgbClr val="34D399">
              <a:alpha val="22000"/>
            </a:srgbClr>
          </a:solidFill>
          <a:ln w="6350">
            <a:solidFill>
              <a:srgbClr val="34D399">
                <a:alpha val="55000"/>
              </a:srgbClr>
            </a:solidFill>
            <a:prstDash val="solid"/>
          </a:ln>
        </p:spPr>
      </p:sp>
      <p:sp>
        <p:nvSpPr>
          <p:cNvPr id="29" name="Text 27"/>
          <p:cNvSpPr txBox="1"/>
          <p:nvPr/>
        </p:nvSpPr>
        <p:spPr>
          <a:xfrm>
            <a:off x="10579608" y="2468880"/>
            <a:ext cx="1024128" cy="384048"/>
          </a:xfrm>
          <a:prstGeom prst="rect">
            <a:avLst/>
          </a:prstGeom>
          <a:noFill/>
          <a:ln/>
        </p:spPr>
        <p:txBody>
          <a:bodyPr wrap="square" lIns="508" tIns="508" rIns="508" bIns="508" rtlCol="0" anchor="ctr"/>
          <a:lstStyle/>
          <a:p>
            <a:pPr algn="ctr" indent="0" marL="0">
              <a:buNone/>
            </a:pPr>
            <a:r>
              <a:rPr lang="en-US" sz="1150" b="1" dirty="0">
                <a:solidFill>
                  <a:srgbClr val="34D399"/>
                </a:solidFill>
                <a:latin typeface="Calibri" pitchFamily="34" charset="0"/>
                <a:ea typeface="Calibri" pitchFamily="34" charset="-122"/>
                <a:cs typeface="Calibri" pitchFamily="34" charset="-120"/>
              </a:rPr>
              <a:t>Ready</a:t>
            </a:r>
            <a:endParaRPr lang="en-US" sz="1150" dirty="0"/>
          </a:p>
        </p:txBody>
      </p:sp>
      <p:sp>
        <p:nvSpPr>
          <p:cNvPr id="30" name="Text 28"/>
          <p:cNvSpPr txBox="1"/>
          <p:nvPr/>
        </p:nvSpPr>
        <p:spPr>
          <a:xfrm>
            <a:off x="6903720" y="2907792"/>
            <a:ext cx="4663440" cy="274320"/>
          </a:xfrm>
          <a:prstGeom prst="rect">
            <a:avLst/>
          </a:prstGeom>
          <a:noFill/>
          <a:ln/>
        </p:spPr>
        <p:txBody>
          <a:bodyPr wrap="square" lIns="0" tIns="0" rIns="0" bIns="0" rtlCol="0" anchor="ctr"/>
          <a:lstStyle/>
          <a:p>
            <a:pPr algn="l" indent="0" marL="0">
              <a:buNone/>
            </a:pPr>
            <a:r>
              <a:rPr lang="en-US" sz="1050" i="1" dirty="0">
                <a:solidFill>
                  <a:srgbClr val="5B6B8A"/>
                </a:solidFill>
                <a:latin typeface="Calibri" pitchFamily="34" charset="0"/>
                <a:ea typeface="Calibri" pitchFamily="34" charset="-122"/>
                <a:cs typeface="Calibri" pitchFamily="34" charset="-120"/>
              </a:rPr>
              <a:t>Building only exists for functions. Terminating follows a DELETE.</a:t>
            </a:r>
            <a:endParaRPr lang="en-US" sz="1050" dirty="0"/>
          </a:p>
        </p:txBody>
      </p:sp>
      <p:sp>
        <p:nvSpPr>
          <p:cNvPr id="31" name="Shape 29"/>
          <p:cNvSpPr/>
          <p:nvPr/>
        </p:nvSpPr>
        <p:spPr>
          <a:xfrm>
            <a:off x="6903720" y="3291840"/>
            <a:ext cx="1024128" cy="384048"/>
          </a:xfrm>
          <a:prstGeom prst="roundRect">
            <a:avLst>
              <a:gd name="adj" fmla="val 19048"/>
            </a:avLst>
          </a:prstGeom>
          <a:solidFill>
            <a:srgbClr val="FB7185">
              <a:alpha val="18000"/>
            </a:srgbClr>
          </a:solidFill>
          <a:ln w="6350">
            <a:solidFill>
              <a:srgbClr val="FB7185">
                <a:alpha val="55000"/>
              </a:srgbClr>
            </a:solidFill>
            <a:prstDash val="solid"/>
          </a:ln>
        </p:spPr>
      </p:sp>
      <p:sp>
        <p:nvSpPr>
          <p:cNvPr id="32" name="Text 30"/>
          <p:cNvSpPr txBox="1"/>
          <p:nvPr/>
        </p:nvSpPr>
        <p:spPr>
          <a:xfrm>
            <a:off x="6903720" y="3291840"/>
            <a:ext cx="1024128" cy="384048"/>
          </a:xfrm>
          <a:prstGeom prst="rect">
            <a:avLst/>
          </a:prstGeom>
          <a:noFill/>
          <a:ln/>
        </p:spPr>
        <p:txBody>
          <a:bodyPr wrap="square" lIns="508" tIns="508" rIns="508" bIns="508" rtlCol="0" anchor="ctr"/>
          <a:lstStyle/>
          <a:p>
            <a:pPr algn="ctr" indent="0" marL="0">
              <a:buNone/>
            </a:pPr>
            <a:r>
              <a:rPr lang="en-US" sz="1150" b="1" dirty="0">
                <a:solidFill>
                  <a:srgbClr val="FB7185"/>
                </a:solidFill>
                <a:latin typeface="Calibri" pitchFamily="34" charset="0"/>
                <a:ea typeface="Calibri" pitchFamily="34" charset="-122"/>
                <a:cs typeface="Calibri" pitchFamily="34" charset="-120"/>
              </a:rPr>
              <a:t>Failed</a:t>
            </a:r>
            <a:endParaRPr lang="en-US" sz="1150" dirty="0"/>
          </a:p>
        </p:txBody>
      </p:sp>
      <p:sp>
        <p:nvSpPr>
          <p:cNvPr id="33" name="Text 31"/>
          <p:cNvSpPr txBox="1"/>
          <p:nvPr/>
        </p:nvSpPr>
        <p:spPr>
          <a:xfrm>
            <a:off x="8092440" y="3246120"/>
            <a:ext cx="3566160" cy="502920"/>
          </a:xfrm>
          <a:prstGeom prst="rect">
            <a:avLst/>
          </a:prstGeom>
          <a:noFill/>
          <a:ln/>
        </p:spPr>
        <p:txBody>
          <a:bodyPr wrap="square" lIns="0" tIns="0" rIns="0" bIns="0" rtlCol="0" anchor="ctr"/>
          <a:lstStyle/>
          <a:p>
            <a:pPr algn="l" indent="0" marL="0">
              <a:buNone/>
            </a:pPr>
            <a:r>
              <a:rPr lang="en-US" sz="1150" dirty="0">
                <a:solidFill>
                  <a:srgbClr val="94A3B8"/>
                </a:solidFill>
                <a:latin typeface="Calibri" pitchFamily="34" charset="0"/>
                <a:ea typeface="Calibri" pitchFamily="34" charset="-122"/>
                <a:cs typeface="Calibri" pitchFamily="34" charset="-120"/>
              </a:rPr>
              <a:t>with a machine-readable reason:</a:t>
            </a:r>
            <a:endParaRPr lang="en-US" sz="1150" dirty="0"/>
          </a:p>
        </p:txBody>
      </p:sp>
      <p:sp>
        <p:nvSpPr>
          <p:cNvPr id="34" name="Shape 32"/>
          <p:cNvSpPr/>
          <p:nvPr/>
        </p:nvSpPr>
        <p:spPr>
          <a:xfrm>
            <a:off x="6903720" y="3794760"/>
            <a:ext cx="900684" cy="310896"/>
          </a:xfrm>
          <a:prstGeom prst="roundRect">
            <a:avLst>
              <a:gd name="adj" fmla="val 23529"/>
            </a:avLst>
          </a:prstGeom>
          <a:solidFill>
            <a:srgbClr val="FB7185">
              <a:alpha val="10000"/>
            </a:srgbClr>
          </a:solidFill>
          <a:ln w="6350">
            <a:solidFill>
              <a:srgbClr val="FB7185">
                <a:alpha val="55000"/>
              </a:srgbClr>
            </a:solidFill>
            <a:prstDash val="solid"/>
          </a:ln>
        </p:spPr>
      </p:sp>
      <p:sp>
        <p:nvSpPr>
          <p:cNvPr id="35" name="Text 33"/>
          <p:cNvSpPr txBox="1"/>
          <p:nvPr/>
        </p:nvSpPr>
        <p:spPr>
          <a:xfrm>
            <a:off x="6903720" y="3794760"/>
            <a:ext cx="900684" cy="310896"/>
          </a:xfrm>
          <a:prstGeom prst="rect">
            <a:avLst/>
          </a:prstGeom>
          <a:noFill/>
          <a:ln/>
        </p:spPr>
        <p:txBody>
          <a:bodyPr wrap="square" lIns="508" tIns="508" rIns="508" bIns="508" rtlCol="0" anchor="ctr"/>
          <a:lstStyle/>
          <a:p>
            <a:pPr algn="ctr" indent="0" marL="0">
              <a:buNone/>
            </a:pPr>
            <a:r>
              <a:rPr lang="en-US" sz="950" dirty="0">
                <a:solidFill>
                  <a:srgbClr val="FB7185"/>
                </a:solidFill>
                <a:latin typeface="Courier New" pitchFamily="34" charset="0"/>
                <a:ea typeface="Courier New" pitchFamily="34" charset="-122"/>
                <a:cs typeface="Courier New" pitchFamily="34" charset="-120"/>
              </a:rPr>
              <a:t>BuildFailed</a:t>
            </a:r>
            <a:endParaRPr lang="en-US" sz="950" dirty="0"/>
          </a:p>
        </p:txBody>
      </p:sp>
      <p:sp>
        <p:nvSpPr>
          <p:cNvPr id="36" name="Shape 34"/>
          <p:cNvSpPr/>
          <p:nvPr/>
        </p:nvSpPr>
        <p:spPr>
          <a:xfrm>
            <a:off x="7914132" y="3794760"/>
            <a:ext cx="1175004" cy="310896"/>
          </a:xfrm>
          <a:prstGeom prst="roundRect">
            <a:avLst>
              <a:gd name="adj" fmla="val 23529"/>
            </a:avLst>
          </a:prstGeom>
          <a:solidFill>
            <a:srgbClr val="FB7185">
              <a:alpha val="10000"/>
            </a:srgbClr>
          </a:solidFill>
          <a:ln w="6350">
            <a:solidFill>
              <a:srgbClr val="FB7185">
                <a:alpha val="55000"/>
              </a:srgbClr>
            </a:solidFill>
            <a:prstDash val="solid"/>
          </a:ln>
        </p:spPr>
      </p:sp>
      <p:sp>
        <p:nvSpPr>
          <p:cNvPr id="37" name="Text 35"/>
          <p:cNvSpPr txBox="1"/>
          <p:nvPr/>
        </p:nvSpPr>
        <p:spPr>
          <a:xfrm>
            <a:off x="7914132" y="3794760"/>
            <a:ext cx="1175004" cy="310896"/>
          </a:xfrm>
          <a:prstGeom prst="rect">
            <a:avLst/>
          </a:prstGeom>
          <a:noFill/>
          <a:ln/>
        </p:spPr>
        <p:txBody>
          <a:bodyPr wrap="square" lIns="508" tIns="508" rIns="508" bIns="508" rtlCol="0" anchor="ctr"/>
          <a:lstStyle/>
          <a:p>
            <a:pPr algn="ctr" indent="0" marL="0">
              <a:buNone/>
            </a:pPr>
            <a:r>
              <a:rPr lang="en-US" sz="950" dirty="0">
                <a:solidFill>
                  <a:srgbClr val="FB7185"/>
                </a:solidFill>
                <a:latin typeface="Courier New" pitchFamily="34" charset="0"/>
                <a:ea typeface="Courier New" pitchFamily="34" charset="-122"/>
                <a:cs typeface="Courier New" pitchFamily="34" charset="-120"/>
              </a:rPr>
              <a:t>ImagePullFailed</a:t>
            </a:r>
            <a:endParaRPr lang="en-US" sz="950" dirty="0"/>
          </a:p>
        </p:txBody>
      </p:sp>
      <p:sp>
        <p:nvSpPr>
          <p:cNvPr id="38" name="Shape 36"/>
          <p:cNvSpPr/>
          <p:nvPr/>
        </p:nvSpPr>
        <p:spPr>
          <a:xfrm>
            <a:off x="9198864" y="3794760"/>
            <a:ext cx="969264" cy="310896"/>
          </a:xfrm>
          <a:prstGeom prst="roundRect">
            <a:avLst>
              <a:gd name="adj" fmla="val 23529"/>
            </a:avLst>
          </a:prstGeom>
          <a:solidFill>
            <a:srgbClr val="FB7185">
              <a:alpha val="10000"/>
            </a:srgbClr>
          </a:solidFill>
          <a:ln w="6350">
            <a:solidFill>
              <a:srgbClr val="FB7185">
                <a:alpha val="55000"/>
              </a:srgbClr>
            </a:solidFill>
            <a:prstDash val="solid"/>
          </a:ln>
        </p:spPr>
      </p:sp>
      <p:sp>
        <p:nvSpPr>
          <p:cNvPr id="39" name="Text 37"/>
          <p:cNvSpPr txBox="1"/>
          <p:nvPr/>
        </p:nvSpPr>
        <p:spPr>
          <a:xfrm>
            <a:off x="9198864" y="3794760"/>
            <a:ext cx="969264" cy="310896"/>
          </a:xfrm>
          <a:prstGeom prst="rect">
            <a:avLst/>
          </a:prstGeom>
          <a:noFill/>
          <a:ln/>
        </p:spPr>
        <p:txBody>
          <a:bodyPr wrap="square" lIns="508" tIns="508" rIns="508" bIns="508" rtlCol="0" anchor="ctr"/>
          <a:lstStyle/>
          <a:p>
            <a:pPr algn="ctr" indent="0" marL="0">
              <a:buNone/>
            </a:pPr>
            <a:r>
              <a:rPr lang="en-US" sz="950" dirty="0">
                <a:solidFill>
                  <a:srgbClr val="FB7185"/>
                </a:solidFill>
                <a:latin typeface="Courier New" pitchFamily="34" charset="0"/>
                <a:ea typeface="Courier New" pitchFamily="34" charset="-122"/>
                <a:cs typeface="Courier New" pitchFamily="34" charset="-120"/>
              </a:rPr>
              <a:t>CrashLooping</a:t>
            </a:r>
            <a:endParaRPr lang="en-US" sz="950" dirty="0"/>
          </a:p>
        </p:txBody>
      </p:sp>
      <p:sp>
        <p:nvSpPr>
          <p:cNvPr id="40" name="Shape 38"/>
          <p:cNvSpPr/>
          <p:nvPr/>
        </p:nvSpPr>
        <p:spPr>
          <a:xfrm>
            <a:off x="10277856" y="3794760"/>
            <a:ext cx="900684" cy="310896"/>
          </a:xfrm>
          <a:prstGeom prst="roundRect">
            <a:avLst>
              <a:gd name="adj" fmla="val 23529"/>
            </a:avLst>
          </a:prstGeom>
          <a:solidFill>
            <a:srgbClr val="FB7185">
              <a:alpha val="10000"/>
            </a:srgbClr>
          </a:solidFill>
          <a:ln w="6350">
            <a:solidFill>
              <a:srgbClr val="FB7185">
                <a:alpha val="55000"/>
              </a:srgbClr>
            </a:solidFill>
            <a:prstDash val="solid"/>
          </a:ln>
        </p:spPr>
      </p:sp>
      <p:sp>
        <p:nvSpPr>
          <p:cNvPr id="41" name="Text 39"/>
          <p:cNvSpPr txBox="1"/>
          <p:nvPr/>
        </p:nvSpPr>
        <p:spPr>
          <a:xfrm>
            <a:off x="10277856" y="3794760"/>
            <a:ext cx="900684" cy="310896"/>
          </a:xfrm>
          <a:prstGeom prst="rect">
            <a:avLst/>
          </a:prstGeom>
          <a:noFill/>
          <a:ln/>
        </p:spPr>
        <p:txBody>
          <a:bodyPr wrap="square" lIns="508" tIns="508" rIns="508" bIns="508" rtlCol="0" anchor="ctr"/>
          <a:lstStyle/>
          <a:p>
            <a:pPr algn="ctr" indent="0" marL="0">
              <a:buNone/>
            </a:pPr>
            <a:r>
              <a:rPr lang="en-US" sz="950" dirty="0">
                <a:solidFill>
                  <a:srgbClr val="FB7185"/>
                </a:solidFill>
                <a:latin typeface="Courier New" pitchFamily="34" charset="0"/>
                <a:ea typeface="Courier New" pitchFamily="34" charset="-122"/>
                <a:cs typeface="Courier New" pitchFamily="34" charset="-120"/>
              </a:rPr>
              <a:t>ConfigError</a:t>
            </a:r>
            <a:endParaRPr lang="en-US" sz="950" dirty="0"/>
          </a:p>
        </p:txBody>
      </p:sp>
      <p:sp>
        <p:nvSpPr>
          <p:cNvPr id="42" name="Shape 40"/>
          <p:cNvSpPr/>
          <p:nvPr/>
        </p:nvSpPr>
        <p:spPr>
          <a:xfrm>
            <a:off x="6903720" y="4178808"/>
            <a:ext cx="1792224" cy="310896"/>
          </a:xfrm>
          <a:prstGeom prst="roundRect">
            <a:avLst>
              <a:gd name="adj" fmla="val 23529"/>
            </a:avLst>
          </a:prstGeom>
          <a:solidFill>
            <a:srgbClr val="FB7185">
              <a:alpha val="10000"/>
            </a:srgbClr>
          </a:solidFill>
          <a:ln w="6350">
            <a:solidFill>
              <a:srgbClr val="FB7185">
                <a:alpha val="55000"/>
              </a:srgbClr>
            </a:solidFill>
            <a:prstDash val="solid"/>
          </a:ln>
        </p:spPr>
      </p:sp>
      <p:sp>
        <p:nvSpPr>
          <p:cNvPr id="43" name="Text 41"/>
          <p:cNvSpPr txBox="1"/>
          <p:nvPr/>
        </p:nvSpPr>
        <p:spPr>
          <a:xfrm>
            <a:off x="6903720" y="4178808"/>
            <a:ext cx="1792224" cy="310896"/>
          </a:xfrm>
          <a:prstGeom prst="rect">
            <a:avLst/>
          </a:prstGeom>
          <a:noFill/>
          <a:ln/>
        </p:spPr>
        <p:txBody>
          <a:bodyPr wrap="square" lIns="508" tIns="508" rIns="508" bIns="508" rtlCol="0" anchor="ctr"/>
          <a:lstStyle/>
          <a:p>
            <a:pPr algn="ctr" indent="0" marL="0">
              <a:buNone/>
            </a:pPr>
            <a:r>
              <a:rPr lang="en-US" sz="950" dirty="0">
                <a:solidFill>
                  <a:srgbClr val="FB7185"/>
                </a:solidFill>
                <a:latin typeface="Courier New" pitchFamily="34" charset="0"/>
                <a:ea typeface="Courier New" pitchFamily="34" charset="-122"/>
                <a:cs typeface="Courier New" pitchFamily="34" charset="-120"/>
              </a:rPr>
              <a:t>ProgressDeadlineExceeded</a:t>
            </a:r>
            <a:endParaRPr lang="en-US" sz="950" dirty="0"/>
          </a:p>
        </p:txBody>
      </p:sp>
      <p:sp>
        <p:nvSpPr>
          <p:cNvPr id="44" name="Shape 42"/>
          <p:cNvSpPr/>
          <p:nvPr/>
        </p:nvSpPr>
        <p:spPr>
          <a:xfrm>
            <a:off x="6903720" y="4526280"/>
            <a:ext cx="4690872" cy="1691640"/>
          </a:xfrm>
          <a:prstGeom prst="roundRect">
            <a:avLst>
              <a:gd name="adj" fmla="val 6486"/>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45" name="Shape 43"/>
          <p:cNvSpPr/>
          <p:nvPr/>
        </p:nvSpPr>
        <p:spPr>
          <a:xfrm>
            <a:off x="7104888" y="472744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46" name="Image 0" descr="preencoded.png">    </p:cNvPr>
          <p:cNvPicPr>
            <a:picLocks noChangeAspect="1"/>
          </p:cNvPicPr>
          <p:nvPr/>
        </p:nvPicPr>
        <p:blipFill>
          <a:blip r:embed="rId2"/>
          <a:stretch>
            <a:fillRect/>
          </a:stretch>
        </p:blipFill>
        <p:spPr>
          <a:xfrm>
            <a:off x="7214616" y="4837176"/>
            <a:ext cx="237744" cy="237744"/>
          </a:xfrm>
          <a:prstGeom prst="rect">
            <a:avLst/>
          </a:prstGeom>
        </p:spPr>
      </p:pic>
      <p:sp>
        <p:nvSpPr>
          <p:cNvPr id="47" name="Text 44"/>
          <p:cNvSpPr txBox="1"/>
          <p:nvPr/>
        </p:nvSpPr>
        <p:spPr>
          <a:xfrm>
            <a:off x="7699248" y="4727448"/>
            <a:ext cx="3712464"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The response</a:t>
            </a:r>
            <a:endParaRPr lang="en-US" sz="1500" dirty="0"/>
          </a:p>
        </p:txBody>
      </p:sp>
      <p:sp>
        <p:nvSpPr>
          <p:cNvPr id="48" name="Text 45"/>
          <p:cNvSpPr txBox="1"/>
          <p:nvPr/>
        </p:nvSpPr>
        <p:spPr>
          <a:xfrm>
            <a:off x="7104888" y="5349240"/>
            <a:ext cx="4288536" cy="73152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The request with secrets redacted, plus status, hostname, createdAt and one row per region: status, revision, reason, message, replicas. Omit a redacted secret on PUT and it is kept, so read-modify-write never strips credentials.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02  ·  THE API</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11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How the API talks to the cluster</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Client-certificate mTLS, always. No kubeconfig, no service-account token, no per-region URL to configure.</a:t>
            </a:r>
            <a:endParaRPr lang="en-US" sz="1500" dirty="0"/>
          </a:p>
        </p:txBody>
      </p:sp>
      <p:sp>
        <p:nvSpPr>
          <p:cNvPr id="6" name="Shape 4"/>
          <p:cNvSpPr/>
          <p:nvPr/>
        </p:nvSpPr>
        <p:spPr>
          <a:xfrm>
            <a:off x="594360" y="2240280"/>
            <a:ext cx="2377440" cy="960120"/>
          </a:xfrm>
          <a:prstGeom prst="roundRect">
            <a:avLst>
              <a:gd name="adj" fmla="val 9524"/>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594360" y="2240280"/>
            <a:ext cx="2377440" cy="96012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cert-manager Certificate</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ACME, issued by the internal CA</a:t>
            </a:r>
            <a:endParaRPr lang="en-US" sz="1300" dirty="0"/>
          </a:p>
        </p:txBody>
      </p:sp>
      <p:sp>
        <p:nvSpPr>
          <p:cNvPr id="8" name="Shape 6"/>
          <p:cNvSpPr/>
          <p:nvPr/>
        </p:nvSpPr>
        <p:spPr>
          <a:xfrm>
            <a:off x="2971800" y="2720340"/>
            <a:ext cx="320040" cy="0"/>
          </a:xfrm>
          <a:prstGeom prst="line">
            <a:avLst/>
          </a:prstGeom>
          <a:noFill/>
          <a:ln w="19050">
            <a:solidFill>
              <a:srgbClr val="5B6B8A"/>
            </a:solidFill>
            <a:prstDash val="solid"/>
            <a:tailEnd type="triangle"/>
          </a:ln>
        </p:spPr>
      </p:sp>
      <p:sp>
        <p:nvSpPr>
          <p:cNvPr id="9" name="Shape 7"/>
          <p:cNvSpPr/>
          <p:nvPr/>
        </p:nvSpPr>
        <p:spPr>
          <a:xfrm>
            <a:off x="3291840" y="2240280"/>
            <a:ext cx="2468880" cy="960120"/>
          </a:xfrm>
          <a:prstGeom prst="roundRect">
            <a:avLst>
              <a:gd name="adj" fmla="val 9524"/>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0" name="Text 8"/>
          <p:cNvSpPr txBox="1"/>
          <p:nvPr/>
        </p:nvSpPr>
        <p:spPr>
          <a:xfrm>
            <a:off x="3291840" y="2240280"/>
            <a:ext cx="2468880" cy="96012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tls.crt + tls.key</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mounted in the API pod</a:t>
            </a:r>
            <a:endParaRPr lang="en-US" sz="1300" dirty="0"/>
          </a:p>
        </p:txBody>
      </p:sp>
      <p:sp>
        <p:nvSpPr>
          <p:cNvPr id="11" name="Shape 9"/>
          <p:cNvSpPr/>
          <p:nvPr/>
        </p:nvSpPr>
        <p:spPr>
          <a:xfrm>
            <a:off x="5760720" y="2720340"/>
            <a:ext cx="320040" cy="0"/>
          </a:xfrm>
          <a:prstGeom prst="line">
            <a:avLst/>
          </a:prstGeom>
          <a:noFill/>
          <a:ln w="19050">
            <a:solidFill>
              <a:srgbClr val="5B6B8A"/>
            </a:solidFill>
            <a:prstDash val="solid"/>
            <a:tailEnd type="triangle"/>
          </a:ln>
        </p:spPr>
      </p:sp>
      <p:sp>
        <p:nvSpPr>
          <p:cNvPr id="12" name="Shape 10"/>
          <p:cNvSpPr/>
          <p:nvPr/>
        </p:nvSpPr>
        <p:spPr>
          <a:xfrm>
            <a:off x="6080760" y="2240280"/>
            <a:ext cx="3017520" cy="960120"/>
          </a:xfrm>
          <a:prstGeom prst="roundRect">
            <a:avLst>
              <a:gd name="adj" fmla="val 9524"/>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3" name="Text 11"/>
          <p:cNvSpPr txBox="1"/>
          <p:nvPr/>
        </p:nvSpPr>
        <p:spPr>
          <a:xfrm>
            <a:off x="6080760" y="2240280"/>
            <a:ext cx="3017520" cy="96012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Kubernetes API server</a:t>
            </a:r>
            <a:endParaRPr lang="en-US" sz="1300" dirty="0"/>
          </a:p>
          <a:p>
            <a:pPr algn="ctr" indent="0" marL="0">
              <a:buNone/>
            </a:pPr>
            <a:r>
              <a:rPr lang="en-US" sz="950" dirty="0">
                <a:solidFill>
                  <a:srgbClr val="94A3B8"/>
                </a:solidFill>
                <a:latin typeface="Calibri" pitchFamily="34" charset="0"/>
                <a:ea typeface="Calibri" pitchFamily="34" charset="-122"/>
                <a:cs typeface="Calibri" pitchFamily="34" charset="-120"/>
              </a:rPr>
              <a:t>https://api.{cluster}.{base_domain}:6443</a:t>
            </a:r>
            <a:endParaRPr lang="en-US" sz="1300" dirty="0"/>
          </a:p>
        </p:txBody>
      </p:sp>
      <p:sp>
        <p:nvSpPr>
          <p:cNvPr id="14" name="Shape 12"/>
          <p:cNvSpPr/>
          <p:nvPr/>
        </p:nvSpPr>
        <p:spPr>
          <a:xfrm>
            <a:off x="9098280" y="2720340"/>
            <a:ext cx="320040" cy="0"/>
          </a:xfrm>
          <a:prstGeom prst="line">
            <a:avLst/>
          </a:prstGeom>
          <a:noFill/>
          <a:ln w="19050">
            <a:solidFill>
              <a:srgbClr val="5B6B8A"/>
            </a:solidFill>
            <a:prstDash val="solid"/>
            <a:tailEnd type="triangle"/>
          </a:ln>
        </p:spPr>
      </p:sp>
      <p:sp>
        <p:nvSpPr>
          <p:cNvPr id="15" name="Shape 13"/>
          <p:cNvSpPr/>
          <p:nvPr/>
        </p:nvSpPr>
        <p:spPr>
          <a:xfrm>
            <a:off x="9418320" y="2240280"/>
            <a:ext cx="2176272" cy="960120"/>
          </a:xfrm>
          <a:prstGeom prst="roundRect">
            <a:avLst>
              <a:gd name="adj" fmla="val 9524"/>
            </a:avLst>
          </a:prstGeom>
          <a:solidFill>
            <a:srgbClr val="18213A"/>
          </a:solidFill>
          <a:ln w="12700">
            <a:solidFill>
              <a:srgbClr val="34D399"/>
            </a:solidFill>
            <a:prstDash val="solid"/>
          </a:ln>
          <a:effectLst>
            <a:outerShdw sx="100000" sy="100000" kx="0" ky="0" algn="bl" rotWithShape="0" blurRad="101600" dist="38100" dir="5400000">
              <a:srgbClr val="000000">
                <a:alpha val="35000"/>
              </a:srgbClr>
            </a:outerShdw>
          </a:effectLst>
        </p:spPr>
      </p:sp>
      <p:sp>
        <p:nvSpPr>
          <p:cNvPr id="16" name="Text 14"/>
          <p:cNvSpPr txBox="1"/>
          <p:nvPr/>
        </p:nvSpPr>
        <p:spPr>
          <a:xfrm>
            <a:off x="9418320" y="2240280"/>
            <a:ext cx="2176272" cy="96012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RBAC</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ClusterRole, bound per tenant namespace</a:t>
            </a:r>
            <a:endParaRPr lang="en-US" sz="1300" dirty="0"/>
          </a:p>
        </p:txBody>
      </p:sp>
      <p:sp>
        <p:nvSpPr>
          <p:cNvPr id="17" name="Shape 15"/>
          <p:cNvSpPr/>
          <p:nvPr/>
        </p:nvSpPr>
        <p:spPr>
          <a:xfrm>
            <a:off x="3291840" y="3429000"/>
            <a:ext cx="8302752" cy="457200"/>
          </a:xfrm>
          <a:prstGeom prst="roundRect">
            <a:avLst>
              <a:gd name="adj" fmla="val 16000"/>
            </a:avLst>
          </a:prstGeom>
          <a:solidFill>
            <a:srgbClr val="22D3EE">
              <a:alpha val="12000"/>
            </a:srgbClr>
          </a:solidFill>
          <a:ln w="6350">
            <a:solidFill>
              <a:srgbClr val="22D3EE">
                <a:alpha val="50000"/>
              </a:srgbClr>
            </a:solidFill>
            <a:prstDash val="solid"/>
          </a:ln>
        </p:spPr>
      </p:sp>
      <p:sp>
        <p:nvSpPr>
          <p:cNvPr id="18" name="Text 16"/>
          <p:cNvSpPr txBox="1"/>
          <p:nvPr/>
        </p:nvSpPr>
        <p:spPr>
          <a:xfrm>
            <a:off x="3429000" y="3429000"/>
            <a:ext cx="8138160" cy="457200"/>
          </a:xfrm>
          <a:prstGeom prst="rect">
            <a:avLst/>
          </a:prstGeom>
          <a:noFill/>
          <a:ln/>
        </p:spPr>
        <p:txBody>
          <a:bodyPr wrap="square" lIns="0" tIns="0" rIns="0" bIns="0" rtlCol="0" anchor="ctr"/>
          <a:lstStyle/>
          <a:p>
            <a:pPr indent="0" marL="0">
              <a:buNone/>
            </a:pPr>
            <a:r>
              <a:rPr lang="en-US" sz="1050" dirty="0">
                <a:solidFill>
                  <a:srgbClr val="94A3B8"/>
                </a:solidFill>
                <a:latin typeface="Courier New" pitchFamily="34" charset="0"/>
                <a:ea typeface="Courier New" pitchFamily="34" charset="-122"/>
                <a:cs typeface="Courier New" pitchFamily="34" charset="-120"/>
              </a:rPr>
              <a:t>CN = </a:t>
            </a:r>
            <a:pPr indent="0" marL="0">
              <a:buNone/>
            </a:pPr>
            <a:r>
              <a:rPr lang="en-US" sz="1050" b="1" dirty="0">
                <a:solidFill>
                  <a:srgbClr val="22D3EE"/>
                </a:solidFill>
                <a:latin typeface="Courier New" pitchFamily="34" charset="0"/>
                <a:ea typeface="Courier New" pitchFamily="34" charset="-122"/>
                <a:cs typeface="Courier New" pitchFamily="34" charset="-120"/>
              </a:rPr>
              <a:t>serverless-api.clients.{base_domain}</a:t>
            </a:r>
            <a:pPr indent="0" marL="0">
              <a:buNone/>
            </a:pPr>
            <a:r>
              <a:rPr lang="en-US" sz="1050" dirty="0">
                <a:solidFill>
                  <a:srgbClr val="94A3B8"/>
                </a:solidFill>
                <a:latin typeface="Courier New" pitchFamily="34" charset="0"/>
                <a:ea typeface="Courier New" pitchFamily="34" charset="-122"/>
                <a:cs typeface="Courier New" pitchFamily="34" charset="-120"/>
              </a:rPr>
              <a:t>   ← this DNS name is the Kubernetes user</a:t>
            </a:r>
            <a:endParaRPr lang="en-US" sz="1050" dirty="0"/>
          </a:p>
        </p:txBody>
      </p:sp>
      <p:sp>
        <p:nvSpPr>
          <p:cNvPr id="19" name="Shape 17"/>
          <p:cNvSpPr/>
          <p:nvPr/>
        </p:nvSpPr>
        <p:spPr>
          <a:xfrm>
            <a:off x="594360" y="4069080"/>
            <a:ext cx="2544318" cy="2148840"/>
          </a:xfrm>
          <a:prstGeom prst="roundRect">
            <a:avLst>
              <a:gd name="adj" fmla="val 5106"/>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0" name="Shape 18"/>
          <p:cNvSpPr/>
          <p:nvPr/>
        </p:nvSpPr>
        <p:spPr>
          <a:xfrm>
            <a:off x="795528" y="427024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21" name="Image 0" descr="preencoded.png">    </p:cNvPr>
          <p:cNvPicPr>
            <a:picLocks noChangeAspect="1"/>
          </p:cNvPicPr>
          <p:nvPr/>
        </p:nvPicPr>
        <p:blipFill>
          <a:blip r:embed="rId2"/>
          <a:stretch>
            <a:fillRect/>
          </a:stretch>
        </p:blipFill>
        <p:spPr>
          <a:xfrm>
            <a:off x="905256" y="4379976"/>
            <a:ext cx="237744" cy="237744"/>
          </a:xfrm>
          <a:prstGeom prst="rect">
            <a:avLst/>
          </a:prstGeom>
        </p:spPr>
      </p:pic>
      <p:sp>
        <p:nvSpPr>
          <p:cNvPr id="22" name="Text 19"/>
          <p:cNvSpPr txBox="1"/>
          <p:nvPr/>
        </p:nvSpPr>
        <p:spPr>
          <a:xfrm>
            <a:off x="1389888" y="4270248"/>
            <a:ext cx="1565910" cy="457200"/>
          </a:xfrm>
          <a:prstGeom prst="rect">
            <a:avLst/>
          </a:prstGeom>
          <a:noFill/>
          <a:ln/>
        </p:spPr>
        <p:txBody>
          <a:bodyPr wrap="square" lIns="0" tIns="0" rIns="0" bIns="0" rtlCol="0" anchor="ctr"/>
          <a:lstStyle/>
          <a:p>
            <a:pPr indent="0" marL="0">
              <a:buNone/>
            </a:pPr>
            <a:r>
              <a:rPr lang="en-US" sz="1350" b="1" dirty="0">
                <a:solidFill>
                  <a:srgbClr val="F1F5F9"/>
                </a:solidFill>
                <a:latin typeface="Calibri" pitchFamily="34" charset="0"/>
                <a:ea typeface="Calibri" pitchFamily="34" charset="-122"/>
                <a:cs typeface="Calibri" pitchFamily="34" charset="-120"/>
              </a:rPr>
              <a:t>Identity is a DNS name</a:t>
            </a:r>
            <a:endParaRPr lang="en-US" sz="1350" dirty="0"/>
          </a:p>
        </p:txBody>
      </p:sp>
      <p:sp>
        <p:nvSpPr>
          <p:cNvPr id="23" name="Text 20"/>
          <p:cNvSpPr txBox="1"/>
          <p:nvPr/>
        </p:nvSpPr>
        <p:spPr>
          <a:xfrm>
            <a:off x="795528" y="4892040"/>
            <a:ext cx="2141982" cy="118872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ACME will only issue to a DNS identity, so the certificate's common name is one. RBAC binds exactly that name; the tenant controller has its own.</a:t>
            </a:r>
            <a:endParaRPr lang="en-US" sz="1150" dirty="0"/>
          </a:p>
        </p:txBody>
      </p:sp>
      <p:sp>
        <p:nvSpPr>
          <p:cNvPr id="24" name="Shape 21"/>
          <p:cNvSpPr/>
          <p:nvPr/>
        </p:nvSpPr>
        <p:spPr>
          <a:xfrm>
            <a:off x="3412998" y="4069080"/>
            <a:ext cx="2544318" cy="2148840"/>
          </a:xfrm>
          <a:prstGeom prst="roundRect">
            <a:avLst>
              <a:gd name="adj" fmla="val 5106"/>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5" name="Shape 22"/>
          <p:cNvSpPr/>
          <p:nvPr/>
        </p:nvSpPr>
        <p:spPr>
          <a:xfrm>
            <a:off x="3614166" y="427024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26" name="Image 1" descr="preencoded.png">    </p:cNvPr>
          <p:cNvPicPr>
            <a:picLocks noChangeAspect="1"/>
          </p:cNvPicPr>
          <p:nvPr/>
        </p:nvPicPr>
        <p:blipFill>
          <a:blip r:embed="rId3"/>
          <a:stretch>
            <a:fillRect/>
          </a:stretch>
        </p:blipFill>
        <p:spPr>
          <a:xfrm>
            <a:off x="3723894" y="4379976"/>
            <a:ext cx="237744" cy="237744"/>
          </a:xfrm>
          <a:prstGeom prst="rect">
            <a:avLst/>
          </a:prstGeom>
        </p:spPr>
      </p:pic>
      <p:sp>
        <p:nvSpPr>
          <p:cNvPr id="27" name="Text 23"/>
          <p:cNvSpPr txBox="1"/>
          <p:nvPr/>
        </p:nvSpPr>
        <p:spPr>
          <a:xfrm>
            <a:off x="4208526" y="4270248"/>
            <a:ext cx="1565910" cy="457200"/>
          </a:xfrm>
          <a:prstGeom prst="rect">
            <a:avLst/>
          </a:prstGeom>
          <a:noFill/>
          <a:ln/>
        </p:spPr>
        <p:txBody>
          <a:bodyPr wrap="square" lIns="0" tIns="0" rIns="0" bIns="0" rtlCol="0" anchor="ctr"/>
          <a:lstStyle/>
          <a:p>
            <a:pPr indent="0" marL="0">
              <a:buNone/>
            </a:pPr>
            <a:r>
              <a:rPr lang="en-US" sz="1350" b="1" dirty="0">
                <a:solidFill>
                  <a:srgbClr val="F1F5F9"/>
                </a:solidFill>
                <a:latin typeface="Calibri" pitchFamily="34" charset="0"/>
                <a:ea typeface="Calibri" pitchFamily="34" charset="-122"/>
                <a:cs typeface="Calibri" pitchFamily="34" charset="-120"/>
              </a:rPr>
              <a:t>Server-side apply, always</a:t>
            </a:r>
            <a:endParaRPr lang="en-US" sz="1350" dirty="0"/>
          </a:p>
        </p:txBody>
      </p:sp>
      <p:sp>
        <p:nvSpPr>
          <p:cNvPr id="28" name="Text 24"/>
          <p:cNvSpPr txBox="1"/>
          <p:nvPr/>
        </p:nvSpPr>
        <p:spPr>
          <a:xfrm>
            <a:off x="3614166" y="4892040"/>
            <a:ext cx="2141982" cy="118872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Create and update are one code path, with force. A retry after a partial failure simply heals the object; nothing is patched by hand.</a:t>
            </a:r>
            <a:endParaRPr lang="en-US" sz="1150" dirty="0"/>
          </a:p>
        </p:txBody>
      </p:sp>
      <p:sp>
        <p:nvSpPr>
          <p:cNvPr id="29" name="Shape 25"/>
          <p:cNvSpPr/>
          <p:nvPr/>
        </p:nvSpPr>
        <p:spPr>
          <a:xfrm>
            <a:off x="6231636" y="4069080"/>
            <a:ext cx="2544318" cy="2148840"/>
          </a:xfrm>
          <a:prstGeom prst="roundRect">
            <a:avLst>
              <a:gd name="adj" fmla="val 5106"/>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0" name="Shape 26"/>
          <p:cNvSpPr/>
          <p:nvPr/>
        </p:nvSpPr>
        <p:spPr>
          <a:xfrm>
            <a:off x="6432804" y="427024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31" name="Image 2" descr="preencoded.png">    </p:cNvPr>
          <p:cNvPicPr>
            <a:picLocks noChangeAspect="1"/>
          </p:cNvPicPr>
          <p:nvPr/>
        </p:nvPicPr>
        <p:blipFill>
          <a:blip r:embed="rId4"/>
          <a:stretch>
            <a:fillRect/>
          </a:stretch>
        </p:blipFill>
        <p:spPr>
          <a:xfrm>
            <a:off x="6542532" y="4379976"/>
            <a:ext cx="237744" cy="237744"/>
          </a:xfrm>
          <a:prstGeom prst="rect">
            <a:avLst/>
          </a:prstGeom>
        </p:spPr>
      </p:pic>
      <p:sp>
        <p:nvSpPr>
          <p:cNvPr id="32" name="Text 27"/>
          <p:cNvSpPr txBox="1"/>
          <p:nvPr/>
        </p:nvSpPr>
        <p:spPr>
          <a:xfrm>
            <a:off x="7027164" y="4270248"/>
            <a:ext cx="1565910" cy="457200"/>
          </a:xfrm>
          <a:prstGeom prst="rect">
            <a:avLst/>
          </a:prstGeom>
          <a:noFill/>
          <a:ln/>
        </p:spPr>
        <p:txBody>
          <a:bodyPr wrap="square" lIns="0" tIns="0" rIns="0" bIns="0" rtlCol="0" anchor="ctr"/>
          <a:lstStyle/>
          <a:p>
            <a:pPr indent="0" marL="0">
              <a:buNone/>
            </a:pPr>
            <a:r>
              <a:rPr lang="en-US" sz="1350" b="1" dirty="0">
                <a:solidFill>
                  <a:srgbClr val="F1F5F9"/>
                </a:solidFill>
                <a:latin typeface="Calibri" pitchFamily="34" charset="0"/>
                <a:ea typeface="Calibri" pitchFamily="34" charset="-122"/>
                <a:cs typeface="Calibri" pitchFamily="34" charset="-120"/>
              </a:rPr>
              <a:t>A region is three words</a:t>
            </a:r>
            <a:endParaRPr lang="en-US" sz="1350" dirty="0"/>
          </a:p>
        </p:txBody>
      </p:sp>
      <p:sp>
        <p:nvSpPr>
          <p:cNvPr id="33" name="Text 28"/>
          <p:cNvSpPr txBox="1"/>
          <p:nvPr/>
        </p:nvSpPr>
        <p:spPr>
          <a:xfrm>
            <a:off x="6432804" y="4892040"/>
            <a:ext cx="2141982" cy="118872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{name, cluster, registry}. Nothing secret, so regions ship as a ConfigMap and the API server address is derived, never configured.</a:t>
            </a:r>
            <a:endParaRPr lang="en-US" sz="1150" dirty="0"/>
          </a:p>
        </p:txBody>
      </p:sp>
      <p:sp>
        <p:nvSpPr>
          <p:cNvPr id="34" name="Shape 29"/>
          <p:cNvSpPr/>
          <p:nvPr/>
        </p:nvSpPr>
        <p:spPr>
          <a:xfrm>
            <a:off x="9050274" y="4069080"/>
            <a:ext cx="2544318" cy="2148840"/>
          </a:xfrm>
          <a:prstGeom prst="roundRect">
            <a:avLst>
              <a:gd name="adj" fmla="val 5106"/>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5" name="Shape 30"/>
          <p:cNvSpPr/>
          <p:nvPr/>
        </p:nvSpPr>
        <p:spPr>
          <a:xfrm>
            <a:off x="9251442" y="427024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36" name="Image 3" descr="preencoded.png">    </p:cNvPr>
          <p:cNvPicPr>
            <a:picLocks noChangeAspect="1"/>
          </p:cNvPicPr>
          <p:nvPr/>
        </p:nvPicPr>
        <p:blipFill>
          <a:blip r:embed="rId5"/>
          <a:stretch>
            <a:fillRect/>
          </a:stretch>
        </p:blipFill>
        <p:spPr>
          <a:xfrm>
            <a:off x="9361170" y="4379976"/>
            <a:ext cx="237744" cy="237744"/>
          </a:xfrm>
          <a:prstGeom prst="rect">
            <a:avLst/>
          </a:prstGeom>
        </p:spPr>
      </p:pic>
      <p:sp>
        <p:nvSpPr>
          <p:cNvPr id="37" name="Text 31"/>
          <p:cNvSpPr txBox="1"/>
          <p:nvPr/>
        </p:nvSpPr>
        <p:spPr>
          <a:xfrm>
            <a:off x="9845802" y="4270248"/>
            <a:ext cx="1565910" cy="457200"/>
          </a:xfrm>
          <a:prstGeom prst="rect">
            <a:avLst/>
          </a:prstGeom>
          <a:noFill/>
          <a:ln/>
        </p:spPr>
        <p:txBody>
          <a:bodyPr wrap="square" lIns="0" tIns="0" rIns="0" bIns="0" rtlCol="0" anchor="ctr"/>
          <a:lstStyle/>
          <a:p>
            <a:pPr indent="0" marL="0">
              <a:buNone/>
            </a:pPr>
            <a:r>
              <a:rPr lang="en-US" sz="1350" b="1" dirty="0">
                <a:solidFill>
                  <a:srgbClr val="F1F5F9"/>
                </a:solidFill>
                <a:latin typeface="Calibri" pitchFamily="34" charset="0"/>
                <a:ea typeface="Calibri" pitchFamily="34" charset="-122"/>
                <a:cs typeface="Calibri" pitchFamily="34" charset="-120"/>
              </a:rPr>
              <a:t>Trust is shared</a:t>
            </a:r>
            <a:endParaRPr lang="en-US" sz="1350" dirty="0"/>
          </a:p>
        </p:txBody>
      </p:sp>
      <p:sp>
        <p:nvSpPr>
          <p:cNvPr id="38" name="Text 32"/>
          <p:cNvSpPr txBox="1"/>
          <p:nvPr/>
        </p:nvSpPr>
        <p:spPr>
          <a:xfrm>
            <a:off x="9251442" y="4892040"/>
            <a:ext cx="2141982" cy="1188720"/>
          </a:xfrm>
          <a:prstGeom prst="rect">
            <a:avLst/>
          </a:prstGeom>
          <a:noFill/>
          <a:ln/>
        </p:spPr>
        <p:txBody>
          <a:bodyPr wrap="square" lIns="0" tIns="0" rIns="0" bIns="0" rtlCol="0" anchor="t"/>
          <a:lstStyle/>
          <a:p>
            <a:pPr indent="0" marL="0">
              <a:buNone/>
            </a:pPr>
            <a:r>
              <a:rPr lang="en-US" sz="1150" dirty="0">
                <a:solidFill>
                  <a:srgbClr val="94A3B8"/>
                </a:solidFill>
                <a:latin typeface="Calibri" pitchFamily="34" charset="0"/>
                <a:ea typeface="Calibri" pitchFamily="34" charset="-122"/>
                <a:cs typeface="Calibri" pitchFamily="34" charset="-120"/>
              </a:rPr>
              <a:t>Both clusters trust the same CA. The OpenShift-injected bundle verifies the servers; connections are lazy, locked and time-boxed.</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02  ·  THE API</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12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Active/active: two regions, one truth</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The API runs in both clusters and deploys to both. Traffic follows DNS; the state lives in the Knative Service itself.</a:t>
            </a:r>
            <a:endParaRPr lang="en-US" sz="1500" dirty="0"/>
          </a:p>
        </p:txBody>
      </p:sp>
      <p:sp>
        <p:nvSpPr>
          <p:cNvPr id="6" name="Shape 4"/>
          <p:cNvSpPr/>
          <p:nvPr/>
        </p:nvSpPr>
        <p:spPr>
          <a:xfrm>
            <a:off x="4160520" y="2011680"/>
            <a:ext cx="3840480" cy="658368"/>
          </a:xfrm>
          <a:prstGeom prst="roundRect">
            <a:avLst>
              <a:gd name="adj" fmla="val 13889"/>
            </a:avLst>
          </a:prstGeom>
          <a:solidFill>
            <a:srgbClr val="18213A"/>
          </a:solidFill>
          <a:ln w="12700">
            <a:solidFill>
              <a:srgbClr val="34D399"/>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4160520" y="2011680"/>
            <a:ext cx="3840480" cy="658368"/>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DNS</a:t>
            </a:r>
            <a:endParaRPr lang="en-US" sz="1300" dirty="0"/>
          </a:p>
          <a:p>
            <a:pPr algn="ctr" indent="0" marL="0">
              <a:buNone/>
            </a:pPr>
            <a:r>
              <a:rPr lang="en-US" sz="900" dirty="0">
                <a:solidFill>
                  <a:srgbClr val="94A3B8"/>
                </a:solidFill>
                <a:latin typeface="Calibri" pitchFamily="34" charset="0"/>
                <a:ea typeface="Calibri" pitchFamily="34" charset="-122"/>
                <a:cs typeface="Calibri" pitchFamily="34" charset="-120"/>
              </a:rPr>
              <a:t>serverless-api.{base_domain}  ·  *.serverless.{base_domain} → the active region</a:t>
            </a:r>
            <a:endParaRPr lang="en-US" sz="1300" dirty="0"/>
          </a:p>
        </p:txBody>
      </p:sp>
      <p:sp>
        <p:nvSpPr>
          <p:cNvPr id="8" name="Shape 6"/>
          <p:cNvSpPr/>
          <p:nvPr/>
        </p:nvSpPr>
        <p:spPr>
          <a:xfrm>
            <a:off x="594360" y="3063240"/>
            <a:ext cx="5239512" cy="2011680"/>
          </a:xfrm>
          <a:prstGeom prst="roundRect">
            <a:avLst>
              <a:gd name="adj" fmla="val 6364"/>
            </a:avLst>
          </a:prstGeom>
          <a:solidFill>
            <a:srgbClr val="121A2C"/>
          </a:solidFill>
          <a:ln w="12700">
            <a:solidFill>
              <a:srgbClr val="22D3EE"/>
            </a:solidFill>
            <a:prstDash val="dash"/>
          </a:ln>
        </p:spPr>
      </p:sp>
      <p:sp>
        <p:nvSpPr>
          <p:cNvPr id="9" name="Text 7"/>
          <p:cNvSpPr txBox="1"/>
          <p:nvPr/>
        </p:nvSpPr>
        <p:spPr>
          <a:xfrm>
            <a:off x="822960" y="3172968"/>
            <a:ext cx="4782312" cy="32004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central</a:t>
            </a:r>
            <a:pPr indent="0" marL="0">
              <a:buNone/>
            </a:pPr>
            <a:r>
              <a:rPr lang="en-US" sz="1000" i="1" dirty="0">
                <a:solidFill>
                  <a:srgbClr val="5B6B8A"/>
                </a:solidFill>
                <a:latin typeface="Calibri" pitchFamily="34" charset="0"/>
                <a:ea typeface="Calibri" pitchFamily="34" charset="-122"/>
                <a:cs typeface="Calibri" pitchFamily="34" charset="-120"/>
              </a:rPr>
              <a:t>   active</a:t>
            </a:r>
            <a:endParaRPr lang="en-US" sz="1500" dirty="0"/>
          </a:p>
        </p:txBody>
      </p:sp>
      <p:sp>
        <p:nvSpPr>
          <p:cNvPr id="10" name="Shape 8"/>
          <p:cNvSpPr/>
          <p:nvPr/>
        </p:nvSpPr>
        <p:spPr>
          <a:xfrm>
            <a:off x="822960" y="3611880"/>
            <a:ext cx="883310" cy="1234440"/>
          </a:xfrm>
          <a:prstGeom prst="roundRect">
            <a:avLst>
              <a:gd name="adj" fmla="val 10352"/>
            </a:avLst>
          </a:prstGeom>
          <a:solidFill>
            <a:srgbClr val="18213A"/>
          </a:solidFill>
          <a:ln w="9525">
            <a:solidFill>
              <a:srgbClr val="24304D"/>
            </a:solidFill>
            <a:prstDash val="solid"/>
          </a:ln>
        </p:spPr>
      </p:sp>
      <p:pic>
        <p:nvPicPr>
          <p:cNvPr id="11" name="Image 0" descr="preencoded.png">    </p:cNvPr>
          <p:cNvPicPr>
            <a:picLocks noChangeAspect="1"/>
          </p:cNvPicPr>
          <p:nvPr/>
        </p:nvPicPr>
        <p:blipFill>
          <a:blip r:embed="rId2"/>
          <a:stretch>
            <a:fillRect/>
          </a:stretch>
        </p:blipFill>
        <p:spPr>
          <a:xfrm>
            <a:off x="1063447" y="3813048"/>
            <a:ext cx="402336" cy="402336"/>
          </a:xfrm>
          <a:prstGeom prst="rect">
            <a:avLst/>
          </a:prstGeom>
        </p:spPr>
      </p:pic>
      <p:sp>
        <p:nvSpPr>
          <p:cNvPr id="12" name="Text 9"/>
          <p:cNvSpPr txBox="1"/>
          <p:nvPr/>
        </p:nvSpPr>
        <p:spPr>
          <a:xfrm>
            <a:off x="822960"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API</a:t>
            </a:r>
            <a:endParaRPr lang="en-US" sz="1050" dirty="0"/>
          </a:p>
        </p:txBody>
      </p:sp>
      <p:sp>
        <p:nvSpPr>
          <p:cNvPr id="13" name="Shape 10"/>
          <p:cNvSpPr/>
          <p:nvPr/>
        </p:nvSpPr>
        <p:spPr>
          <a:xfrm>
            <a:off x="1797710" y="3611880"/>
            <a:ext cx="883310" cy="1234440"/>
          </a:xfrm>
          <a:prstGeom prst="roundRect">
            <a:avLst>
              <a:gd name="adj" fmla="val 10352"/>
            </a:avLst>
          </a:prstGeom>
          <a:solidFill>
            <a:srgbClr val="18213A"/>
          </a:solidFill>
          <a:ln w="9525">
            <a:solidFill>
              <a:srgbClr val="24304D"/>
            </a:solidFill>
            <a:prstDash val="solid"/>
          </a:ln>
        </p:spPr>
      </p:sp>
      <p:pic>
        <p:nvPicPr>
          <p:cNvPr id="14" name="Image 1" descr="preencoded.png">    </p:cNvPr>
          <p:cNvPicPr>
            <a:picLocks noChangeAspect="1"/>
          </p:cNvPicPr>
          <p:nvPr/>
        </p:nvPicPr>
        <p:blipFill>
          <a:blip r:embed="rId3"/>
          <a:stretch>
            <a:fillRect/>
          </a:stretch>
        </p:blipFill>
        <p:spPr>
          <a:xfrm>
            <a:off x="2038198" y="3813048"/>
            <a:ext cx="402336" cy="402336"/>
          </a:xfrm>
          <a:prstGeom prst="rect">
            <a:avLst/>
          </a:prstGeom>
        </p:spPr>
      </p:pic>
      <p:sp>
        <p:nvSpPr>
          <p:cNvPr id="15" name="Text 11"/>
          <p:cNvSpPr txBox="1"/>
          <p:nvPr/>
        </p:nvSpPr>
        <p:spPr>
          <a:xfrm>
            <a:off x="1797710"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tenant ctrl</a:t>
            </a:r>
            <a:endParaRPr lang="en-US" sz="1050" dirty="0"/>
          </a:p>
        </p:txBody>
      </p:sp>
      <p:sp>
        <p:nvSpPr>
          <p:cNvPr id="16" name="Shape 12"/>
          <p:cNvSpPr/>
          <p:nvPr/>
        </p:nvSpPr>
        <p:spPr>
          <a:xfrm>
            <a:off x="2772461" y="3611880"/>
            <a:ext cx="883310" cy="1234440"/>
          </a:xfrm>
          <a:prstGeom prst="roundRect">
            <a:avLst>
              <a:gd name="adj" fmla="val 10352"/>
            </a:avLst>
          </a:prstGeom>
          <a:solidFill>
            <a:srgbClr val="18213A"/>
          </a:solidFill>
          <a:ln w="9525">
            <a:solidFill>
              <a:srgbClr val="24304D"/>
            </a:solidFill>
            <a:prstDash val="solid"/>
          </a:ln>
        </p:spPr>
      </p:sp>
      <p:pic>
        <p:nvPicPr>
          <p:cNvPr id="17" name="Image 2" descr="preencoded.png">    </p:cNvPr>
          <p:cNvPicPr>
            <a:picLocks noChangeAspect="1"/>
          </p:cNvPicPr>
          <p:nvPr/>
        </p:nvPicPr>
        <p:blipFill>
          <a:blip r:embed="rId4"/>
          <a:stretch>
            <a:fillRect/>
          </a:stretch>
        </p:blipFill>
        <p:spPr>
          <a:xfrm>
            <a:off x="3012948" y="3813048"/>
            <a:ext cx="402336" cy="402336"/>
          </a:xfrm>
          <a:prstGeom prst="rect">
            <a:avLst/>
          </a:prstGeom>
        </p:spPr>
      </p:pic>
      <p:sp>
        <p:nvSpPr>
          <p:cNvPr id="18" name="Text 13"/>
          <p:cNvSpPr txBox="1"/>
          <p:nvPr/>
        </p:nvSpPr>
        <p:spPr>
          <a:xfrm>
            <a:off x="2772461"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build ctrl</a:t>
            </a:r>
            <a:endParaRPr lang="en-US" sz="1050" dirty="0"/>
          </a:p>
        </p:txBody>
      </p:sp>
      <p:sp>
        <p:nvSpPr>
          <p:cNvPr id="19" name="Shape 14"/>
          <p:cNvSpPr/>
          <p:nvPr/>
        </p:nvSpPr>
        <p:spPr>
          <a:xfrm>
            <a:off x="3747211" y="3611880"/>
            <a:ext cx="883310" cy="1234440"/>
          </a:xfrm>
          <a:prstGeom prst="roundRect">
            <a:avLst>
              <a:gd name="adj" fmla="val 10352"/>
            </a:avLst>
          </a:prstGeom>
          <a:solidFill>
            <a:srgbClr val="18213A"/>
          </a:solidFill>
          <a:ln w="9525">
            <a:solidFill>
              <a:srgbClr val="24304D"/>
            </a:solidFill>
            <a:prstDash val="solid"/>
          </a:ln>
        </p:spPr>
      </p:sp>
      <p:pic>
        <p:nvPicPr>
          <p:cNvPr id="20" name="Image 3" descr="preencoded.png">    </p:cNvPr>
          <p:cNvPicPr>
            <a:picLocks noChangeAspect="1"/>
          </p:cNvPicPr>
          <p:nvPr/>
        </p:nvPicPr>
        <p:blipFill>
          <a:blip r:embed="rId5"/>
          <a:stretch>
            <a:fillRect/>
          </a:stretch>
        </p:blipFill>
        <p:spPr>
          <a:xfrm>
            <a:off x="3987698" y="3813048"/>
            <a:ext cx="402336" cy="402336"/>
          </a:xfrm>
          <a:prstGeom prst="rect">
            <a:avLst/>
          </a:prstGeom>
        </p:spPr>
      </p:pic>
      <p:sp>
        <p:nvSpPr>
          <p:cNvPr id="21" name="Text 15"/>
          <p:cNvSpPr txBox="1"/>
          <p:nvPr/>
        </p:nvSpPr>
        <p:spPr>
          <a:xfrm>
            <a:off x="3747211"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registry</a:t>
            </a:r>
            <a:endParaRPr lang="en-US" sz="1050" dirty="0"/>
          </a:p>
        </p:txBody>
      </p:sp>
      <p:sp>
        <p:nvSpPr>
          <p:cNvPr id="22" name="Shape 16"/>
          <p:cNvSpPr/>
          <p:nvPr/>
        </p:nvSpPr>
        <p:spPr>
          <a:xfrm>
            <a:off x="4721962" y="3611880"/>
            <a:ext cx="883310" cy="1234440"/>
          </a:xfrm>
          <a:prstGeom prst="roundRect">
            <a:avLst>
              <a:gd name="adj" fmla="val 10352"/>
            </a:avLst>
          </a:prstGeom>
          <a:solidFill>
            <a:srgbClr val="18213A"/>
          </a:solidFill>
          <a:ln w="9525">
            <a:solidFill>
              <a:srgbClr val="24304D"/>
            </a:solidFill>
            <a:prstDash val="solid"/>
          </a:ln>
        </p:spPr>
      </p:sp>
      <p:pic>
        <p:nvPicPr>
          <p:cNvPr id="23" name="Image 4" descr="preencoded.png">    </p:cNvPr>
          <p:cNvPicPr>
            <a:picLocks noChangeAspect="1"/>
          </p:cNvPicPr>
          <p:nvPr/>
        </p:nvPicPr>
        <p:blipFill>
          <a:blip r:embed="rId6"/>
          <a:stretch>
            <a:fillRect/>
          </a:stretch>
        </p:blipFill>
        <p:spPr>
          <a:xfrm>
            <a:off x="4962449" y="3813048"/>
            <a:ext cx="402336" cy="402336"/>
          </a:xfrm>
          <a:prstGeom prst="rect">
            <a:avLst/>
          </a:prstGeom>
        </p:spPr>
      </p:pic>
      <p:sp>
        <p:nvSpPr>
          <p:cNvPr id="24" name="Text 17"/>
          <p:cNvSpPr txBox="1"/>
          <p:nvPr/>
        </p:nvSpPr>
        <p:spPr>
          <a:xfrm>
            <a:off x="4721962"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workloads</a:t>
            </a:r>
            <a:endParaRPr lang="en-US" sz="1050" dirty="0"/>
          </a:p>
        </p:txBody>
      </p:sp>
      <p:sp>
        <p:nvSpPr>
          <p:cNvPr id="25" name="Shape 18"/>
          <p:cNvSpPr/>
          <p:nvPr/>
        </p:nvSpPr>
        <p:spPr>
          <a:xfrm flipH="1">
            <a:off x="3214116" y="2670048"/>
            <a:ext cx="2866644" cy="393192"/>
          </a:xfrm>
          <a:prstGeom prst="line">
            <a:avLst/>
          </a:prstGeom>
          <a:noFill/>
          <a:ln w="15875">
            <a:solidFill>
              <a:srgbClr val="34D399"/>
            </a:solidFill>
            <a:prstDash val="solid"/>
            <a:tailEnd type="triangle"/>
          </a:ln>
        </p:spPr>
      </p:sp>
      <p:sp>
        <p:nvSpPr>
          <p:cNvPr id="26" name="Shape 19"/>
          <p:cNvSpPr/>
          <p:nvPr/>
        </p:nvSpPr>
        <p:spPr>
          <a:xfrm>
            <a:off x="6355080" y="3063240"/>
            <a:ext cx="5239512" cy="2011680"/>
          </a:xfrm>
          <a:prstGeom prst="roundRect">
            <a:avLst>
              <a:gd name="adj" fmla="val 6364"/>
            </a:avLst>
          </a:prstGeom>
          <a:solidFill>
            <a:srgbClr val="121A2C"/>
          </a:solidFill>
          <a:ln w="12700">
            <a:solidFill>
              <a:srgbClr val="22D3EE"/>
            </a:solidFill>
            <a:prstDash val="dash"/>
          </a:ln>
        </p:spPr>
      </p:sp>
      <p:sp>
        <p:nvSpPr>
          <p:cNvPr id="27" name="Text 20"/>
          <p:cNvSpPr txBox="1"/>
          <p:nvPr/>
        </p:nvSpPr>
        <p:spPr>
          <a:xfrm>
            <a:off x="6583680" y="3172968"/>
            <a:ext cx="4782312" cy="32004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south</a:t>
            </a:r>
            <a:pPr indent="0" marL="0">
              <a:buNone/>
            </a:pPr>
            <a:r>
              <a:rPr lang="en-US" sz="1000" i="1" dirty="0">
                <a:solidFill>
                  <a:srgbClr val="5B6B8A"/>
                </a:solidFill>
                <a:latin typeface="Calibri" pitchFamily="34" charset="0"/>
                <a:ea typeface="Calibri" pitchFamily="34" charset="-122"/>
                <a:cs typeface="Calibri" pitchFamily="34" charset="-120"/>
              </a:rPr>
              <a:t>   standby for traffic, live for deploys</a:t>
            </a:r>
            <a:endParaRPr lang="en-US" sz="1500" dirty="0"/>
          </a:p>
        </p:txBody>
      </p:sp>
      <p:sp>
        <p:nvSpPr>
          <p:cNvPr id="28" name="Shape 21"/>
          <p:cNvSpPr/>
          <p:nvPr/>
        </p:nvSpPr>
        <p:spPr>
          <a:xfrm>
            <a:off x="6583680" y="3611880"/>
            <a:ext cx="883310" cy="1234440"/>
          </a:xfrm>
          <a:prstGeom prst="roundRect">
            <a:avLst>
              <a:gd name="adj" fmla="val 10352"/>
            </a:avLst>
          </a:prstGeom>
          <a:solidFill>
            <a:srgbClr val="18213A"/>
          </a:solidFill>
          <a:ln w="9525">
            <a:solidFill>
              <a:srgbClr val="24304D"/>
            </a:solidFill>
            <a:prstDash val="solid"/>
          </a:ln>
        </p:spPr>
      </p:sp>
      <p:pic>
        <p:nvPicPr>
          <p:cNvPr id="29" name="Image 5" descr="preencoded.png">    </p:cNvPr>
          <p:cNvPicPr>
            <a:picLocks noChangeAspect="1"/>
          </p:cNvPicPr>
          <p:nvPr/>
        </p:nvPicPr>
        <p:blipFill>
          <a:blip r:embed="rId7"/>
          <a:stretch>
            <a:fillRect/>
          </a:stretch>
        </p:blipFill>
        <p:spPr>
          <a:xfrm>
            <a:off x="6824167" y="3813048"/>
            <a:ext cx="402336" cy="402336"/>
          </a:xfrm>
          <a:prstGeom prst="rect">
            <a:avLst/>
          </a:prstGeom>
        </p:spPr>
      </p:pic>
      <p:sp>
        <p:nvSpPr>
          <p:cNvPr id="30" name="Text 22"/>
          <p:cNvSpPr txBox="1"/>
          <p:nvPr/>
        </p:nvSpPr>
        <p:spPr>
          <a:xfrm>
            <a:off x="6583680"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API</a:t>
            </a:r>
            <a:endParaRPr lang="en-US" sz="1050" dirty="0"/>
          </a:p>
        </p:txBody>
      </p:sp>
      <p:sp>
        <p:nvSpPr>
          <p:cNvPr id="31" name="Shape 23"/>
          <p:cNvSpPr/>
          <p:nvPr/>
        </p:nvSpPr>
        <p:spPr>
          <a:xfrm>
            <a:off x="7558430" y="3611880"/>
            <a:ext cx="883310" cy="1234440"/>
          </a:xfrm>
          <a:prstGeom prst="roundRect">
            <a:avLst>
              <a:gd name="adj" fmla="val 10352"/>
            </a:avLst>
          </a:prstGeom>
          <a:solidFill>
            <a:srgbClr val="18213A"/>
          </a:solidFill>
          <a:ln w="9525">
            <a:solidFill>
              <a:srgbClr val="24304D"/>
            </a:solidFill>
            <a:prstDash val="solid"/>
          </a:ln>
        </p:spPr>
      </p:sp>
      <p:pic>
        <p:nvPicPr>
          <p:cNvPr id="32" name="Image 6" descr="preencoded.png">    </p:cNvPr>
          <p:cNvPicPr>
            <a:picLocks noChangeAspect="1"/>
          </p:cNvPicPr>
          <p:nvPr/>
        </p:nvPicPr>
        <p:blipFill>
          <a:blip r:embed="rId8"/>
          <a:stretch>
            <a:fillRect/>
          </a:stretch>
        </p:blipFill>
        <p:spPr>
          <a:xfrm>
            <a:off x="7798918" y="3813048"/>
            <a:ext cx="402336" cy="402336"/>
          </a:xfrm>
          <a:prstGeom prst="rect">
            <a:avLst/>
          </a:prstGeom>
        </p:spPr>
      </p:pic>
      <p:sp>
        <p:nvSpPr>
          <p:cNvPr id="33" name="Text 24"/>
          <p:cNvSpPr txBox="1"/>
          <p:nvPr/>
        </p:nvSpPr>
        <p:spPr>
          <a:xfrm>
            <a:off x="7558430"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tenant ctrl</a:t>
            </a:r>
            <a:endParaRPr lang="en-US" sz="1050" dirty="0"/>
          </a:p>
        </p:txBody>
      </p:sp>
      <p:sp>
        <p:nvSpPr>
          <p:cNvPr id="34" name="Shape 25"/>
          <p:cNvSpPr/>
          <p:nvPr/>
        </p:nvSpPr>
        <p:spPr>
          <a:xfrm>
            <a:off x="8533181" y="3611880"/>
            <a:ext cx="883310" cy="1234440"/>
          </a:xfrm>
          <a:prstGeom prst="roundRect">
            <a:avLst>
              <a:gd name="adj" fmla="val 10352"/>
            </a:avLst>
          </a:prstGeom>
          <a:solidFill>
            <a:srgbClr val="18213A"/>
          </a:solidFill>
          <a:ln w="9525">
            <a:solidFill>
              <a:srgbClr val="24304D"/>
            </a:solidFill>
            <a:prstDash val="solid"/>
          </a:ln>
        </p:spPr>
      </p:sp>
      <p:pic>
        <p:nvPicPr>
          <p:cNvPr id="35" name="Image 7" descr="preencoded.png">    </p:cNvPr>
          <p:cNvPicPr>
            <a:picLocks noChangeAspect="1"/>
          </p:cNvPicPr>
          <p:nvPr/>
        </p:nvPicPr>
        <p:blipFill>
          <a:blip r:embed="rId9"/>
          <a:stretch>
            <a:fillRect/>
          </a:stretch>
        </p:blipFill>
        <p:spPr>
          <a:xfrm>
            <a:off x="8773668" y="3813048"/>
            <a:ext cx="402336" cy="402336"/>
          </a:xfrm>
          <a:prstGeom prst="rect">
            <a:avLst/>
          </a:prstGeom>
        </p:spPr>
      </p:pic>
      <p:sp>
        <p:nvSpPr>
          <p:cNvPr id="36" name="Text 26"/>
          <p:cNvSpPr txBox="1"/>
          <p:nvPr/>
        </p:nvSpPr>
        <p:spPr>
          <a:xfrm>
            <a:off x="8533181"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build ctrl</a:t>
            </a:r>
            <a:endParaRPr lang="en-US" sz="1050" dirty="0"/>
          </a:p>
        </p:txBody>
      </p:sp>
      <p:sp>
        <p:nvSpPr>
          <p:cNvPr id="37" name="Shape 27"/>
          <p:cNvSpPr/>
          <p:nvPr/>
        </p:nvSpPr>
        <p:spPr>
          <a:xfrm>
            <a:off x="9507931" y="3611880"/>
            <a:ext cx="883310" cy="1234440"/>
          </a:xfrm>
          <a:prstGeom prst="roundRect">
            <a:avLst>
              <a:gd name="adj" fmla="val 10352"/>
            </a:avLst>
          </a:prstGeom>
          <a:solidFill>
            <a:srgbClr val="18213A"/>
          </a:solidFill>
          <a:ln w="9525">
            <a:solidFill>
              <a:srgbClr val="24304D"/>
            </a:solidFill>
            <a:prstDash val="solid"/>
          </a:ln>
        </p:spPr>
      </p:sp>
      <p:pic>
        <p:nvPicPr>
          <p:cNvPr id="38" name="Image 8" descr="preencoded.png">    </p:cNvPr>
          <p:cNvPicPr>
            <a:picLocks noChangeAspect="1"/>
          </p:cNvPicPr>
          <p:nvPr/>
        </p:nvPicPr>
        <p:blipFill>
          <a:blip r:embed="rId10"/>
          <a:stretch>
            <a:fillRect/>
          </a:stretch>
        </p:blipFill>
        <p:spPr>
          <a:xfrm>
            <a:off x="9748418" y="3813048"/>
            <a:ext cx="402336" cy="402336"/>
          </a:xfrm>
          <a:prstGeom prst="rect">
            <a:avLst/>
          </a:prstGeom>
        </p:spPr>
      </p:pic>
      <p:sp>
        <p:nvSpPr>
          <p:cNvPr id="39" name="Text 28"/>
          <p:cNvSpPr txBox="1"/>
          <p:nvPr/>
        </p:nvSpPr>
        <p:spPr>
          <a:xfrm>
            <a:off x="9507931"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registry</a:t>
            </a:r>
            <a:endParaRPr lang="en-US" sz="1050" dirty="0"/>
          </a:p>
        </p:txBody>
      </p:sp>
      <p:sp>
        <p:nvSpPr>
          <p:cNvPr id="40" name="Shape 29"/>
          <p:cNvSpPr/>
          <p:nvPr/>
        </p:nvSpPr>
        <p:spPr>
          <a:xfrm>
            <a:off x="10482682" y="3611880"/>
            <a:ext cx="883310" cy="1234440"/>
          </a:xfrm>
          <a:prstGeom prst="roundRect">
            <a:avLst>
              <a:gd name="adj" fmla="val 10352"/>
            </a:avLst>
          </a:prstGeom>
          <a:solidFill>
            <a:srgbClr val="18213A"/>
          </a:solidFill>
          <a:ln w="9525">
            <a:solidFill>
              <a:srgbClr val="24304D"/>
            </a:solidFill>
            <a:prstDash val="solid"/>
          </a:ln>
        </p:spPr>
      </p:sp>
      <p:pic>
        <p:nvPicPr>
          <p:cNvPr id="41" name="Image 9" descr="preencoded.png">    </p:cNvPr>
          <p:cNvPicPr>
            <a:picLocks noChangeAspect="1"/>
          </p:cNvPicPr>
          <p:nvPr/>
        </p:nvPicPr>
        <p:blipFill>
          <a:blip r:embed="rId11"/>
          <a:stretch>
            <a:fillRect/>
          </a:stretch>
        </p:blipFill>
        <p:spPr>
          <a:xfrm>
            <a:off x="10723169" y="3813048"/>
            <a:ext cx="402336" cy="402336"/>
          </a:xfrm>
          <a:prstGeom prst="rect">
            <a:avLst/>
          </a:prstGeom>
        </p:spPr>
      </p:pic>
      <p:sp>
        <p:nvSpPr>
          <p:cNvPr id="42" name="Text 30"/>
          <p:cNvSpPr txBox="1"/>
          <p:nvPr/>
        </p:nvSpPr>
        <p:spPr>
          <a:xfrm>
            <a:off x="10482682" y="4297680"/>
            <a:ext cx="883310" cy="411480"/>
          </a:xfrm>
          <a:prstGeom prst="rect">
            <a:avLst/>
          </a:prstGeom>
          <a:noFill/>
          <a:ln/>
        </p:spPr>
        <p:txBody>
          <a:bodyPr wrap="square" lIns="0" tIns="0" rIns="0" bIns="0"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workloads</a:t>
            </a:r>
            <a:endParaRPr lang="en-US" sz="1050" dirty="0"/>
          </a:p>
        </p:txBody>
      </p:sp>
      <p:sp>
        <p:nvSpPr>
          <p:cNvPr id="43" name="Shape 31"/>
          <p:cNvSpPr/>
          <p:nvPr/>
        </p:nvSpPr>
        <p:spPr>
          <a:xfrm>
            <a:off x="6080760" y="2670048"/>
            <a:ext cx="2894076" cy="393192"/>
          </a:xfrm>
          <a:prstGeom prst="line">
            <a:avLst/>
          </a:prstGeom>
          <a:noFill/>
          <a:ln w="15875">
            <a:solidFill>
              <a:srgbClr val="34D399"/>
            </a:solidFill>
            <a:prstDash val="solid"/>
            <a:tailEnd type="triangle"/>
          </a:ln>
        </p:spPr>
      </p:sp>
      <p:sp>
        <p:nvSpPr>
          <p:cNvPr id="44" name="Shape 32"/>
          <p:cNvSpPr/>
          <p:nvPr/>
        </p:nvSpPr>
        <p:spPr>
          <a:xfrm>
            <a:off x="594360" y="2697480"/>
            <a:ext cx="3383280" cy="292608"/>
          </a:xfrm>
          <a:prstGeom prst="roundRect">
            <a:avLst>
              <a:gd name="adj" fmla="val 25000"/>
            </a:avLst>
          </a:prstGeom>
          <a:solidFill>
            <a:srgbClr val="22D3EE">
              <a:alpha val="16000"/>
            </a:srgbClr>
          </a:solidFill>
          <a:ln w="6350">
            <a:solidFill>
              <a:srgbClr val="22D3EE">
                <a:alpha val="55000"/>
              </a:srgbClr>
            </a:solidFill>
            <a:prstDash val="solid"/>
          </a:ln>
        </p:spPr>
      </p:sp>
      <p:sp>
        <p:nvSpPr>
          <p:cNvPr id="45" name="Text 33"/>
          <p:cNvSpPr txBox="1"/>
          <p:nvPr/>
        </p:nvSpPr>
        <p:spPr>
          <a:xfrm>
            <a:off x="594360" y="2697480"/>
            <a:ext cx="3383280" cy="292608"/>
          </a:xfrm>
          <a:prstGeom prst="rect">
            <a:avLst/>
          </a:prstGeom>
          <a:noFill/>
          <a:ln/>
        </p:spPr>
        <p:txBody>
          <a:bodyPr wrap="square" lIns="508" tIns="508" rIns="508" bIns="508" rtlCol="0" anchor="ctr"/>
          <a:lstStyle/>
          <a:p>
            <a:pPr algn="ctr" indent="0" marL="0">
              <a:buNone/>
            </a:pPr>
            <a:r>
              <a:rPr lang="en-US" sz="950" b="1" dirty="0">
                <a:solidFill>
                  <a:srgbClr val="22D3EE"/>
                </a:solidFill>
                <a:latin typeface="Calibri" pitchFamily="34" charset="0"/>
                <a:ea typeface="Calibri" pitchFamily="34" charset="-122"/>
                <a:cs typeface="Calibri" pitchFamily="34" charset="-120"/>
              </a:rPr>
              <a:t>one API call → both regions, concurrently</a:t>
            </a:r>
            <a:endParaRPr lang="en-US" sz="950" dirty="0"/>
          </a:p>
        </p:txBody>
      </p:sp>
      <p:sp>
        <p:nvSpPr>
          <p:cNvPr id="46" name="Text 34"/>
          <p:cNvSpPr txBox="1"/>
          <p:nvPr/>
        </p:nvSpPr>
        <p:spPr>
          <a:xfrm>
            <a:off x="594360" y="5257800"/>
            <a:ext cx="2544318" cy="256032"/>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No leader election, anywhere</a:t>
            </a:r>
            <a:endParaRPr lang="en-US" sz="1200" dirty="0"/>
          </a:p>
        </p:txBody>
      </p:sp>
      <p:sp>
        <p:nvSpPr>
          <p:cNvPr id="47" name="Text 35"/>
          <p:cNvSpPr txBox="1"/>
          <p:nvPr/>
        </p:nvSpPr>
        <p:spPr>
          <a:xfrm>
            <a:off x="594360" y="5532120"/>
            <a:ext cx="2544318" cy="777240"/>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Deterministic names, no timestamps or UUIDs in a spec. Two writers applying the same desired state produce one object and one build.</a:t>
            </a:r>
            <a:endParaRPr lang="en-US" sz="1000" dirty="0"/>
          </a:p>
        </p:txBody>
      </p:sp>
      <p:sp>
        <p:nvSpPr>
          <p:cNvPr id="48" name="Text 36"/>
          <p:cNvSpPr txBox="1"/>
          <p:nvPr/>
        </p:nvSpPr>
        <p:spPr>
          <a:xfrm>
            <a:off x="3412998" y="5257800"/>
            <a:ext cx="2544318" cy="256032"/>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A region builds what it runs</a:t>
            </a:r>
            <a:endParaRPr lang="en-US" sz="1200" dirty="0"/>
          </a:p>
        </p:txBody>
      </p:sp>
      <p:sp>
        <p:nvSpPr>
          <p:cNvPr id="49" name="Text 37"/>
          <p:cNvSpPr txBox="1"/>
          <p:nvPr/>
        </p:nvSpPr>
        <p:spPr>
          <a:xfrm>
            <a:off x="3412998" y="5532120"/>
            <a:ext cx="2544318" cy="777240"/>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Same commit, different bytes, nothing crosses the boundary at runtime. A switchover needs no reconstruction.</a:t>
            </a:r>
            <a:endParaRPr lang="en-US" sz="1000" dirty="0"/>
          </a:p>
        </p:txBody>
      </p:sp>
      <p:sp>
        <p:nvSpPr>
          <p:cNvPr id="50" name="Text 38"/>
          <p:cNvSpPr txBox="1"/>
          <p:nvPr/>
        </p:nvSpPr>
        <p:spPr>
          <a:xfrm>
            <a:off x="6231636" y="5257800"/>
            <a:ext cx="2544318" cy="256032"/>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Partial failure stays honest</a:t>
            </a:r>
            <a:endParaRPr lang="en-US" sz="1200" dirty="0"/>
          </a:p>
        </p:txBody>
      </p:sp>
      <p:sp>
        <p:nvSpPr>
          <p:cNvPr id="51" name="Text 39"/>
          <p:cNvSpPr txBox="1"/>
          <p:nvPr/>
        </p:nvSpPr>
        <p:spPr>
          <a:xfrm>
            <a:off x="6231636" y="5532120"/>
            <a:ext cx="2544318" cy="777240"/>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One region failing yields Failed with that region's reason; the healthy region keeps serving. All failing is a 502, and a read that cannot confirm absence is a 503, never a false 404.</a:t>
            </a:r>
            <a:endParaRPr lang="en-US" sz="1000" dirty="0"/>
          </a:p>
        </p:txBody>
      </p:sp>
      <p:sp>
        <p:nvSpPr>
          <p:cNvPr id="52" name="Text 40"/>
          <p:cNvSpPr txBox="1"/>
          <p:nvPr/>
        </p:nvSpPr>
        <p:spPr>
          <a:xfrm>
            <a:off x="9050274" y="5257800"/>
            <a:ext cx="2544318" cy="256032"/>
          </a:xfrm>
          <a:prstGeom prst="rect">
            <a:avLst/>
          </a:prstGeom>
          <a:noFill/>
          <a:ln/>
        </p:spPr>
        <p:txBody>
          <a:bodyPr wrap="square" lIns="0" tIns="0" rIns="0" bIns="0" rtlCol="0" anchor="ctr"/>
          <a:lstStyle/>
          <a:p>
            <a:pPr indent="0" marL="0">
              <a:buNone/>
            </a:pPr>
            <a:r>
              <a:rPr lang="en-US" sz="1200" b="1" dirty="0">
                <a:solidFill>
                  <a:srgbClr val="22D3EE"/>
                </a:solidFill>
                <a:latin typeface="Calibri" pitchFamily="34" charset="0"/>
                <a:ea typeface="Calibri" pitchFamily="34" charset="-122"/>
                <a:cs typeface="Calibri" pitchFamily="34" charset="-120"/>
              </a:rPr>
              <a:t>No database</a:t>
            </a:r>
            <a:endParaRPr lang="en-US" sz="1200" dirty="0"/>
          </a:p>
        </p:txBody>
      </p:sp>
      <p:sp>
        <p:nvSpPr>
          <p:cNvPr id="53" name="Text 41"/>
          <p:cNvSpPr txBox="1"/>
          <p:nvPr/>
        </p:nvSpPr>
        <p:spPr>
          <a:xfrm>
            <a:off x="9050274" y="5532120"/>
            <a:ext cx="2544318" cy="777240"/>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After a switchover, everything is rebuilt from the KSVC annotations, the runtimes ConfigMap and the persisted git Secret.</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22D3EE"/>
                </a:solidFill>
                <a:latin typeface="Calibri" pitchFamily="34" charset="0"/>
                <a:ea typeface="Calibri" pitchFamily="34" charset="-122"/>
                <a:cs typeface="Calibri" pitchFamily="34" charset="-120"/>
              </a:rPr>
              <a:t>CHAPTER 02  ·  THE API</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13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The tenant controller</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A namespace per SSO group, in every region, converged by a separate and more privileged process than the API.</a:t>
            </a:r>
            <a:endParaRPr lang="en-US" sz="1500" dirty="0"/>
          </a:p>
        </p:txBody>
      </p:sp>
      <p:sp>
        <p:nvSpPr>
          <p:cNvPr id="6" name="Shape 4"/>
          <p:cNvSpPr/>
          <p:nvPr/>
        </p:nvSpPr>
        <p:spPr>
          <a:xfrm>
            <a:off x="594360" y="2057400"/>
            <a:ext cx="3383280" cy="3840480"/>
          </a:xfrm>
          <a:prstGeom prst="roundRect">
            <a:avLst>
              <a:gd name="adj" fmla="val 3243"/>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7" name="Shape 5"/>
          <p:cNvSpPr/>
          <p:nvPr/>
        </p:nvSpPr>
        <p:spPr>
          <a:xfrm>
            <a:off x="795528" y="225856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8" name="Image 0" descr="preencoded.png">    </p:cNvPr>
          <p:cNvPicPr>
            <a:picLocks noChangeAspect="1"/>
          </p:cNvPicPr>
          <p:nvPr/>
        </p:nvPicPr>
        <p:blipFill>
          <a:blip r:embed="rId2"/>
          <a:stretch>
            <a:fillRect/>
          </a:stretch>
        </p:blipFill>
        <p:spPr>
          <a:xfrm>
            <a:off x="905256" y="2368296"/>
            <a:ext cx="237744" cy="237744"/>
          </a:xfrm>
          <a:prstGeom prst="rect">
            <a:avLst/>
          </a:prstGeom>
        </p:spPr>
      </p:pic>
      <p:sp>
        <p:nvSpPr>
          <p:cNvPr id="9" name="Text 6"/>
          <p:cNvSpPr txBox="1"/>
          <p:nvPr/>
        </p:nvSpPr>
        <p:spPr>
          <a:xfrm>
            <a:off x="1389888" y="2258568"/>
            <a:ext cx="2404872"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Why a separate process</a:t>
            </a:r>
            <a:endParaRPr lang="en-US" sz="1500" dirty="0"/>
          </a:p>
        </p:txBody>
      </p:sp>
      <p:sp>
        <p:nvSpPr>
          <p:cNvPr id="10" name="Text 7"/>
          <p:cNvSpPr txBox="1"/>
          <p:nvPr/>
        </p:nvSpPr>
        <p:spPr>
          <a:xfrm>
            <a:off x="795528" y="2880360"/>
            <a:ext cx="2980944" cy="2880360"/>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94A3B8"/>
                </a:solidFill>
                <a:latin typeface="Calibri" pitchFamily="34" charset="0"/>
                <a:ea typeface="Calibri" pitchFamily="34" charset="-122"/>
                <a:cs typeface="Calibri" pitchFamily="34" charset="-120"/>
              </a:rPr>
              <a:t>Creating namespaces and writing RBAC is cluster-scoped power the internet-facing API must not hold.</a:t>
            </a:r>
            <a:endParaRPr lang="en-US" sz="1150" dirty="0"/>
          </a:p>
          <a:p>
            <a:pPr marL="152400" indent="-152400">
              <a:spcAft>
                <a:spcPts val="500"/>
              </a:spcAft>
              <a:buSzPct val="100000"/>
              <a:buChar char="•"/>
            </a:pPr>
            <a:r>
              <a:rPr lang="en-US" sz="1150" dirty="0">
                <a:solidFill>
                  <a:srgbClr val="94A3B8"/>
                </a:solidFill>
                <a:latin typeface="Calibri" pitchFamily="34" charset="0"/>
                <a:ea typeface="Calibri" pitchFamily="34" charset="-122"/>
                <a:cs typeface="Calibri" pitchFamily="34" charset="-120"/>
              </a:rPr>
              <a:t>The API may write workloads inside a tenant namespace, but never create a namespace or a NetworkPolicy.</a:t>
            </a:r>
            <a:endParaRPr lang="en-US" sz="1150" dirty="0"/>
          </a:p>
          <a:p>
            <a:pPr marL="152400" indent="-152400">
              <a:spcAft>
                <a:spcPts val="500"/>
              </a:spcAft>
              <a:buSzPct val="100000"/>
              <a:buChar char="•"/>
            </a:pPr>
            <a:r>
              <a:rPr lang="en-US" sz="1150" dirty="0">
                <a:solidFill>
                  <a:srgbClr val="94A3B8"/>
                </a:solidFill>
                <a:latin typeface="Calibri" pitchFamily="34" charset="0"/>
                <a:ea typeface="Calibri" pitchFamily="34" charset="-122"/>
                <a:cs typeface="Calibri" pitchFamily="34" charset="-120"/>
              </a:rPr>
              <a:t>The controller may do exactly that, and may never touch a workload.</a:t>
            </a:r>
            <a:endParaRPr lang="en-US" sz="1150" dirty="0"/>
          </a:p>
          <a:p>
            <a:pPr marL="152400" indent="-152400">
              <a:spcAft>
                <a:spcPts val="500"/>
              </a:spcAft>
              <a:buSzPct val="100000"/>
              <a:buChar char="•"/>
            </a:pPr>
            <a:r>
              <a:rPr lang="en-US" sz="1150" dirty="0">
                <a:solidFill>
                  <a:srgbClr val="94A3B8"/>
                </a:solidFill>
                <a:latin typeface="Calibri" pitchFamily="34" charset="0"/>
                <a:ea typeface="Calibri" pitchFamily="34" charset="-122"/>
                <a:cs typeface="Calibri" pitchFamily="34" charset="-120"/>
              </a:rPr>
              <a:t>Own image, own client certificate, own CN. No auth stack inside: CI fails if pyjwt appears.</a:t>
            </a:r>
            <a:endParaRPr lang="en-US" sz="1150" dirty="0"/>
          </a:p>
        </p:txBody>
      </p:sp>
      <p:sp>
        <p:nvSpPr>
          <p:cNvPr id="11" name="Shape 8"/>
          <p:cNvSpPr/>
          <p:nvPr/>
        </p:nvSpPr>
        <p:spPr>
          <a:xfrm>
            <a:off x="4251960" y="2057400"/>
            <a:ext cx="3520440" cy="3840480"/>
          </a:xfrm>
          <a:prstGeom prst="roundRect">
            <a:avLst>
              <a:gd name="adj" fmla="val 3117"/>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12" name="Shape 9"/>
          <p:cNvSpPr/>
          <p:nvPr/>
        </p:nvSpPr>
        <p:spPr>
          <a:xfrm>
            <a:off x="4453128" y="2258568"/>
            <a:ext cx="457200" cy="457200"/>
          </a:xfrm>
          <a:prstGeom prst="roundRect">
            <a:avLst>
              <a:gd name="adj" fmla="val 20000"/>
            </a:avLst>
          </a:prstGeom>
          <a:solidFill>
            <a:srgbClr val="22D3EE">
              <a:alpha val="18000"/>
            </a:srgbClr>
          </a:solidFill>
          <a:ln w="6350">
            <a:solidFill>
              <a:srgbClr val="22D3EE">
                <a:alpha val="60000"/>
              </a:srgbClr>
            </a:solidFill>
            <a:prstDash val="solid"/>
          </a:ln>
        </p:spPr>
      </p:sp>
      <p:pic>
        <p:nvPicPr>
          <p:cNvPr id="13" name="Image 1" descr="preencoded.png">    </p:cNvPr>
          <p:cNvPicPr>
            <a:picLocks noChangeAspect="1"/>
          </p:cNvPicPr>
          <p:nvPr/>
        </p:nvPicPr>
        <p:blipFill>
          <a:blip r:embed="rId3"/>
          <a:stretch>
            <a:fillRect/>
          </a:stretch>
        </p:blipFill>
        <p:spPr>
          <a:xfrm>
            <a:off x="4562856" y="2368296"/>
            <a:ext cx="237744" cy="237744"/>
          </a:xfrm>
          <a:prstGeom prst="rect">
            <a:avLst/>
          </a:prstGeom>
        </p:spPr>
      </p:pic>
      <p:sp>
        <p:nvSpPr>
          <p:cNvPr id="14" name="Text 10"/>
          <p:cNvSpPr txBox="1"/>
          <p:nvPr/>
        </p:nvSpPr>
        <p:spPr>
          <a:xfrm>
            <a:off x="5047488" y="2258568"/>
            <a:ext cx="2542032"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What lands in {group}-serverless</a:t>
            </a:r>
            <a:endParaRPr lang="en-US" sz="1500" dirty="0"/>
          </a:p>
        </p:txBody>
      </p:sp>
      <p:sp>
        <p:nvSpPr>
          <p:cNvPr id="15" name="Text 11"/>
          <p:cNvSpPr txBox="1"/>
          <p:nvPr/>
        </p:nvSpPr>
        <p:spPr>
          <a:xfrm>
            <a:off x="4453128" y="2880360"/>
            <a:ext cx="3118104" cy="288036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The Namespace itself, identical in both clusters</a:t>
            </a:r>
            <a:endParaRPr lang="en-US" sz="1100" dirty="0"/>
          </a:p>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Default-deny NetworkPolicies, plus one that admits only kpack build pods</a:t>
            </a:r>
            <a:endParaRPr lang="en-US" sz="1100" dirty="0"/>
          </a:p>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The injected CA-bundle ConfigMap</a:t>
            </a:r>
            <a:endParaRPr lang="en-US" sz="1100" dirty="0"/>
          </a:p>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A RoleBinding for the API's CN, inside this namespace only, and the SCC binding</a:t>
            </a:r>
            <a:endParaRPr lang="en-US" sz="1100" dirty="0"/>
          </a:p>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ExternalSecrets for the region registry and the kpack pull credential</a:t>
            </a:r>
            <a:endParaRPr lang="en-US" sz="1100" dirty="0"/>
          </a:p>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All rendered from template ConfigMaps with {{namespace}} {{group}} {{region}} {{registry}}; a CI job asserts the set is region-neutral.</a:t>
            </a:r>
            <a:endParaRPr lang="en-US" sz="1100" dirty="0"/>
          </a:p>
        </p:txBody>
      </p:sp>
      <p:sp>
        <p:nvSpPr>
          <p:cNvPr id="16" name="Shape 12"/>
          <p:cNvSpPr/>
          <p:nvPr/>
        </p:nvSpPr>
        <p:spPr>
          <a:xfrm>
            <a:off x="8046720" y="2057400"/>
            <a:ext cx="3547872" cy="1188720"/>
          </a:xfrm>
          <a:prstGeom prst="roundRect">
            <a:avLst>
              <a:gd name="adj" fmla="val 9231"/>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17" name="Text 13"/>
          <p:cNvSpPr txBox="1"/>
          <p:nvPr/>
        </p:nvSpPr>
        <p:spPr>
          <a:xfrm>
            <a:off x="8211312" y="2167128"/>
            <a:ext cx="457200" cy="457200"/>
          </a:xfrm>
          <a:prstGeom prst="rect">
            <a:avLst/>
          </a:prstGeom>
          <a:noFill/>
          <a:ln/>
        </p:spPr>
        <p:txBody>
          <a:bodyPr wrap="square" lIns="0" tIns="0" rIns="0" bIns="0" rtlCol="0" anchor="ctr"/>
          <a:lstStyle/>
          <a:p>
            <a:pPr indent="0" marL="0">
              <a:buNone/>
            </a:pPr>
            <a:r>
              <a:rPr lang="en-US" sz="2600" b="1" dirty="0">
                <a:solidFill>
                  <a:srgbClr val="22D3EE"/>
                </a:solidFill>
                <a:latin typeface="Cambria" pitchFamily="34" charset="0"/>
                <a:ea typeface="Cambria" pitchFamily="34" charset="-122"/>
                <a:cs typeface="Cambria" pitchFamily="34" charset="-120"/>
              </a:rPr>
              <a:t>1</a:t>
            </a:r>
            <a:endParaRPr lang="en-US" sz="2600" dirty="0"/>
          </a:p>
        </p:txBody>
      </p:sp>
      <p:sp>
        <p:nvSpPr>
          <p:cNvPr id="18" name="Text 14"/>
          <p:cNvSpPr txBox="1"/>
          <p:nvPr/>
        </p:nvSpPr>
        <p:spPr>
          <a:xfrm>
            <a:off x="8641080" y="2167128"/>
            <a:ext cx="2816352" cy="36576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Provision</a:t>
            </a:r>
            <a:endParaRPr lang="en-US" sz="1400" dirty="0"/>
          </a:p>
        </p:txBody>
      </p:sp>
      <p:sp>
        <p:nvSpPr>
          <p:cNvPr id="19" name="Text 15"/>
          <p:cNvSpPr txBox="1"/>
          <p:nvPr/>
        </p:nvSpPr>
        <p:spPr>
          <a:xfrm>
            <a:off x="8211312" y="2514600"/>
            <a:ext cx="3218688" cy="71323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PUT /groups/{group}/namespace before every accepted deploy. Converges every region concurrently and fails closed: an unreachable controller refuses the deploy with 503.</a:t>
            </a:r>
            <a:endParaRPr lang="en-US" sz="1000" dirty="0"/>
          </a:p>
        </p:txBody>
      </p:sp>
      <p:sp>
        <p:nvSpPr>
          <p:cNvPr id="20" name="Shape 16"/>
          <p:cNvSpPr/>
          <p:nvPr/>
        </p:nvSpPr>
        <p:spPr>
          <a:xfrm>
            <a:off x="8046720" y="3383280"/>
            <a:ext cx="3547872" cy="1188720"/>
          </a:xfrm>
          <a:prstGeom prst="roundRect">
            <a:avLst>
              <a:gd name="adj" fmla="val 9231"/>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1" name="Text 17"/>
          <p:cNvSpPr txBox="1"/>
          <p:nvPr/>
        </p:nvSpPr>
        <p:spPr>
          <a:xfrm>
            <a:off x="8211312" y="3493008"/>
            <a:ext cx="457200" cy="457200"/>
          </a:xfrm>
          <a:prstGeom prst="rect">
            <a:avLst/>
          </a:prstGeom>
          <a:noFill/>
          <a:ln/>
        </p:spPr>
        <p:txBody>
          <a:bodyPr wrap="square" lIns="0" tIns="0" rIns="0" bIns="0" rtlCol="0" anchor="ctr"/>
          <a:lstStyle/>
          <a:p>
            <a:pPr indent="0" marL="0">
              <a:buNone/>
            </a:pPr>
            <a:r>
              <a:rPr lang="en-US" sz="2600" b="1" dirty="0">
                <a:solidFill>
                  <a:srgbClr val="22D3EE"/>
                </a:solidFill>
                <a:latin typeface="Cambria" pitchFamily="34" charset="0"/>
                <a:ea typeface="Cambria" pitchFamily="34" charset="-122"/>
                <a:cs typeface="Cambria" pitchFamily="34" charset="-120"/>
              </a:rPr>
              <a:t>2</a:t>
            </a:r>
            <a:endParaRPr lang="en-US" sz="2600" dirty="0"/>
          </a:p>
        </p:txBody>
      </p:sp>
      <p:sp>
        <p:nvSpPr>
          <p:cNvPr id="22" name="Text 18"/>
          <p:cNvSpPr txBox="1"/>
          <p:nvPr/>
        </p:nvSpPr>
        <p:spPr>
          <a:xfrm>
            <a:off x="8641080" y="3493008"/>
            <a:ext cx="2816352" cy="36576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Reconcile</a:t>
            </a:r>
            <a:endParaRPr lang="en-US" sz="1400" dirty="0"/>
          </a:p>
        </p:txBody>
      </p:sp>
      <p:sp>
        <p:nvSpPr>
          <p:cNvPr id="23" name="Text 19"/>
          <p:cNvSpPr txBox="1"/>
          <p:nvPr/>
        </p:nvSpPr>
        <p:spPr>
          <a:xfrm>
            <a:off x="8211312" y="3840480"/>
            <a:ext cx="3218688" cy="71323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Level-triggered, local cluster only so the two sites never fight, every 300 s, with a forced full converge every twelfth pass to repair drift.</a:t>
            </a:r>
            <a:endParaRPr lang="en-US" sz="1000" dirty="0"/>
          </a:p>
        </p:txBody>
      </p:sp>
      <p:sp>
        <p:nvSpPr>
          <p:cNvPr id="24" name="Shape 20"/>
          <p:cNvSpPr/>
          <p:nvPr/>
        </p:nvSpPr>
        <p:spPr>
          <a:xfrm>
            <a:off x="8046720" y="4709160"/>
            <a:ext cx="3547872" cy="1188720"/>
          </a:xfrm>
          <a:prstGeom prst="roundRect">
            <a:avLst>
              <a:gd name="adj" fmla="val 9231"/>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5" name="Text 21"/>
          <p:cNvSpPr txBox="1"/>
          <p:nvPr/>
        </p:nvSpPr>
        <p:spPr>
          <a:xfrm>
            <a:off x="8211312" y="4818888"/>
            <a:ext cx="457200" cy="457200"/>
          </a:xfrm>
          <a:prstGeom prst="rect">
            <a:avLst/>
          </a:prstGeom>
          <a:noFill/>
          <a:ln/>
        </p:spPr>
        <p:txBody>
          <a:bodyPr wrap="square" lIns="0" tIns="0" rIns="0" bIns="0" rtlCol="0" anchor="ctr"/>
          <a:lstStyle/>
          <a:p>
            <a:pPr indent="0" marL="0">
              <a:buNone/>
            </a:pPr>
            <a:r>
              <a:rPr lang="en-US" sz="2600" b="1" dirty="0">
                <a:solidFill>
                  <a:srgbClr val="22D3EE"/>
                </a:solidFill>
                <a:latin typeface="Cambria" pitchFamily="34" charset="0"/>
                <a:ea typeface="Cambria" pitchFamily="34" charset="-122"/>
                <a:cs typeface="Cambria" pitchFamily="34" charset="-120"/>
              </a:rPr>
              <a:t>3</a:t>
            </a:r>
            <a:endParaRPr lang="en-US" sz="2600" dirty="0"/>
          </a:p>
        </p:txBody>
      </p:sp>
      <p:sp>
        <p:nvSpPr>
          <p:cNvPr id="26" name="Text 22"/>
          <p:cNvSpPr txBox="1"/>
          <p:nvPr/>
        </p:nvSpPr>
        <p:spPr>
          <a:xfrm>
            <a:off x="8641080" y="4818888"/>
            <a:ext cx="2816352" cy="365760"/>
          </a:xfrm>
          <a:prstGeom prst="rect">
            <a:avLst/>
          </a:prstGeom>
          <a:noFill/>
          <a:ln/>
        </p:spPr>
        <p:txBody>
          <a:bodyPr wrap="square" lIns="0" tIns="0" rIns="0" bIns="0" rtlCol="0" anchor="ctr"/>
          <a:lstStyle/>
          <a:p>
            <a:pPr indent="0" marL="0">
              <a:buNone/>
            </a:pPr>
            <a:r>
              <a:rPr lang="en-US" sz="1400" b="1" dirty="0">
                <a:solidFill>
                  <a:srgbClr val="F1F5F9"/>
                </a:solidFill>
                <a:latin typeface="Calibri" pitchFamily="34" charset="0"/>
                <a:ea typeface="Calibri" pitchFamily="34" charset="-122"/>
                <a:cs typeface="Calibri" pitchFamily="34" charset="-120"/>
              </a:rPr>
              <a:t>Garbage collect</a:t>
            </a:r>
            <a:endParaRPr lang="en-US" sz="1400" dirty="0"/>
          </a:p>
        </p:txBody>
      </p:sp>
      <p:sp>
        <p:nvSpPr>
          <p:cNvPr id="27" name="Text 23"/>
          <p:cNvSpPr txBox="1"/>
          <p:nvPr/>
        </p:nvSpPr>
        <p:spPr>
          <a:xfrm>
            <a:off x="8211312" y="5166360"/>
            <a:ext cx="3218688" cy="713232"/>
          </a:xfrm>
          <a:prstGeom prst="rect">
            <a:avLst/>
          </a:prstGeom>
          <a:noFill/>
          <a:ln/>
        </p:spPr>
        <p:txBody>
          <a:bodyPr wrap="square" lIns="0" tIns="0" rIns="0" bIns="0" rtlCol="0" anchor="t"/>
          <a:lstStyle/>
          <a:p>
            <a:pPr indent="0" marL="0">
              <a:buNone/>
            </a:pPr>
            <a:r>
              <a:rPr lang="en-US" sz="1000" dirty="0">
                <a:solidFill>
                  <a:srgbClr val="94A3B8"/>
                </a:solidFill>
                <a:latin typeface="Calibri" pitchFamily="34" charset="0"/>
                <a:ea typeface="Calibri" pitchFamily="34" charset="-122"/>
                <a:cs typeface="Calibri" pitchFamily="34" charset="-120"/>
              </a:rPr>
              <a:t>Off by default. A namespace empty of workloads for 24 h is deleted, unless serverless.platform/keep says otherwise.</a:t>
            </a:r>
            <a:endParaRPr lang="en-US" sz="1000" dirty="0"/>
          </a:p>
        </p:txBody>
      </p:sp>
      <p:sp>
        <p:nvSpPr>
          <p:cNvPr id="28" name="Text 24"/>
          <p:cNvSpPr txBox="1"/>
          <p:nvPr/>
        </p:nvSpPr>
        <p:spPr>
          <a:xfrm>
            <a:off x="594360" y="5989320"/>
            <a:ext cx="9692640" cy="411480"/>
          </a:xfrm>
          <a:prstGeom prst="rect">
            <a:avLst/>
          </a:prstGeom>
          <a:noFill/>
          <a:ln/>
        </p:spPr>
        <p:txBody>
          <a:bodyPr wrap="square" lIns="0" tIns="0" rIns="0" bIns="0" rtlCol="0" anchor="ctr"/>
          <a:lstStyle/>
          <a:p>
            <a:pPr indent="0" marL="0">
              <a:buNone/>
            </a:pPr>
            <a:r>
              <a:rPr lang="en-US" sz="1050" b="1" dirty="0">
                <a:solidFill>
                  <a:srgbClr val="22D3EE"/>
                </a:solidFill>
                <a:latin typeface="Calibri" pitchFamily="34" charset="0"/>
                <a:ea typeface="Calibri" pitchFamily="34" charset="-122"/>
                <a:cs typeface="Calibri" pitchFamily="34" charset="-120"/>
              </a:rPr>
              <a:t>Stamp protocol: </a:t>
            </a:r>
            <a:pPr indent="0" marL="0">
              <a:buNone/>
            </a:pPr>
            <a:r>
              <a:rPr lang="en-US" sz="1050" dirty="0">
                <a:solidFill>
                  <a:srgbClr val="94A3B8"/>
                </a:solidFill>
                <a:latin typeface="Calibri" pitchFamily="34" charset="0"/>
                <a:ea typeface="Calibri" pitchFamily="34" charset="-122"/>
                <a:cs typeface="Calibri" pitchFamily="34" charset="-120"/>
              </a:rPr>
              <a:t>namespace without the hash → contents applied and stale objects pruned → namespace with the template-hash, last. A crash leaves no stamp, so the next pass redoes it.</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1188720"/>
            <a:ext cx="5486400" cy="2194560"/>
          </a:xfrm>
          <a:prstGeom prst="rect">
            <a:avLst/>
          </a:prstGeom>
          <a:noFill/>
          <a:ln/>
        </p:spPr>
        <p:txBody>
          <a:bodyPr wrap="square" lIns="0" tIns="0" rIns="0" bIns="0" rtlCol="0" anchor="ctr"/>
          <a:lstStyle/>
          <a:p>
            <a:pPr indent="0" marL="0">
              <a:buNone/>
            </a:pPr>
            <a:r>
              <a:rPr lang="en-US" sz="15000" b="1" dirty="0">
                <a:solidFill>
                  <a:srgbClr val="F59E0B"/>
                </a:solidFill>
                <a:latin typeface="Cambria" pitchFamily="34" charset="0"/>
                <a:ea typeface="Cambria" pitchFamily="34" charset="-122"/>
                <a:cs typeface="Cambria" pitchFamily="34" charset="-120"/>
              </a:rPr>
              <a:t>03</a:t>
            </a:r>
            <a:endParaRPr lang="en-US" sz="15000" dirty="0"/>
          </a:p>
        </p:txBody>
      </p:sp>
      <p:sp>
        <p:nvSpPr>
          <p:cNvPr id="3" name="Text 1"/>
          <p:cNvSpPr txBox="1"/>
          <p:nvPr/>
        </p:nvSpPr>
        <p:spPr>
          <a:xfrm>
            <a:off x="594360" y="3474720"/>
            <a:ext cx="9144000" cy="914400"/>
          </a:xfrm>
          <a:prstGeom prst="rect">
            <a:avLst/>
          </a:prstGeom>
          <a:noFill/>
          <a:ln/>
        </p:spPr>
        <p:txBody>
          <a:bodyPr wrap="square" lIns="0" tIns="0" rIns="0" bIns="0" rtlCol="0" anchor="ctr"/>
          <a:lstStyle/>
          <a:p>
            <a:pPr indent="0" marL="0">
              <a:buNone/>
            </a:pPr>
            <a:r>
              <a:rPr lang="en-US" sz="4400" b="1" dirty="0">
                <a:solidFill>
                  <a:srgbClr val="F1F5F9"/>
                </a:solidFill>
                <a:latin typeface="Cambria" pitchFamily="34" charset="0"/>
                <a:ea typeface="Cambria" pitchFamily="34" charset="-122"/>
                <a:cs typeface="Cambria" pitchFamily="34" charset="-120"/>
              </a:rPr>
              <a:t>Functions &amp; builds</a:t>
            </a:r>
            <a:endParaRPr lang="en-US" sz="4400" dirty="0"/>
          </a:p>
        </p:txBody>
      </p:sp>
      <p:sp>
        <p:nvSpPr>
          <p:cNvPr id="4" name="Text 2"/>
          <p:cNvSpPr txBox="1"/>
          <p:nvPr/>
        </p:nvSpPr>
        <p:spPr>
          <a:xfrm>
            <a:off x="594360" y="4434840"/>
            <a:ext cx="7772400" cy="914400"/>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A container is 'run this image'. A function is 'here is my repo', and that sentence hides a build.</a:t>
            </a:r>
            <a:endParaRPr lang="en-US" sz="1700" dirty="0"/>
          </a:p>
        </p:txBody>
      </p:sp>
      <p:sp>
        <p:nvSpPr>
          <p:cNvPr id="5" name="Text 3"/>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14 / 23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F59E0B"/>
                </a:solidFill>
                <a:latin typeface="Calibri" pitchFamily="34" charset="0"/>
                <a:ea typeface="Calibri" pitchFamily="34" charset="-122"/>
                <a:cs typeface="Calibri" pitchFamily="34" charset="-120"/>
              </a:rPr>
              <a:t>CHAPTER 03  ·  FUNCTIONS &amp; BUILDS</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15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Why functions are different</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A container hands us an image. A function hands us a repository, and the image has to come from somewhere.</a:t>
            </a:r>
            <a:endParaRPr lang="en-US" sz="1500" dirty="0"/>
          </a:p>
        </p:txBody>
      </p:sp>
      <p:sp>
        <p:nvSpPr>
          <p:cNvPr id="6" name="Text 4"/>
          <p:cNvSpPr txBox="1"/>
          <p:nvPr/>
        </p:nvSpPr>
        <p:spPr>
          <a:xfrm>
            <a:off x="594360" y="2148840"/>
            <a:ext cx="2743200" cy="274320"/>
          </a:xfrm>
          <a:prstGeom prst="rect">
            <a:avLst/>
          </a:prstGeom>
          <a:noFill/>
          <a:ln/>
        </p:spPr>
        <p:txBody>
          <a:bodyPr wrap="square" lIns="0" tIns="0" rIns="0" bIns="0" rtlCol="0" anchor="ctr"/>
          <a:lstStyle/>
          <a:p>
            <a:pPr algn="l" indent="0" marL="0">
              <a:buNone/>
            </a:pPr>
            <a:r>
              <a:rPr lang="en-US" sz="1050" b="1" dirty="0">
                <a:solidFill>
                  <a:srgbClr val="22D3EE"/>
                </a:solidFill>
                <a:latin typeface="Calibri" pitchFamily="34" charset="0"/>
                <a:ea typeface="Calibri" pitchFamily="34" charset="-122"/>
                <a:cs typeface="Calibri" pitchFamily="34" charset="-120"/>
              </a:rPr>
              <a:t>CONTAINER</a:t>
            </a:r>
            <a:endParaRPr lang="en-US" sz="1050" dirty="0"/>
          </a:p>
        </p:txBody>
      </p:sp>
      <p:sp>
        <p:nvSpPr>
          <p:cNvPr id="7" name="Shape 5"/>
          <p:cNvSpPr/>
          <p:nvPr/>
        </p:nvSpPr>
        <p:spPr>
          <a:xfrm>
            <a:off x="594360" y="2514600"/>
            <a:ext cx="2331720" cy="685800"/>
          </a:xfrm>
          <a:prstGeom prst="roundRect">
            <a:avLst>
              <a:gd name="adj" fmla="val 13333"/>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8" name="Text 6"/>
          <p:cNvSpPr txBox="1"/>
          <p:nvPr/>
        </p:nvSpPr>
        <p:spPr>
          <a:xfrm>
            <a:off x="594360" y="2514600"/>
            <a:ext cx="2331720" cy="685800"/>
          </a:xfrm>
          <a:prstGeom prst="rect">
            <a:avLst/>
          </a:prstGeom>
          <a:noFill/>
          <a:ln/>
        </p:spPr>
        <p:txBody>
          <a:bodyPr wrap="square" lIns="762" tIns="762" rIns="762" bIns="762"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image + registry creds</a:t>
            </a:r>
            <a:endParaRPr lang="en-US" sz="1200" dirty="0"/>
          </a:p>
          <a:p>
            <a:pPr algn="ctr" indent="0" marL="0">
              <a:buNone/>
            </a:pPr>
            <a:r>
              <a:rPr lang="en-US" sz="900" dirty="0">
                <a:solidFill>
                  <a:srgbClr val="94A3B8"/>
                </a:solidFill>
                <a:latin typeface="Calibri" pitchFamily="34" charset="0"/>
                <a:ea typeface="Calibri" pitchFamily="34" charset="-122"/>
                <a:cs typeface="Calibri" pitchFamily="34" charset="-120"/>
              </a:rPr>
              <a:t>the request</a:t>
            </a:r>
            <a:endParaRPr lang="en-US" sz="1200" dirty="0"/>
          </a:p>
        </p:txBody>
      </p:sp>
      <p:sp>
        <p:nvSpPr>
          <p:cNvPr id="9" name="Shape 7"/>
          <p:cNvSpPr/>
          <p:nvPr/>
        </p:nvSpPr>
        <p:spPr>
          <a:xfrm>
            <a:off x="2926080" y="2857500"/>
            <a:ext cx="274320" cy="0"/>
          </a:xfrm>
          <a:prstGeom prst="line">
            <a:avLst/>
          </a:prstGeom>
          <a:noFill/>
          <a:ln w="19050">
            <a:solidFill>
              <a:srgbClr val="5B6B8A"/>
            </a:solidFill>
            <a:prstDash val="solid"/>
            <a:tailEnd type="triangle"/>
          </a:ln>
        </p:spPr>
      </p:sp>
      <p:sp>
        <p:nvSpPr>
          <p:cNvPr id="10" name="Shape 8"/>
          <p:cNvSpPr/>
          <p:nvPr/>
        </p:nvSpPr>
        <p:spPr>
          <a:xfrm>
            <a:off x="3200400" y="2514600"/>
            <a:ext cx="2331720" cy="685800"/>
          </a:xfrm>
          <a:prstGeom prst="roundRect">
            <a:avLst>
              <a:gd name="adj" fmla="val 13333"/>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1" name="Text 9"/>
          <p:cNvSpPr txBox="1"/>
          <p:nvPr/>
        </p:nvSpPr>
        <p:spPr>
          <a:xfrm>
            <a:off x="3200400" y="2514600"/>
            <a:ext cx="2331720" cy="685800"/>
          </a:xfrm>
          <a:prstGeom prst="rect">
            <a:avLst/>
          </a:prstGeom>
          <a:noFill/>
          <a:ln/>
        </p:spPr>
        <p:txBody>
          <a:bodyPr wrap="square" lIns="762" tIns="762" rIns="762" bIns="762"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pull Secret</a:t>
            </a:r>
            <a:endParaRPr lang="en-US" sz="1200" dirty="0"/>
          </a:p>
          <a:p>
            <a:pPr algn="ctr" indent="0" marL="0">
              <a:buNone/>
            </a:pPr>
            <a:r>
              <a:rPr lang="en-US" sz="900" dirty="0">
                <a:solidFill>
                  <a:srgbClr val="94A3B8"/>
                </a:solidFill>
                <a:latin typeface="Calibri" pitchFamily="34" charset="0"/>
                <a:ea typeface="Calibri" pitchFamily="34" charset="-122"/>
                <a:cs typeface="Calibri" pitchFamily="34" charset="-120"/>
              </a:rPr>
              <a:t>per region</a:t>
            </a:r>
            <a:endParaRPr lang="en-US" sz="1200" dirty="0"/>
          </a:p>
        </p:txBody>
      </p:sp>
      <p:sp>
        <p:nvSpPr>
          <p:cNvPr id="12" name="Shape 10"/>
          <p:cNvSpPr/>
          <p:nvPr/>
        </p:nvSpPr>
        <p:spPr>
          <a:xfrm>
            <a:off x="5532120" y="2857500"/>
            <a:ext cx="274320" cy="0"/>
          </a:xfrm>
          <a:prstGeom prst="line">
            <a:avLst/>
          </a:prstGeom>
          <a:noFill/>
          <a:ln w="19050">
            <a:solidFill>
              <a:srgbClr val="5B6B8A"/>
            </a:solidFill>
            <a:prstDash val="solid"/>
            <a:tailEnd type="triangle"/>
          </a:ln>
        </p:spPr>
      </p:sp>
      <p:sp>
        <p:nvSpPr>
          <p:cNvPr id="13" name="Shape 11"/>
          <p:cNvSpPr/>
          <p:nvPr/>
        </p:nvSpPr>
        <p:spPr>
          <a:xfrm>
            <a:off x="5806440" y="2514600"/>
            <a:ext cx="2331720" cy="685800"/>
          </a:xfrm>
          <a:prstGeom prst="roundRect">
            <a:avLst>
              <a:gd name="adj" fmla="val 13333"/>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4" name="Text 12"/>
          <p:cNvSpPr txBox="1"/>
          <p:nvPr/>
        </p:nvSpPr>
        <p:spPr>
          <a:xfrm>
            <a:off x="5806440" y="2514600"/>
            <a:ext cx="2331720" cy="685800"/>
          </a:xfrm>
          <a:prstGeom prst="rect">
            <a:avLst/>
          </a:prstGeom>
          <a:noFill/>
          <a:ln/>
        </p:spPr>
        <p:txBody>
          <a:bodyPr wrap="square" lIns="762" tIns="762" rIns="762" bIns="762"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Knative Service</a:t>
            </a:r>
            <a:endParaRPr lang="en-US" sz="1200" dirty="0"/>
          </a:p>
          <a:p>
            <a:pPr algn="ctr" indent="0" marL="0">
              <a:buNone/>
            </a:pPr>
            <a:r>
              <a:rPr lang="en-US" sz="900" dirty="0">
                <a:solidFill>
                  <a:srgbClr val="94A3B8"/>
                </a:solidFill>
                <a:latin typeface="Calibri" pitchFamily="34" charset="0"/>
                <a:ea typeface="Calibri" pitchFamily="34" charset="-122"/>
                <a:cs typeface="Calibri" pitchFamily="34" charset="-120"/>
              </a:rPr>
              <a:t>at the given image</a:t>
            </a:r>
            <a:endParaRPr lang="en-US" sz="1200" dirty="0"/>
          </a:p>
        </p:txBody>
      </p:sp>
      <p:sp>
        <p:nvSpPr>
          <p:cNvPr id="15" name="Shape 13"/>
          <p:cNvSpPr/>
          <p:nvPr/>
        </p:nvSpPr>
        <p:spPr>
          <a:xfrm>
            <a:off x="8138160" y="2857500"/>
            <a:ext cx="274320" cy="0"/>
          </a:xfrm>
          <a:prstGeom prst="line">
            <a:avLst/>
          </a:prstGeom>
          <a:noFill/>
          <a:ln w="19050">
            <a:solidFill>
              <a:srgbClr val="5B6B8A"/>
            </a:solidFill>
            <a:prstDash val="solid"/>
            <a:tailEnd type="triangle"/>
          </a:ln>
        </p:spPr>
      </p:sp>
      <p:sp>
        <p:nvSpPr>
          <p:cNvPr id="16" name="Shape 14"/>
          <p:cNvSpPr/>
          <p:nvPr/>
        </p:nvSpPr>
        <p:spPr>
          <a:xfrm>
            <a:off x="8412480" y="2514600"/>
            <a:ext cx="2331720" cy="685800"/>
          </a:xfrm>
          <a:prstGeom prst="roundRect">
            <a:avLst>
              <a:gd name="adj" fmla="val 13333"/>
            </a:avLst>
          </a:prstGeom>
          <a:solidFill>
            <a:srgbClr val="18213A"/>
          </a:solidFill>
          <a:ln w="12700">
            <a:solidFill>
              <a:srgbClr val="34D399"/>
            </a:solidFill>
            <a:prstDash val="solid"/>
          </a:ln>
          <a:effectLst>
            <a:outerShdw sx="100000" sy="100000" kx="0" ky="0" algn="bl" rotWithShape="0" blurRad="101600" dist="38100" dir="5400000">
              <a:srgbClr val="000000">
                <a:alpha val="35000"/>
              </a:srgbClr>
            </a:outerShdw>
          </a:effectLst>
        </p:spPr>
      </p:sp>
      <p:sp>
        <p:nvSpPr>
          <p:cNvPr id="17" name="Text 15"/>
          <p:cNvSpPr txBox="1"/>
          <p:nvPr/>
        </p:nvSpPr>
        <p:spPr>
          <a:xfrm>
            <a:off x="8412480" y="2514600"/>
            <a:ext cx="2331720" cy="685800"/>
          </a:xfrm>
          <a:prstGeom prst="rect">
            <a:avLst/>
          </a:prstGeom>
          <a:noFill/>
          <a:ln/>
        </p:spPr>
        <p:txBody>
          <a:bodyPr wrap="square" lIns="762" tIns="762" rIns="762" bIns="762" rtlCol="0" anchor="ctr"/>
          <a:lstStyle/>
          <a:p>
            <a:pPr algn="ctr" indent="0" marL="0">
              <a:buNone/>
            </a:pPr>
            <a:r>
              <a:rPr lang="en-US" sz="1200" b="1" dirty="0">
                <a:solidFill>
                  <a:srgbClr val="F1F5F9"/>
                </a:solidFill>
                <a:latin typeface="Calibri" pitchFamily="34" charset="0"/>
                <a:ea typeface="Calibri" pitchFamily="34" charset="-122"/>
                <a:cs typeface="Calibri" pitchFamily="34" charset="-120"/>
              </a:rPr>
              <a:t>Ready</a:t>
            </a:r>
            <a:endParaRPr lang="en-US" sz="1200" dirty="0"/>
          </a:p>
        </p:txBody>
      </p:sp>
      <p:sp>
        <p:nvSpPr>
          <p:cNvPr id="18" name="Text 16"/>
          <p:cNvSpPr txBox="1"/>
          <p:nvPr/>
        </p:nvSpPr>
        <p:spPr>
          <a:xfrm>
            <a:off x="594360" y="3429000"/>
            <a:ext cx="2743200" cy="274320"/>
          </a:xfrm>
          <a:prstGeom prst="rect">
            <a:avLst/>
          </a:prstGeom>
          <a:noFill/>
          <a:ln/>
        </p:spPr>
        <p:txBody>
          <a:bodyPr wrap="square" lIns="0" tIns="0" rIns="0" bIns="0" rtlCol="0" anchor="ctr"/>
          <a:lstStyle/>
          <a:p>
            <a:pPr algn="l" indent="0" marL="0">
              <a:buNone/>
            </a:pPr>
            <a:r>
              <a:rPr lang="en-US" sz="1050" b="1" dirty="0">
                <a:solidFill>
                  <a:srgbClr val="F59E0B"/>
                </a:solidFill>
                <a:latin typeface="Calibri" pitchFamily="34" charset="0"/>
                <a:ea typeface="Calibri" pitchFamily="34" charset="-122"/>
                <a:cs typeface="Calibri" pitchFamily="34" charset="-120"/>
              </a:rPr>
              <a:t>FUNCTION</a:t>
            </a:r>
            <a:endParaRPr lang="en-US" sz="1050" dirty="0"/>
          </a:p>
        </p:txBody>
      </p:sp>
      <p:sp>
        <p:nvSpPr>
          <p:cNvPr id="19" name="Shape 17"/>
          <p:cNvSpPr/>
          <p:nvPr/>
        </p:nvSpPr>
        <p:spPr>
          <a:xfrm>
            <a:off x="594360" y="3794760"/>
            <a:ext cx="1572768" cy="731520"/>
          </a:xfrm>
          <a:prstGeom prst="roundRect">
            <a:avLst>
              <a:gd name="adj" fmla="val 12500"/>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20" name="Text 18"/>
          <p:cNvSpPr txBox="1"/>
          <p:nvPr/>
        </p:nvSpPr>
        <p:spPr>
          <a:xfrm>
            <a:off x="594360" y="3794760"/>
            <a:ext cx="1572768" cy="731520"/>
          </a:xfrm>
          <a:prstGeom prst="rect">
            <a:avLst/>
          </a:prstGeom>
          <a:noFill/>
          <a:ln/>
        </p:spPr>
        <p:txBody>
          <a:bodyPr wrap="square" lIns="762" tIns="762" rIns="762" bIns="762"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gitRepo + branch + runtime</a:t>
            </a:r>
            <a:endParaRPr lang="en-US" sz="1050" dirty="0"/>
          </a:p>
          <a:p>
            <a:pPr algn="ctr" indent="0" marL="0">
              <a:buNone/>
            </a:pPr>
            <a:r>
              <a:rPr lang="en-US" sz="850" dirty="0">
                <a:solidFill>
                  <a:srgbClr val="94A3B8"/>
                </a:solidFill>
                <a:latin typeface="Calibri" pitchFamily="34" charset="0"/>
                <a:ea typeface="Calibri" pitchFamily="34" charset="-122"/>
                <a:cs typeface="Calibri" pitchFamily="34" charset="-120"/>
              </a:rPr>
              <a:t>the request</a:t>
            </a:r>
            <a:endParaRPr lang="en-US" sz="1050" dirty="0"/>
          </a:p>
        </p:txBody>
      </p:sp>
      <p:sp>
        <p:nvSpPr>
          <p:cNvPr id="21" name="Shape 19"/>
          <p:cNvSpPr/>
          <p:nvPr/>
        </p:nvSpPr>
        <p:spPr>
          <a:xfrm>
            <a:off x="2167128" y="4160520"/>
            <a:ext cx="310896" cy="0"/>
          </a:xfrm>
          <a:prstGeom prst="line">
            <a:avLst/>
          </a:prstGeom>
          <a:noFill/>
          <a:ln w="19050">
            <a:solidFill>
              <a:srgbClr val="5B6B8A"/>
            </a:solidFill>
            <a:prstDash val="solid"/>
            <a:tailEnd type="triangle"/>
          </a:ln>
        </p:spPr>
      </p:sp>
      <p:sp>
        <p:nvSpPr>
          <p:cNvPr id="22" name="Shape 20"/>
          <p:cNvSpPr/>
          <p:nvPr/>
        </p:nvSpPr>
        <p:spPr>
          <a:xfrm>
            <a:off x="2478024" y="3794760"/>
            <a:ext cx="1572768" cy="731520"/>
          </a:xfrm>
          <a:prstGeom prst="roundRect">
            <a:avLst>
              <a:gd name="adj" fmla="val 12500"/>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23" name="Text 21"/>
          <p:cNvSpPr txBox="1"/>
          <p:nvPr/>
        </p:nvSpPr>
        <p:spPr>
          <a:xfrm>
            <a:off x="2478024" y="3794760"/>
            <a:ext cx="1572768" cy="731520"/>
          </a:xfrm>
          <a:prstGeom prst="rect">
            <a:avLst/>
          </a:prstGeom>
          <a:noFill/>
          <a:ln/>
        </p:spPr>
        <p:txBody>
          <a:bodyPr wrap="square" lIns="762" tIns="762" rIns="762" bIns="762"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git Secret · build SA · kpack Image</a:t>
            </a:r>
            <a:endParaRPr lang="en-US" sz="1050" dirty="0"/>
          </a:p>
          <a:p>
            <a:pPr algn="ctr" indent="0" marL="0">
              <a:buNone/>
            </a:pPr>
            <a:r>
              <a:rPr lang="en-US" sz="850" dirty="0">
                <a:solidFill>
                  <a:srgbClr val="94A3B8"/>
                </a:solidFill>
                <a:latin typeface="Calibri" pitchFamily="34" charset="0"/>
                <a:ea typeface="Calibri" pitchFamily="34" charset="-122"/>
                <a:cs typeface="Calibri" pitchFamily="34" charset="-120"/>
              </a:rPr>
              <a:t>declared, not run</a:t>
            </a:r>
            <a:endParaRPr lang="en-US" sz="1050" dirty="0"/>
          </a:p>
        </p:txBody>
      </p:sp>
      <p:sp>
        <p:nvSpPr>
          <p:cNvPr id="24" name="Shape 22"/>
          <p:cNvSpPr/>
          <p:nvPr/>
        </p:nvSpPr>
        <p:spPr>
          <a:xfrm>
            <a:off x="4050792" y="4160520"/>
            <a:ext cx="310896" cy="0"/>
          </a:xfrm>
          <a:prstGeom prst="line">
            <a:avLst/>
          </a:prstGeom>
          <a:noFill/>
          <a:ln w="19050">
            <a:solidFill>
              <a:srgbClr val="5B6B8A"/>
            </a:solidFill>
            <a:prstDash val="solid"/>
            <a:tailEnd type="triangle"/>
          </a:ln>
        </p:spPr>
      </p:sp>
      <p:sp>
        <p:nvSpPr>
          <p:cNvPr id="25" name="Shape 23"/>
          <p:cNvSpPr/>
          <p:nvPr/>
        </p:nvSpPr>
        <p:spPr>
          <a:xfrm>
            <a:off x="4361688" y="3794760"/>
            <a:ext cx="1572768" cy="731520"/>
          </a:xfrm>
          <a:prstGeom prst="roundRect">
            <a:avLst>
              <a:gd name="adj" fmla="val 12500"/>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26" name="Text 24"/>
          <p:cNvSpPr txBox="1"/>
          <p:nvPr/>
        </p:nvSpPr>
        <p:spPr>
          <a:xfrm>
            <a:off x="4361688" y="3794760"/>
            <a:ext cx="1572768" cy="731520"/>
          </a:xfrm>
          <a:prstGeom prst="rect">
            <a:avLst/>
          </a:prstGeom>
          <a:noFill/>
          <a:ln/>
        </p:spPr>
        <p:txBody>
          <a:bodyPr wrap="square" lIns="762" tIns="762" rIns="762" bIns="762"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Knative Service</a:t>
            </a:r>
            <a:endParaRPr lang="en-US" sz="1050" dirty="0"/>
          </a:p>
          <a:p>
            <a:pPr algn="ctr" indent="0" marL="0">
              <a:buNone/>
            </a:pPr>
            <a:r>
              <a:rPr lang="en-US" sz="850" dirty="0">
                <a:solidFill>
                  <a:srgbClr val="94A3B8"/>
                </a:solidFill>
                <a:latin typeface="Calibri" pitchFamily="34" charset="0"/>
                <a:ea typeface="Calibri" pitchFamily="34" charset="-122"/>
                <a:cs typeface="Calibri" pitchFamily="34" charset="-120"/>
              </a:rPr>
              <a:t>at the branch tag</a:t>
            </a:r>
            <a:endParaRPr lang="en-US" sz="1050" dirty="0"/>
          </a:p>
        </p:txBody>
      </p:sp>
      <p:sp>
        <p:nvSpPr>
          <p:cNvPr id="27" name="Shape 25"/>
          <p:cNvSpPr/>
          <p:nvPr/>
        </p:nvSpPr>
        <p:spPr>
          <a:xfrm>
            <a:off x="5934456" y="4160520"/>
            <a:ext cx="310896" cy="0"/>
          </a:xfrm>
          <a:prstGeom prst="line">
            <a:avLst/>
          </a:prstGeom>
          <a:noFill/>
          <a:ln w="19050">
            <a:solidFill>
              <a:srgbClr val="5B6B8A"/>
            </a:solidFill>
            <a:prstDash val="solid"/>
            <a:tailEnd type="triangle"/>
          </a:ln>
        </p:spPr>
      </p:sp>
      <p:sp>
        <p:nvSpPr>
          <p:cNvPr id="28" name="Shape 26"/>
          <p:cNvSpPr/>
          <p:nvPr/>
        </p:nvSpPr>
        <p:spPr>
          <a:xfrm>
            <a:off x="6245352" y="3794760"/>
            <a:ext cx="1572768" cy="731520"/>
          </a:xfrm>
          <a:prstGeom prst="roundRect">
            <a:avLst>
              <a:gd name="adj" fmla="val 12500"/>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29" name="Text 27"/>
          <p:cNvSpPr txBox="1"/>
          <p:nvPr/>
        </p:nvSpPr>
        <p:spPr>
          <a:xfrm>
            <a:off x="6245352" y="3794760"/>
            <a:ext cx="1572768" cy="731520"/>
          </a:xfrm>
          <a:prstGeom prst="rect">
            <a:avLst/>
          </a:prstGeom>
          <a:noFill/>
          <a:ln/>
        </p:spPr>
        <p:txBody>
          <a:bodyPr wrap="square" lIns="762" tIns="762" rIns="762" bIns="762"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build runs</a:t>
            </a:r>
            <a:endParaRPr lang="en-US" sz="1050" dirty="0"/>
          </a:p>
          <a:p>
            <a:pPr algn="ctr" indent="0" marL="0">
              <a:buNone/>
            </a:pPr>
            <a:r>
              <a:rPr lang="en-US" sz="850" dirty="0">
                <a:solidFill>
                  <a:srgbClr val="94A3B8"/>
                </a:solidFill>
                <a:latin typeface="Calibri" pitchFamily="34" charset="0"/>
                <a:ea typeface="Calibri" pitchFamily="34" charset="-122"/>
                <a:cs typeface="Calibri" pitchFamily="34" charset="-120"/>
              </a:rPr>
              <a:t>minutes, out of band</a:t>
            </a:r>
            <a:endParaRPr lang="en-US" sz="1050" dirty="0"/>
          </a:p>
        </p:txBody>
      </p:sp>
      <p:sp>
        <p:nvSpPr>
          <p:cNvPr id="30" name="Shape 28"/>
          <p:cNvSpPr/>
          <p:nvPr/>
        </p:nvSpPr>
        <p:spPr>
          <a:xfrm>
            <a:off x="7818120" y="4160520"/>
            <a:ext cx="310896" cy="0"/>
          </a:xfrm>
          <a:prstGeom prst="line">
            <a:avLst/>
          </a:prstGeom>
          <a:noFill/>
          <a:ln w="19050">
            <a:solidFill>
              <a:srgbClr val="5B6B8A"/>
            </a:solidFill>
            <a:prstDash val="solid"/>
            <a:tailEnd type="triangle"/>
          </a:ln>
        </p:spPr>
      </p:sp>
      <p:sp>
        <p:nvSpPr>
          <p:cNvPr id="31" name="Shape 29"/>
          <p:cNvSpPr/>
          <p:nvPr/>
        </p:nvSpPr>
        <p:spPr>
          <a:xfrm>
            <a:off x="8129016" y="3794760"/>
            <a:ext cx="1572768" cy="731520"/>
          </a:xfrm>
          <a:prstGeom prst="roundRect">
            <a:avLst>
              <a:gd name="adj" fmla="val 12500"/>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32" name="Text 30"/>
          <p:cNvSpPr txBox="1"/>
          <p:nvPr/>
        </p:nvSpPr>
        <p:spPr>
          <a:xfrm>
            <a:off x="8129016" y="3794760"/>
            <a:ext cx="1572768" cy="731520"/>
          </a:xfrm>
          <a:prstGeom prst="rect">
            <a:avLst/>
          </a:prstGeom>
          <a:noFill/>
          <a:ln/>
        </p:spPr>
        <p:txBody>
          <a:bodyPr wrap="square" lIns="762" tIns="762" rIns="762" bIns="762"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digest rolled in</a:t>
            </a:r>
            <a:endParaRPr lang="en-US" sz="1050" dirty="0"/>
          </a:p>
          <a:p>
            <a:pPr algn="ctr" indent="0" marL="0">
              <a:buNone/>
            </a:pPr>
            <a:r>
              <a:rPr lang="en-US" sz="850" dirty="0">
                <a:solidFill>
                  <a:srgbClr val="94A3B8"/>
                </a:solidFill>
                <a:latin typeface="Calibri" pitchFamily="34" charset="0"/>
                <a:ea typeface="Calibri" pitchFamily="34" charset="-122"/>
                <a:cs typeface="Calibri" pitchFamily="34" charset="-120"/>
              </a:rPr>
              <a:t>by the build controller</a:t>
            </a:r>
            <a:endParaRPr lang="en-US" sz="1050" dirty="0"/>
          </a:p>
        </p:txBody>
      </p:sp>
      <p:sp>
        <p:nvSpPr>
          <p:cNvPr id="33" name="Shape 31"/>
          <p:cNvSpPr/>
          <p:nvPr/>
        </p:nvSpPr>
        <p:spPr>
          <a:xfrm>
            <a:off x="9701784" y="4160520"/>
            <a:ext cx="310896" cy="0"/>
          </a:xfrm>
          <a:prstGeom prst="line">
            <a:avLst/>
          </a:prstGeom>
          <a:noFill/>
          <a:ln w="19050">
            <a:solidFill>
              <a:srgbClr val="5B6B8A"/>
            </a:solidFill>
            <a:prstDash val="solid"/>
            <a:tailEnd type="triangle"/>
          </a:ln>
        </p:spPr>
      </p:sp>
      <p:sp>
        <p:nvSpPr>
          <p:cNvPr id="34" name="Shape 32"/>
          <p:cNvSpPr/>
          <p:nvPr/>
        </p:nvSpPr>
        <p:spPr>
          <a:xfrm>
            <a:off x="10012680" y="3794760"/>
            <a:ext cx="1572768" cy="731520"/>
          </a:xfrm>
          <a:prstGeom prst="roundRect">
            <a:avLst>
              <a:gd name="adj" fmla="val 12500"/>
            </a:avLst>
          </a:prstGeom>
          <a:solidFill>
            <a:srgbClr val="18213A"/>
          </a:solidFill>
          <a:ln w="12700">
            <a:solidFill>
              <a:srgbClr val="34D399"/>
            </a:solidFill>
            <a:prstDash val="solid"/>
          </a:ln>
          <a:effectLst>
            <a:outerShdw sx="100000" sy="100000" kx="0" ky="0" algn="bl" rotWithShape="0" blurRad="101600" dist="38100" dir="5400000">
              <a:srgbClr val="000000">
                <a:alpha val="35000"/>
              </a:srgbClr>
            </a:outerShdw>
          </a:effectLst>
        </p:spPr>
      </p:sp>
      <p:sp>
        <p:nvSpPr>
          <p:cNvPr id="35" name="Text 33"/>
          <p:cNvSpPr txBox="1"/>
          <p:nvPr/>
        </p:nvSpPr>
        <p:spPr>
          <a:xfrm>
            <a:off x="10012680" y="3794760"/>
            <a:ext cx="1572768" cy="731520"/>
          </a:xfrm>
          <a:prstGeom prst="rect">
            <a:avLst/>
          </a:prstGeom>
          <a:noFill/>
          <a:ln/>
        </p:spPr>
        <p:txBody>
          <a:bodyPr wrap="square" lIns="762" tIns="762" rIns="762" bIns="762" rtlCol="0" anchor="ctr"/>
          <a:lstStyle/>
          <a:p>
            <a:pPr algn="ctr" indent="0" marL="0">
              <a:buNone/>
            </a:pPr>
            <a:r>
              <a:rPr lang="en-US" sz="1050" b="1" dirty="0">
                <a:solidFill>
                  <a:srgbClr val="F1F5F9"/>
                </a:solidFill>
                <a:latin typeface="Calibri" pitchFamily="34" charset="0"/>
                <a:ea typeface="Calibri" pitchFamily="34" charset="-122"/>
                <a:cs typeface="Calibri" pitchFamily="34" charset="-120"/>
              </a:rPr>
              <a:t>Ready</a:t>
            </a:r>
            <a:endParaRPr lang="en-US" sz="1050" dirty="0"/>
          </a:p>
        </p:txBody>
      </p:sp>
      <p:sp>
        <p:nvSpPr>
          <p:cNvPr id="36" name="Shape 34"/>
          <p:cNvSpPr/>
          <p:nvPr/>
        </p:nvSpPr>
        <p:spPr>
          <a:xfrm>
            <a:off x="594360" y="4709160"/>
            <a:ext cx="3483864" cy="1554480"/>
          </a:xfrm>
          <a:prstGeom prst="roundRect">
            <a:avLst>
              <a:gd name="adj" fmla="val 7059"/>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7" name="Shape 35"/>
          <p:cNvSpPr/>
          <p:nvPr/>
        </p:nvSpPr>
        <p:spPr>
          <a:xfrm>
            <a:off x="795528" y="491032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38" name="Image 0" descr="preencoded.png">    </p:cNvPr>
          <p:cNvPicPr>
            <a:picLocks noChangeAspect="1"/>
          </p:cNvPicPr>
          <p:nvPr/>
        </p:nvPicPr>
        <p:blipFill>
          <a:blip r:embed="rId2"/>
          <a:stretch>
            <a:fillRect/>
          </a:stretch>
        </p:blipFill>
        <p:spPr>
          <a:xfrm>
            <a:off x="905256" y="5020056"/>
            <a:ext cx="237744" cy="237744"/>
          </a:xfrm>
          <a:prstGeom prst="rect">
            <a:avLst/>
          </a:prstGeom>
        </p:spPr>
      </p:pic>
      <p:sp>
        <p:nvSpPr>
          <p:cNvPr id="39" name="Text 36"/>
          <p:cNvSpPr txBox="1"/>
          <p:nvPr/>
        </p:nvSpPr>
        <p:spPr>
          <a:xfrm>
            <a:off x="1389888" y="4910328"/>
            <a:ext cx="2505456"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Asynchronous</a:t>
            </a:r>
            <a:endParaRPr lang="en-US" sz="1500" dirty="0"/>
          </a:p>
        </p:txBody>
      </p:sp>
      <p:sp>
        <p:nvSpPr>
          <p:cNvPr id="40" name="Text 37"/>
          <p:cNvSpPr txBox="1"/>
          <p:nvPr/>
        </p:nvSpPr>
        <p:spPr>
          <a:xfrm>
            <a:off x="795528" y="5532120"/>
            <a:ext cx="3081528" cy="5943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Minutes, not milliseconds. That is why every write returns 202, why Building is a phase of its own, and why the list shows a build state.</a:t>
            </a:r>
            <a:endParaRPr lang="en-US" sz="1100" dirty="0"/>
          </a:p>
        </p:txBody>
      </p:sp>
      <p:sp>
        <p:nvSpPr>
          <p:cNvPr id="41" name="Shape 38"/>
          <p:cNvSpPr/>
          <p:nvPr/>
        </p:nvSpPr>
        <p:spPr>
          <a:xfrm>
            <a:off x="4352544" y="4709160"/>
            <a:ext cx="3483864" cy="1554480"/>
          </a:xfrm>
          <a:prstGeom prst="roundRect">
            <a:avLst>
              <a:gd name="adj" fmla="val 7059"/>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42" name="Shape 39"/>
          <p:cNvSpPr/>
          <p:nvPr/>
        </p:nvSpPr>
        <p:spPr>
          <a:xfrm>
            <a:off x="4553712" y="491032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43" name="Image 1" descr="preencoded.png">    </p:cNvPr>
          <p:cNvPicPr>
            <a:picLocks noChangeAspect="1"/>
          </p:cNvPicPr>
          <p:nvPr/>
        </p:nvPicPr>
        <p:blipFill>
          <a:blip r:embed="rId3"/>
          <a:stretch>
            <a:fillRect/>
          </a:stretch>
        </p:blipFill>
        <p:spPr>
          <a:xfrm>
            <a:off x="4663440" y="5020056"/>
            <a:ext cx="237744" cy="237744"/>
          </a:xfrm>
          <a:prstGeom prst="rect">
            <a:avLst/>
          </a:prstGeom>
        </p:spPr>
      </p:pic>
      <p:sp>
        <p:nvSpPr>
          <p:cNvPr id="44" name="Text 40"/>
          <p:cNvSpPr txBox="1"/>
          <p:nvPr/>
        </p:nvSpPr>
        <p:spPr>
          <a:xfrm>
            <a:off x="5148072" y="4910328"/>
            <a:ext cx="2505456"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Retried and observable</a:t>
            </a:r>
            <a:endParaRPr lang="en-US" sz="1500" dirty="0"/>
          </a:p>
        </p:txBody>
      </p:sp>
      <p:sp>
        <p:nvSpPr>
          <p:cNvPr id="45" name="Text 41"/>
          <p:cNvSpPr txBox="1"/>
          <p:nvPr/>
        </p:nvSpPr>
        <p:spPr>
          <a:xfrm>
            <a:off x="4553712" y="5532120"/>
            <a:ext cx="3081528" cy="5943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Each build phase has its own log, a failure is BuildFailed with a message, and POST /build asks for another go without editing anything.</a:t>
            </a:r>
            <a:endParaRPr lang="en-US" sz="1100" dirty="0"/>
          </a:p>
        </p:txBody>
      </p:sp>
      <p:sp>
        <p:nvSpPr>
          <p:cNvPr id="46" name="Shape 42"/>
          <p:cNvSpPr/>
          <p:nvPr/>
        </p:nvSpPr>
        <p:spPr>
          <a:xfrm>
            <a:off x="8110728" y="4709160"/>
            <a:ext cx="3483864" cy="1554480"/>
          </a:xfrm>
          <a:prstGeom prst="roundRect">
            <a:avLst>
              <a:gd name="adj" fmla="val 7059"/>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47" name="Shape 43"/>
          <p:cNvSpPr/>
          <p:nvPr/>
        </p:nvSpPr>
        <p:spPr>
          <a:xfrm>
            <a:off x="8311896" y="491032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48" name="Image 2" descr="preencoded.png">    </p:cNvPr>
          <p:cNvPicPr>
            <a:picLocks noChangeAspect="1"/>
          </p:cNvPicPr>
          <p:nvPr/>
        </p:nvPicPr>
        <p:blipFill>
          <a:blip r:embed="rId4"/>
          <a:stretch>
            <a:fillRect/>
          </a:stretch>
        </p:blipFill>
        <p:spPr>
          <a:xfrm>
            <a:off x="8421624" y="5020056"/>
            <a:ext cx="237744" cy="237744"/>
          </a:xfrm>
          <a:prstGeom prst="rect">
            <a:avLst/>
          </a:prstGeom>
        </p:spPr>
      </p:pic>
      <p:sp>
        <p:nvSpPr>
          <p:cNvPr id="49" name="Text 44"/>
          <p:cNvSpPr txBox="1"/>
          <p:nvPr/>
        </p:nvSpPr>
        <p:spPr>
          <a:xfrm>
            <a:off x="8906256" y="4910328"/>
            <a:ext cx="2505456"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It fires without anyone asking</a:t>
            </a:r>
            <a:endParaRPr lang="en-US" sz="1500" dirty="0"/>
          </a:p>
        </p:txBody>
      </p:sp>
      <p:sp>
        <p:nvSpPr>
          <p:cNvPr id="50" name="Text 45"/>
          <p:cNvSpPr txBox="1"/>
          <p:nvPr/>
        </p:nvSpPr>
        <p:spPr>
          <a:xfrm>
            <a:off x="8311896" y="5532120"/>
            <a:ext cx="3081528" cy="5943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 CVE patch to the base image or a buildpack rebuilds every function on the platform. Nobody clicks. That is the reason we chose this engine.</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F59E0B"/>
                </a:solidFill>
                <a:latin typeface="Calibri" pitchFamily="34" charset="0"/>
                <a:ea typeface="Calibri" pitchFamily="34" charset="-122"/>
                <a:cs typeface="Calibri" pitchFamily="34" charset="-120"/>
              </a:rPr>
              <a:t>CHAPTER 03  ·  FUNCTIONS &amp; BUILDS</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16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Buildpacks and kpack</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No Dockerfile. Buildpacks detect the language and assemble the image; kpack runs them as Kubernetes objects we can watch.</a:t>
            </a:r>
            <a:endParaRPr lang="en-US" sz="1500" dirty="0"/>
          </a:p>
        </p:txBody>
      </p:sp>
      <p:sp>
        <p:nvSpPr>
          <p:cNvPr id="6" name="Shape 4"/>
          <p:cNvSpPr/>
          <p:nvPr/>
        </p:nvSpPr>
        <p:spPr>
          <a:xfrm>
            <a:off x="594360" y="2057400"/>
            <a:ext cx="3520440" cy="2926080"/>
          </a:xfrm>
          <a:prstGeom prst="roundRect">
            <a:avLst>
              <a:gd name="adj" fmla="val 3750"/>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7" name="Shape 5"/>
          <p:cNvSpPr/>
          <p:nvPr/>
        </p:nvSpPr>
        <p:spPr>
          <a:xfrm>
            <a:off x="795528" y="225856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8" name="Image 0" descr="preencoded.png">    </p:cNvPr>
          <p:cNvPicPr>
            <a:picLocks noChangeAspect="1"/>
          </p:cNvPicPr>
          <p:nvPr/>
        </p:nvPicPr>
        <p:blipFill>
          <a:blip r:embed="rId2"/>
          <a:stretch>
            <a:fillRect/>
          </a:stretch>
        </p:blipFill>
        <p:spPr>
          <a:xfrm>
            <a:off x="905256" y="2368296"/>
            <a:ext cx="237744" cy="237744"/>
          </a:xfrm>
          <a:prstGeom prst="rect">
            <a:avLst/>
          </a:prstGeom>
        </p:spPr>
      </p:pic>
      <p:sp>
        <p:nvSpPr>
          <p:cNvPr id="9" name="Text 6"/>
          <p:cNvSpPr txBox="1"/>
          <p:nvPr/>
        </p:nvSpPr>
        <p:spPr>
          <a:xfrm>
            <a:off x="1389888" y="2258568"/>
            <a:ext cx="2542032"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Cloud Native Buildpacks</a:t>
            </a:r>
            <a:endParaRPr lang="en-US" sz="1500" dirty="0"/>
          </a:p>
        </p:txBody>
      </p:sp>
      <p:sp>
        <p:nvSpPr>
          <p:cNvPr id="10" name="Text 7"/>
          <p:cNvSpPr txBox="1"/>
          <p:nvPr/>
        </p:nvSpPr>
        <p:spPr>
          <a:xfrm>
            <a:off x="795528" y="2880360"/>
            <a:ext cx="3118104" cy="196596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Detect from requirements.txt, go.mod or package.json. Paketo buildpacks, component by component.</a:t>
            </a:r>
            <a:endParaRPr lang="en-US" sz="1100" dirty="0"/>
          </a:p>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Layered images: dependencies, runtime and app are separate layers.</a:t>
            </a:r>
            <a:endParaRPr lang="en-US" sz="1100" dirty="0"/>
          </a:p>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Rebase swaps the run image without a rebuild: a CVE patch in seconds.</a:t>
            </a:r>
            <a:endParaRPr lang="en-US" sz="1100" dirty="0"/>
          </a:p>
          <a:p>
            <a:pPr marL="152400" indent="-152400">
              <a:spcAft>
                <a:spcPts val="500"/>
              </a:spcAft>
              <a:buSzPct val="100000"/>
              <a:buChar char="•"/>
            </a:pPr>
            <a:r>
              <a:rPr lang="en-US" sz="1100" dirty="0">
                <a:solidFill>
                  <a:srgbClr val="94A3B8"/>
                </a:solidFill>
                <a:latin typeface="Calibri" pitchFamily="34" charset="0"/>
                <a:ea typeface="Calibri" pitchFamily="34" charset="-122"/>
                <a:cs typeface="Calibri" pitchFamily="34" charset="-120"/>
              </a:rPr>
              <a:t>Versions are data: BP_CPYTHON_VERSION, BP_GO_VERSION, BP_NODE_VERSION from a runtimes ConfigMap.</a:t>
            </a:r>
            <a:endParaRPr lang="en-US" sz="1100" dirty="0"/>
          </a:p>
        </p:txBody>
      </p:sp>
      <p:sp>
        <p:nvSpPr>
          <p:cNvPr id="11" name="Shape 8"/>
          <p:cNvSpPr/>
          <p:nvPr/>
        </p:nvSpPr>
        <p:spPr>
          <a:xfrm>
            <a:off x="4343400" y="2057400"/>
            <a:ext cx="3520440" cy="2926080"/>
          </a:xfrm>
          <a:prstGeom prst="roundRect">
            <a:avLst>
              <a:gd name="adj" fmla="val 3750"/>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12" name="Shape 9"/>
          <p:cNvSpPr/>
          <p:nvPr/>
        </p:nvSpPr>
        <p:spPr>
          <a:xfrm>
            <a:off x="4544568" y="225856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13" name="Image 1" descr="preencoded.png">    </p:cNvPr>
          <p:cNvPicPr>
            <a:picLocks noChangeAspect="1"/>
          </p:cNvPicPr>
          <p:nvPr/>
        </p:nvPicPr>
        <p:blipFill>
          <a:blip r:embed="rId3"/>
          <a:stretch>
            <a:fillRect/>
          </a:stretch>
        </p:blipFill>
        <p:spPr>
          <a:xfrm>
            <a:off x="4654296" y="2368296"/>
            <a:ext cx="237744" cy="237744"/>
          </a:xfrm>
          <a:prstGeom prst="rect">
            <a:avLst/>
          </a:prstGeom>
        </p:spPr>
      </p:pic>
      <p:sp>
        <p:nvSpPr>
          <p:cNvPr id="14" name="Text 10"/>
          <p:cNvSpPr txBox="1"/>
          <p:nvPr/>
        </p:nvSpPr>
        <p:spPr>
          <a:xfrm>
            <a:off x="5138928" y="2258568"/>
            <a:ext cx="2542032"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kpack, in ten CRDs</a:t>
            </a:r>
            <a:endParaRPr lang="en-US" sz="1500" dirty="0"/>
          </a:p>
        </p:txBody>
      </p:sp>
      <p:sp>
        <p:nvSpPr>
          <p:cNvPr id="15" name="Text 11"/>
          <p:cNvSpPr txBox="1"/>
          <p:nvPr/>
        </p:nvSpPr>
        <p:spPr>
          <a:xfrm>
            <a:off x="4544568" y="2880360"/>
            <a:ext cx="3118104" cy="19659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The ones that matter to us:</a:t>
            </a:r>
            <a:endParaRPr lang="en-US" sz="1100" dirty="0"/>
          </a:p>
        </p:txBody>
      </p:sp>
      <p:sp>
        <p:nvSpPr>
          <p:cNvPr id="16" name="Shape 12"/>
          <p:cNvSpPr/>
          <p:nvPr/>
        </p:nvSpPr>
        <p:spPr>
          <a:xfrm>
            <a:off x="4544568" y="3246120"/>
            <a:ext cx="562356" cy="310896"/>
          </a:xfrm>
          <a:prstGeom prst="roundRect">
            <a:avLst>
              <a:gd name="adj" fmla="val 23529"/>
            </a:avLst>
          </a:prstGeom>
          <a:solidFill>
            <a:srgbClr val="F59E0B">
              <a:alpha val="14000"/>
            </a:srgbClr>
          </a:solidFill>
          <a:ln w="6350">
            <a:solidFill>
              <a:srgbClr val="F59E0B">
                <a:alpha val="55000"/>
              </a:srgbClr>
            </a:solidFill>
            <a:prstDash val="solid"/>
          </a:ln>
        </p:spPr>
      </p:sp>
      <p:sp>
        <p:nvSpPr>
          <p:cNvPr id="17" name="Text 13"/>
          <p:cNvSpPr txBox="1"/>
          <p:nvPr/>
        </p:nvSpPr>
        <p:spPr>
          <a:xfrm>
            <a:off x="4544568" y="3246120"/>
            <a:ext cx="562356" cy="310896"/>
          </a:xfrm>
          <a:prstGeom prst="rect">
            <a:avLst/>
          </a:prstGeom>
          <a:noFill/>
          <a:ln/>
        </p:spPr>
        <p:txBody>
          <a:bodyPr wrap="square" lIns="508" tIns="508" rIns="508" bIns="508" rtlCol="0" anchor="ctr"/>
          <a:lstStyle/>
          <a:p>
            <a:pPr algn="ctr" indent="0" marL="0">
              <a:buNone/>
            </a:pPr>
            <a:r>
              <a:rPr lang="en-US" sz="1000" dirty="0">
                <a:solidFill>
                  <a:srgbClr val="F59E0B"/>
                </a:solidFill>
                <a:latin typeface="Courier New" pitchFamily="34" charset="0"/>
                <a:ea typeface="Courier New" pitchFamily="34" charset="-122"/>
                <a:cs typeface="Courier New" pitchFamily="34" charset="-120"/>
              </a:rPr>
              <a:t>Image</a:t>
            </a:r>
            <a:endParaRPr lang="en-US" sz="1000" dirty="0"/>
          </a:p>
        </p:txBody>
      </p:sp>
      <p:sp>
        <p:nvSpPr>
          <p:cNvPr id="18" name="Shape 14"/>
          <p:cNvSpPr/>
          <p:nvPr/>
        </p:nvSpPr>
        <p:spPr>
          <a:xfrm>
            <a:off x="5198364" y="3246120"/>
            <a:ext cx="562356" cy="310896"/>
          </a:xfrm>
          <a:prstGeom prst="roundRect">
            <a:avLst>
              <a:gd name="adj" fmla="val 23529"/>
            </a:avLst>
          </a:prstGeom>
          <a:solidFill>
            <a:srgbClr val="F59E0B">
              <a:alpha val="14000"/>
            </a:srgbClr>
          </a:solidFill>
          <a:ln w="6350">
            <a:solidFill>
              <a:srgbClr val="F59E0B">
                <a:alpha val="55000"/>
              </a:srgbClr>
            </a:solidFill>
            <a:prstDash val="solid"/>
          </a:ln>
        </p:spPr>
      </p:sp>
      <p:sp>
        <p:nvSpPr>
          <p:cNvPr id="19" name="Text 15"/>
          <p:cNvSpPr txBox="1"/>
          <p:nvPr/>
        </p:nvSpPr>
        <p:spPr>
          <a:xfrm>
            <a:off x="5198364" y="3246120"/>
            <a:ext cx="562356" cy="310896"/>
          </a:xfrm>
          <a:prstGeom prst="rect">
            <a:avLst/>
          </a:prstGeom>
          <a:noFill/>
          <a:ln/>
        </p:spPr>
        <p:txBody>
          <a:bodyPr wrap="square" lIns="508" tIns="508" rIns="508" bIns="508" rtlCol="0" anchor="ctr"/>
          <a:lstStyle/>
          <a:p>
            <a:pPr algn="ctr" indent="0" marL="0">
              <a:buNone/>
            </a:pPr>
            <a:r>
              <a:rPr lang="en-US" sz="1000" dirty="0">
                <a:solidFill>
                  <a:srgbClr val="F59E0B"/>
                </a:solidFill>
                <a:latin typeface="Courier New" pitchFamily="34" charset="0"/>
                <a:ea typeface="Courier New" pitchFamily="34" charset="-122"/>
                <a:cs typeface="Courier New" pitchFamily="34" charset="-120"/>
              </a:rPr>
              <a:t>Build</a:t>
            </a:r>
            <a:endParaRPr lang="en-US" sz="1000" dirty="0"/>
          </a:p>
        </p:txBody>
      </p:sp>
      <p:sp>
        <p:nvSpPr>
          <p:cNvPr id="20" name="Shape 16"/>
          <p:cNvSpPr/>
          <p:nvPr/>
        </p:nvSpPr>
        <p:spPr>
          <a:xfrm>
            <a:off x="5852160" y="3246120"/>
            <a:ext cx="1245413" cy="310896"/>
          </a:xfrm>
          <a:prstGeom prst="roundRect">
            <a:avLst>
              <a:gd name="adj" fmla="val 23529"/>
            </a:avLst>
          </a:prstGeom>
          <a:solidFill>
            <a:srgbClr val="F59E0B">
              <a:alpha val="14000"/>
            </a:srgbClr>
          </a:solidFill>
          <a:ln w="6350">
            <a:solidFill>
              <a:srgbClr val="F59E0B">
                <a:alpha val="55000"/>
              </a:srgbClr>
            </a:solidFill>
            <a:prstDash val="solid"/>
          </a:ln>
        </p:spPr>
      </p:sp>
      <p:sp>
        <p:nvSpPr>
          <p:cNvPr id="21" name="Text 17"/>
          <p:cNvSpPr txBox="1"/>
          <p:nvPr/>
        </p:nvSpPr>
        <p:spPr>
          <a:xfrm>
            <a:off x="5852160" y="3246120"/>
            <a:ext cx="1245413" cy="310896"/>
          </a:xfrm>
          <a:prstGeom prst="rect">
            <a:avLst/>
          </a:prstGeom>
          <a:noFill/>
          <a:ln/>
        </p:spPr>
        <p:txBody>
          <a:bodyPr wrap="square" lIns="508" tIns="508" rIns="508" bIns="508" rtlCol="0" anchor="ctr"/>
          <a:lstStyle/>
          <a:p>
            <a:pPr algn="ctr" indent="0" marL="0">
              <a:buNone/>
            </a:pPr>
            <a:r>
              <a:rPr lang="en-US" sz="1000" dirty="0">
                <a:solidFill>
                  <a:srgbClr val="F59E0B"/>
                </a:solidFill>
                <a:latin typeface="Courier New" pitchFamily="34" charset="0"/>
                <a:ea typeface="Courier New" pitchFamily="34" charset="-122"/>
                <a:cs typeface="Courier New" pitchFamily="34" charset="-120"/>
              </a:rPr>
              <a:t>SourceResolver</a:t>
            </a:r>
            <a:endParaRPr lang="en-US" sz="1000" dirty="0"/>
          </a:p>
        </p:txBody>
      </p:sp>
      <p:sp>
        <p:nvSpPr>
          <p:cNvPr id="22" name="Shape 18"/>
          <p:cNvSpPr/>
          <p:nvPr/>
        </p:nvSpPr>
        <p:spPr>
          <a:xfrm>
            <a:off x="4544568" y="3630168"/>
            <a:ext cx="1245413" cy="310896"/>
          </a:xfrm>
          <a:prstGeom prst="roundRect">
            <a:avLst>
              <a:gd name="adj" fmla="val 23529"/>
            </a:avLst>
          </a:prstGeom>
          <a:solidFill>
            <a:srgbClr val="F59E0B">
              <a:alpha val="14000"/>
            </a:srgbClr>
          </a:solidFill>
          <a:ln w="6350">
            <a:solidFill>
              <a:srgbClr val="F59E0B">
                <a:alpha val="55000"/>
              </a:srgbClr>
            </a:solidFill>
            <a:prstDash val="solid"/>
          </a:ln>
        </p:spPr>
      </p:sp>
      <p:sp>
        <p:nvSpPr>
          <p:cNvPr id="23" name="Text 19"/>
          <p:cNvSpPr txBox="1"/>
          <p:nvPr/>
        </p:nvSpPr>
        <p:spPr>
          <a:xfrm>
            <a:off x="4544568" y="3630168"/>
            <a:ext cx="1245413" cy="310896"/>
          </a:xfrm>
          <a:prstGeom prst="rect">
            <a:avLst/>
          </a:prstGeom>
          <a:noFill/>
          <a:ln/>
        </p:spPr>
        <p:txBody>
          <a:bodyPr wrap="square" lIns="508" tIns="508" rIns="508" bIns="508" rtlCol="0" anchor="ctr"/>
          <a:lstStyle/>
          <a:p>
            <a:pPr algn="ctr" indent="0" marL="0">
              <a:buNone/>
            </a:pPr>
            <a:r>
              <a:rPr lang="en-US" sz="1000" dirty="0">
                <a:solidFill>
                  <a:srgbClr val="F59E0B"/>
                </a:solidFill>
                <a:latin typeface="Courier New" pitchFamily="34" charset="0"/>
                <a:ea typeface="Courier New" pitchFamily="34" charset="-122"/>
                <a:cs typeface="Courier New" pitchFamily="34" charset="-120"/>
              </a:rPr>
              <a:t>ClusterBuilder</a:t>
            </a:r>
            <a:endParaRPr lang="en-US" sz="1000" dirty="0"/>
          </a:p>
        </p:txBody>
      </p:sp>
      <p:sp>
        <p:nvSpPr>
          <p:cNvPr id="24" name="Shape 20"/>
          <p:cNvSpPr/>
          <p:nvPr/>
        </p:nvSpPr>
        <p:spPr>
          <a:xfrm>
            <a:off x="5881421" y="3630168"/>
            <a:ext cx="1093622" cy="310896"/>
          </a:xfrm>
          <a:prstGeom prst="roundRect">
            <a:avLst>
              <a:gd name="adj" fmla="val 23529"/>
            </a:avLst>
          </a:prstGeom>
          <a:solidFill>
            <a:srgbClr val="F59E0B">
              <a:alpha val="14000"/>
            </a:srgbClr>
          </a:solidFill>
          <a:ln w="6350">
            <a:solidFill>
              <a:srgbClr val="F59E0B">
                <a:alpha val="55000"/>
              </a:srgbClr>
            </a:solidFill>
            <a:prstDash val="solid"/>
          </a:ln>
        </p:spPr>
      </p:sp>
      <p:sp>
        <p:nvSpPr>
          <p:cNvPr id="25" name="Text 21"/>
          <p:cNvSpPr txBox="1"/>
          <p:nvPr/>
        </p:nvSpPr>
        <p:spPr>
          <a:xfrm>
            <a:off x="5881421" y="3630168"/>
            <a:ext cx="1093622" cy="310896"/>
          </a:xfrm>
          <a:prstGeom prst="rect">
            <a:avLst/>
          </a:prstGeom>
          <a:noFill/>
          <a:ln/>
        </p:spPr>
        <p:txBody>
          <a:bodyPr wrap="square" lIns="508" tIns="508" rIns="508" bIns="508" rtlCol="0" anchor="ctr"/>
          <a:lstStyle/>
          <a:p>
            <a:pPr algn="ctr" indent="0" marL="0">
              <a:buNone/>
            </a:pPr>
            <a:r>
              <a:rPr lang="en-US" sz="1000" dirty="0">
                <a:solidFill>
                  <a:srgbClr val="F59E0B"/>
                </a:solidFill>
                <a:latin typeface="Courier New" pitchFamily="34" charset="0"/>
                <a:ea typeface="Courier New" pitchFamily="34" charset="-122"/>
                <a:cs typeface="Courier New" pitchFamily="34" charset="-120"/>
              </a:rPr>
              <a:t>ClusterStack</a:t>
            </a:r>
            <a:endParaRPr lang="en-US" sz="1000" dirty="0"/>
          </a:p>
        </p:txBody>
      </p:sp>
      <p:sp>
        <p:nvSpPr>
          <p:cNvPr id="26" name="Shape 22"/>
          <p:cNvSpPr/>
          <p:nvPr/>
        </p:nvSpPr>
        <p:spPr>
          <a:xfrm>
            <a:off x="4544568" y="4014216"/>
            <a:ext cx="1093622" cy="310896"/>
          </a:xfrm>
          <a:prstGeom prst="roundRect">
            <a:avLst>
              <a:gd name="adj" fmla="val 23529"/>
            </a:avLst>
          </a:prstGeom>
          <a:solidFill>
            <a:srgbClr val="F59E0B">
              <a:alpha val="14000"/>
            </a:srgbClr>
          </a:solidFill>
          <a:ln w="6350">
            <a:solidFill>
              <a:srgbClr val="F59E0B">
                <a:alpha val="55000"/>
              </a:srgbClr>
            </a:solidFill>
            <a:prstDash val="solid"/>
          </a:ln>
        </p:spPr>
      </p:sp>
      <p:sp>
        <p:nvSpPr>
          <p:cNvPr id="27" name="Text 23"/>
          <p:cNvSpPr txBox="1"/>
          <p:nvPr/>
        </p:nvSpPr>
        <p:spPr>
          <a:xfrm>
            <a:off x="4544568" y="4014216"/>
            <a:ext cx="1093622" cy="310896"/>
          </a:xfrm>
          <a:prstGeom prst="rect">
            <a:avLst/>
          </a:prstGeom>
          <a:noFill/>
          <a:ln/>
        </p:spPr>
        <p:txBody>
          <a:bodyPr wrap="square" lIns="508" tIns="508" rIns="508" bIns="508" rtlCol="0" anchor="ctr"/>
          <a:lstStyle/>
          <a:p>
            <a:pPr algn="ctr" indent="0" marL="0">
              <a:buNone/>
            </a:pPr>
            <a:r>
              <a:rPr lang="en-US" sz="1000" dirty="0">
                <a:solidFill>
                  <a:srgbClr val="F59E0B"/>
                </a:solidFill>
                <a:latin typeface="Courier New" pitchFamily="34" charset="0"/>
                <a:ea typeface="Courier New" pitchFamily="34" charset="-122"/>
                <a:cs typeface="Courier New" pitchFamily="34" charset="-120"/>
              </a:rPr>
              <a:t>ClusterStore</a:t>
            </a:r>
            <a:endParaRPr lang="en-US" sz="1000" dirty="0"/>
          </a:p>
        </p:txBody>
      </p:sp>
      <p:sp>
        <p:nvSpPr>
          <p:cNvPr id="28" name="Shape 24"/>
          <p:cNvSpPr/>
          <p:nvPr/>
        </p:nvSpPr>
        <p:spPr>
          <a:xfrm>
            <a:off x="5729630" y="4014216"/>
            <a:ext cx="1397203" cy="310896"/>
          </a:xfrm>
          <a:prstGeom prst="roundRect">
            <a:avLst>
              <a:gd name="adj" fmla="val 23529"/>
            </a:avLst>
          </a:prstGeom>
          <a:solidFill>
            <a:srgbClr val="F59E0B">
              <a:alpha val="14000"/>
            </a:srgbClr>
          </a:solidFill>
          <a:ln w="6350">
            <a:solidFill>
              <a:srgbClr val="F59E0B">
                <a:alpha val="55000"/>
              </a:srgbClr>
            </a:solidFill>
            <a:prstDash val="solid"/>
          </a:ln>
        </p:spPr>
      </p:sp>
      <p:sp>
        <p:nvSpPr>
          <p:cNvPr id="29" name="Text 25"/>
          <p:cNvSpPr txBox="1"/>
          <p:nvPr/>
        </p:nvSpPr>
        <p:spPr>
          <a:xfrm>
            <a:off x="5729630" y="4014216"/>
            <a:ext cx="1397203" cy="310896"/>
          </a:xfrm>
          <a:prstGeom prst="rect">
            <a:avLst/>
          </a:prstGeom>
          <a:noFill/>
          <a:ln/>
        </p:spPr>
        <p:txBody>
          <a:bodyPr wrap="square" lIns="508" tIns="508" rIns="508" bIns="508" rtlCol="0" anchor="ctr"/>
          <a:lstStyle/>
          <a:p>
            <a:pPr algn="ctr" indent="0" marL="0">
              <a:buNone/>
            </a:pPr>
            <a:r>
              <a:rPr lang="en-US" sz="1000" dirty="0">
                <a:solidFill>
                  <a:srgbClr val="F59E0B"/>
                </a:solidFill>
                <a:latin typeface="Courier New" pitchFamily="34" charset="0"/>
                <a:ea typeface="Courier New" pitchFamily="34" charset="-122"/>
                <a:cs typeface="Courier New" pitchFamily="34" charset="-120"/>
              </a:rPr>
              <a:t>ClusterLifecycle</a:t>
            </a:r>
            <a:endParaRPr lang="en-US" sz="1000" dirty="0"/>
          </a:p>
        </p:txBody>
      </p:sp>
      <p:sp>
        <p:nvSpPr>
          <p:cNvPr id="30" name="Text 26"/>
          <p:cNvSpPr txBox="1"/>
          <p:nvPr/>
        </p:nvSpPr>
        <p:spPr>
          <a:xfrm>
            <a:off x="4544568" y="4572000"/>
            <a:ext cx="3108960" cy="365760"/>
          </a:xfrm>
          <a:prstGeom prst="rect">
            <a:avLst/>
          </a:prstGeom>
          <a:noFill/>
          <a:ln/>
        </p:spPr>
        <p:txBody>
          <a:bodyPr wrap="square" lIns="0" tIns="0" rIns="0" bIns="0" rtlCol="0" anchor="t"/>
          <a:lstStyle/>
          <a:p>
            <a:pPr algn="l" indent="0" marL="0">
              <a:buNone/>
            </a:pPr>
            <a:r>
              <a:rPr lang="en-US" sz="1000" i="1" dirty="0">
                <a:solidFill>
                  <a:srgbClr val="5B6B8A"/>
                </a:solidFill>
                <a:latin typeface="Calibri" pitchFamily="34" charset="0"/>
                <a:ea typeface="Calibri" pitchFamily="34" charset="-122"/>
                <a:cs typeface="Calibri" pitchFamily="34" charset="-120"/>
              </a:rPr>
              <a:t>Image declares what to build. Build is one run. ClusterBuilder is the toolchain it uses.</a:t>
            </a:r>
            <a:endParaRPr lang="en-US" sz="1000" dirty="0"/>
          </a:p>
        </p:txBody>
      </p:sp>
      <p:sp>
        <p:nvSpPr>
          <p:cNvPr id="31" name="Shape 27"/>
          <p:cNvSpPr/>
          <p:nvPr/>
        </p:nvSpPr>
        <p:spPr>
          <a:xfrm>
            <a:off x="8092440" y="2057400"/>
            <a:ext cx="3502152" cy="2926080"/>
          </a:xfrm>
          <a:prstGeom prst="roundRect">
            <a:avLst>
              <a:gd name="adj" fmla="val 3750"/>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2" name="Shape 28"/>
          <p:cNvSpPr/>
          <p:nvPr/>
        </p:nvSpPr>
        <p:spPr>
          <a:xfrm>
            <a:off x="8293608" y="225856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33" name="Image 2" descr="preencoded.png">    </p:cNvPr>
          <p:cNvPicPr>
            <a:picLocks noChangeAspect="1"/>
          </p:cNvPicPr>
          <p:nvPr/>
        </p:nvPicPr>
        <p:blipFill>
          <a:blip r:embed="rId4"/>
          <a:stretch>
            <a:fillRect/>
          </a:stretch>
        </p:blipFill>
        <p:spPr>
          <a:xfrm>
            <a:off x="8403336" y="2368296"/>
            <a:ext cx="237744" cy="237744"/>
          </a:xfrm>
          <a:prstGeom prst="rect">
            <a:avLst/>
          </a:prstGeom>
        </p:spPr>
      </p:pic>
      <p:sp>
        <p:nvSpPr>
          <p:cNvPr id="34" name="Text 29"/>
          <p:cNvSpPr txBox="1"/>
          <p:nvPr/>
        </p:nvSpPr>
        <p:spPr>
          <a:xfrm>
            <a:off x="8887968" y="2258568"/>
            <a:ext cx="2523744"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Our kpack repo is a chart</a:t>
            </a:r>
            <a:endParaRPr lang="en-US" sz="1500" dirty="0"/>
          </a:p>
        </p:txBody>
      </p:sp>
      <p:sp>
        <p:nvSpPr>
          <p:cNvPr id="35" name="Text 30"/>
          <p:cNvSpPr txBox="1"/>
          <p:nvPr/>
        </p:nvSpPr>
        <p:spPr>
          <a:xfrm>
            <a:off x="8293608" y="2880360"/>
            <a:ext cx="3099816" cy="1965960"/>
          </a:xfrm>
          <a:prstGeom prst="rect">
            <a:avLst/>
          </a:prstGeom>
          <a:noFill/>
          <a:ln/>
        </p:spPr>
        <p:txBody>
          <a:bodyPr wrap="square" lIns="0" tIns="0" rIns="0" bIns="0" rtlCol="0" anchor="t"/>
          <a:lstStyle/>
          <a:p>
            <a:pPr marL="152400" indent="-1524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Not a fork. A Helm chart that packages upstream kpack 0.18 faithfully and adds what an airgap needs.</a:t>
            </a:r>
            <a:endParaRPr lang="en-US" sz="1050" dirty="0"/>
          </a:p>
          <a:p>
            <a:pPr marL="152400" indent="-1524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CRDs as templates, so the conversion webhook is namespaced correctly.</a:t>
            </a:r>
            <a:endParaRPr lang="en-US" sz="1050" dirty="0"/>
          </a:p>
          <a:p>
            <a:pPr marL="152400" indent="-1524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clusterBuild creates the ClusterStack, ClusterStore and the credentials that pull them.</a:t>
            </a:r>
            <a:endParaRPr lang="en-US" sz="1050" dirty="0"/>
          </a:p>
          <a:p>
            <a:pPr marL="152400" indent="-152400">
              <a:spcAft>
                <a:spcPts val="500"/>
              </a:spcAft>
              <a:buSzPct val="100000"/>
              <a:buChar char="•"/>
            </a:pPr>
            <a:r>
              <a:rPr lang="en-US" sz="1050" dirty="0">
                <a:solidFill>
                  <a:srgbClr val="94A3B8"/>
                </a:solidFill>
                <a:latin typeface="Calibri" pitchFamily="34" charset="0"/>
                <a:ea typeface="Calibri" pitchFamily="34" charset="-122"/>
                <a:cs typeface="Calibri" pitchFamily="34" charset="-120"/>
              </a:rPr>
              <a:t>Mirror scripts pull three artifact classes: images, buildpackages, and the runtimes buildpacks fetch at build time.</a:t>
            </a:r>
            <a:endParaRPr lang="en-US" sz="1050" dirty="0"/>
          </a:p>
        </p:txBody>
      </p:sp>
      <p:sp>
        <p:nvSpPr>
          <p:cNvPr id="36" name="Shape 31"/>
          <p:cNvSpPr/>
          <p:nvPr/>
        </p:nvSpPr>
        <p:spPr>
          <a:xfrm>
            <a:off x="594360" y="5212080"/>
            <a:ext cx="11000232" cy="1005840"/>
          </a:xfrm>
          <a:prstGeom prst="roundRect">
            <a:avLst>
              <a:gd name="adj" fmla="val 10909"/>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7" name="Shape 32"/>
          <p:cNvSpPr/>
          <p:nvPr/>
        </p:nvSpPr>
        <p:spPr>
          <a:xfrm>
            <a:off x="822960" y="5413248"/>
            <a:ext cx="1737360" cy="603504"/>
          </a:xfrm>
          <a:prstGeom prst="roundRect">
            <a:avLst>
              <a:gd name="adj" fmla="val 15152"/>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38" name="Text 33"/>
          <p:cNvSpPr txBox="1"/>
          <p:nvPr/>
        </p:nvSpPr>
        <p:spPr>
          <a:xfrm>
            <a:off x="822960" y="5413248"/>
            <a:ext cx="1737360" cy="603504"/>
          </a:xfrm>
          <a:prstGeom prst="rect">
            <a:avLst/>
          </a:prstGeom>
          <a:noFill/>
          <a:ln/>
        </p:spPr>
        <p:txBody>
          <a:bodyPr wrap="square" lIns="762" tIns="762" rIns="762" bIns="762" rtlCol="0" anchor="ctr"/>
          <a:lstStyle/>
          <a:p>
            <a:pPr algn="ctr" indent="0" marL="0">
              <a:buNone/>
            </a:pPr>
            <a:r>
              <a:rPr lang="en-US" sz="1150" b="1" dirty="0">
                <a:solidFill>
                  <a:srgbClr val="F1F5F9"/>
                </a:solidFill>
                <a:latin typeface="Calibri" pitchFamily="34" charset="0"/>
                <a:ea typeface="Calibri" pitchFamily="34" charset="-122"/>
                <a:cs typeface="Calibri" pitchFamily="34" charset="-120"/>
              </a:rPr>
              <a:t>ClusterStack</a:t>
            </a:r>
            <a:endParaRPr lang="en-US" sz="1150" dirty="0"/>
          </a:p>
          <a:p>
            <a:pPr algn="ctr" indent="0" marL="0">
              <a:buNone/>
            </a:pPr>
            <a:r>
              <a:rPr lang="en-US" sz="850" dirty="0">
                <a:solidFill>
                  <a:srgbClr val="94A3B8"/>
                </a:solidFill>
                <a:latin typeface="Calibri" pitchFamily="34" charset="0"/>
                <a:ea typeface="Calibri" pitchFamily="34" charset="-122"/>
                <a:cs typeface="Calibri" pitchFamily="34" charset="-120"/>
              </a:rPr>
              <a:t>build + run base images</a:t>
            </a:r>
            <a:endParaRPr lang="en-US" sz="1150" dirty="0"/>
          </a:p>
        </p:txBody>
      </p:sp>
      <p:sp>
        <p:nvSpPr>
          <p:cNvPr id="39" name="Shape 34"/>
          <p:cNvSpPr/>
          <p:nvPr/>
        </p:nvSpPr>
        <p:spPr>
          <a:xfrm>
            <a:off x="2788920" y="5413248"/>
            <a:ext cx="1737360" cy="603504"/>
          </a:xfrm>
          <a:prstGeom prst="roundRect">
            <a:avLst>
              <a:gd name="adj" fmla="val 15152"/>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40" name="Text 35"/>
          <p:cNvSpPr txBox="1"/>
          <p:nvPr/>
        </p:nvSpPr>
        <p:spPr>
          <a:xfrm>
            <a:off x="2788920" y="5413248"/>
            <a:ext cx="1737360" cy="603504"/>
          </a:xfrm>
          <a:prstGeom prst="rect">
            <a:avLst/>
          </a:prstGeom>
          <a:noFill/>
          <a:ln/>
        </p:spPr>
        <p:txBody>
          <a:bodyPr wrap="square" lIns="762" tIns="762" rIns="762" bIns="762" rtlCol="0" anchor="ctr"/>
          <a:lstStyle/>
          <a:p>
            <a:pPr algn="ctr" indent="0" marL="0">
              <a:buNone/>
            </a:pPr>
            <a:r>
              <a:rPr lang="en-US" sz="1150" b="1" dirty="0">
                <a:solidFill>
                  <a:srgbClr val="F1F5F9"/>
                </a:solidFill>
                <a:latin typeface="Calibri" pitchFamily="34" charset="0"/>
                <a:ea typeface="Calibri" pitchFamily="34" charset="-122"/>
                <a:cs typeface="Calibri" pitchFamily="34" charset="-120"/>
              </a:rPr>
              <a:t>ClusterStore</a:t>
            </a:r>
            <a:endParaRPr lang="en-US" sz="1150" dirty="0"/>
          </a:p>
          <a:p>
            <a:pPr algn="ctr" indent="0" marL="0">
              <a:buNone/>
            </a:pPr>
            <a:r>
              <a:rPr lang="en-US" sz="850" dirty="0">
                <a:solidFill>
                  <a:srgbClr val="94A3B8"/>
                </a:solidFill>
                <a:latin typeface="Calibri" pitchFamily="34" charset="0"/>
                <a:ea typeface="Calibri" pitchFamily="34" charset="-122"/>
                <a:cs typeface="Calibri" pitchFamily="34" charset="-120"/>
              </a:rPr>
              <a:t>buildpackages</a:t>
            </a:r>
            <a:endParaRPr lang="en-US" sz="1150" dirty="0"/>
          </a:p>
        </p:txBody>
      </p:sp>
      <p:sp>
        <p:nvSpPr>
          <p:cNvPr id="41" name="Shape 36"/>
          <p:cNvSpPr/>
          <p:nvPr/>
        </p:nvSpPr>
        <p:spPr>
          <a:xfrm>
            <a:off x="4754880" y="5413248"/>
            <a:ext cx="1737360" cy="603504"/>
          </a:xfrm>
          <a:prstGeom prst="roundRect">
            <a:avLst>
              <a:gd name="adj" fmla="val 15152"/>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42" name="Text 37"/>
          <p:cNvSpPr txBox="1"/>
          <p:nvPr/>
        </p:nvSpPr>
        <p:spPr>
          <a:xfrm>
            <a:off x="4754880" y="5413248"/>
            <a:ext cx="1737360" cy="603504"/>
          </a:xfrm>
          <a:prstGeom prst="rect">
            <a:avLst/>
          </a:prstGeom>
          <a:noFill/>
          <a:ln/>
        </p:spPr>
        <p:txBody>
          <a:bodyPr wrap="square" lIns="762" tIns="762" rIns="762" bIns="762" rtlCol="0" anchor="ctr"/>
          <a:lstStyle/>
          <a:p>
            <a:pPr algn="ctr" indent="0" marL="0">
              <a:buNone/>
            </a:pPr>
            <a:r>
              <a:rPr lang="en-US" sz="1150" b="1" dirty="0">
                <a:solidFill>
                  <a:srgbClr val="F1F5F9"/>
                </a:solidFill>
                <a:latin typeface="Calibri" pitchFamily="34" charset="0"/>
                <a:ea typeface="Calibri" pitchFamily="34" charset="-122"/>
                <a:cs typeface="Calibri" pitchFamily="34" charset="-120"/>
              </a:rPr>
              <a:t>order</a:t>
            </a:r>
            <a:endParaRPr lang="en-US" sz="1150" dirty="0"/>
          </a:p>
          <a:p>
            <a:pPr algn="ctr" indent="0" marL="0">
              <a:buNone/>
            </a:pPr>
            <a:r>
              <a:rPr lang="en-US" sz="850" dirty="0">
                <a:solidFill>
                  <a:srgbClr val="94A3B8"/>
                </a:solidFill>
                <a:latin typeface="Calibri" pitchFamily="34" charset="0"/>
                <a:ea typeface="Calibri" pitchFamily="34" charset="-122"/>
                <a:cs typeface="Calibri" pitchFamily="34" charset="-120"/>
              </a:rPr>
              <a:t>explicit component list</a:t>
            </a:r>
            <a:endParaRPr lang="en-US" sz="1150" dirty="0"/>
          </a:p>
        </p:txBody>
      </p:sp>
      <p:sp>
        <p:nvSpPr>
          <p:cNvPr id="43" name="Shape 38"/>
          <p:cNvSpPr/>
          <p:nvPr/>
        </p:nvSpPr>
        <p:spPr>
          <a:xfrm>
            <a:off x="6492240" y="5715000"/>
            <a:ext cx="457200" cy="0"/>
          </a:xfrm>
          <a:prstGeom prst="line">
            <a:avLst/>
          </a:prstGeom>
          <a:noFill/>
          <a:ln w="19050">
            <a:solidFill>
              <a:srgbClr val="F59E0B"/>
            </a:solidFill>
            <a:prstDash val="solid"/>
            <a:tailEnd type="triangle"/>
          </a:ln>
        </p:spPr>
      </p:sp>
      <p:sp>
        <p:nvSpPr>
          <p:cNvPr id="44" name="Shape 39"/>
          <p:cNvSpPr/>
          <p:nvPr/>
        </p:nvSpPr>
        <p:spPr>
          <a:xfrm>
            <a:off x="6949440" y="5413248"/>
            <a:ext cx="2148840" cy="603504"/>
          </a:xfrm>
          <a:prstGeom prst="roundRect">
            <a:avLst>
              <a:gd name="adj" fmla="val 15152"/>
            </a:avLst>
          </a:prstGeom>
          <a:solidFill>
            <a:srgbClr val="121A2C"/>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45" name="Text 40"/>
          <p:cNvSpPr txBox="1"/>
          <p:nvPr/>
        </p:nvSpPr>
        <p:spPr>
          <a:xfrm>
            <a:off x="6949440" y="5413248"/>
            <a:ext cx="2148840" cy="603504"/>
          </a:xfrm>
          <a:prstGeom prst="rect">
            <a:avLst/>
          </a:prstGeom>
          <a:noFill/>
          <a:ln/>
        </p:spPr>
        <p:txBody>
          <a:bodyPr wrap="square" lIns="762" tIns="762" rIns="762" bIns="762" rtlCol="0" anchor="ctr"/>
          <a:lstStyle/>
          <a:p>
            <a:pPr algn="ctr" indent="0" marL="0">
              <a:buNone/>
            </a:pPr>
            <a:r>
              <a:rPr lang="en-US" sz="1150" b="1" dirty="0">
                <a:solidFill>
                  <a:srgbClr val="F1F5F9"/>
                </a:solidFill>
                <a:latin typeface="Calibri" pitchFamily="34" charset="0"/>
                <a:ea typeface="Calibri" pitchFamily="34" charset="-122"/>
                <a:cs typeface="Calibri" pitchFamily="34" charset="-120"/>
              </a:rPr>
              <a:t>ClusterBuilder × 3</a:t>
            </a:r>
            <a:endParaRPr lang="en-US" sz="1150" dirty="0"/>
          </a:p>
          <a:p>
            <a:pPr algn="ctr" indent="0" marL="0">
              <a:buNone/>
            </a:pPr>
            <a:r>
              <a:rPr lang="en-US" sz="850" dirty="0">
                <a:solidFill>
                  <a:srgbClr val="94A3B8"/>
                </a:solidFill>
                <a:latin typeface="Calibri" pitchFamily="34" charset="0"/>
                <a:ea typeface="Calibri" pitchFamily="34" charset="-122"/>
                <a:cs typeface="Calibri" pitchFamily="34" charset="-120"/>
              </a:rPr>
              <a:t>go · python · node</a:t>
            </a:r>
            <a:endParaRPr lang="en-US" sz="1150" dirty="0"/>
          </a:p>
        </p:txBody>
      </p:sp>
      <p:sp>
        <p:nvSpPr>
          <p:cNvPr id="46" name="Text 41"/>
          <p:cNvSpPr txBox="1"/>
          <p:nvPr/>
        </p:nvSpPr>
        <p:spPr>
          <a:xfrm>
            <a:off x="9281160" y="5303520"/>
            <a:ext cx="2194560" cy="822960"/>
          </a:xfrm>
          <a:prstGeom prst="rect">
            <a:avLst/>
          </a:prstGeom>
          <a:noFill/>
          <a:ln/>
        </p:spPr>
        <p:txBody>
          <a:bodyPr wrap="square" lIns="0" tIns="0" rIns="0" bIns="0" rtlCol="0" anchor="ctr"/>
          <a:lstStyle/>
          <a:p>
            <a:pPr indent="0" marL="0">
              <a:buNone/>
            </a:pPr>
            <a:r>
              <a:rPr lang="en-US" sz="950" b="1" dirty="0">
                <a:solidFill>
                  <a:srgbClr val="F1F5F9"/>
                </a:solidFill>
                <a:latin typeface="Calibri" pitchFamily="34" charset="0"/>
                <a:ea typeface="Calibri" pitchFamily="34" charset="-122"/>
                <a:cs typeface="Calibri" pitchFamily="34" charset="-120"/>
              </a:rPr>
              <a:t>Composing a builder is a push. </a:t>
            </a:r>
            <a:pPr indent="0" marL="0">
              <a:buNone/>
            </a:pPr>
            <a:r>
              <a:rPr lang="en-US" sz="950" dirty="0">
                <a:solidFill>
                  <a:srgbClr val="94A3B8"/>
                </a:solidFill>
                <a:latin typeface="Calibri" pitchFamily="34" charset="0"/>
                <a:ea typeface="Calibri" pitchFamily="34" charset="-122"/>
                <a:cs typeface="Calibri" pitchFamily="34" charset="-120"/>
              </a:rPr>
              <a:t>The kpack chart owns the read-only, mirror-once content; the serverless chart composes the builders per region, so two clusters never race on one tag.</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F59E0B"/>
                </a:solidFill>
                <a:latin typeface="Calibri" pitchFamily="34" charset="0"/>
                <a:ea typeface="Calibri" pitchFamily="34" charset="-122"/>
                <a:cs typeface="Calibri" pitchFamily="34" charset="-120"/>
              </a:rPr>
              <a:t>CHAPTER 03  ·  FUNCTIONS &amp; BUILDS</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17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A build, step by step</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Image → SourceResolver → Build → Pod. The lifecycle runs as named init containers, so every phase has its own log.</a:t>
            </a:r>
            <a:endParaRPr lang="en-US" sz="1500" dirty="0"/>
          </a:p>
        </p:txBody>
      </p:sp>
      <p:sp>
        <p:nvSpPr>
          <p:cNvPr id="6" name="Shape 4"/>
          <p:cNvSpPr/>
          <p:nvPr/>
        </p:nvSpPr>
        <p:spPr>
          <a:xfrm>
            <a:off x="594360" y="2103120"/>
            <a:ext cx="2331720" cy="640080"/>
          </a:xfrm>
          <a:prstGeom prst="roundRect">
            <a:avLst>
              <a:gd name="adj" fmla="val 1428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594360" y="2103120"/>
            <a:ext cx="2331720" cy="640080"/>
          </a:xfrm>
          <a:prstGeom prst="rect">
            <a:avLst/>
          </a:prstGeom>
          <a:noFill/>
          <a:ln/>
        </p:spPr>
        <p:txBody>
          <a:bodyPr wrap="square" lIns="762" tIns="762" rIns="762" bIns="762" rtlCol="0" anchor="ctr"/>
          <a:lstStyle/>
          <a:p>
            <a:pPr algn="ctr" indent="0" marL="0">
              <a:buNone/>
            </a:pPr>
            <a:r>
              <a:rPr lang="en-US" sz="1250" b="1" dirty="0">
                <a:solidFill>
                  <a:srgbClr val="F1F5F9"/>
                </a:solidFill>
                <a:latin typeface="Calibri" pitchFamily="34" charset="0"/>
                <a:ea typeface="Calibri" pitchFamily="34" charset="-122"/>
                <a:cs typeface="Calibri" pitchFamily="34" charset="-120"/>
              </a:rPr>
              <a:t>Image</a:t>
            </a:r>
            <a:endParaRPr lang="en-US" sz="1250" dirty="0"/>
          </a:p>
          <a:p>
            <a:pPr algn="ctr" indent="0" marL="0">
              <a:buNone/>
            </a:pPr>
            <a:r>
              <a:rPr lang="en-US" sz="900" dirty="0">
                <a:solidFill>
                  <a:srgbClr val="94A3B8"/>
                </a:solidFill>
                <a:latin typeface="Calibri" pitchFamily="34" charset="0"/>
                <a:ea typeface="Calibri" pitchFamily="34" charset="-122"/>
                <a:cs typeface="Calibri" pitchFamily="34" charset="-120"/>
              </a:rPr>
              <a:t>declared by the API</a:t>
            </a:r>
            <a:endParaRPr lang="en-US" sz="1250" dirty="0"/>
          </a:p>
        </p:txBody>
      </p:sp>
      <p:sp>
        <p:nvSpPr>
          <p:cNvPr id="8" name="Shape 6"/>
          <p:cNvSpPr/>
          <p:nvPr/>
        </p:nvSpPr>
        <p:spPr>
          <a:xfrm>
            <a:off x="2926080" y="2423160"/>
            <a:ext cx="274320" cy="0"/>
          </a:xfrm>
          <a:prstGeom prst="line">
            <a:avLst/>
          </a:prstGeom>
          <a:noFill/>
          <a:ln w="19050">
            <a:solidFill>
              <a:srgbClr val="5B6B8A"/>
            </a:solidFill>
            <a:prstDash val="solid"/>
            <a:tailEnd type="triangle"/>
          </a:ln>
        </p:spPr>
      </p:sp>
      <p:sp>
        <p:nvSpPr>
          <p:cNvPr id="9" name="Shape 7"/>
          <p:cNvSpPr/>
          <p:nvPr/>
        </p:nvSpPr>
        <p:spPr>
          <a:xfrm>
            <a:off x="3200400" y="2103120"/>
            <a:ext cx="2331720" cy="640080"/>
          </a:xfrm>
          <a:prstGeom prst="roundRect">
            <a:avLst>
              <a:gd name="adj" fmla="val 1428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10" name="Text 8"/>
          <p:cNvSpPr txBox="1"/>
          <p:nvPr/>
        </p:nvSpPr>
        <p:spPr>
          <a:xfrm>
            <a:off x="3200400" y="2103120"/>
            <a:ext cx="2331720" cy="640080"/>
          </a:xfrm>
          <a:prstGeom prst="rect">
            <a:avLst/>
          </a:prstGeom>
          <a:noFill/>
          <a:ln/>
        </p:spPr>
        <p:txBody>
          <a:bodyPr wrap="square" lIns="762" tIns="762" rIns="762" bIns="762" rtlCol="0" anchor="ctr"/>
          <a:lstStyle/>
          <a:p>
            <a:pPr algn="ctr" indent="0" marL="0">
              <a:buNone/>
            </a:pPr>
            <a:r>
              <a:rPr lang="en-US" sz="1250" b="1" dirty="0">
                <a:solidFill>
                  <a:srgbClr val="F1F5F9"/>
                </a:solidFill>
                <a:latin typeface="Calibri" pitchFamily="34" charset="0"/>
                <a:ea typeface="Calibri" pitchFamily="34" charset="-122"/>
                <a:cs typeface="Calibri" pitchFamily="34" charset="-120"/>
              </a:rPr>
              <a:t>SourceResolver</a:t>
            </a:r>
            <a:endParaRPr lang="en-US" sz="1250" dirty="0"/>
          </a:p>
          <a:p>
            <a:pPr algn="ctr" indent="0" marL="0">
              <a:buNone/>
            </a:pPr>
            <a:r>
              <a:rPr lang="en-US" sz="900" dirty="0">
                <a:solidFill>
                  <a:srgbClr val="94A3B8"/>
                </a:solidFill>
                <a:latin typeface="Calibri" pitchFamily="34" charset="0"/>
                <a:ea typeface="Calibri" pitchFamily="34" charset="-122"/>
                <a:cs typeface="Calibri" pitchFamily="34" charset="-120"/>
              </a:rPr>
              <a:t>git ref → commit SHA</a:t>
            </a:r>
            <a:endParaRPr lang="en-US" sz="1250" dirty="0"/>
          </a:p>
        </p:txBody>
      </p:sp>
      <p:sp>
        <p:nvSpPr>
          <p:cNvPr id="11" name="Shape 9"/>
          <p:cNvSpPr/>
          <p:nvPr/>
        </p:nvSpPr>
        <p:spPr>
          <a:xfrm>
            <a:off x="5532120" y="2423160"/>
            <a:ext cx="274320" cy="0"/>
          </a:xfrm>
          <a:prstGeom prst="line">
            <a:avLst/>
          </a:prstGeom>
          <a:noFill/>
          <a:ln w="19050">
            <a:solidFill>
              <a:srgbClr val="5B6B8A"/>
            </a:solidFill>
            <a:prstDash val="solid"/>
            <a:tailEnd type="triangle"/>
          </a:ln>
        </p:spPr>
      </p:sp>
      <p:sp>
        <p:nvSpPr>
          <p:cNvPr id="12" name="Shape 10"/>
          <p:cNvSpPr/>
          <p:nvPr/>
        </p:nvSpPr>
        <p:spPr>
          <a:xfrm>
            <a:off x="5806440" y="2103120"/>
            <a:ext cx="2331720" cy="640080"/>
          </a:xfrm>
          <a:prstGeom prst="roundRect">
            <a:avLst>
              <a:gd name="adj" fmla="val 1428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13" name="Text 11"/>
          <p:cNvSpPr txBox="1"/>
          <p:nvPr/>
        </p:nvSpPr>
        <p:spPr>
          <a:xfrm>
            <a:off x="5806440" y="2103120"/>
            <a:ext cx="2331720" cy="640080"/>
          </a:xfrm>
          <a:prstGeom prst="rect">
            <a:avLst/>
          </a:prstGeom>
          <a:noFill/>
          <a:ln/>
        </p:spPr>
        <p:txBody>
          <a:bodyPr wrap="square" lIns="762" tIns="762" rIns="762" bIns="762" rtlCol="0" anchor="ctr"/>
          <a:lstStyle/>
          <a:p>
            <a:pPr algn="ctr" indent="0" marL="0">
              <a:buNone/>
            </a:pPr>
            <a:r>
              <a:rPr lang="en-US" sz="1250" b="1" dirty="0">
                <a:solidFill>
                  <a:srgbClr val="F1F5F9"/>
                </a:solidFill>
                <a:latin typeface="Calibri" pitchFamily="34" charset="0"/>
                <a:ea typeface="Calibri" pitchFamily="34" charset="-122"/>
                <a:cs typeface="Calibri" pitchFamily="34" charset="-120"/>
              </a:rPr>
              <a:t>Build</a:t>
            </a:r>
            <a:endParaRPr lang="en-US" sz="1250" dirty="0"/>
          </a:p>
          <a:p>
            <a:pPr algn="ctr" indent="0" marL="0">
              <a:buNone/>
            </a:pPr>
            <a:r>
              <a:rPr lang="en-US" sz="900" dirty="0">
                <a:solidFill>
                  <a:srgbClr val="94A3B8"/>
                </a:solidFill>
                <a:latin typeface="Calibri" pitchFamily="34" charset="0"/>
                <a:ea typeface="Calibri" pitchFamily="34" charset="-122"/>
                <a:cs typeface="Calibri" pitchFamily="34" charset="-120"/>
              </a:rPr>
              <a:t>one run, numbered</a:t>
            </a:r>
            <a:endParaRPr lang="en-US" sz="1250" dirty="0"/>
          </a:p>
        </p:txBody>
      </p:sp>
      <p:sp>
        <p:nvSpPr>
          <p:cNvPr id="14" name="Shape 12"/>
          <p:cNvSpPr/>
          <p:nvPr/>
        </p:nvSpPr>
        <p:spPr>
          <a:xfrm>
            <a:off x="8138160" y="2423160"/>
            <a:ext cx="274320" cy="0"/>
          </a:xfrm>
          <a:prstGeom prst="line">
            <a:avLst/>
          </a:prstGeom>
          <a:noFill/>
          <a:ln w="19050">
            <a:solidFill>
              <a:srgbClr val="5B6B8A"/>
            </a:solidFill>
            <a:prstDash val="solid"/>
            <a:tailEnd type="triangle"/>
          </a:ln>
        </p:spPr>
      </p:sp>
      <p:sp>
        <p:nvSpPr>
          <p:cNvPr id="15" name="Shape 13"/>
          <p:cNvSpPr/>
          <p:nvPr/>
        </p:nvSpPr>
        <p:spPr>
          <a:xfrm>
            <a:off x="8412480" y="2103120"/>
            <a:ext cx="2331720" cy="640080"/>
          </a:xfrm>
          <a:prstGeom prst="roundRect">
            <a:avLst>
              <a:gd name="adj" fmla="val 1428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16" name="Text 14"/>
          <p:cNvSpPr txBox="1"/>
          <p:nvPr/>
        </p:nvSpPr>
        <p:spPr>
          <a:xfrm>
            <a:off x="8412480" y="2103120"/>
            <a:ext cx="2331720" cy="640080"/>
          </a:xfrm>
          <a:prstGeom prst="rect">
            <a:avLst/>
          </a:prstGeom>
          <a:noFill/>
          <a:ln/>
        </p:spPr>
        <p:txBody>
          <a:bodyPr wrap="square" lIns="762" tIns="762" rIns="762" bIns="762" rtlCol="0" anchor="ctr"/>
          <a:lstStyle/>
          <a:p>
            <a:pPr algn="ctr" indent="0" marL="0">
              <a:buNone/>
            </a:pPr>
            <a:r>
              <a:rPr lang="en-US" sz="1250" b="1" dirty="0">
                <a:solidFill>
                  <a:srgbClr val="F1F5F9"/>
                </a:solidFill>
                <a:latin typeface="Calibri" pitchFamily="34" charset="0"/>
                <a:ea typeface="Calibri" pitchFamily="34" charset="-122"/>
                <a:cs typeface="Calibri" pitchFamily="34" charset="-120"/>
              </a:rPr>
              <a:t>Pod</a:t>
            </a:r>
            <a:endParaRPr lang="en-US" sz="1250" dirty="0"/>
          </a:p>
          <a:p>
            <a:pPr algn="ctr" indent="0" marL="0">
              <a:buNone/>
            </a:pPr>
            <a:r>
              <a:rPr lang="en-US" sz="900" dirty="0">
                <a:solidFill>
                  <a:srgbClr val="94A3B8"/>
                </a:solidFill>
                <a:latin typeface="Calibri" pitchFamily="34" charset="0"/>
                <a:ea typeface="Calibri" pitchFamily="34" charset="-122"/>
                <a:cs typeface="Calibri" pitchFamily="34" charset="-120"/>
              </a:rPr>
              <a:t>the lifecycle</a:t>
            </a:r>
            <a:endParaRPr lang="en-US" sz="1250" dirty="0"/>
          </a:p>
        </p:txBody>
      </p:sp>
      <p:sp>
        <p:nvSpPr>
          <p:cNvPr id="17" name="Text 15"/>
          <p:cNvSpPr txBox="1"/>
          <p:nvPr/>
        </p:nvSpPr>
        <p:spPr>
          <a:xfrm>
            <a:off x="11109960" y="2103120"/>
            <a:ext cx="1097280" cy="640080"/>
          </a:xfrm>
          <a:prstGeom prst="rect">
            <a:avLst/>
          </a:prstGeom>
          <a:noFill/>
          <a:ln/>
        </p:spPr>
        <p:txBody>
          <a:bodyPr wrap="square" lIns="0" tIns="0" rIns="0" bIns="0" rtlCol="0" anchor="ctr"/>
          <a:lstStyle/>
          <a:p>
            <a:pPr algn="l" indent="0" marL="0">
              <a:buNone/>
            </a:pPr>
            <a:r>
              <a:rPr lang="en-US" sz="1100" i="1" dirty="0">
                <a:solidFill>
                  <a:srgbClr val="5B6B8A"/>
                </a:solidFill>
                <a:latin typeface="Calibri" pitchFamily="34" charset="0"/>
                <a:ea typeface="Calibri" pitchFamily="34" charset="-122"/>
                <a:cs typeface="Calibri" pitchFamily="34" charset="-120"/>
              </a:rPr>
              <a:t>→ then the phases:</a:t>
            </a:r>
            <a:endParaRPr lang="en-US" sz="1100" dirty="0"/>
          </a:p>
        </p:txBody>
      </p:sp>
      <p:sp>
        <p:nvSpPr>
          <p:cNvPr id="18" name="Shape 16"/>
          <p:cNvSpPr/>
          <p:nvPr/>
        </p:nvSpPr>
        <p:spPr>
          <a:xfrm>
            <a:off x="594360" y="2926080"/>
            <a:ext cx="1430383" cy="1051560"/>
          </a:xfrm>
          <a:prstGeom prst="roundRect">
            <a:avLst>
              <a:gd name="adj" fmla="val 869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19" name="Text 17"/>
          <p:cNvSpPr txBox="1"/>
          <p:nvPr/>
        </p:nvSpPr>
        <p:spPr>
          <a:xfrm>
            <a:off x="685800" y="2971800"/>
            <a:ext cx="365760" cy="274320"/>
          </a:xfrm>
          <a:prstGeom prst="rect">
            <a:avLst/>
          </a:prstGeom>
          <a:noFill/>
          <a:ln/>
        </p:spPr>
        <p:txBody>
          <a:bodyPr wrap="square" lIns="0" tIns="0" rIns="0" bIns="0" rtlCol="0" anchor="ctr"/>
          <a:lstStyle/>
          <a:p>
            <a:pPr indent="0" marL="0">
              <a:buNone/>
            </a:pPr>
            <a:r>
              <a:rPr lang="en-US" sz="900" dirty="0">
                <a:solidFill>
                  <a:srgbClr val="F59E0B"/>
                </a:solidFill>
                <a:latin typeface="Courier New" pitchFamily="34" charset="0"/>
                <a:ea typeface="Courier New" pitchFamily="34" charset="-122"/>
                <a:cs typeface="Courier New" pitchFamily="34" charset="-120"/>
              </a:rPr>
              <a:t>1</a:t>
            </a:r>
            <a:endParaRPr lang="en-US" sz="900" dirty="0"/>
          </a:p>
        </p:txBody>
      </p:sp>
      <p:sp>
        <p:nvSpPr>
          <p:cNvPr id="20" name="Text 18"/>
          <p:cNvSpPr txBox="1"/>
          <p:nvPr/>
        </p:nvSpPr>
        <p:spPr>
          <a:xfrm>
            <a:off x="594360" y="3154680"/>
            <a:ext cx="1430383" cy="320040"/>
          </a:xfrm>
          <a:prstGeom prst="rect">
            <a:avLst/>
          </a:prstGeom>
          <a:noFill/>
          <a:ln/>
        </p:spPr>
        <p:txBody>
          <a:bodyPr wrap="square" lIns="0" tIns="0" rIns="0" bIns="0" rtlCol="0" anchor="ctr"/>
          <a:lstStyle/>
          <a:p>
            <a:pPr algn="ctr" indent="0" marL="0">
              <a:buNone/>
            </a:pPr>
            <a:r>
              <a:rPr lang="en-US" sz="1250" b="1" dirty="0">
                <a:solidFill>
                  <a:srgbClr val="F1F5F9"/>
                </a:solidFill>
                <a:latin typeface="Courier New" pitchFamily="34" charset="0"/>
                <a:ea typeface="Courier New" pitchFamily="34" charset="-122"/>
                <a:cs typeface="Courier New" pitchFamily="34" charset="-120"/>
              </a:rPr>
              <a:t>prepare</a:t>
            </a:r>
            <a:endParaRPr lang="en-US" sz="1250" dirty="0"/>
          </a:p>
        </p:txBody>
      </p:sp>
      <p:sp>
        <p:nvSpPr>
          <p:cNvPr id="21" name="Text 19"/>
          <p:cNvSpPr txBox="1"/>
          <p:nvPr/>
        </p:nvSpPr>
        <p:spPr>
          <a:xfrm>
            <a:off x="667512" y="3474720"/>
            <a:ext cx="1284079" cy="4572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git clone; needs the CA</a:t>
            </a:r>
            <a:endParaRPr lang="en-US" sz="950" dirty="0"/>
          </a:p>
        </p:txBody>
      </p:sp>
      <p:sp>
        <p:nvSpPr>
          <p:cNvPr id="22" name="Shape 20"/>
          <p:cNvSpPr/>
          <p:nvPr/>
        </p:nvSpPr>
        <p:spPr>
          <a:xfrm>
            <a:off x="2189335" y="2926080"/>
            <a:ext cx="1430383" cy="1051560"/>
          </a:xfrm>
          <a:prstGeom prst="roundRect">
            <a:avLst>
              <a:gd name="adj" fmla="val 869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23" name="Text 21"/>
          <p:cNvSpPr txBox="1"/>
          <p:nvPr/>
        </p:nvSpPr>
        <p:spPr>
          <a:xfrm>
            <a:off x="2280775" y="2971800"/>
            <a:ext cx="365760" cy="274320"/>
          </a:xfrm>
          <a:prstGeom prst="rect">
            <a:avLst/>
          </a:prstGeom>
          <a:noFill/>
          <a:ln/>
        </p:spPr>
        <p:txBody>
          <a:bodyPr wrap="square" lIns="0" tIns="0" rIns="0" bIns="0" rtlCol="0" anchor="ctr"/>
          <a:lstStyle/>
          <a:p>
            <a:pPr indent="0" marL="0">
              <a:buNone/>
            </a:pPr>
            <a:r>
              <a:rPr lang="en-US" sz="900" dirty="0">
                <a:solidFill>
                  <a:srgbClr val="F59E0B"/>
                </a:solidFill>
                <a:latin typeface="Courier New" pitchFamily="34" charset="0"/>
                <a:ea typeface="Courier New" pitchFamily="34" charset="-122"/>
                <a:cs typeface="Courier New" pitchFamily="34" charset="-120"/>
              </a:rPr>
              <a:t>2</a:t>
            </a:r>
            <a:endParaRPr lang="en-US" sz="900" dirty="0"/>
          </a:p>
        </p:txBody>
      </p:sp>
      <p:sp>
        <p:nvSpPr>
          <p:cNvPr id="24" name="Text 22"/>
          <p:cNvSpPr txBox="1"/>
          <p:nvPr/>
        </p:nvSpPr>
        <p:spPr>
          <a:xfrm>
            <a:off x="2189335" y="3154680"/>
            <a:ext cx="1430383" cy="320040"/>
          </a:xfrm>
          <a:prstGeom prst="rect">
            <a:avLst/>
          </a:prstGeom>
          <a:noFill/>
          <a:ln/>
        </p:spPr>
        <p:txBody>
          <a:bodyPr wrap="square" lIns="0" tIns="0" rIns="0" bIns="0" rtlCol="0" anchor="ctr"/>
          <a:lstStyle/>
          <a:p>
            <a:pPr algn="ctr" indent="0" marL="0">
              <a:buNone/>
            </a:pPr>
            <a:r>
              <a:rPr lang="en-US" sz="1250" b="1" dirty="0">
                <a:solidFill>
                  <a:srgbClr val="F1F5F9"/>
                </a:solidFill>
                <a:latin typeface="Courier New" pitchFamily="34" charset="0"/>
                <a:ea typeface="Courier New" pitchFamily="34" charset="-122"/>
                <a:cs typeface="Courier New" pitchFamily="34" charset="-120"/>
              </a:rPr>
              <a:t>analyze</a:t>
            </a:r>
            <a:endParaRPr lang="en-US" sz="1250" dirty="0"/>
          </a:p>
        </p:txBody>
      </p:sp>
      <p:sp>
        <p:nvSpPr>
          <p:cNvPr id="25" name="Text 23"/>
          <p:cNvSpPr txBox="1"/>
          <p:nvPr/>
        </p:nvSpPr>
        <p:spPr>
          <a:xfrm>
            <a:off x="2262487" y="3474720"/>
            <a:ext cx="1284079" cy="4572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previous image metadata</a:t>
            </a:r>
            <a:endParaRPr lang="en-US" sz="950" dirty="0"/>
          </a:p>
        </p:txBody>
      </p:sp>
      <p:sp>
        <p:nvSpPr>
          <p:cNvPr id="26" name="Shape 24"/>
          <p:cNvSpPr/>
          <p:nvPr/>
        </p:nvSpPr>
        <p:spPr>
          <a:xfrm>
            <a:off x="3784310" y="2926080"/>
            <a:ext cx="1430383" cy="1051560"/>
          </a:xfrm>
          <a:prstGeom prst="roundRect">
            <a:avLst>
              <a:gd name="adj" fmla="val 869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27" name="Text 25"/>
          <p:cNvSpPr txBox="1"/>
          <p:nvPr/>
        </p:nvSpPr>
        <p:spPr>
          <a:xfrm>
            <a:off x="3875750" y="2971800"/>
            <a:ext cx="365760" cy="274320"/>
          </a:xfrm>
          <a:prstGeom prst="rect">
            <a:avLst/>
          </a:prstGeom>
          <a:noFill/>
          <a:ln/>
        </p:spPr>
        <p:txBody>
          <a:bodyPr wrap="square" lIns="0" tIns="0" rIns="0" bIns="0" rtlCol="0" anchor="ctr"/>
          <a:lstStyle/>
          <a:p>
            <a:pPr indent="0" marL="0">
              <a:buNone/>
            </a:pPr>
            <a:r>
              <a:rPr lang="en-US" sz="900" dirty="0">
                <a:solidFill>
                  <a:srgbClr val="F59E0B"/>
                </a:solidFill>
                <a:latin typeface="Courier New" pitchFamily="34" charset="0"/>
                <a:ea typeface="Courier New" pitchFamily="34" charset="-122"/>
                <a:cs typeface="Courier New" pitchFamily="34" charset="-120"/>
              </a:rPr>
              <a:t>3</a:t>
            </a:r>
            <a:endParaRPr lang="en-US" sz="900" dirty="0"/>
          </a:p>
        </p:txBody>
      </p:sp>
      <p:sp>
        <p:nvSpPr>
          <p:cNvPr id="28" name="Text 26"/>
          <p:cNvSpPr txBox="1"/>
          <p:nvPr/>
        </p:nvSpPr>
        <p:spPr>
          <a:xfrm>
            <a:off x="3784310" y="3154680"/>
            <a:ext cx="1430383" cy="320040"/>
          </a:xfrm>
          <a:prstGeom prst="rect">
            <a:avLst/>
          </a:prstGeom>
          <a:noFill/>
          <a:ln/>
        </p:spPr>
        <p:txBody>
          <a:bodyPr wrap="square" lIns="0" tIns="0" rIns="0" bIns="0" rtlCol="0" anchor="ctr"/>
          <a:lstStyle/>
          <a:p>
            <a:pPr algn="ctr" indent="0" marL="0">
              <a:buNone/>
            </a:pPr>
            <a:r>
              <a:rPr lang="en-US" sz="1250" b="1" dirty="0">
                <a:solidFill>
                  <a:srgbClr val="F1F5F9"/>
                </a:solidFill>
                <a:latin typeface="Courier New" pitchFamily="34" charset="0"/>
                <a:ea typeface="Courier New" pitchFamily="34" charset="-122"/>
                <a:cs typeface="Courier New" pitchFamily="34" charset="-120"/>
              </a:rPr>
              <a:t>detect</a:t>
            </a:r>
            <a:endParaRPr lang="en-US" sz="1250" dirty="0"/>
          </a:p>
        </p:txBody>
      </p:sp>
      <p:sp>
        <p:nvSpPr>
          <p:cNvPr id="29" name="Text 27"/>
          <p:cNvSpPr txBox="1"/>
          <p:nvPr/>
        </p:nvSpPr>
        <p:spPr>
          <a:xfrm>
            <a:off x="3857462" y="3474720"/>
            <a:ext cx="1284079" cy="4572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run the order; first group wins</a:t>
            </a:r>
            <a:endParaRPr lang="en-US" sz="950" dirty="0"/>
          </a:p>
        </p:txBody>
      </p:sp>
      <p:sp>
        <p:nvSpPr>
          <p:cNvPr id="30" name="Shape 28"/>
          <p:cNvSpPr/>
          <p:nvPr/>
        </p:nvSpPr>
        <p:spPr>
          <a:xfrm>
            <a:off x="5379285" y="2926080"/>
            <a:ext cx="1430383" cy="1051560"/>
          </a:xfrm>
          <a:prstGeom prst="roundRect">
            <a:avLst>
              <a:gd name="adj" fmla="val 869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31" name="Text 29"/>
          <p:cNvSpPr txBox="1"/>
          <p:nvPr/>
        </p:nvSpPr>
        <p:spPr>
          <a:xfrm>
            <a:off x="5470725" y="2971800"/>
            <a:ext cx="365760" cy="274320"/>
          </a:xfrm>
          <a:prstGeom prst="rect">
            <a:avLst/>
          </a:prstGeom>
          <a:noFill/>
          <a:ln/>
        </p:spPr>
        <p:txBody>
          <a:bodyPr wrap="square" lIns="0" tIns="0" rIns="0" bIns="0" rtlCol="0" anchor="ctr"/>
          <a:lstStyle/>
          <a:p>
            <a:pPr indent="0" marL="0">
              <a:buNone/>
            </a:pPr>
            <a:r>
              <a:rPr lang="en-US" sz="900" dirty="0">
                <a:solidFill>
                  <a:srgbClr val="F59E0B"/>
                </a:solidFill>
                <a:latin typeface="Courier New" pitchFamily="34" charset="0"/>
                <a:ea typeface="Courier New" pitchFamily="34" charset="-122"/>
                <a:cs typeface="Courier New" pitchFamily="34" charset="-120"/>
              </a:rPr>
              <a:t>4</a:t>
            </a:r>
            <a:endParaRPr lang="en-US" sz="900" dirty="0"/>
          </a:p>
        </p:txBody>
      </p:sp>
      <p:sp>
        <p:nvSpPr>
          <p:cNvPr id="32" name="Text 30"/>
          <p:cNvSpPr txBox="1"/>
          <p:nvPr/>
        </p:nvSpPr>
        <p:spPr>
          <a:xfrm>
            <a:off x="5379285" y="3154680"/>
            <a:ext cx="1430383" cy="320040"/>
          </a:xfrm>
          <a:prstGeom prst="rect">
            <a:avLst/>
          </a:prstGeom>
          <a:noFill/>
          <a:ln/>
        </p:spPr>
        <p:txBody>
          <a:bodyPr wrap="square" lIns="0" tIns="0" rIns="0" bIns="0" rtlCol="0" anchor="ctr"/>
          <a:lstStyle/>
          <a:p>
            <a:pPr algn="ctr" indent="0" marL="0">
              <a:buNone/>
            </a:pPr>
            <a:r>
              <a:rPr lang="en-US" sz="1250" b="1" dirty="0">
                <a:solidFill>
                  <a:srgbClr val="F1F5F9"/>
                </a:solidFill>
                <a:latin typeface="Courier New" pitchFamily="34" charset="0"/>
                <a:ea typeface="Courier New" pitchFamily="34" charset="-122"/>
                <a:cs typeface="Courier New" pitchFamily="34" charset="-120"/>
              </a:rPr>
              <a:t>restore</a:t>
            </a:r>
            <a:endParaRPr lang="en-US" sz="1250" dirty="0"/>
          </a:p>
        </p:txBody>
      </p:sp>
      <p:sp>
        <p:nvSpPr>
          <p:cNvPr id="33" name="Text 31"/>
          <p:cNvSpPr txBox="1"/>
          <p:nvPr/>
        </p:nvSpPr>
        <p:spPr>
          <a:xfrm>
            <a:off x="5452437" y="3474720"/>
            <a:ext cx="1284079" cy="4572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cached layers</a:t>
            </a:r>
            <a:endParaRPr lang="en-US" sz="950" dirty="0"/>
          </a:p>
        </p:txBody>
      </p:sp>
      <p:sp>
        <p:nvSpPr>
          <p:cNvPr id="34" name="Shape 32"/>
          <p:cNvSpPr/>
          <p:nvPr/>
        </p:nvSpPr>
        <p:spPr>
          <a:xfrm>
            <a:off x="6974259" y="2926080"/>
            <a:ext cx="1430383" cy="1051560"/>
          </a:xfrm>
          <a:prstGeom prst="roundRect">
            <a:avLst>
              <a:gd name="adj" fmla="val 869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35" name="Text 33"/>
          <p:cNvSpPr txBox="1"/>
          <p:nvPr/>
        </p:nvSpPr>
        <p:spPr>
          <a:xfrm>
            <a:off x="7065699" y="2971800"/>
            <a:ext cx="365760" cy="274320"/>
          </a:xfrm>
          <a:prstGeom prst="rect">
            <a:avLst/>
          </a:prstGeom>
          <a:noFill/>
          <a:ln/>
        </p:spPr>
        <p:txBody>
          <a:bodyPr wrap="square" lIns="0" tIns="0" rIns="0" bIns="0" rtlCol="0" anchor="ctr"/>
          <a:lstStyle/>
          <a:p>
            <a:pPr indent="0" marL="0">
              <a:buNone/>
            </a:pPr>
            <a:r>
              <a:rPr lang="en-US" sz="900" dirty="0">
                <a:solidFill>
                  <a:srgbClr val="F59E0B"/>
                </a:solidFill>
                <a:latin typeface="Courier New" pitchFamily="34" charset="0"/>
                <a:ea typeface="Courier New" pitchFamily="34" charset="-122"/>
                <a:cs typeface="Courier New" pitchFamily="34" charset="-120"/>
              </a:rPr>
              <a:t>5</a:t>
            </a:r>
            <a:endParaRPr lang="en-US" sz="900" dirty="0"/>
          </a:p>
        </p:txBody>
      </p:sp>
      <p:sp>
        <p:nvSpPr>
          <p:cNvPr id="36" name="Text 34"/>
          <p:cNvSpPr txBox="1"/>
          <p:nvPr/>
        </p:nvSpPr>
        <p:spPr>
          <a:xfrm>
            <a:off x="6974259" y="3154680"/>
            <a:ext cx="1430383" cy="320040"/>
          </a:xfrm>
          <a:prstGeom prst="rect">
            <a:avLst/>
          </a:prstGeom>
          <a:noFill/>
          <a:ln/>
        </p:spPr>
        <p:txBody>
          <a:bodyPr wrap="square" lIns="0" tIns="0" rIns="0" bIns="0" rtlCol="0" anchor="ctr"/>
          <a:lstStyle/>
          <a:p>
            <a:pPr algn="ctr" indent="0" marL="0">
              <a:buNone/>
            </a:pPr>
            <a:r>
              <a:rPr lang="en-US" sz="1250" b="1" dirty="0">
                <a:solidFill>
                  <a:srgbClr val="F1F5F9"/>
                </a:solidFill>
                <a:latin typeface="Courier New" pitchFamily="34" charset="0"/>
                <a:ea typeface="Courier New" pitchFamily="34" charset="-122"/>
                <a:cs typeface="Courier New" pitchFamily="34" charset="-120"/>
              </a:rPr>
              <a:t>build</a:t>
            </a:r>
            <a:endParaRPr lang="en-US" sz="1250" dirty="0"/>
          </a:p>
        </p:txBody>
      </p:sp>
      <p:sp>
        <p:nvSpPr>
          <p:cNvPr id="37" name="Text 35"/>
          <p:cNvSpPr txBox="1"/>
          <p:nvPr/>
        </p:nvSpPr>
        <p:spPr>
          <a:xfrm>
            <a:off x="7047411" y="3474720"/>
            <a:ext cx="1284079" cy="4572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pip · npm · go via the mirror</a:t>
            </a:r>
            <a:endParaRPr lang="en-US" sz="950" dirty="0"/>
          </a:p>
        </p:txBody>
      </p:sp>
      <p:sp>
        <p:nvSpPr>
          <p:cNvPr id="38" name="Shape 36"/>
          <p:cNvSpPr/>
          <p:nvPr/>
        </p:nvSpPr>
        <p:spPr>
          <a:xfrm>
            <a:off x="8569234" y="2926080"/>
            <a:ext cx="1430383" cy="1051560"/>
          </a:xfrm>
          <a:prstGeom prst="roundRect">
            <a:avLst>
              <a:gd name="adj" fmla="val 8696"/>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39" name="Text 37"/>
          <p:cNvSpPr txBox="1"/>
          <p:nvPr/>
        </p:nvSpPr>
        <p:spPr>
          <a:xfrm>
            <a:off x="8660674" y="2971800"/>
            <a:ext cx="365760" cy="274320"/>
          </a:xfrm>
          <a:prstGeom prst="rect">
            <a:avLst/>
          </a:prstGeom>
          <a:noFill/>
          <a:ln/>
        </p:spPr>
        <p:txBody>
          <a:bodyPr wrap="square" lIns="0" tIns="0" rIns="0" bIns="0" rtlCol="0" anchor="ctr"/>
          <a:lstStyle/>
          <a:p>
            <a:pPr indent="0" marL="0">
              <a:buNone/>
            </a:pPr>
            <a:r>
              <a:rPr lang="en-US" sz="900" dirty="0">
                <a:solidFill>
                  <a:srgbClr val="F59E0B"/>
                </a:solidFill>
                <a:latin typeface="Courier New" pitchFamily="34" charset="0"/>
                <a:ea typeface="Courier New" pitchFamily="34" charset="-122"/>
                <a:cs typeface="Courier New" pitchFamily="34" charset="-120"/>
              </a:rPr>
              <a:t>6</a:t>
            </a:r>
            <a:endParaRPr lang="en-US" sz="900" dirty="0"/>
          </a:p>
        </p:txBody>
      </p:sp>
      <p:sp>
        <p:nvSpPr>
          <p:cNvPr id="40" name="Text 38"/>
          <p:cNvSpPr txBox="1"/>
          <p:nvPr/>
        </p:nvSpPr>
        <p:spPr>
          <a:xfrm>
            <a:off x="8569234" y="3154680"/>
            <a:ext cx="1430383" cy="320040"/>
          </a:xfrm>
          <a:prstGeom prst="rect">
            <a:avLst/>
          </a:prstGeom>
          <a:noFill/>
          <a:ln/>
        </p:spPr>
        <p:txBody>
          <a:bodyPr wrap="square" lIns="0" tIns="0" rIns="0" bIns="0" rtlCol="0" anchor="ctr"/>
          <a:lstStyle/>
          <a:p>
            <a:pPr algn="ctr" indent="0" marL="0">
              <a:buNone/>
            </a:pPr>
            <a:r>
              <a:rPr lang="en-US" sz="1250" b="1" dirty="0">
                <a:solidFill>
                  <a:srgbClr val="F1F5F9"/>
                </a:solidFill>
                <a:latin typeface="Courier New" pitchFamily="34" charset="0"/>
                <a:ea typeface="Courier New" pitchFamily="34" charset="-122"/>
                <a:cs typeface="Courier New" pitchFamily="34" charset="-120"/>
              </a:rPr>
              <a:t>export</a:t>
            </a:r>
            <a:endParaRPr lang="en-US" sz="1250" dirty="0"/>
          </a:p>
        </p:txBody>
      </p:sp>
      <p:sp>
        <p:nvSpPr>
          <p:cNvPr id="41" name="Text 39"/>
          <p:cNvSpPr txBox="1"/>
          <p:nvPr/>
        </p:nvSpPr>
        <p:spPr>
          <a:xfrm>
            <a:off x="8642386" y="3474720"/>
            <a:ext cx="1284079" cy="4572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assemble layers, push</a:t>
            </a:r>
            <a:endParaRPr lang="en-US" sz="950" dirty="0"/>
          </a:p>
        </p:txBody>
      </p:sp>
      <p:sp>
        <p:nvSpPr>
          <p:cNvPr id="42" name="Shape 40"/>
          <p:cNvSpPr/>
          <p:nvPr/>
        </p:nvSpPr>
        <p:spPr>
          <a:xfrm>
            <a:off x="10164209" y="2926080"/>
            <a:ext cx="1430383" cy="1051560"/>
          </a:xfrm>
          <a:prstGeom prst="roundRect">
            <a:avLst>
              <a:gd name="adj" fmla="val 8696"/>
            </a:avLst>
          </a:prstGeom>
          <a:solidFill>
            <a:srgbClr val="121A2C"/>
          </a:solidFill>
          <a:ln w="12700">
            <a:solidFill>
              <a:srgbClr val="34D399"/>
            </a:solidFill>
            <a:prstDash val="solid"/>
          </a:ln>
          <a:effectLst>
            <a:outerShdw sx="100000" sy="100000" kx="0" ky="0" algn="bl" rotWithShape="0" blurRad="101600" dist="38100" dir="5400000">
              <a:srgbClr val="000000">
                <a:alpha val="35000"/>
              </a:srgbClr>
            </a:outerShdw>
          </a:effectLst>
        </p:spPr>
      </p:sp>
      <p:sp>
        <p:nvSpPr>
          <p:cNvPr id="43" name="Text 41"/>
          <p:cNvSpPr txBox="1"/>
          <p:nvPr/>
        </p:nvSpPr>
        <p:spPr>
          <a:xfrm>
            <a:off x="10255649" y="2971800"/>
            <a:ext cx="365760" cy="274320"/>
          </a:xfrm>
          <a:prstGeom prst="rect">
            <a:avLst/>
          </a:prstGeom>
          <a:noFill/>
          <a:ln/>
        </p:spPr>
        <p:txBody>
          <a:bodyPr wrap="square" lIns="0" tIns="0" rIns="0" bIns="0" rtlCol="0" anchor="ctr"/>
          <a:lstStyle/>
          <a:p>
            <a:pPr indent="0" marL="0">
              <a:buNone/>
            </a:pPr>
            <a:r>
              <a:rPr lang="en-US" sz="900" dirty="0">
                <a:solidFill>
                  <a:srgbClr val="34D399"/>
                </a:solidFill>
                <a:latin typeface="Courier New" pitchFamily="34" charset="0"/>
                <a:ea typeface="Courier New" pitchFamily="34" charset="-122"/>
                <a:cs typeface="Courier New" pitchFamily="34" charset="-120"/>
              </a:rPr>
              <a:t>7</a:t>
            </a:r>
            <a:endParaRPr lang="en-US" sz="900" dirty="0"/>
          </a:p>
        </p:txBody>
      </p:sp>
      <p:sp>
        <p:nvSpPr>
          <p:cNvPr id="44" name="Text 42"/>
          <p:cNvSpPr txBox="1"/>
          <p:nvPr/>
        </p:nvSpPr>
        <p:spPr>
          <a:xfrm>
            <a:off x="10164209" y="3154680"/>
            <a:ext cx="1430383" cy="320040"/>
          </a:xfrm>
          <a:prstGeom prst="rect">
            <a:avLst/>
          </a:prstGeom>
          <a:noFill/>
          <a:ln/>
        </p:spPr>
        <p:txBody>
          <a:bodyPr wrap="square" lIns="0" tIns="0" rIns="0" bIns="0" rtlCol="0" anchor="ctr"/>
          <a:lstStyle/>
          <a:p>
            <a:pPr algn="ctr" indent="0" marL="0">
              <a:buNone/>
            </a:pPr>
            <a:r>
              <a:rPr lang="en-US" sz="1250" b="1" dirty="0">
                <a:solidFill>
                  <a:srgbClr val="F1F5F9"/>
                </a:solidFill>
                <a:latin typeface="Courier New" pitchFamily="34" charset="0"/>
                <a:ea typeface="Courier New" pitchFamily="34" charset="-122"/>
                <a:cs typeface="Courier New" pitchFamily="34" charset="-120"/>
              </a:rPr>
              <a:t>completion</a:t>
            </a:r>
            <a:endParaRPr lang="en-US" sz="1250" dirty="0"/>
          </a:p>
        </p:txBody>
      </p:sp>
      <p:sp>
        <p:nvSpPr>
          <p:cNvPr id="45" name="Text 43"/>
          <p:cNvSpPr txBox="1"/>
          <p:nvPr/>
        </p:nvSpPr>
        <p:spPr>
          <a:xfrm>
            <a:off x="10237361" y="3474720"/>
            <a:ext cx="1284079" cy="457200"/>
          </a:xfrm>
          <a:prstGeom prst="rect">
            <a:avLst/>
          </a:prstGeom>
          <a:noFill/>
          <a:ln/>
        </p:spPr>
        <p:txBody>
          <a:bodyPr wrap="square" lIns="0" tIns="0" rIns="0" bIns="0" rtlCol="0" anchor="t"/>
          <a:lstStyle/>
          <a:p>
            <a:pPr algn="ctr" indent="0" marL="0">
              <a:buNone/>
            </a:pPr>
            <a:r>
              <a:rPr lang="en-US" sz="950" dirty="0">
                <a:solidFill>
                  <a:srgbClr val="94A3B8"/>
                </a:solidFill>
                <a:latin typeface="Calibri" pitchFamily="34" charset="0"/>
                <a:ea typeface="Calibri" pitchFamily="34" charset="-122"/>
                <a:cs typeface="Calibri" pitchFamily="34" charset="-120"/>
              </a:rPr>
              <a:t>the only main container</a:t>
            </a:r>
            <a:endParaRPr lang="en-US" sz="950" dirty="0"/>
          </a:p>
        </p:txBody>
      </p:sp>
      <p:sp>
        <p:nvSpPr>
          <p:cNvPr id="46" name="Text 44"/>
          <p:cNvSpPr txBox="1"/>
          <p:nvPr/>
        </p:nvSpPr>
        <p:spPr>
          <a:xfrm>
            <a:off x="594360" y="4023360"/>
            <a:ext cx="8229600" cy="274320"/>
          </a:xfrm>
          <a:prstGeom prst="rect">
            <a:avLst/>
          </a:prstGeom>
          <a:noFill/>
          <a:ln/>
        </p:spPr>
        <p:txBody>
          <a:bodyPr wrap="square" lIns="0" tIns="0" rIns="0" bIns="0" rtlCol="0" anchor="ctr"/>
          <a:lstStyle/>
          <a:p>
            <a:pPr algn="l" indent="0" marL="0">
              <a:buNone/>
            </a:pPr>
            <a:r>
              <a:rPr lang="en-US" sz="1000" i="1" dirty="0">
                <a:solidFill>
                  <a:srgbClr val="5B6B8A"/>
                </a:solidFill>
                <a:latin typeface="Calibri" pitchFamily="34" charset="0"/>
                <a:ea typeface="Calibri" pitchFamily="34" charset="-122"/>
                <a:cs typeface="Calibri" pitchFamily="34" charset="-120"/>
              </a:rPr>
              <a:t>init containers 1–6 run in order; each is a named container, so Cluster.pod_logs(pod, container=…) is a per-phase build log.</a:t>
            </a:r>
            <a:endParaRPr lang="en-US" sz="1000" dirty="0"/>
          </a:p>
        </p:txBody>
      </p:sp>
      <p:sp>
        <p:nvSpPr>
          <p:cNvPr id="47" name="Shape 45"/>
          <p:cNvSpPr/>
          <p:nvPr/>
        </p:nvSpPr>
        <p:spPr>
          <a:xfrm>
            <a:off x="594360" y="4315968"/>
            <a:ext cx="5349240" cy="1947672"/>
          </a:xfrm>
          <a:prstGeom prst="roundRect">
            <a:avLst>
              <a:gd name="adj" fmla="val 5634"/>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48" name="Shape 46"/>
          <p:cNvSpPr/>
          <p:nvPr/>
        </p:nvSpPr>
        <p:spPr>
          <a:xfrm>
            <a:off x="795528" y="4517136"/>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49" name="Image 0" descr="preencoded.png">    </p:cNvPr>
          <p:cNvPicPr>
            <a:picLocks noChangeAspect="1"/>
          </p:cNvPicPr>
          <p:nvPr/>
        </p:nvPicPr>
        <p:blipFill>
          <a:blip r:embed="rId2"/>
          <a:stretch>
            <a:fillRect/>
          </a:stretch>
        </p:blipFill>
        <p:spPr>
          <a:xfrm>
            <a:off x="905256" y="4626864"/>
            <a:ext cx="237744" cy="237744"/>
          </a:xfrm>
          <a:prstGeom prst="rect">
            <a:avLst/>
          </a:prstGeom>
        </p:spPr>
      </p:pic>
      <p:sp>
        <p:nvSpPr>
          <p:cNvPr id="50" name="Text 47"/>
          <p:cNvSpPr txBox="1"/>
          <p:nvPr/>
        </p:nvSpPr>
        <p:spPr>
          <a:xfrm>
            <a:off x="1389888" y="4517136"/>
            <a:ext cx="4370832"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What starts a build</a:t>
            </a:r>
            <a:endParaRPr lang="en-US" sz="1500" dirty="0"/>
          </a:p>
        </p:txBody>
      </p:sp>
      <p:sp>
        <p:nvSpPr>
          <p:cNvPr id="51" name="Text 48"/>
          <p:cNvSpPr txBox="1"/>
          <p:nvPr/>
        </p:nvSpPr>
        <p:spPr>
          <a:xfrm>
            <a:off x="795528" y="5138928"/>
            <a:ext cx="4946904" cy="987552"/>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94A3B8"/>
                </a:solidFill>
                <a:latin typeface="Calibri" pitchFamily="34" charset="0"/>
                <a:ea typeface="Calibri" pitchFamily="34" charset="-122"/>
                <a:cs typeface="Calibri" pitchFamily="34" charset="-120"/>
              </a:rPr>
              <a:t>CONFIG: a PUT changed the spec.  COMMIT: the SourceResolver saw a new SHA.</a:t>
            </a:r>
            <a:endParaRPr lang="en-US" sz="1000" dirty="0"/>
          </a:p>
          <a:p>
            <a:pPr marL="152400" indent="-152400">
              <a:spcAft>
                <a:spcPts val="500"/>
              </a:spcAft>
              <a:buSzPct val="100000"/>
              <a:buChar char="•"/>
            </a:pPr>
            <a:r>
              <a:rPr lang="en-US" sz="1000" dirty="0">
                <a:solidFill>
                  <a:srgbClr val="94A3B8"/>
                </a:solidFill>
                <a:latin typeface="Calibri" pitchFamily="34" charset="0"/>
                <a:ea typeface="Calibri" pitchFamily="34" charset="-122"/>
                <a:cs typeface="Calibri" pitchFamily="34" charset="-120"/>
              </a:rPr>
              <a:t>TRIGGER: POST /build annotates the latest Build, never the Image (that would be a nonce).</a:t>
            </a:r>
            <a:endParaRPr lang="en-US" sz="1000" dirty="0"/>
          </a:p>
          <a:p>
            <a:pPr marL="152400" indent="-152400">
              <a:spcAft>
                <a:spcPts val="500"/>
              </a:spcAft>
              <a:buSzPct val="100000"/>
              <a:buChar char="•"/>
            </a:pPr>
            <a:r>
              <a:rPr lang="en-US" sz="1000" dirty="0">
                <a:solidFill>
                  <a:srgbClr val="94A3B8"/>
                </a:solidFill>
                <a:latin typeface="Calibri" pitchFamily="34" charset="0"/>
                <a:ea typeface="Calibri" pitchFamily="34" charset="-122"/>
                <a:cs typeface="Calibri" pitchFamily="34" charset="-120"/>
              </a:rPr>
              <a:t>BUILDPACK and STACK: a patched buildpackage or run image. These fire with no user action.</a:t>
            </a:r>
            <a:endParaRPr lang="en-US" sz="1000" dirty="0"/>
          </a:p>
        </p:txBody>
      </p:sp>
      <p:sp>
        <p:nvSpPr>
          <p:cNvPr id="52" name="Shape 49"/>
          <p:cNvSpPr/>
          <p:nvPr/>
        </p:nvSpPr>
        <p:spPr>
          <a:xfrm>
            <a:off x="6217920" y="4315968"/>
            <a:ext cx="5376672" cy="1947672"/>
          </a:xfrm>
          <a:prstGeom prst="roundRect">
            <a:avLst>
              <a:gd name="adj" fmla="val 5634"/>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53" name="Shape 50"/>
          <p:cNvSpPr/>
          <p:nvPr/>
        </p:nvSpPr>
        <p:spPr>
          <a:xfrm>
            <a:off x="6419088" y="4517136"/>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54" name="Image 1" descr="preencoded.png">    </p:cNvPr>
          <p:cNvPicPr>
            <a:picLocks noChangeAspect="1"/>
          </p:cNvPicPr>
          <p:nvPr/>
        </p:nvPicPr>
        <p:blipFill>
          <a:blip r:embed="rId3"/>
          <a:stretch>
            <a:fillRect/>
          </a:stretch>
        </p:blipFill>
        <p:spPr>
          <a:xfrm>
            <a:off x="6528816" y="4626864"/>
            <a:ext cx="237744" cy="237744"/>
          </a:xfrm>
          <a:prstGeom prst="rect">
            <a:avLst/>
          </a:prstGeom>
        </p:spPr>
      </p:pic>
      <p:sp>
        <p:nvSpPr>
          <p:cNvPr id="55" name="Text 51"/>
          <p:cNvSpPr txBox="1"/>
          <p:nvPr/>
        </p:nvSpPr>
        <p:spPr>
          <a:xfrm>
            <a:off x="7013448" y="4517136"/>
            <a:ext cx="4398264" cy="457200"/>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Where it goes, and how it gets out</a:t>
            </a:r>
            <a:endParaRPr lang="en-US" sz="1500" dirty="0"/>
          </a:p>
        </p:txBody>
      </p:sp>
      <p:sp>
        <p:nvSpPr>
          <p:cNvPr id="56" name="Text 52"/>
          <p:cNvSpPr txBox="1"/>
          <p:nvPr/>
        </p:nvSpPr>
        <p:spPr>
          <a:xfrm>
            <a:off x="6419088" y="5138928"/>
            <a:ext cx="4974336" cy="987552"/>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94A3B8"/>
                </a:solidFill>
                <a:latin typeface="Calibri" pitchFamily="34" charset="0"/>
                <a:ea typeface="Calibri" pitchFamily="34" charset="-122"/>
                <a:cs typeface="Calibri" pitchFamily="34" charset="-120"/>
              </a:rPr>
              <a:t>{registry}/{org}/{builderRepo}/{group}/{name}:{branch}; the layer cache is a registry tag, not a PVC per function.</a:t>
            </a:r>
            <a:endParaRPr lang="en-US" sz="1000" dirty="0"/>
          </a:p>
          <a:p>
            <a:pPr marL="152400" indent="-152400">
              <a:spcAft>
                <a:spcPts val="500"/>
              </a:spcAft>
              <a:buSzPct val="100000"/>
              <a:buChar char="•"/>
            </a:pPr>
            <a:r>
              <a:rPr lang="en-US" sz="1000" dirty="0">
                <a:solidFill>
                  <a:srgbClr val="94A3B8"/>
                </a:solidFill>
                <a:latin typeface="Calibri" pitchFamily="34" charset="0"/>
                <a:ea typeface="Calibri" pitchFamily="34" charset="-122"/>
                <a:cs typeface="Calibri" pitchFamily="34" charset="-120"/>
              </a:rPr>
              <a:t>A Kyverno ClusterPolicy injects the internal CA, initContainers included: prepare is where the clone happens.</a:t>
            </a:r>
            <a:endParaRPr lang="en-US" sz="1000" dirty="0"/>
          </a:p>
          <a:p>
            <a:pPr marL="152400" indent="-152400">
              <a:spcAft>
                <a:spcPts val="500"/>
              </a:spcAft>
              <a:buSzPct val="100000"/>
              <a:buChar char="•"/>
            </a:pPr>
            <a:r>
              <a:rPr lang="en-US" sz="1000" dirty="0">
                <a:solidFill>
                  <a:srgbClr val="94A3B8"/>
                </a:solidFill>
                <a:latin typeface="Calibri" pitchFamily="34" charset="0"/>
                <a:ea typeface="Calibri" pitchFamily="34" charset="-122"/>
                <a:cs typeface="Calibri" pitchFamily="34" charset="-120"/>
              </a:rPr>
              <a:t>BP_DEPENDENCY_MIRROR → Artifactory with {originalHost}: python.org, nodejs.org and go.dev are different hosts.</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F59E0B"/>
                </a:solidFill>
                <a:latin typeface="Calibri" pitchFamily="34" charset="0"/>
                <a:ea typeface="Calibri" pitchFamily="34" charset="-122"/>
                <a:cs typeface="Calibri" pitchFamily="34" charset="-120"/>
              </a:rPr>
              <a:t>CHAPTER 03  ·  FUNCTIONS &amp; BUILDS</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18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The build controller</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The API declares a build and walks away. The controller watches the result and rolls the digest into the running service.</a:t>
            </a:r>
            <a:endParaRPr lang="en-US" sz="1500" dirty="0"/>
          </a:p>
        </p:txBody>
      </p:sp>
      <p:sp>
        <p:nvSpPr>
          <p:cNvPr id="6" name="Shape 4"/>
          <p:cNvSpPr/>
          <p:nvPr/>
        </p:nvSpPr>
        <p:spPr>
          <a:xfrm>
            <a:off x="594360" y="2240280"/>
            <a:ext cx="2651760" cy="1005840"/>
          </a:xfrm>
          <a:prstGeom prst="roundRect">
            <a:avLst>
              <a:gd name="adj" fmla="val 9091"/>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594360" y="2240280"/>
            <a:ext cx="2651760" cy="100584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kpack Image</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status.latestImage changes</a:t>
            </a:r>
            <a:endParaRPr lang="en-US" sz="1300" dirty="0"/>
          </a:p>
        </p:txBody>
      </p:sp>
      <p:sp>
        <p:nvSpPr>
          <p:cNvPr id="8" name="Shape 6"/>
          <p:cNvSpPr/>
          <p:nvPr/>
        </p:nvSpPr>
        <p:spPr>
          <a:xfrm>
            <a:off x="3246120" y="2743200"/>
            <a:ext cx="365760" cy="0"/>
          </a:xfrm>
          <a:prstGeom prst="line">
            <a:avLst/>
          </a:prstGeom>
          <a:noFill/>
          <a:ln w="19050">
            <a:solidFill>
              <a:srgbClr val="F59E0B"/>
            </a:solidFill>
            <a:prstDash val="solid"/>
            <a:tailEnd type="triangle"/>
          </a:ln>
        </p:spPr>
      </p:sp>
      <p:sp>
        <p:nvSpPr>
          <p:cNvPr id="9" name="Text 7"/>
          <p:cNvSpPr txBox="1"/>
          <p:nvPr/>
        </p:nvSpPr>
        <p:spPr>
          <a:xfrm>
            <a:off x="3154680" y="1920240"/>
            <a:ext cx="548640" cy="274320"/>
          </a:xfrm>
          <a:prstGeom prst="rect">
            <a:avLst/>
          </a:prstGeom>
          <a:noFill/>
          <a:ln/>
        </p:spPr>
        <p:txBody>
          <a:bodyPr wrap="square" lIns="0" tIns="0" rIns="0" bIns="0" rtlCol="0" anchor="ctr"/>
          <a:lstStyle/>
          <a:p>
            <a:pPr algn="ctr" indent="0" marL="0">
              <a:buNone/>
            </a:pPr>
            <a:r>
              <a:rPr lang="en-US" sz="950" dirty="0">
                <a:solidFill>
                  <a:srgbClr val="F59E0B"/>
                </a:solidFill>
                <a:latin typeface="Courier New" pitchFamily="34" charset="0"/>
                <a:ea typeface="Courier New" pitchFamily="34" charset="-122"/>
                <a:cs typeface="Courier New" pitchFamily="34" charset="-120"/>
              </a:rPr>
              <a:t>watch</a:t>
            </a:r>
            <a:endParaRPr lang="en-US" sz="950" dirty="0"/>
          </a:p>
        </p:txBody>
      </p:sp>
      <p:sp>
        <p:nvSpPr>
          <p:cNvPr id="10" name="Shape 8"/>
          <p:cNvSpPr/>
          <p:nvPr/>
        </p:nvSpPr>
        <p:spPr>
          <a:xfrm>
            <a:off x="3611880" y="2240280"/>
            <a:ext cx="2651760" cy="1005840"/>
          </a:xfrm>
          <a:prstGeom prst="roundRect">
            <a:avLst>
              <a:gd name="adj" fmla="val 9091"/>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11" name="Text 9"/>
          <p:cNvSpPr txBox="1"/>
          <p:nvPr/>
        </p:nvSpPr>
        <p:spPr>
          <a:xfrm>
            <a:off x="3611880" y="2240280"/>
            <a:ext cx="2651760" cy="100584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build controller</a:t>
            </a:r>
            <a:endParaRPr lang="en-US" sz="1300" dirty="0"/>
          </a:p>
          <a:p>
            <a:pPr algn="ctr" indent="0" marL="0">
              <a:buNone/>
            </a:pPr>
            <a:r>
              <a:rPr lang="en-US" sz="850" dirty="0">
                <a:solidFill>
                  <a:srgbClr val="94A3B8"/>
                </a:solidFill>
                <a:latin typeface="Calibri" pitchFamily="34" charset="0"/>
                <a:ea typeface="Calibri" pitchFamily="34" charset="-122"/>
                <a:cs typeface="Calibri" pitchFamily="34" charset="-120"/>
              </a:rPr>
              <a:t>label-selected: managed-by=serverless-api, offering=function</a:t>
            </a:r>
            <a:endParaRPr lang="en-US" sz="1300" dirty="0"/>
          </a:p>
        </p:txBody>
      </p:sp>
      <p:sp>
        <p:nvSpPr>
          <p:cNvPr id="12" name="Shape 10"/>
          <p:cNvSpPr/>
          <p:nvPr/>
        </p:nvSpPr>
        <p:spPr>
          <a:xfrm>
            <a:off x="6263640" y="2743200"/>
            <a:ext cx="365760" cy="0"/>
          </a:xfrm>
          <a:prstGeom prst="line">
            <a:avLst/>
          </a:prstGeom>
          <a:noFill/>
          <a:ln w="19050">
            <a:solidFill>
              <a:srgbClr val="F59E0B"/>
            </a:solidFill>
            <a:prstDash val="solid"/>
            <a:tailEnd type="triangle"/>
          </a:ln>
        </p:spPr>
      </p:sp>
      <p:sp>
        <p:nvSpPr>
          <p:cNvPr id="13" name="Text 11"/>
          <p:cNvSpPr txBox="1"/>
          <p:nvPr/>
        </p:nvSpPr>
        <p:spPr>
          <a:xfrm>
            <a:off x="5623560" y="1920240"/>
            <a:ext cx="1828800" cy="274320"/>
          </a:xfrm>
          <a:prstGeom prst="rect">
            <a:avLst/>
          </a:prstGeom>
          <a:noFill/>
          <a:ln/>
        </p:spPr>
        <p:txBody>
          <a:bodyPr wrap="square" lIns="0" tIns="0" rIns="0" bIns="0" rtlCol="0" anchor="ctr"/>
          <a:lstStyle/>
          <a:p>
            <a:pPr algn="ctr" indent="0" marL="0">
              <a:buNone/>
            </a:pPr>
            <a:r>
              <a:rPr lang="en-US" sz="950" dirty="0">
                <a:solidFill>
                  <a:srgbClr val="F59E0B"/>
                </a:solidFill>
                <a:latin typeface="Courier New" pitchFamily="34" charset="0"/>
                <a:ea typeface="Courier New" pitchFamily="34" charset="-122"/>
                <a:cs typeface="Courier New" pitchFamily="34" charset="-120"/>
              </a:rPr>
              <a:t>server-side apply</a:t>
            </a:r>
            <a:endParaRPr lang="en-US" sz="950" dirty="0"/>
          </a:p>
        </p:txBody>
      </p:sp>
      <p:sp>
        <p:nvSpPr>
          <p:cNvPr id="14" name="Shape 12"/>
          <p:cNvSpPr/>
          <p:nvPr/>
        </p:nvSpPr>
        <p:spPr>
          <a:xfrm>
            <a:off x="6629400" y="2240280"/>
            <a:ext cx="2743200" cy="1005840"/>
          </a:xfrm>
          <a:prstGeom prst="roundRect">
            <a:avLst>
              <a:gd name="adj" fmla="val 9091"/>
            </a:avLst>
          </a:prstGeom>
          <a:solidFill>
            <a:srgbClr val="18213A"/>
          </a:solidFill>
          <a:ln w="12700">
            <a:solidFill>
              <a:srgbClr val="F59E0B"/>
            </a:solidFill>
            <a:prstDash val="solid"/>
          </a:ln>
          <a:effectLst>
            <a:outerShdw sx="100000" sy="100000" kx="0" ky="0" algn="bl" rotWithShape="0" blurRad="101600" dist="38100" dir="5400000">
              <a:srgbClr val="000000">
                <a:alpha val="35000"/>
              </a:srgbClr>
            </a:outerShdw>
          </a:effectLst>
        </p:spPr>
      </p:sp>
      <p:sp>
        <p:nvSpPr>
          <p:cNvPr id="15" name="Text 13"/>
          <p:cNvSpPr txBox="1"/>
          <p:nvPr/>
        </p:nvSpPr>
        <p:spPr>
          <a:xfrm>
            <a:off x="6629400" y="2240280"/>
            <a:ext cx="2743200" cy="100584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Knative Service</a:t>
            </a:r>
            <a:endParaRPr lang="en-US" sz="1300" dirty="0"/>
          </a:p>
          <a:p>
            <a:pPr algn="ctr" indent="0" marL="0">
              <a:buNone/>
            </a:pPr>
            <a:r>
              <a:rPr lang="en-US" sz="900" dirty="0">
                <a:solidFill>
                  <a:srgbClr val="94A3B8"/>
                </a:solidFill>
                <a:latin typeface="Calibri" pitchFamily="34" charset="0"/>
                <a:ea typeface="Calibri" pitchFamily="34" charset="-122"/>
                <a:cs typeface="Calibri" pitchFamily="34" charset="-120"/>
              </a:rPr>
              <a:t>image: registry/…@sha256:…</a:t>
            </a:r>
            <a:endParaRPr lang="en-US" sz="1300" dirty="0"/>
          </a:p>
        </p:txBody>
      </p:sp>
      <p:sp>
        <p:nvSpPr>
          <p:cNvPr id="16" name="Shape 14"/>
          <p:cNvSpPr/>
          <p:nvPr/>
        </p:nvSpPr>
        <p:spPr>
          <a:xfrm>
            <a:off x="9372600" y="2743200"/>
            <a:ext cx="365760" cy="0"/>
          </a:xfrm>
          <a:prstGeom prst="line">
            <a:avLst/>
          </a:prstGeom>
          <a:noFill/>
          <a:ln w="19050">
            <a:solidFill>
              <a:srgbClr val="34D399"/>
            </a:solidFill>
            <a:prstDash val="solid"/>
            <a:tailEnd type="triangle"/>
          </a:ln>
        </p:spPr>
      </p:sp>
      <p:sp>
        <p:nvSpPr>
          <p:cNvPr id="17" name="Shape 15"/>
          <p:cNvSpPr/>
          <p:nvPr/>
        </p:nvSpPr>
        <p:spPr>
          <a:xfrm>
            <a:off x="9738360" y="2240280"/>
            <a:ext cx="1856232" cy="1005840"/>
          </a:xfrm>
          <a:prstGeom prst="roundRect">
            <a:avLst>
              <a:gd name="adj" fmla="val 9091"/>
            </a:avLst>
          </a:prstGeom>
          <a:solidFill>
            <a:srgbClr val="18213A"/>
          </a:solidFill>
          <a:ln w="12700">
            <a:solidFill>
              <a:srgbClr val="34D399"/>
            </a:solidFill>
            <a:prstDash val="solid"/>
          </a:ln>
          <a:effectLst>
            <a:outerShdw sx="100000" sy="100000" kx="0" ky="0" algn="bl" rotWithShape="0" blurRad="101600" dist="38100" dir="5400000">
              <a:srgbClr val="000000">
                <a:alpha val="35000"/>
              </a:srgbClr>
            </a:outerShdw>
          </a:effectLst>
        </p:spPr>
      </p:sp>
      <p:sp>
        <p:nvSpPr>
          <p:cNvPr id="18" name="Text 16"/>
          <p:cNvSpPr txBox="1"/>
          <p:nvPr/>
        </p:nvSpPr>
        <p:spPr>
          <a:xfrm>
            <a:off x="9738360" y="2240280"/>
            <a:ext cx="1856232" cy="100584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new Revision</a:t>
            </a:r>
            <a:endParaRPr lang="en-US" sz="1300" dirty="0"/>
          </a:p>
          <a:p>
            <a:pPr algn="ctr" indent="0" marL="0">
              <a:buNone/>
            </a:pPr>
            <a:r>
              <a:rPr lang="en-US" sz="1000" dirty="0">
                <a:solidFill>
                  <a:srgbClr val="94A3B8"/>
                </a:solidFill>
                <a:latin typeface="Calibri" pitchFamily="34" charset="0"/>
                <a:ea typeface="Calibri" pitchFamily="34" charset="-122"/>
                <a:cs typeface="Calibri" pitchFamily="34" charset="-120"/>
              </a:rPr>
              <a:t>Knative rolls it out</a:t>
            </a:r>
            <a:endParaRPr lang="en-US" sz="1300" dirty="0"/>
          </a:p>
        </p:txBody>
      </p:sp>
      <p:sp>
        <p:nvSpPr>
          <p:cNvPr id="19" name="Text 17"/>
          <p:cNvSpPr txBox="1"/>
          <p:nvPr/>
        </p:nvSpPr>
        <p:spPr>
          <a:xfrm>
            <a:off x="594360" y="3355848"/>
            <a:ext cx="11000232" cy="274320"/>
          </a:xfrm>
          <a:prstGeom prst="rect">
            <a:avLst/>
          </a:prstGeom>
          <a:noFill/>
          <a:ln/>
        </p:spPr>
        <p:txBody>
          <a:bodyPr wrap="square" lIns="0" tIns="0" rIns="0" bIns="0" rtlCol="0" anchor="ctr"/>
          <a:lstStyle/>
          <a:p>
            <a:pPr algn="l" indent="0" marL="0">
              <a:buNone/>
            </a:pPr>
            <a:r>
              <a:rPr lang="en-US" sz="1100" i="1" dirty="0">
                <a:solidFill>
                  <a:srgbClr val="94A3B8"/>
                </a:solidFill>
                <a:latin typeface="Calibri" pitchFamily="34" charset="0"/>
                <a:ea typeface="Calibri" pitchFamily="34" charset="-122"/>
                <a:cs typeface="Calibri" pitchFamily="34" charset="-120"/>
              </a:rPr>
              <a:t>Both ends are local: the Image is here because this region built it, and the digest names this region's registry. Nothing crosses the boundary.</a:t>
            </a:r>
            <a:endParaRPr lang="en-US" sz="1100" dirty="0"/>
          </a:p>
        </p:txBody>
      </p:sp>
      <p:sp>
        <p:nvSpPr>
          <p:cNvPr id="20" name="Shape 18"/>
          <p:cNvSpPr/>
          <p:nvPr/>
        </p:nvSpPr>
        <p:spPr>
          <a:xfrm>
            <a:off x="594360" y="3977640"/>
            <a:ext cx="2544318" cy="2240280"/>
          </a:xfrm>
          <a:prstGeom prst="roundRect">
            <a:avLst>
              <a:gd name="adj" fmla="val 4898"/>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1" name="Shape 19"/>
          <p:cNvSpPr/>
          <p:nvPr/>
        </p:nvSpPr>
        <p:spPr>
          <a:xfrm>
            <a:off x="795528" y="417880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22" name="Image 0" descr="preencoded.png">    </p:cNvPr>
          <p:cNvPicPr>
            <a:picLocks noChangeAspect="1"/>
          </p:cNvPicPr>
          <p:nvPr/>
        </p:nvPicPr>
        <p:blipFill>
          <a:blip r:embed="rId2"/>
          <a:stretch>
            <a:fillRect/>
          </a:stretch>
        </p:blipFill>
        <p:spPr>
          <a:xfrm>
            <a:off x="905256" y="4288536"/>
            <a:ext cx="237744" cy="237744"/>
          </a:xfrm>
          <a:prstGeom prst="rect">
            <a:avLst/>
          </a:prstGeom>
        </p:spPr>
      </p:pic>
      <p:sp>
        <p:nvSpPr>
          <p:cNvPr id="23" name="Text 20"/>
          <p:cNvSpPr txBox="1"/>
          <p:nvPr/>
        </p:nvSpPr>
        <p:spPr>
          <a:xfrm>
            <a:off x="1389888" y="4178808"/>
            <a:ext cx="1565910" cy="457200"/>
          </a:xfrm>
          <a:prstGeom prst="rect">
            <a:avLst/>
          </a:prstGeom>
          <a:noFill/>
          <a:ln/>
        </p:spPr>
        <p:txBody>
          <a:bodyPr wrap="square" lIns="0" tIns="0" rIns="0" bIns="0" rtlCol="0" anchor="ctr"/>
          <a:lstStyle/>
          <a:p>
            <a:pPr indent="0" marL="0">
              <a:buNone/>
            </a:pPr>
            <a:r>
              <a:rPr lang="en-US" sz="1300" b="1" dirty="0">
                <a:solidFill>
                  <a:srgbClr val="F1F5F9"/>
                </a:solidFill>
                <a:latin typeface="Calibri" pitchFamily="34" charset="0"/>
                <a:ea typeface="Calibri" pitchFamily="34" charset="-122"/>
                <a:cs typeface="Calibri" pitchFamily="34" charset="-120"/>
              </a:rPr>
              <a:t>Exactly one writer per phase</a:t>
            </a:r>
            <a:endParaRPr lang="en-US" sz="1300" dirty="0"/>
          </a:p>
        </p:txBody>
      </p:sp>
      <p:sp>
        <p:nvSpPr>
          <p:cNvPr id="24" name="Text 21"/>
          <p:cNvSpPr txBox="1"/>
          <p:nvPr/>
        </p:nvSpPr>
        <p:spPr>
          <a:xfrm>
            <a:off x="795528" y="4800600"/>
            <a:ext cx="2141982" cy="12801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POST writes the branch tag once per region. PUT keeps each region's own value. POST /build writes no KSVC at all. After that, the controller is the only writer, and only ever a digest.</a:t>
            </a:r>
            <a:endParaRPr lang="en-US" sz="1100" dirty="0"/>
          </a:p>
        </p:txBody>
      </p:sp>
      <p:sp>
        <p:nvSpPr>
          <p:cNvPr id="25" name="Shape 22"/>
          <p:cNvSpPr/>
          <p:nvPr/>
        </p:nvSpPr>
        <p:spPr>
          <a:xfrm>
            <a:off x="3412998" y="3977640"/>
            <a:ext cx="2544318" cy="2240280"/>
          </a:xfrm>
          <a:prstGeom prst="roundRect">
            <a:avLst>
              <a:gd name="adj" fmla="val 4898"/>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6" name="Shape 23"/>
          <p:cNvSpPr/>
          <p:nvPr/>
        </p:nvSpPr>
        <p:spPr>
          <a:xfrm>
            <a:off x="3614166" y="417880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27" name="Image 1" descr="preencoded.png">    </p:cNvPr>
          <p:cNvPicPr>
            <a:picLocks noChangeAspect="1"/>
          </p:cNvPicPr>
          <p:nvPr/>
        </p:nvPicPr>
        <p:blipFill>
          <a:blip r:embed="rId3"/>
          <a:stretch>
            <a:fillRect/>
          </a:stretch>
        </p:blipFill>
        <p:spPr>
          <a:xfrm>
            <a:off x="3723894" y="4288536"/>
            <a:ext cx="237744" cy="237744"/>
          </a:xfrm>
          <a:prstGeom prst="rect">
            <a:avLst/>
          </a:prstGeom>
        </p:spPr>
      </p:pic>
      <p:sp>
        <p:nvSpPr>
          <p:cNvPr id="28" name="Text 24"/>
          <p:cNvSpPr txBox="1"/>
          <p:nvPr/>
        </p:nvSpPr>
        <p:spPr>
          <a:xfrm>
            <a:off x="4208526" y="4178808"/>
            <a:ext cx="1565910" cy="457200"/>
          </a:xfrm>
          <a:prstGeom prst="rect">
            <a:avLst/>
          </a:prstGeom>
          <a:noFill/>
          <a:ln/>
        </p:spPr>
        <p:txBody>
          <a:bodyPr wrap="square" lIns="0" tIns="0" rIns="0" bIns="0" rtlCol="0" anchor="ctr"/>
          <a:lstStyle/>
          <a:p>
            <a:pPr indent="0" marL="0">
              <a:buNone/>
            </a:pPr>
            <a:r>
              <a:rPr lang="en-US" sz="1300" b="1" dirty="0">
                <a:solidFill>
                  <a:srgbClr val="F1F5F9"/>
                </a:solidFill>
                <a:latin typeface="Calibri" pitchFamily="34" charset="0"/>
                <a:ea typeface="Calibri" pitchFamily="34" charset="-122"/>
                <a:cs typeface="Calibri" pitchFamily="34" charset="-120"/>
              </a:rPr>
              <a:t>It knows when to refuse</a:t>
            </a:r>
            <a:endParaRPr lang="en-US" sz="1300" dirty="0"/>
          </a:p>
        </p:txBody>
      </p:sp>
      <p:sp>
        <p:nvSpPr>
          <p:cNvPr id="29" name="Text 25"/>
          <p:cNvSpPr txBox="1"/>
          <p:nvPr/>
        </p:nvSpPr>
        <p:spPr>
          <a:xfrm>
            <a:off x="3614166" y="4800600"/>
            <a:ext cx="2141982" cy="12801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No write when the KSVC already runs that digest, or is not labelled offering: function. The apply is a full SSA of the live object stripped of server-owned metadata.</a:t>
            </a:r>
            <a:endParaRPr lang="en-US" sz="1100" dirty="0"/>
          </a:p>
        </p:txBody>
      </p:sp>
      <p:sp>
        <p:nvSpPr>
          <p:cNvPr id="30" name="Shape 26"/>
          <p:cNvSpPr/>
          <p:nvPr/>
        </p:nvSpPr>
        <p:spPr>
          <a:xfrm>
            <a:off x="6231636" y="3977640"/>
            <a:ext cx="2544318" cy="2240280"/>
          </a:xfrm>
          <a:prstGeom prst="roundRect">
            <a:avLst>
              <a:gd name="adj" fmla="val 4898"/>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1" name="Shape 27"/>
          <p:cNvSpPr/>
          <p:nvPr/>
        </p:nvSpPr>
        <p:spPr>
          <a:xfrm>
            <a:off x="6432804" y="417880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32" name="Image 2" descr="preencoded.png">    </p:cNvPr>
          <p:cNvPicPr>
            <a:picLocks noChangeAspect="1"/>
          </p:cNvPicPr>
          <p:nvPr/>
        </p:nvPicPr>
        <p:blipFill>
          <a:blip r:embed="rId4"/>
          <a:stretch>
            <a:fillRect/>
          </a:stretch>
        </p:blipFill>
        <p:spPr>
          <a:xfrm>
            <a:off x="6542532" y="4288536"/>
            <a:ext cx="237744" cy="237744"/>
          </a:xfrm>
          <a:prstGeom prst="rect">
            <a:avLst/>
          </a:prstGeom>
        </p:spPr>
      </p:pic>
      <p:sp>
        <p:nvSpPr>
          <p:cNvPr id="33" name="Text 28"/>
          <p:cNvSpPr txBox="1"/>
          <p:nvPr/>
        </p:nvSpPr>
        <p:spPr>
          <a:xfrm>
            <a:off x="7027164" y="4178808"/>
            <a:ext cx="1565910" cy="457200"/>
          </a:xfrm>
          <a:prstGeom prst="rect">
            <a:avLst/>
          </a:prstGeom>
          <a:noFill/>
          <a:ln/>
        </p:spPr>
        <p:txBody>
          <a:bodyPr wrap="square" lIns="0" tIns="0" rIns="0" bIns="0" rtlCol="0" anchor="ctr"/>
          <a:lstStyle/>
          <a:p>
            <a:pPr indent="0" marL="0">
              <a:buNone/>
            </a:pPr>
            <a:r>
              <a:rPr lang="en-US" sz="1300" b="1" dirty="0">
                <a:solidFill>
                  <a:srgbClr val="F1F5F9"/>
                </a:solidFill>
                <a:latin typeface="Calibri" pitchFamily="34" charset="0"/>
                <a:ea typeface="Calibri" pitchFamily="34" charset="-122"/>
                <a:cs typeface="Calibri" pitchFamily="34" charset="-120"/>
              </a:rPr>
              <a:t>Its own image, no web stack</a:t>
            </a:r>
            <a:endParaRPr lang="en-US" sz="1300" dirty="0"/>
          </a:p>
        </p:txBody>
      </p:sp>
      <p:sp>
        <p:nvSpPr>
          <p:cNvPr id="34" name="Text 29"/>
          <p:cNvSpPr txBox="1"/>
          <p:nvPr/>
        </p:nvSpPr>
        <p:spPr>
          <a:xfrm>
            <a:off x="6432804" y="4800600"/>
            <a:ext cx="2141982" cy="12801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Installs cloudlet-apis bare. CI imports the service out of the image and fails if fastapi, uvicorn, jwt or cryptography are inside. What is not installed cannot be flagged.</a:t>
            </a:r>
            <a:endParaRPr lang="en-US" sz="1100" dirty="0"/>
          </a:p>
        </p:txBody>
      </p:sp>
      <p:sp>
        <p:nvSpPr>
          <p:cNvPr id="35" name="Shape 30"/>
          <p:cNvSpPr/>
          <p:nvPr/>
        </p:nvSpPr>
        <p:spPr>
          <a:xfrm>
            <a:off x="9050274" y="3977640"/>
            <a:ext cx="2544318" cy="2240280"/>
          </a:xfrm>
          <a:prstGeom prst="roundRect">
            <a:avLst>
              <a:gd name="adj" fmla="val 4898"/>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6" name="Shape 31"/>
          <p:cNvSpPr/>
          <p:nvPr/>
        </p:nvSpPr>
        <p:spPr>
          <a:xfrm>
            <a:off x="9251442" y="4178808"/>
            <a:ext cx="457200" cy="457200"/>
          </a:xfrm>
          <a:prstGeom prst="roundRect">
            <a:avLst>
              <a:gd name="adj" fmla="val 20000"/>
            </a:avLst>
          </a:prstGeom>
          <a:solidFill>
            <a:srgbClr val="F59E0B">
              <a:alpha val="18000"/>
            </a:srgbClr>
          </a:solidFill>
          <a:ln w="6350">
            <a:solidFill>
              <a:srgbClr val="F59E0B">
                <a:alpha val="60000"/>
              </a:srgbClr>
            </a:solidFill>
            <a:prstDash val="solid"/>
          </a:ln>
        </p:spPr>
      </p:sp>
      <p:pic>
        <p:nvPicPr>
          <p:cNvPr id="37" name="Image 3" descr="preencoded.png">    </p:cNvPr>
          <p:cNvPicPr>
            <a:picLocks noChangeAspect="1"/>
          </p:cNvPicPr>
          <p:nvPr/>
        </p:nvPicPr>
        <p:blipFill>
          <a:blip r:embed="rId5"/>
          <a:stretch>
            <a:fillRect/>
          </a:stretch>
        </p:blipFill>
        <p:spPr>
          <a:xfrm>
            <a:off x="9361170" y="4288536"/>
            <a:ext cx="237744" cy="237744"/>
          </a:xfrm>
          <a:prstGeom prst="rect">
            <a:avLst/>
          </a:prstGeom>
        </p:spPr>
      </p:pic>
      <p:sp>
        <p:nvSpPr>
          <p:cNvPr id="38" name="Text 32"/>
          <p:cNvSpPr txBox="1"/>
          <p:nvPr/>
        </p:nvSpPr>
        <p:spPr>
          <a:xfrm>
            <a:off x="9845802" y="4178808"/>
            <a:ext cx="1565910" cy="457200"/>
          </a:xfrm>
          <a:prstGeom prst="rect">
            <a:avLst/>
          </a:prstGeom>
          <a:noFill/>
          <a:ln/>
        </p:spPr>
        <p:txBody>
          <a:bodyPr wrap="square" lIns="0" tIns="0" rIns="0" bIns="0" rtlCol="0" anchor="ctr"/>
          <a:lstStyle/>
          <a:p>
            <a:pPr indent="0" marL="0">
              <a:buNone/>
            </a:pPr>
            <a:r>
              <a:rPr lang="en-US" sz="1300" b="1" dirty="0">
                <a:solidFill>
                  <a:srgbClr val="F1F5F9"/>
                </a:solidFill>
                <a:latin typeface="Calibri" pitchFamily="34" charset="0"/>
                <a:ea typeface="Calibri" pitchFamily="34" charset="-122"/>
                <a:cs typeface="Calibri" pitchFamily="34" charset="-120"/>
              </a:rPr>
              <a:t>It cleans up after kpack</a:t>
            </a:r>
            <a:endParaRPr lang="en-US" sz="1300" dirty="0"/>
          </a:p>
        </p:txBody>
      </p:sp>
      <p:sp>
        <p:nvSpPr>
          <p:cNvPr id="39" name="Text 33"/>
          <p:cNvSpPr txBox="1"/>
          <p:nvPr/>
        </p:nvSpPr>
        <p:spPr>
          <a:xfrm>
            <a:off x="9251442" y="4800600"/>
            <a:ext cx="2141982" cy="128016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Sweeps kpack's per-build tags in its own registry every 6 h. Deleting a function removes both repositories in every region through the Quay API.</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1188720"/>
            <a:ext cx="5486400" cy="2194560"/>
          </a:xfrm>
          <a:prstGeom prst="rect">
            <a:avLst/>
          </a:prstGeom>
          <a:noFill/>
          <a:ln/>
        </p:spPr>
        <p:txBody>
          <a:bodyPr wrap="square" lIns="0" tIns="0" rIns="0" bIns="0" rtlCol="0" anchor="ctr"/>
          <a:lstStyle/>
          <a:p>
            <a:pPr indent="0" marL="0">
              <a:buNone/>
            </a:pPr>
            <a:r>
              <a:rPr lang="en-US" sz="15000" b="1" dirty="0">
                <a:solidFill>
                  <a:srgbClr val="A78BFA"/>
                </a:solidFill>
                <a:latin typeface="Cambria" pitchFamily="34" charset="0"/>
                <a:ea typeface="Cambria" pitchFamily="34" charset="-122"/>
                <a:cs typeface="Cambria" pitchFamily="34" charset="-120"/>
              </a:rPr>
              <a:t>04</a:t>
            </a:r>
            <a:endParaRPr lang="en-US" sz="15000" dirty="0"/>
          </a:p>
        </p:txBody>
      </p:sp>
      <p:sp>
        <p:nvSpPr>
          <p:cNvPr id="3" name="Text 1"/>
          <p:cNvSpPr txBox="1"/>
          <p:nvPr/>
        </p:nvSpPr>
        <p:spPr>
          <a:xfrm>
            <a:off x="594360" y="3474720"/>
            <a:ext cx="9144000" cy="914400"/>
          </a:xfrm>
          <a:prstGeom prst="rect">
            <a:avLst/>
          </a:prstGeom>
          <a:noFill/>
          <a:ln/>
        </p:spPr>
        <p:txBody>
          <a:bodyPr wrap="square" lIns="0" tIns="0" rIns="0" bIns="0" rtlCol="0" anchor="ctr"/>
          <a:lstStyle/>
          <a:p>
            <a:pPr indent="0" marL="0">
              <a:buNone/>
            </a:pPr>
            <a:r>
              <a:rPr lang="en-US" sz="4400" b="1" dirty="0">
                <a:solidFill>
                  <a:srgbClr val="F1F5F9"/>
                </a:solidFill>
                <a:latin typeface="Cambria" pitchFamily="34" charset="0"/>
                <a:ea typeface="Cambria" pitchFamily="34" charset="-122"/>
                <a:cs typeface="Cambria" pitchFamily="34" charset="-120"/>
              </a:rPr>
              <a:t>Portal &amp; the future</a:t>
            </a:r>
            <a:endParaRPr lang="en-US" sz="4400" dirty="0"/>
          </a:p>
        </p:txBody>
      </p:sp>
      <p:sp>
        <p:nvSpPr>
          <p:cNvPr id="4" name="Text 2"/>
          <p:cNvSpPr txBox="1"/>
          <p:nvPr/>
        </p:nvSpPr>
        <p:spPr>
          <a:xfrm>
            <a:off x="594360" y="4434840"/>
            <a:ext cx="7772400" cy="914400"/>
          </a:xfrm>
          <a:prstGeom prst="rect">
            <a:avLst/>
          </a:prstGeom>
          <a:noFill/>
          <a:ln/>
        </p:spPr>
        <p:txBody>
          <a:bodyPr wrap="square" lIns="0" tIns="0" rIns="0" bIns="0" rtlCol="0" anchor="ctr"/>
          <a:lstStyle/>
          <a:p>
            <a:pPr indent="0" marL="0">
              <a:buNone/>
            </a:pPr>
            <a:r>
              <a:rPr lang="en-US" sz="1700" i="1" dirty="0">
                <a:solidFill>
                  <a:srgbClr val="94A3B8"/>
                </a:solidFill>
                <a:latin typeface="Calibri" pitchFamily="34" charset="0"/>
                <a:ea typeface="Calibri" pitchFamily="34" charset="-122"/>
                <a:cs typeface="Calibri" pitchFamily="34" charset="-120"/>
              </a:rPr>
              <a:t>A console for the whole platform, and a library so the next API starts at step five.</a:t>
            </a:r>
            <a:endParaRPr lang="en-US" sz="1700" dirty="0"/>
          </a:p>
        </p:txBody>
      </p:sp>
      <p:sp>
        <p:nvSpPr>
          <p:cNvPr id="5" name="Text 3"/>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19 / 23</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A78BFA"/>
                </a:solidFill>
                <a:latin typeface="Calibri" pitchFamily="34" charset="0"/>
                <a:ea typeface="Calibri" pitchFamily="34" charset="-122"/>
                <a:cs typeface="Calibri" pitchFamily="34" charset="-120"/>
              </a:rPr>
              <a:t>CHAPTER 04  ·  THE PORTAL &amp; WHAT COMES NEXT</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20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How the portal wires it all to the user</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A GCP-style console: Next.js 16 server components in front of the API, with the SSO group playing the part of the project.</a:t>
            </a:r>
            <a:endParaRPr lang="en-US" sz="1500" dirty="0"/>
          </a:p>
        </p:txBody>
      </p:sp>
      <p:sp>
        <p:nvSpPr>
          <p:cNvPr id="6" name="Shape 4"/>
          <p:cNvSpPr/>
          <p:nvPr/>
        </p:nvSpPr>
        <p:spPr>
          <a:xfrm>
            <a:off x="594360" y="2148840"/>
            <a:ext cx="1920240" cy="868680"/>
          </a:xfrm>
          <a:prstGeom prst="roundRect">
            <a:avLst>
              <a:gd name="adj" fmla="val 10526"/>
            </a:avLst>
          </a:prstGeom>
          <a:solidFill>
            <a:srgbClr val="18213A"/>
          </a:solidFill>
          <a:ln w="12700">
            <a:solidFill>
              <a:srgbClr val="A78BFA"/>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594360" y="2148840"/>
            <a:ext cx="1920240" cy="86868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Browser</a:t>
            </a:r>
            <a:endParaRPr lang="en-US" sz="1300" dirty="0"/>
          </a:p>
          <a:p>
            <a:pPr algn="ctr" indent="0" marL="0">
              <a:buNone/>
            </a:pPr>
            <a:r>
              <a:rPr lang="en-US" sz="900" dirty="0">
                <a:solidFill>
                  <a:srgbClr val="94A3B8"/>
                </a:solidFill>
                <a:latin typeface="Calibri" pitchFamily="34" charset="0"/>
                <a:ea typeface="Calibri" pitchFamily="34" charset="-122"/>
                <a:cs typeface="Calibri" pitchFamily="34" charset="-120"/>
              </a:rPr>
              <a:t>React 19, no client state library</a:t>
            </a:r>
            <a:endParaRPr lang="en-US" sz="1300" dirty="0"/>
          </a:p>
        </p:txBody>
      </p:sp>
      <p:sp>
        <p:nvSpPr>
          <p:cNvPr id="8" name="Shape 6"/>
          <p:cNvSpPr/>
          <p:nvPr/>
        </p:nvSpPr>
        <p:spPr>
          <a:xfrm>
            <a:off x="2514600" y="2583180"/>
            <a:ext cx="365760" cy="0"/>
          </a:xfrm>
          <a:prstGeom prst="line">
            <a:avLst/>
          </a:prstGeom>
          <a:noFill/>
          <a:ln w="19050">
            <a:solidFill>
              <a:srgbClr val="A78BFA"/>
            </a:solidFill>
            <a:prstDash val="solid"/>
            <a:tailEnd type="triangle"/>
          </a:ln>
        </p:spPr>
      </p:sp>
      <p:sp>
        <p:nvSpPr>
          <p:cNvPr id="9" name="Shape 7"/>
          <p:cNvSpPr/>
          <p:nvPr/>
        </p:nvSpPr>
        <p:spPr>
          <a:xfrm>
            <a:off x="2880360" y="2148840"/>
            <a:ext cx="2103120" cy="868680"/>
          </a:xfrm>
          <a:prstGeom prst="roundRect">
            <a:avLst>
              <a:gd name="adj" fmla="val 10526"/>
            </a:avLst>
          </a:prstGeom>
          <a:solidFill>
            <a:srgbClr val="18213A"/>
          </a:solidFill>
          <a:ln w="12700">
            <a:solidFill>
              <a:srgbClr val="A78BFA"/>
            </a:solidFill>
            <a:prstDash val="solid"/>
          </a:ln>
          <a:effectLst>
            <a:outerShdw sx="100000" sy="100000" kx="0" ky="0" algn="bl" rotWithShape="0" blurRad="101600" dist="38100" dir="5400000">
              <a:srgbClr val="000000">
                <a:alpha val="35000"/>
              </a:srgbClr>
            </a:outerShdw>
          </a:effectLst>
        </p:spPr>
      </p:sp>
      <p:sp>
        <p:nvSpPr>
          <p:cNvPr id="10" name="Text 8"/>
          <p:cNvSpPr txBox="1"/>
          <p:nvPr/>
        </p:nvSpPr>
        <p:spPr>
          <a:xfrm>
            <a:off x="2880360" y="2148840"/>
            <a:ext cx="2103120" cy="86868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Portal</a:t>
            </a:r>
            <a:endParaRPr lang="en-US" sz="1300" dirty="0"/>
          </a:p>
          <a:p>
            <a:pPr algn="ctr" indent="0" marL="0">
              <a:buNone/>
            </a:pPr>
            <a:r>
              <a:rPr lang="en-US" sz="900" dirty="0">
                <a:solidFill>
                  <a:srgbClr val="94A3B8"/>
                </a:solidFill>
                <a:latin typeface="Calibri" pitchFamily="34" charset="0"/>
                <a:ea typeface="Calibri" pitchFamily="34" charset="-122"/>
                <a:cs typeface="Calibri" pitchFamily="34" charset="-120"/>
              </a:rPr>
              <a:t>Next.js server actions · Keycloak session</a:t>
            </a:r>
            <a:endParaRPr lang="en-US" sz="1300" dirty="0"/>
          </a:p>
        </p:txBody>
      </p:sp>
      <p:sp>
        <p:nvSpPr>
          <p:cNvPr id="11" name="Shape 9"/>
          <p:cNvSpPr/>
          <p:nvPr/>
        </p:nvSpPr>
        <p:spPr>
          <a:xfrm>
            <a:off x="4983480" y="2583180"/>
            <a:ext cx="365760" cy="0"/>
          </a:xfrm>
          <a:prstGeom prst="line">
            <a:avLst/>
          </a:prstGeom>
          <a:noFill/>
          <a:ln w="19050">
            <a:solidFill>
              <a:srgbClr val="A78BFA"/>
            </a:solidFill>
            <a:prstDash val="solid"/>
            <a:tailEnd type="triangle"/>
          </a:ln>
        </p:spPr>
      </p:sp>
      <p:sp>
        <p:nvSpPr>
          <p:cNvPr id="12" name="Shape 10"/>
          <p:cNvSpPr/>
          <p:nvPr/>
        </p:nvSpPr>
        <p:spPr>
          <a:xfrm>
            <a:off x="5349240" y="2148840"/>
            <a:ext cx="1920240" cy="868680"/>
          </a:xfrm>
          <a:prstGeom prst="roundRect">
            <a:avLst>
              <a:gd name="adj" fmla="val 10526"/>
            </a:avLst>
          </a:prstGeom>
          <a:solidFill>
            <a:srgbClr val="18213A"/>
          </a:solidFill>
          <a:ln w="12700">
            <a:solidFill>
              <a:srgbClr val="22D3EE"/>
            </a:solidFill>
            <a:prstDash val="solid"/>
          </a:ln>
          <a:effectLst>
            <a:outerShdw sx="100000" sy="100000" kx="0" ky="0" algn="bl" rotWithShape="0" blurRad="101600" dist="38100" dir="5400000">
              <a:srgbClr val="000000">
                <a:alpha val="35000"/>
              </a:srgbClr>
            </a:outerShdw>
          </a:effectLst>
        </p:spPr>
      </p:sp>
      <p:sp>
        <p:nvSpPr>
          <p:cNvPr id="13" name="Text 11"/>
          <p:cNvSpPr txBox="1"/>
          <p:nvPr/>
        </p:nvSpPr>
        <p:spPr>
          <a:xfrm>
            <a:off x="5349240" y="2148840"/>
            <a:ext cx="1920240" cy="868680"/>
          </a:xfrm>
          <a:prstGeom prst="rect">
            <a:avLst/>
          </a:prstGeom>
          <a:noFill/>
          <a:ln/>
        </p:spPr>
        <p:txBody>
          <a:bodyPr wrap="square" lIns="762" tIns="762" rIns="762" bIns="762" rtlCol="0" anchor="ctr"/>
          <a:lstStyle/>
          <a:p>
            <a:pPr algn="ctr" indent="0" marL="0">
              <a:buNone/>
            </a:pPr>
            <a:r>
              <a:rPr lang="en-US" sz="1300" b="1" dirty="0">
                <a:solidFill>
                  <a:srgbClr val="F1F5F9"/>
                </a:solidFill>
                <a:latin typeface="Calibri" pitchFamily="34" charset="0"/>
                <a:ea typeface="Calibri" pitchFamily="34" charset="-122"/>
                <a:cs typeface="Calibri" pitchFamily="34" charset="-120"/>
              </a:rPr>
              <a:t>Serverless API</a:t>
            </a:r>
            <a:endParaRPr lang="en-US" sz="1300" dirty="0"/>
          </a:p>
          <a:p>
            <a:pPr algn="ctr" indent="0" marL="0">
              <a:buNone/>
            </a:pPr>
            <a:r>
              <a:rPr lang="en-US" sz="900" dirty="0">
                <a:solidFill>
                  <a:srgbClr val="94A3B8"/>
                </a:solidFill>
                <a:latin typeface="Calibri" pitchFamily="34" charset="0"/>
                <a:ea typeface="Calibri" pitchFamily="34" charset="-122"/>
                <a:cs typeface="Calibri" pitchFamily="34" charset="-120"/>
              </a:rPr>
              <a:t>/api/serverless/v1</a:t>
            </a:r>
            <a:endParaRPr lang="en-US" sz="1300" dirty="0"/>
          </a:p>
        </p:txBody>
      </p:sp>
      <p:sp>
        <p:nvSpPr>
          <p:cNvPr id="14" name="Text 12"/>
          <p:cNvSpPr txBox="1"/>
          <p:nvPr/>
        </p:nvSpPr>
        <p:spPr>
          <a:xfrm>
            <a:off x="2880360" y="3063240"/>
            <a:ext cx="2468880" cy="274320"/>
          </a:xfrm>
          <a:prstGeom prst="rect">
            <a:avLst/>
          </a:prstGeom>
          <a:noFill/>
          <a:ln/>
        </p:spPr>
        <p:txBody>
          <a:bodyPr wrap="square" lIns="0" tIns="0" rIns="0" bIns="0" rtlCol="0" anchor="ctr"/>
          <a:lstStyle/>
          <a:p>
            <a:pPr algn="l" indent="0" marL="0">
              <a:buNone/>
            </a:pPr>
            <a:r>
              <a:rPr lang="en-US" sz="950" dirty="0">
                <a:solidFill>
                  <a:srgbClr val="5B6B8A"/>
                </a:solidFill>
                <a:latin typeface="Courier New" pitchFamily="34" charset="0"/>
                <a:ea typeface="Courier New" pitchFamily="34" charset="-122"/>
                <a:cs typeface="Courier New" pitchFamily="34" charset="-120"/>
              </a:rPr>
              <a:t>Bearer token forwarded server-side</a:t>
            </a:r>
            <a:endParaRPr lang="en-US" sz="950" dirty="0"/>
          </a:p>
        </p:txBody>
      </p:sp>
      <p:sp>
        <p:nvSpPr>
          <p:cNvPr id="15" name="Shape 13"/>
          <p:cNvSpPr/>
          <p:nvPr/>
        </p:nvSpPr>
        <p:spPr>
          <a:xfrm>
            <a:off x="1554480" y="3017520"/>
            <a:ext cx="0" cy="960120"/>
          </a:xfrm>
          <a:prstGeom prst="line">
            <a:avLst/>
          </a:prstGeom>
          <a:noFill/>
          <a:ln w="15875">
            <a:solidFill>
              <a:srgbClr val="34D399"/>
            </a:solidFill>
            <a:prstDash val="dash"/>
          </a:ln>
        </p:spPr>
      </p:sp>
      <p:sp>
        <p:nvSpPr>
          <p:cNvPr id="16" name="Shape 14"/>
          <p:cNvSpPr/>
          <p:nvPr/>
        </p:nvSpPr>
        <p:spPr>
          <a:xfrm>
            <a:off x="1554480" y="3977640"/>
            <a:ext cx="4754880" cy="0"/>
          </a:xfrm>
          <a:prstGeom prst="line">
            <a:avLst/>
          </a:prstGeom>
          <a:noFill/>
          <a:ln w="15875">
            <a:solidFill>
              <a:srgbClr val="34D399"/>
            </a:solidFill>
            <a:prstDash val="dash"/>
          </a:ln>
        </p:spPr>
      </p:sp>
      <p:sp>
        <p:nvSpPr>
          <p:cNvPr id="17" name="Shape 15"/>
          <p:cNvSpPr/>
          <p:nvPr/>
        </p:nvSpPr>
        <p:spPr>
          <a:xfrm flipV="1">
            <a:off x="6309360" y="3017520"/>
            <a:ext cx="0" cy="960120"/>
          </a:xfrm>
          <a:prstGeom prst="line">
            <a:avLst/>
          </a:prstGeom>
          <a:noFill/>
          <a:ln w="15875">
            <a:solidFill>
              <a:srgbClr val="34D399"/>
            </a:solidFill>
            <a:prstDash val="dash"/>
            <a:tailEnd type="triangle"/>
          </a:ln>
        </p:spPr>
      </p:sp>
      <p:sp>
        <p:nvSpPr>
          <p:cNvPr id="18" name="Shape 16"/>
          <p:cNvSpPr/>
          <p:nvPr/>
        </p:nvSpPr>
        <p:spPr>
          <a:xfrm>
            <a:off x="2606040" y="3813048"/>
            <a:ext cx="2651760" cy="329184"/>
          </a:xfrm>
          <a:prstGeom prst="roundRect">
            <a:avLst>
              <a:gd name="adj" fmla="val 22222"/>
            </a:avLst>
          </a:prstGeom>
          <a:solidFill>
            <a:srgbClr val="121A2C"/>
          </a:solidFill>
          <a:ln w="9525">
            <a:solidFill>
              <a:srgbClr val="34D399"/>
            </a:solidFill>
            <a:prstDash val="solid"/>
          </a:ln>
        </p:spPr>
      </p:sp>
      <p:sp>
        <p:nvSpPr>
          <p:cNvPr id="19" name="Text 17"/>
          <p:cNvSpPr txBox="1"/>
          <p:nvPr/>
        </p:nvSpPr>
        <p:spPr>
          <a:xfrm>
            <a:off x="2606040" y="3813048"/>
            <a:ext cx="2651760" cy="329184"/>
          </a:xfrm>
          <a:prstGeom prst="rect">
            <a:avLst/>
          </a:prstGeom>
          <a:noFill/>
          <a:ln/>
        </p:spPr>
        <p:txBody>
          <a:bodyPr wrap="square" lIns="508" tIns="508" rIns="508" bIns="508" rtlCol="0" anchor="ctr"/>
          <a:lstStyle/>
          <a:p>
            <a:pPr algn="ctr" indent="0" marL="0">
              <a:buNone/>
            </a:pPr>
            <a:r>
              <a:rPr lang="en-US" sz="950" b="1" dirty="0">
                <a:solidFill>
                  <a:srgbClr val="34D399"/>
                </a:solidFill>
                <a:latin typeface="Calibri" pitchFamily="34" charset="0"/>
                <a:ea typeface="Calibri" pitchFamily="34" charset="-122"/>
                <a:cs typeface="Calibri" pitchFamily="34" charset="-120"/>
              </a:rPr>
              <a:t>SSE with ?ticket= minted server-side</a:t>
            </a:r>
            <a:endParaRPr lang="en-US" sz="950" dirty="0"/>
          </a:p>
        </p:txBody>
      </p:sp>
      <p:sp>
        <p:nvSpPr>
          <p:cNvPr id="20" name="Text 18"/>
          <p:cNvSpPr txBox="1"/>
          <p:nvPr/>
        </p:nvSpPr>
        <p:spPr>
          <a:xfrm>
            <a:off x="594360" y="4297680"/>
            <a:ext cx="6675120" cy="548640"/>
          </a:xfrm>
          <a:prstGeom prst="rect">
            <a:avLst/>
          </a:prstGeom>
          <a:noFill/>
          <a:ln/>
        </p:spPr>
        <p:txBody>
          <a:bodyPr wrap="square" lIns="0" tIns="0" rIns="0" bIns="0" rtlCol="0" anchor="t"/>
          <a:lstStyle/>
          <a:p>
            <a:pPr algn="l" indent="0" marL="0">
              <a:buNone/>
            </a:pPr>
            <a:r>
              <a:rPr lang="en-US" sz="1050" i="1" dirty="0">
                <a:solidFill>
                  <a:srgbClr val="94A3B8"/>
                </a:solidFill>
                <a:latin typeface="Calibri" pitchFamily="34" charset="0"/>
                <a:ea typeface="Calibri" pitchFamily="34" charset="-122"/>
                <a:cs typeface="Calibri" pitchFamily="34" charset="-120"/>
              </a:rPr>
              <a:t>The user's token never reaches the browser. Live logs and stats use a 60-second single-path ticket that the portal re-mints on every reconnect.</a:t>
            </a:r>
            <a:endParaRPr lang="en-US" sz="1050" dirty="0"/>
          </a:p>
        </p:txBody>
      </p:sp>
      <p:sp>
        <p:nvSpPr>
          <p:cNvPr id="21" name="Shape 19"/>
          <p:cNvSpPr/>
          <p:nvPr/>
        </p:nvSpPr>
        <p:spPr>
          <a:xfrm>
            <a:off x="7635240" y="2121408"/>
            <a:ext cx="512064" cy="512064"/>
          </a:xfrm>
          <a:prstGeom prst="roundRect">
            <a:avLst>
              <a:gd name="adj" fmla="val 17857"/>
            </a:avLst>
          </a:prstGeom>
          <a:solidFill>
            <a:srgbClr val="A78BFA">
              <a:alpha val="18000"/>
            </a:srgbClr>
          </a:solidFill>
          <a:ln w="6350">
            <a:solidFill>
              <a:srgbClr val="A78BFA">
                <a:alpha val="60000"/>
              </a:srgbClr>
            </a:solidFill>
            <a:prstDash val="solid"/>
          </a:ln>
        </p:spPr>
      </p:sp>
      <p:pic>
        <p:nvPicPr>
          <p:cNvPr id="22" name="Image 0" descr="preencoded.png">    </p:cNvPr>
          <p:cNvPicPr>
            <a:picLocks noChangeAspect="1"/>
          </p:cNvPicPr>
          <p:nvPr/>
        </p:nvPicPr>
        <p:blipFill>
          <a:blip r:embed="rId2"/>
          <a:stretch>
            <a:fillRect/>
          </a:stretch>
        </p:blipFill>
        <p:spPr>
          <a:xfrm>
            <a:off x="7758135" y="2244303"/>
            <a:ext cx="266273" cy="266273"/>
          </a:xfrm>
          <a:prstGeom prst="rect">
            <a:avLst/>
          </a:prstGeom>
        </p:spPr>
      </p:pic>
      <p:sp>
        <p:nvSpPr>
          <p:cNvPr id="23" name="Text 20"/>
          <p:cNvSpPr txBox="1"/>
          <p:nvPr/>
        </p:nvSpPr>
        <p:spPr>
          <a:xfrm>
            <a:off x="8348472" y="2103120"/>
            <a:ext cx="326440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Groups are the projects</a:t>
            </a:r>
            <a:endParaRPr lang="en-US" sz="1500" dirty="0"/>
          </a:p>
        </p:txBody>
      </p:sp>
      <p:sp>
        <p:nvSpPr>
          <p:cNvPr id="24" name="Text 21"/>
          <p:cNvSpPr txBox="1"/>
          <p:nvPr/>
        </p:nvSpPr>
        <p:spPr>
          <a:xfrm>
            <a:off x="8348472" y="2404872"/>
            <a:ext cx="3264408" cy="566928"/>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Membership is re-validated on every request; a forged cookie can never widen access.</a:t>
            </a:r>
            <a:endParaRPr lang="en-US" sz="1100" dirty="0"/>
          </a:p>
        </p:txBody>
      </p:sp>
      <p:sp>
        <p:nvSpPr>
          <p:cNvPr id="25" name="Shape 22"/>
          <p:cNvSpPr/>
          <p:nvPr/>
        </p:nvSpPr>
        <p:spPr>
          <a:xfrm>
            <a:off x="7635240" y="3081528"/>
            <a:ext cx="512064" cy="512064"/>
          </a:xfrm>
          <a:prstGeom prst="roundRect">
            <a:avLst>
              <a:gd name="adj" fmla="val 17857"/>
            </a:avLst>
          </a:prstGeom>
          <a:solidFill>
            <a:srgbClr val="A78BFA">
              <a:alpha val="18000"/>
            </a:srgbClr>
          </a:solidFill>
          <a:ln w="6350">
            <a:solidFill>
              <a:srgbClr val="A78BFA">
                <a:alpha val="60000"/>
              </a:srgbClr>
            </a:solidFill>
            <a:prstDash val="solid"/>
          </a:ln>
        </p:spPr>
      </p:sp>
      <p:pic>
        <p:nvPicPr>
          <p:cNvPr id="26" name="Image 1" descr="preencoded.png">    </p:cNvPr>
          <p:cNvPicPr>
            <a:picLocks noChangeAspect="1"/>
          </p:cNvPicPr>
          <p:nvPr/>
        </p:nvPicPr>
        <p:blipFill>
          <a:blip r:embed="rId3"/>
          <a:stretch>
            <a:fillRect/>
          </a:stretch>
        </p:blipFill>
        <p:spPr>
          <a:xfrm>
            <a:off x="7758135" y="3204423"/>
            <a:ext cx="266273" cy="266273"/>
          </a:xfrm>
          <a:prstGeom prst="rect">
            <a:avLst/>
          </a:prstGeom>
        </p:spPr>
      </p:pic>
      <p:sp>
        <p:nvSpPr>
          <p:cNvPr id="27" name="Text 23"/>
          <p:cNvSpPr txBox="1"/>
          <p:nvPr/>
        </p:nvSpPr>
        <p:spPr>
          <a:xfrm>
            <a:off x="8348472" y="3063240"/>
            <a:ext cx="326440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Create dialog built from /info</a:t>
            </a:r>
            <a:endParaRPr lang="en-US" sz="1500" dirty="0"/>
          </a:p>
        </p:txBody>
      </p:sp>
      <p:sp>
        <p:nvSpPr>
          <p:cNvPr id="28" name="Text 24"/>
          <p:cNvSpPr txBox="1"/>
          <p:nvPr/>
        </p:nvSpPr>
        <p:spPr>
          <a:xfrm>
            <a:off x="8348472" y="3364992"/>
            <a:ext cx="3264408" cy="566928"/>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Sizes, regions, runtimes, port bounds, host preview. The portal hardcodes almost nothing.</a:t>
            </a:r>
            <a:endParaRPr lang="en-US" sz="1100" dirty="0"/>
          </a:p>
        </p:txBody>
      </p:sp>
      <p:sp>
        <p:nvSpPr>
          <p:cNvPr id="29" name="Shape 25"/>
          <p:cNvSpPr/>
          <p:nvPr/>
        </p:nvSpPr>
        <p:spPr>
          <a:xfrm>
            <a:off x="7635240" y="4041648"/>
            <a:ext cx="512064" cy="512064"/>
          </a:xfrm>
          <a:prstGeom prst="roundRect">
            <a:avLst>
              <a:gd name="adj" fmla="val 17857"/>
            </a:avLst>
          </a:prstGeom>
          <a:solidFill>
            <a:srgbClr val="A78BFA">
              <a:alpha val="18000"/>
            </a:srgbClr>
          </a:solidFill>
          <a:ln w="6350">
            <a:solidFill>
              <a:srgbClr val="A78BFA">
                <a:alpha val="60000"/>
              </a:srgbClr>
            </a:solidFill>
            <a:prstDash val="solid"/>
          </a:ln>
        </p:spPr>
      </p:sp>
      <p:pic>
        <p:nvPicPr>
          <p:cNvPr id="30" name="Image 2" descr="preencoded.png">    </p:cNvPr>
          <p:cNvPicPr>
            <a:picLocks noChangeAspect="1"/>
          </p:cNvPicPr>
          <p:nvPr/>
        </p:nvPicPr>
        <p:blipFill>
          <a:blip r:embed="rId4"/>
          <a:stretch>
            <a:fillRect/>
          </a:stretch>
        </p:blipFill>
        <p:spPr>
          <a:xfrm>
            <a:off x="7758135" y="4164543"/>
            <a:ext cx="266273" cy="266273"/>
          </a:xfrm>
          <a:prstGeom prst="rect">
            <a:avLst/>
          </a:prstGeom>
        </p:spPr>
      </p:pic>
      <p:sp>
        <p:nvSpPr>
          <p:cNvPr id="31" name="Text 26"/>
          <p:cNvSpPr txBox="1"/>
          <p:nvPr/>
        </p:nvSpPr>
        <p:spPr>
          <a:xfrm>
            <a:off x="8348472" y="4023360"/>
            <a:ext cx="326440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202 becomes a tracker toast</a:t>
            </a:r>
            <a:endParaRPr lang="en-US" sz="1500" dirty="0"/>
          </a:p>
        </p:txBody>
      </p:sp>
      <p:sp>
        <p:nvSpPr>
          <p:cNvPr id="32" name="Text 27"/>
          <p:cNvSpPr txBox="1"/>
          <p:nvPr/>
        </p:nvSpPr>
        <p:spPr>
          <a:xfrm>
            <a:off x="8348472" y="4325112"/>
            <a:ext cx="3264408" cy="566928"/>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 toast polls /stats every 2.5 s until Ready or Failed; a not-found inside the grace window is the race, not an error.</a:t>
            </a:r>
            <a:endParaRPr lang="en-US" sz="1100" dirty="0"/>
          </a:p>
        </p:txBody>
      </p:sp>
      <p:sp>
        <p:nvSpPr>
          <p:cNvPr id="33" name="Shape 28"/>
          <p:cNvSpPr/>
          <p:nvPr/>
        </p:nvSpPr>
        <p:spPr>
          <a:xfrm>
            <a:off x="7635240" y="5001768"/>
            <a:ext cx="512064" cy="512064"/>
          </a:xfrm>
          <a:prstGeom prst="roundRect">
            <a:avLst>
              <a:gd name="adj" fmla="val 17857"/>
            </a:avLst>
          </a:prstGeom>
          <a:solidFill>
            <a:srgbClr val="A78BFA">
              <a:alpha val="18000"/>
            </a:srgbClr>
          </a:solidFill>
          <a:ln w="6350">
            <a:solidFill>
              <a:srgbClr val="A78BFA">
                <a:alpha val="60000"/>
              </a:srgbClr>
            </a:solidFill>
            <a:prstDash val="solid"/>
          </a:ln>
        </p:spPr>
      </p:sp>
      <p:pic>
        <p:nvPicPr>
          <p:cNvPr id="34" name="Image 3" descr="preencoded.png">    </p:cNvPr>
          <p:cNvPicPr>
            <a:picLocks noChangeAspect="1"/>
          </p:cNvPicPr>
          <p:nvPr/>
        </p:nvPicPr>
        <p:blipFill>
          <a:blip r:embed="rId5"/>
          <a:stretch>
            <a:fillRect/>
          </a:stretch>
        </p:blipFill>
        <p:spPr>
          <a:xfrm>
            <a:off x="7758135" y="5124663"/>
            <a:ext cx="266273" cy="266273"/>
          </a:xfrm>
          <a:prstGeom prst="rect">
            <a:avLst/>
          </a:prstGeom>
        </p:spPr>
      </p:pic>
      <p:sp>
        <p:nvSpPr>
          <p:cNvPr id="35" name="Text 29"/>
          <p:cNvSpPr txBox="1"/>
          <p:nvPr/>
        </p:nvSpPr>
        <p:spPr>
          <a:xfrm>
            <a:off x="8348472" y="4983480"/>
            <a:ext cx="326440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Seven-tab detail, live logs</a:t>
            </a:r>
            <a:endParaRPr lang="en-US" sz="1500" dirty="0"/>
          </a:p>
        </p:txBody>
      </p:sp>
      <p:sp>
        <p:nvSpPr>
          <p:cNvPr id="36" name="Text 30"/>
          <p:cNvSpPr txBox="1"/>
          <p:nvPr/>
        </p:nvSpPr>
        <p:spPr>
          <a:xfrm>
            <a:off x="8348472" y="5285232"/>
            <a:ext cx="3264408" cy="566928"/>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Status per region, Metrics, Variables, Secrets, Files, Advanced, Logs. Streams fall back to polling and say so.</a:t>
            </a:r>
            <a:endParaRPr lang="en-US" sz="1100" dirty="0"/>
          </a:p>
        </p:txBody>
      </p:sp>
      <p:sp>
        <p:nvSpPr>
          <p:cNvPr id="37" name="Shape 31"/>
          <p:cNvSpPr/>
          <p:nvPr/>
        </p:nvSpPr>
        <p:spPr>
          <a:xfrm>
            <a:off x="594360" y="5257800"/>
            <a:ext cx="6675120" cy="960120"/>
          </a:xfrm>
          <a:prstGeom prst="roundRect">
            <a:avLst>
              <a:gd name="adj" fmla="val 11429"/>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8" name="Shape 32"/>
          <p:cNvSpPr/>
          <p:nvPr/>
        </p:nvSpPr>
        <p:spPr>
          <a:xfrm>
            <a:off x="777240" y="5468112"/>
            <a:ext cx="502920" cy="502920"/>
          </a:xfrm>
          <a:prstGeom prst="roundRect">
            <a:avLst>
              <a:gd name="adj" fmla="val 18182"/>
            </a:avLst>
          </a:prstGeom>
          <a:solidFill>
            <a:srgbClr val="A78BFA">
              <a:alpha val="18000"/>
            </a:srgbClr>
          </a:solidFill>
          <a:ln w="6350">
            <a:solidFill>
              <a:srgbClr val="A78BFA">
                <a:alpha val="60000"/>
              </a:srgbClr>
            </a:solidFill>
            <a:prstDash val="solid"/>
          </a:ln>
        </p:spPr>
      </p:sp>
      <p:pic>
        <p:nvPicPr>
          <p:cNvPr id="39" name="Image 4" descr="preencoded.png">    </p:cNvPr>
          <p:cNvPicPr>
            <a:picLocks noChangeAspect="1"/>
          </p:cNvPicPr>
          <p:nvPr/>
        </p:nvPicPr>
        <p:blipFill>
          <a:blip r:embed="rId6"/>
          <a:stretch>
            <a:fillRect/>
          </a:stretch>
        </p:blipFill>
        <p:spPr>
          <a:xfrm>
            <a:off x="897941" y="5588813"/>
            <a:ext cx="261518" cy="261518"/>
          </a:xfrm>
          <a:prstGeom prst="rect">
            <a:avLst/>
          </a:prstGeom>
        </p:spPr>
      </p:pic>
      <p:sp>
        <p:nvSpPr>
          <p:cNvPr id="40" name="Text 33"/>
          <p:cNvSpPr txBox="1"/>
          <p:nvPr/>
        </p:nvSpPr>
        <p:spPr>
          <a:xfrm>
            <a:off x="1463040" y="5303520"/>
            <a:ext cx="5669280" cy="868680"/>
          </a:xfrm>
          <a:prstGeom prst="rect">
            <a:avLst/>
          </a:prstGeom>
          <a:noFill/>
          <a:ln/>
        </p:spPr>
        <p:txBody>
          <a:bodyPr wrap="square" lIns="0" tIns="0" rIns="0" bIns="0" rtlCol="0" anchor="ctr"/>
          <a:lstStyle/>
          <a:p>
            <a:pPr indent="0" marL="0">
              <a:buNone/>
            </a:pPr>
            <a:r>
              <a:rPr lang="en-US" sz="1150" b="1" dirty="0">
                <a:solidFill>
                  <a:srgbClr val="F1F5F9"/>
                </a:solidFill>
                <a:latin typeface="Calibri" pitchFamily="34" charset="0"/>
                <a:ea typeface="Calibri" pitchFamily="34" charset="-122"/>
                <a:cs typeface="Calibri" pitchFamily="34" charset="-120"/>
              </a:rPr>
              <a:t>Airgap-native by construction. </a:t>
            </a:r>
            <a:pPr indent="0" marL="0">
              <a:buNone/>
            </a:pPr>
            <a:r>
              <a:rPr lang="en-US" sz="1150" dirty="0">
                <a:solidFill>
                  <a:srgbClr val="94A3B8"/>
                </a:solidFill>
                <a:latin typeface="Calibri" pitchFamily="34" charset="0"/>
                <a:ea typeface="Calibri" pitchFamily="34" charset="-122"/>
                <a:cs typeface="Calibri" pitchFamily="34" charset="-120"/>
              </a:rPr>
              <a:t>No CDN, inline SVG icons, hand-written CSS, an internal npm mirror, a Trivy-gated image and a chart with a default-deny NetworkPolicy.</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A78BFA"/>
                </a:solidFill>
                <a:latin typeface="Calibri" pitchFamily="34" charset="0"/>
                <a:ea typeface="Calibri" pitchFamily="34" charset="-122"/>
                <a:cs typeface="Calibri" pitchFamily="34" charset="-120"/>
              </a:rPr>
              <a:t>CHAPTER 04  ·  THE PORTAL &amp; WHAT COMES NEXT</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21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A console, not a Serverless UI</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The service catalog already names the platform we intend to be. Each card lights up the day its API lands.</a:t>
            </a:r>
            <a:endParaRPr lang="en-US" sz="1500" dirty="0"/>
          </a:p>
        </p:txBody>
      </p:sp>
      <p:sp>
        <p:nvSpPr>
          <p:cNvPr id="6" name="Shape 4"/>
          <p:cNvSpPr/>
          <p:nvPr/>
        </p:nvSpPr>
        <p:spPr>
          <a:xfrm>
            <a:off x="594360" y="2103120"/>
            <a:ext cx="1481328" cy="960120"/>
          </a:xfrm>
          <a:prstGeom prst="roundRect">
            <a:avLst>
              <a:gd name="adj" fmla="val 9524"/>
            </a:avLst>
          </a:prstGeom>
          <a:solidFill>
            <a:srgbClr val="121A2C"/>
          </a:solidFill>
          <a:ln w="9525">
            <a:solidFill>
              <a:srgbClr val="24304D"/>
            </a:solidFill>
            <a:prstDash val="solid"/>
          </a:ln>
        </p:spPr>
      </p:sp>
      <p:pic>
        <p:nvPicPr>
          <p:cNvPr id="7" name="Image 0" descr="preencoded.png">    </p:cNvPr>
          <p:cNvPicPr>
            <a:picLocks noChangeAspect="1"/>
          </p:cNvPicPr>
          <p:nvPr/>
        </p:nvPicPr>
        <p:blipFill>
          <a:blip r:embed="rId2"/>
          <a:stretch>
            <a:fillRect/>
          </a:stretch>
        </p:blipFill>
        <p:spPr>
          <a:xfrm>
            <a:off x="740664" y="2249424"/>
            <a:ext cx="310896" cy="310896"/>
          </a:xfrm>
          <a:prstGeom prst="rect">
            <a:avLst/>
          </a:prstGeom>
        </p:spPr>
      </p:pic>
      <p:sp>
        <p:nvSpPr>
          <p:cNvPr id="8" name="Text 5"/>
          <p:cNvSpPr txBox="1"/>
          <p:nvPr/>
        </p:nvSpPr>
        <p:spPr>
          <a:xfrm>
            <a:off x="722376" y="2606040"/>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Compute</a:t>
            </a:r>
            <a:endParaRPr lang="en-US" sz="1100" dirty="0"/>
          </a:p>
        </p:txBody>
      </p:sp>
      <p:sp>
        <p:nvSpPr>
          <p:cNvPr id="9" name="Shape 6"/>
          <p:cNvSpPr/>
          <p:nvPr/>
        </p:nvSpPr>
        <p:spPr>
          <a:xfrm>
            <a:off x="2221992" y="2103120"/>
            <a:ext cx="1481328" cy="960120"/>
          </a:xfrm>
          <a:prstGeom prst="roundRect">
            <a:avLst>
              <a:gd name="adj" fmla="val 9524"/>
            </a:avLst>
          </a:prstGeom>
          <a:solidFill>
            <a:srgbClr val="A78BFA"/>
          </a:solidFill>
          <a:ln w="12700">
            <a:solidFill>
              <a:srgbClr val="A78BFA"/>
            </a:solidFill>
            <a:prstDash val="solid"/>
          </a:ln>
          <a:effectLst>
            <a:outerShdw sx="100000" sy="100000" kx="0" ky="0" algn="bl" rotWithShape="0" blurRad="101600" dist="38100" dir="5400000">
              <a:srgbClr val="000000">
                <a:alpha val="35000"/>
              </a:srgbClr>
            </a:outerShdw>
          </a:effectLst>
        </p:spPr>
      </p:sp>
      <p:pic>
        <p:nvPicPr>
          <p:cNvPr id="10" name="Image 1" descr="preencoded.png">    </p:cNvPr>
          <p:cNvPicPr>
            <a:picLocks noChangeAspect="1"/>
          </p:cNvPicPr>
          <p:nvPr/>
        </p:nvPicPr>
        <p:blipFill>
          <a:blip r:embed="rId3"/>
          <a:stretch>
            <a:fillRect/>
          </a:stretch>
        </p:blipFill>
        <p:spPr>
          <a:xfrm>
            <a:off x="2368296" y="2249424"/>
            <a:ext cx="310896" cy="310896"/>
          </a:xfrm>
          <a:prstGeom prst="rect">
            <a:avLst/>
          </a:prstGeom>
        </p:spPr>
      </p:pic>
      <p:sp>
        <p:nvSpPr>
          <p:cNvPr id="11" name="Text 7"/>
          <p:cNvSpPr txBox="1"/>
          <p:nvPr/>
        </p:nvSpPr>
        <p:spPr>
          <a:xfrm>
            <a:off x="2350008" y="2606040"/>
            <a:ext cx="1225296" cy="274320"/>
          </a:xfrm>
          <a:prstGeom prst="rect">
            <a:avLst/>
          </a:prstGeom>
          <a:noFill/>
          <a:ln/>
        </p:spPr>
        <p:txBody>
          <a:bodyPr wrap="square" lIns="0" tIns="0" rIns="0" bIns="0" rtlCol="0" anchor="ctr"/>
          <a:lstStyle/>
          <a:p>
            <a:pPr indent="0" marL="0">
              <a:buNone/>
            </a:pPr>
            <a:r>
              <a:rPr lang="en-US" sz="1100" b="1" dirty="0">
                <a:solidFill>
                  <a:srgbClr val="0B1120"/>
                </a:solidFill>
                <a:latin typeface="Calibri" pitchFamily="34" charset="0"/>
                <a:ea typeface="Calibri" pitchFamily="34" charset="-122"/>
                <a:cs typeface="Calibri" pitchFamily="34" charset="-120"/>
              </a:rPr>
              <a:t>Serverless</a:t>
            </a:r>
            <a:endParaRPr lang="en-US" sz="1100" dirty="0"/>
          </a:p>
        </p:txBody>
      </p:sp>
      <p:sp>
        <p:nvSpPr>
          <p:cNvPr id="12" name="Text 8"/>
          <p:cNvSpPr txBox="1"/>
          <p:nvPr/>
        </p:nvSpPr>
        <p:spPr>
          <a:xfrm>
            <a:off x="3154680" y="2231136"/>
            <a:ext cx="457200" cy="201168"/>
          </a:xfrm>
          <a:prstGeom prst="rect">
            <a:avLst/>
          </a:prstGeom>
          <a:noFill/>
          <a:ln/>
        </p:spPr>
        <p:txBody>
          <a:bodyPr wrap="square" lIns="0" tIns="0" rIns="0" bIns="0" rtlCol="0" anchor="ctr"/>
          <a:lstStyle/>
          <a:p>
            <a:pPr algn="r" indent="0" marL="0">
              <a:buNone/>
            </a:pPr>
            <a:r>
              <a:rPr lang="en-US" sz="800" b="1" dirty="0">
                <a:solidFill>
                  <a:srgbClr val="0B1120"/>
                </a:solidFill>
                <a:latin typeface="Courier New" pitchFamily="34" charset="0"/>
                <a:ea typeface="Courier New" pitchFamily="34" charset="-122"/>
                <a:cs typeface="Courier New" pitchFamily="34" charset="-120"/>
              </a:rPr>
              <a:t>LIVE</a:t>
            </a:r>
            <a:endParaRPr lang="en-US" sz="800" dirty="0"/>
          </a:p>
        </p:txBody>
      </p:sp>
      <p:sp>
        <p:nvSpPr>
          <p:cNvPr id="13" name="Shape 9"/>
          <p:cNvSpPr/>
          <p:nvPr/>
        </p:nvSpPr>
        <p:spPr>
          <a:xfrm>
            <a:off x="3849624" y="2103120"/>
            <a:ext cx="1481328" cy="960120"/>
          </a:xfrm>
          <a:prstGeom prst="roundRect">
            <a:avLst>
              <a:gd name="adj" fmla="val 9524"/>
            </a:avLst>
          </a:prstGeom>
          <a:solidFill>
            <a:srgbClr val="121A2C"/>
          </a:solidFill>
          <a:ln w="9525">
            <a:solidFill>
              <a:srgbClr val="24304D"/>
            </a:solidFill>
            <a:prstDash val="solid"/>
          </a:ln>
        </p:spPr>
      </p:sp>
      <p:pic>
        <p:nvPicPr>
          <p:cNvPr id="14" name="Image 2" descr="preencoded.png">    </p:cNvPr>
          <p:cNvPicPr>
            <a:picLocks noChangeAspect="1"/>
          </p:cNvPicPr>
          <p:nvPr/>
        </p:nvPicPr>
        <p:blipFill>
          <a:blip r:embed="rId4"/>
          <a:stretch>
            <a:fillRect/>
          </a:stretch>
        </p:blipFill>
        <p:spPr>
          <a:xfrm>
            <a:off x="3995928" y="2249424"/>
            <a:ext cx="310896" cy="310896"/>
          </a:xfrm>
          <a:prstGeom prst="rect">
            <a:avLst/>
          </a:prstGeom>
        </p:spPr>
      </p:pic>
      <p:sp>
        <p:nvSpPr>
          <p:cNvPr id="15" name="Text 10"/>
          <p:cNvSpPr txBox="1"/>
          <p:nvPr/>
        </p:nvSpPr>
        <p:spPr>
          <a:xfrm>
            <a:off x="3977640" y="2606040"/>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Databases</a:t>
            </a:r>
            <a:endParaRPr lang="en-US" sz="1100" dirty="0"/>
          </a:p>
        </p:txBody>
      </p:sp>
      <p:sp>
        <p:nvSpPr>
          <p:cNvPr id="16" name="Shape 11"/>
          <p:cNvSpPr/>
          <p:nvPr/>
        </p:nvSpPr>
        <p:spPr>
          <a:xfrm>
            <a:off x="5477256" y="2103120"/>
            <a:ext cx="1481328" cy="960120"/>
          </a:xfrm>
          <a:prstGeom prst="roundRect">
            <a:avLst>
              <a:gd name="adj" fmla="val 9524"/>
            </a:avLst>
          </a:prstGeom>
          <a:solidFill>
            <a:srgbClr val="121A2C"/>
          </a:solidFill>
          <a:ln w="9525">
            <a:solidFill>
              <a:srgbClr val="24304D"/>
            </a:solidFill>
            <a:prstDash val="solid"/>
          </a:ln>
        </p:spPr>
      </p:sp>
      <p:pic>
        <p:nvPicPr>
          <p:cNvPr id="17" name="Image 3" descr="preencoded.png">    </p:cNvPr>
          <p:cNvPicPr>
            <a:picLocks noChangeAspect="1"/>
          </p:cNvPicPr>
          <p:nvPr/>
        </p:nvPicPr>
        <p:blipFill>
          <a:blip r:embed="rId5"/>
          <a:stretch>
            <a:fillRect/>
          </a:stretch>
        </p:blipFill>
        <p:spPr>
          <a:xfrm>
            <a:off x="5623560" y="2249424"/>
            <a:ext cx="310896" cy="310896"/>
          </a:xfrm>
          <a:prstGeom prst="rect">
            <a:avLst/>
          </a:prstGeom>
        </p:spPr>
      </p:pic>
      <p:sp>
        <p:nvSpPr>
          <p:cNvPr id="18" name="Text 12"/>
          <p:cNvSpPr txBox="1"/>
          <p:nvPr/>
        </p:nvSpPr>
        <p:spPr>
          <a:xfrm>
            <a:off x="5605272" y="2606040"/>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Networking</a:t>
            </a:r>
            <a:endParaRPr lang="en-US" sz="1100" dirty="0"/>
          </a:p>
        </p:txBody>
      </p:sp>
      <p:sp>
        <p:nvSpPr>
          <p:cNvPr id="19" name="Shape 13"/>
          <p:cNvSpPr/>
          <p:nvPr/>
        </p:nvSpPr>
        <p:spPr>
          <a:xfrm>
            <a:off x="594360" y="3209544"/>
            <a:ext cx="1481328" cy="960120"/>
          </a:xfrm>
          <a:prstGeom prst="roundRect">
            <a:avLst>
              <a:gd name="adj" fmla="val 9524"/>
            </a:avLst>
          </a:prstGeom>
          <a:solidFill>
            <a:srgbClr val="121A2C"/>
          </a:solidFill>
          <a:ln w="9525">
            <a:solidFill>
              <a:srgbClr val="A78BFA"/>
            </a:solidFill>
            <a:prstDash val="solid"/>
          </a:ln>
        </p:spPr>
      </p:sp>
      <p:pic>
        <p:nvPicPr>
          <p:cNvPr id="20" name="Image 4" descr="preencoded.png">    </p:cNvPr>
          <p:cNvPicPr>
            <a:picLocks noChangeAspect="1"/>
          </p:cNvPicPr>
          <p:nvPr/>
        </p:nvPicPr>
        <p:blipFill>
          <a:blip r:embed="rId6"/>
          <a:stretch>
            <a:fillRect/>
          </a:stretch>
        </p:blipFill>
        <p:spPr>
          <a:xfrm>
            <a:off x="740664" y="3355848"/>
            <a:ext cx="310896" cy="310896"/>
          </a:xfrm>
          <a:prstGeom prst="rect">
            <a:avLst/>
          </a:prstGeom>
        </p:spPr>
      </p:pic>
      <p:sp>
        <p:nvSpPr>
          <p:cNvPr id="21" name="Text 14"/>
          <p:cNvSpPr txBox="1"/>
          <p:nvPr/>
        </p:nvSpPr>
        <p:spPr>
          <a:xfrm>
            <a:off x="722376" y="3712464"/>
            <a:ext cx="1225296" cy="274320"/>
          </a:xfrm>
          <a:prstGeom prst="rect">
            <a:avLst/>
          </a:prstGeom>
          <a:noFill/>
          <a:ln/>
        </p:spPr>
        <p:txBody>
          <a:bodyPr wrap="square" lIns="0" tIns="0" rIns="0" bIns="0" rtlCol="0" anchor="ctr"/>
          <a:lstStyle/>
          <a:p>
            <a:pPr indent="0" marL="0">
              <a:buNone/>
            </a:pPr>
            <a:r>
              <a:rPr lang="en-US" sz="1100" b="1" dirty="0">
                <a:solidFill>
                  <a:srgbClr val="F1F5F9"/>
                </a:solidFill>
                <a:latin typeface="Calibri" pitchFamily="34" charset="0"/>
                <a:ea typeface="Calibri" pitchFamily="34" charset="-122"/>
                <a:cs typeface="Calibri" pitchFamily="34" charset="-120"/>
              </a:rPr>
              <a:t>Object Storage</a:t>
            </a:r>
            <a:endParaRPr lang="en-US" sz="1100" dirty="0"/>
          </a:p>
        </p:txBody>
      </p:sp>
      <p:sp>
        <p:nvSpPr>
          <p:cNvPr id="22" name="Text 15"/>
          <p:cNvSpPr txBox="1"/>
          <p:nvPr/>
        </p:nvSpPr>
        <p:spPr>
          <a:xfrm>
            <a:off x="1527048" y="3337560"/>
            <a:ext cx="457200" cy="201168"/>
          </a:xfrm>
          <a:prstGeom prst="rect">
            <a:avLst/>
          </a:prstGeom>
          <a:noFill/>
          <a:ln/>
        </p:spPr>
        <p:txBody>
          <a:bodyPr wrap="square" lIns="0" tIns="0" rIns="0" bIns="0" rtlCol="0" anchor="ctr"/>
          <a:lstStyle/>
          <a:p>
            <a:pPr algn="r" indent="0" marL="0">
              <a:buNone/>
            </a:pPr>
            <a:r>
              <a:rPr lang="en-US" sz="800" b="1" dirty="0">
                <a:solidFill>
                  <a:srgbClr val="A78BFA"/>
                </a:solidFill>
                <a:latin typeface="Courier New" pitchFamily="34" charset="0"/>
                <a:ea typeface="Courier New" pitchFamily="34" charset="-122"/>
                <a:cs typeface="Courier New" pitchFamily="34" charset="-120"/>
              </a:rPr>
              <a:t>NEXT</a:t>
            </a:r>
            <a:endParaRPr lang="en-US" sz="800" dirty="0"/>
          </a:p>
        </p:txBody>
      </p:sp>
      <p:sp>
        <p:nvSpPr>
          <p:cNvPr id="23" name="Shape 16"/>
          <p:cNvSpPr/>
          <p:nvPr/>
        </p:nvSpPr>
        <p:spPr>
          <a:xfrm>
            <a:off x="2221992" y="3209544"/>
            <a:ext cx="1481328" cy="960120"/>
          </a:xfrm>
          <a:prstGeom prst="roundRect">
            <a:avLst>
              <a:gd name="adj" fmla="val 9524"/>
            </a:avLst>
          </a:prstGeom>
          <a:solidFill>
            <a:srgbClr val="121A2C"/>
          </a:solidFill>
          <a:ln w="9525">
            <a:solidFill>
              <a:srgbClr val="24304D"/>
            </a:solidFill>
            <a:prstDash val="solid"/>
          </a:ln>
        </p:spPr>
      </p:sp>
      <p:pic>
        <p:nvPicPr>
          <p:cNvPr id="24" name="Image 5" descr="preencoded.png">    </p:cNvPr>
          <p:cNvPicPr>
            <a:picLocks noChangeAspect="1"/>
          </p:cNvPicPr>
          <p:nvPr/>
        </p:nvPicPr>
        <p:blipFill>
          <a:blip r:embed="rId7"/>
          <a:stretch>
            <a:fillRect/>
          </a:stretch>
        </p:blipFill>
        <p:spPr>
          <a:xfrm>
            <a:off x="2368296" y="3355848"/>
            <a:ext cx="310896" cy="310896"/>
          </a:xfrm>
          <a:prstGeom prst="rect">
            <a:avLst/>
          </a:prstGeom>
        </p:spPr>
      </p:pic>
      <p:sp>
        <p:nvSpPr>
          <p:cNvPr id="25" name="Text 17"/>
          <p:cNvSpPr txBox="1"/>
          <p:nvPr/>
        </p:nvSpPr>
        <p:spPr>
          <a:xfrm>
            <a:off x="2350008" y="3712464"/>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Observability</a:t>
            </a:r>
            <a:endParaRPr lang="en-US" sz="1100" dirty="0"/>
          </a:p>
        </p:txBody>
      </p:sp>
      <p:sp>
        <p:nvSpPr>
          <p:cNvPr id="26" name="Shape 18"/>
          <p:cNvSpPr/>
          <p:nvPr/>
        </p:nvSpPr>
        <p:spPr>
          <a:xfrm>
            <a:off x="3849624" y="3209544"/>
            <a:ext cx="1481328" cy="960120"/>
          </a:xfrm>
          <a:prstGeom prst="roundRect">
            <a:avLst>
              <a:gd name="adj" fmla="val 9524"/>
            </a:avLst>
          </a:prstGeom>
          <a:solidFill>
            <a:srgbClr val="121A2C"/>
          </a:solidFill>
          <a:ln w="9525">
            <a:solidFill>
              <a:srgbClr val="24304D"/>
            </a:solidFill>
            <a:prstDash val="solid"/>
          </a:ln>
        </p:spPr>
      </p:sp>
      <p:pic>
        <p:nvPicPr>
          <p:cNvPr id="27" name="Image 6" descr="preencoded.png">    </p:cNvPr>
          <p:cNvPicPr>
            <a:picLocks noChangeAspect="1"/>
          </p:cNvPicPr>
          <p:nvPr/>
        </p:nvPicPr>
        <p:blipFill>
          <a:blip r:embed="rId8"/>
          <a:stretch>
            <a:fillRect/>
          </a:stretch>
        </p:blipFill>
        <p:spPr>
          <a:xfrm>
            <a:off x="3995928" y="3355848"/>
            <a:ext cx="310896" cy="310896"/>
          </a:xfrm>
          <a:prstGeom prst="rect">
            <a:avLst/>
          </a:prstGeom>
        </p:spPr>
      </p:pic>
      <p:sp>
        <p:nvSpPr>
          <p:cNvPr id="28" name="Text 19"/>
          <p:cNvSpPr txBox="1"/>
          <p:nvPr/>
        </p:nvSpPr>
        <p:spPr>
          <a:xfrm>
            <a:off x="3977640" y="3712464"/>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Data Integration</a:t>
            </a:r>
            <a:endParaRPr lang="en-US" sz="1100" dirty="0"/>
          </a:p>
        </p:txBody>
      </p:sp>
      <p:sp>
        <p:nvSpPr>
          <p:cNvPr id="29" name="Shape 20"/>
          <p:cNvSpPr/>
          <p:nvPr/>
        </p:nvSpPr>
        <p:spPr>
          <a:xfrm>
            <a:off x="5477256" y="3209544"/>
            <a:ext cx="1481328" cy="960120"/>
          </a:xfrm>
          <a:prstGeom prst="roundRect">
            <a:avLst>
              <a:gd name="adj" fmla="val 9524"/>
            </a:avLst>
          </a:prstGeom>
          <a:solidFill>
            <a:srgbClr val="121A2C"/>
          </a:solidFill>
          <a:ln w="9525">
            <a:solidFill>
              <a:srgbClr val="24304D"/>
            </a:solidFill>
            <a:prstDash val="solid"/>
          </a:ln>
        </p:spPr>
      </p:sp>
      <p:pic>
        <p:nvPicPr>
          <p:cNvPr id="30" name="Image 7" descr="preencoded.png">    </p:cNvPr>
          <p:cNvPicPr>
            <a:picLocks noChangeAspect="1"/>
          </p:cNvPicPr>
          <p:nvPr/>
        </p:nvPicPr>
        <p:blipFill>
          <a:blip r:embed="rId9"/>
          <a:stretch>
            <a:fillRect/>
          </a:stretch>
        </p:blipFill>
        <p:spPr>
          <a:xfrm>
            <a:off x="5623560" y="3355848"/>
            <a:ext cx="310896" cy="310896"/>
          </a:xfrm>
          <a:prstGeom prst="rect">
            <a:avLst/>
          </a:prstGeom>
        </p:spPr>
      </p:pic>
      <p:sp>
        <p:nvSpPr>
          <p:cNvPr id="31" name="Text 21"/>
          <p:cNvSpPr txBox="1"/>
          <p:nvPr/>
        </p:nvSpPr>
        <p:spPr>
          <a:xfrm>
            <a:off x="5605272" y="3712464"/>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Data Analytics</a:t>
            </a:r>
            <a:endParaRPr lang="en-US" sz="1100" dirty="0"/>
          </a:p>
        </p:txBody>
      </p:sp>
      <p:sp>
        <p:nvSpPr>
          <p:cNvPr id="32" name="Shape 22"/>
          <p:cNvSpPr/>
          <p:nvPr/>
        </p:nvSpPr>
        <p:spPr>
          <a:xfrm>
            <a:off x="594360" y="4315968"/>
            <a:ext cx="1481328" cy="960120"/>
          </a:xfrm>
          <a:prstGeom prst="roundRect">
            <a:avLst>
              <a:gd name="adj" fmla="val 9524"/>
            </a:avLst>
          </a:prstGeom>
          <a:solidFill>
            <a:srgbClr val="121A2C"/>
          </a:solidFill>
          <a:ln w="9525">
            <a:solidFill>
              <a:srgbClr val="24304D"/>
            </a:solidFill>
            <a:prstDash val="solid"/>
          </a:ln>
        </p:spPr>
      </p:sp>
      <p:pic>
        <p:nvPicPr>
          <p:cNvPr id="33" name="Image 8" descr="preencoded.png">    </p:cNvPr>
          <p:cNvPicPr>
            <a:picLocks noChangeAspect="1"/>
          </p:cNvPicPr>
          <p:nvPr/>
        </p:nvPicPr>
        <p:blipFill>
          <a:blip r:embed="rId10"/>
          <a:stretch>
            <a:fillRect/>
          </a:stretch>
        </p:blipFill>
        <p:spPr>
          <a:xfrm>
            <a:off x="740664" y="4462272"/>
            <a:ext cx="310896" cy="310896"/>
          </a:xfrm>
          <a:prstGeom prst="rect">
            <a:avLst/>
          </a:prstGeom>
        </p:spPr>
      </p:pic>
      <p:sp>
        <p:nvSpPr>
          <p:cNvPr id="34" name="Text 23"/>
          <p:cNvSpPr txBox="1"/>
          <p:nvPr/>
        </p:nvSpPr>
        <p:spPr>
          <a:xfrm>
            <a:off x="722376" y="4818888"/>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Dev Tools</a:t>
            </a:r>
            <a:endParaRPr lang="en-US" sz="1100" dirty="0"/>
          </a:p>
        </p:txBody>
      </p:sp>
      <p:sp>
        <p:nvSpPr>
          <p:cNvPr id="35" name="Shape 24"/>
          <p:cNvSpPr/>
          <p:nvPr/>
        </p:nvSpPr>
        <p:spPr>
          <a:xfrm>
            <a:off x="2221992" y="4315968"/>
            <a:ext cx="1481328" cy="960120"/>
          </a:xfrm>
          <a:prstGeom prst="roundRect">
            <a:avLst>
              <a:gd name="adj" fmla="val 9524"/>
            </a:avLst>
          </a:prstGeom>
          <a:solidFill>
            <a:srgbClr val="121A2C"/>
          </a:solidFill>
          <a:ln w="9525">
            <a:solidFill>
              <a:srgbClr val="24304D"/>
            </a:solidFill>
            <a:prstDash val="solid"/>
          </a:ln>
        </p:spPr>
      </p:sp>
      <p:pic>
        <p:nvPicPr>
          <p:cNvPr id="36" name="Image 9" descr="preencoded.png">    </p:cNvPr>
          <p:cNvPicPr>
            <a:picLocks noChangeAspect="1"/>
          </p:cNvPicPr>
          <p:nvPr/>
        </p:nvPicPr>
        <p:blipFill>
          <a:blip r:embed="rId11"/>
          <a:stretch>
            <a:fillRect/>
          </a:stretch>
        </p:blipFill>
        <p:spPr>
          <a:xfrm>
            <a:off x="2368296" y="4462272"/>
            <a:ext cx="310896" cy="310896"/>
          </a:xfrm>
          <a:prstGeom prst="rect">
            <a:avLst/>
          </a:prstGeom>
        </p:spPr>
      </p:pic>
      <p:sp>
        <p:nvSpPr>
          <p:cNvPr id="37" name="Text 25"/>
          <p:cNvSpPr txBox="1"/>
          <p:nvPr/>
        </p:nvSpPr>
        <p:spPr>
          <a:xfrm>
            <a:off x="2350008" y="4818888"/>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Machine Learning</a:t>
            </a:r>
            <a:endParaRPr lang="en-US" sz="1100" dirty="0"/>
          </a:p>
        </p:txBody>
      </p:sp>
      <p:sp>
        <p:nvSpPr>
          <p:cNvPr id="38" name="Shape 26"/>
          <p:cNvSpPr/>
          <p:nvPr/>
        </p:nvSpPr>
        <p:spPr>
          <a:xfrm>
            <a:off x="3849624" y="4315968"/>
            <a:ext cx="1481328" cy="960120"/>
          </a:xfrm>
          <a:prstGeom prst="roundRect">
            <a:avLst>
              <a:gd name="adj" fmla="val 9524"/>
            </a:avLst>
          </a:prstGeom>
          <a:solidFill>
            <a:srgbClr val="121A2C"/>
          </a:solidFill>
          <a:ln w="9525">
            <a:solidFill>
              <a:srgbClr val="24304D"/>
            </a:solidFill>
            <a:prstDash val="solid"/>
          </a:ln>
        </p:spPr>
      </p:sp>
      <p:pic>
        <p:nvPicPr>
          <p:cNvPr id="39" name="Image 10" descr="preencoded.png">    </p:cNvPr>
          <p:cNvPicPr>
            <a:picLocks noChangeAspect="1"/>
          </p:cNvPicPr>
          <p:nvPr/>
        </p:nvPicPr>
        <p:blipFill>
          <a:blip r:embed="rId12"/>
          <a:stretch>
            <a:fillRect/>
          </a:stretch>
        </p:blipFill>
        <p:spPr>
          <a:xfrm>
            <a:off x="3995928" y="4462272"/>
            <a:ext cx="310896" cy="310896"/>
          </a:xfrm>
          <a:prstGeom prst="rect">
            <a:avLst/>
          </a:prstGeom>
        </p:spPr>
      </p:pic>
      <p:sp>
        <p:nvSpPr>
          <p:cNvPr id="40" name="Text 27"/>
          <p:cNvSpPr txBox="1"/>
          <p:nvPr/>
        </p:nvSpPr>
        <p:spPr>
          <a:xfrm>
            <a:off x="3977640" y="4818888"/>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Security</a:t>
            </a:r>
            <a:endParaRPr lang="en-US" sz="1100" dirty="0"/>
          </a:p>
        </p:txBody>
      </p:sp>
      <p:sp>
        <p:nvSpPr>
          <p:cNvPr id="41" name="Shape 28"/>
          <p:cNvSpPr/>
          <p:nvPr/>
        </p:nvSpPr>
        <p:spPr>
          <a:xfrm>
            <a:off x="5477256" y="4315968"/>
            <a:ext cx="1481328" cy="960120"/>
          </a:xfrm>
          <a:prstGeom prst="roundRect">
            <a:avLst>
              <a:gd name="adj" fmla="val 9524"/>
            </a:avLst>
          </a:prstGeom>
          <a:solidFill>
            <a:srgbClr val="121A2C"/>
          </a:solidFill>
          <a:ln w="9525">
            <a:solidFill>
              <a:srgbClr val="24304D"/>
            </a:solidFill>
            <a:prstDash val="dash"/>
          </a:ln>
        </p:spPr>
      </p:sp>
      <p:pic>
        <p:nvPicPr>
          <p:cNvPr id="42" name="Image 11" descr="preencoded.png">    </p:cNvPr>
          <p:cNvPicPr>
            <a:picLocks noChangeAspect="1"/>
          </p:cNvPicPr>
          <p:nvPr/>
        </p:nvPicPr>
        <p:blipFill>
          <a:blip r:embed="rId13"/>
          <a:stretch>
            <a:fillRect/>
          </a:stretch>
        </p:blipFill>
        <p:spPr>
          <a:xfrm>
            <a:off x="5623560" y="4462272"/>
            <a:ext cx="310896" cy="310896"/>
          </a:xfrm>
          <a:prstGeom prst="rect">
            <a:avLst/>
          </a:prstGeom>
        </p:spPr>
      </p:pic>
      <p:sp>
        <p:nvSpPr>
          <p:cNvPr id="43" name="Text 29"/>
          <p:cNvSpPr txBox="1"/>
          <p:nvPr/>
        </p:nvSpPr>
        <p:spPr>
          <a:xfrm>
            <a:off x="5605272" y="4818888"/>
            <a:ext cx="1225296" cy="274320"/>
          </a:xfrm>
          <a:prstGeom prst="rect">
            <a:avLst/>
          </a:prstGeom>
          <a:noFill/>
          <a:ln/>
        </p:spPr>
        <p:txBody>
          <a:bodyPr wrap="square" lIns="0" tIns="0" rIns="0" bIns="0" rtlCol="0" anchor="ctr"/>
          <a:lstStyle/>
          <a:p>
            <a:pPr indent="0" marL="0">
              <a:buNone/>
            </a:pPr>
            <a:r>
              <a:rPr lang="en-US" sz="1100" b="1" dirty="0">
                <a:solidFill>
                  <a:srgbClr val="94A3B8"/>
                </a:solidFill>
                <a:latin typeface="Calibri" pitchFamily="34" charset="0"/>
                <a:ea typeface="Calibri" pitchFamily="34" charset="-122"/>
                <a:cs typeface="Calibri" pitchFamily="34" charset="-120"/>
              </a:rPr>
              <a:t>…as data</a:t>
            </a:r>
            <a:endParaRPr lang="en-US" sz="1100" dirty="0"/>
          </a:p>
        </p:txBody>
      </p:sp>
      <p:sp>
        <p:nvSpPr>
          <p:cNvPr id="44" name="Text 30"/>
          <p:cNvSpPr txBox="1"/>
          <p:nvPr/>
        </p:nvSpPr>
        <p:spPr>
          <a:xfrm>
            <a:off x="594360" y="5440680"/>
            <a:ext cx="6400800" cy="640080"/>
          </a:xfrm>
          <a:prstGeom prst="rect">
            <a:avLst/>
          </a:prstGeom>
          <a:noFill/>
          <a:ln/>
        </p:spPr>
        <p:txBody>
          <a:bodyPr wrap="square" lIns="0" tIns="0" rIns="0" bIns="0" rtlCol="0" anchor="t"/>
          <a:lstStyle/>
          <a:p>
            <a:pPr algn="l" indent="0" marL="0">
              <a:buNone/>
            </a:pPr>
            <a:r>
              <a:rPr lang="en-US" sz="1100" i="1" dirty="0">
                <a:solidFill>
                  <a:srgbClr val="94A3B8"/>
                </a:solidFill>
                <a:latin typeface="Calibri" pitchFamily="34" charset="0"/>
                <a:ea typeface="Calibri" pitchFamily="34" charset="-122"/>
                <a:cs typeface="Calibri" pitchFamily="34" charset="-120"/>
              </a:rPr>
              <a:t>Object Storage already has its hook: PORTAL_STORAGE_API_URL. Set it, and the card is a product.</a:t>
            </a:r>
            <a:endParaRPr lang="en-US" sz="1100" dirty="0"/>
          </a:p>
        </p:txBody>
      </p:sp>
      <p:sp>
        <p:nvSpPr>
          <p:cNvPr id="45" name="Shape 31"/>
          <p:cNvSpPr/>
          <p:nvPr/>
        </p:nvSpPr>
        <p:spPr>
          <a:xfrm>
            <a:off x="7452360" y="2121408"/>
            <a:ext cx="512064" cy="512064"/>
          </a:xfrm>
          <a:prstGeom prst="roundRect">
            <a:avLst>
              <a:gd name="adj" fmla="val 17857"/>
            </a:avLst>
          </a:prstGeom>
          <a:solidFill>
            <a:srgbClr val="A78BFA">
              <a:alpha val="18000"/>
            </a:srgbClr>
          </a:solidFill>
          <a:ln w="6350">
            <a:solidFill>
              <a:srgbClr val="A78BFA">
                <a:alpha val="60000"/>
              </a:srgbClr>
            </a:solidFill>
            <a:prstDash val="solid"/>
          </a:ln>
        </p:spPr>
      </p:sp>
      <p:pic>
        <p:nvPicPr>
          <p:cNvPr id="46" name="Image 12" descr="preencoded.png">    </p:cNvPr>
          <p:cNvPicPr>
            <a:picLocks noChangeAspect="1"/>
          </p:cNvPicPr>
          <p:nvPr/>
        </p:nvPicPr>
        <p:blipFill>
          <a:blip r:embed="rId14"/>
          <a:stretch>
            <a:fillRect/>
          </a:stretch>
        </p:blipFill>
        <p:spPr>
          <a:xfrm>
            <a:off x="7575255" y="2244303"/>
            <a:ext cx="266273" cy="266273"/>
          </a:xfrm>
          <a:prstGeom prst="rect">
            <a:avLst/>
          </a:prstGeom>
        </p:spPr>
      </p:pic>
      <p:sp>
        <p:nvSpPr>
          <p:cNvPr id="47" name="Text 32"/>
          <p:cNvSpPr txBox="1"/>
          <p:nvPr/>
        </p:nvSpPr>
        <p:spPr>
          <a:xfrm>
            <a:off x="8165592" y="2103120"/>
            <a:ext cx="344728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An offering is data, not code</a:t>
            </a:r>
            <a:endParaRPr lang="en-US" sz="1500" dirty="0"/>
          </a:p>
        </p:txBody>
      </p:sp>
      <p:sp>
        <p:nvSpPr>
          <p:cNvPr id="48" name="Text 33"/>
          <p:cNvSpPr txBox="1"/>
          <p:nvPr/>
        </p:nvSpPr>
        <p:spPr>
          <a:xfrm>
            <a:off x="8165592" y="2404872"/>
            <a:ext cx="3447288" cy="704088"/>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PORTAL_SERVICES JSON or PORTAL_&lt;NAME&gt;_API_URL adds a card, a route and nav entries. Unknown ids are appended.</a:t>
            </a:r>
            <a:endParaRPr lang="en-US" sz="1050" dirty="0"/>
          </a:p>
        </p:txBody>
      </p:sp>
      <p:sp>
        <p:nvSpPr>
          <p:cNvPr id="49" name="Shape 34"/>
          <p:cNvSpPr/>
          <p:nvPr/>
        </p:nvSpPr>
        <p:spPr>
          <a:xfrm>
            <a:off x="7452360" y="3172968"/>
            <a:ext cx="512064" cy="512064"/>
          </a:xfrm>
          <a:prstGeom prst="roundRect">
            <a:avLst>
              <a:gd name="adj" fmla="val 17857"/>
            </a:avLst>
          </a:prstGeom>
          <a:solidFill>
            <a:srgbClr val="A78BFA">
              <a:alpha val="18000"/>
            </a:srgbClr>
          </a:solidFill>
          <a:ln w="6350">
            <a:solidFill>
              <a:srgbClr val="A78BFA">
                <a:alpha val="60000"/>
              </a:srgbClr>
            </a:solidFill>
            <a:prstDash val="solid"/>
          </a:ln>
        </p:spPr>
      </p:sp>
      <p:pic>
        <p:nvPicPr>
          <p:cNvPr id="50" name="Image 13" descr="preencoded.png">    </p:cNvPr>
          <p:cNvPicPr>
            <a:picLocks noChangeAspect="1"/>
          </p:cNvPicPr>
          <p:nvPr/>
        </p:nvPicPr>
        <p:blipFill>
          <a:blip r:embed="rId15"/>
          <a:stretch>
            <a:fillRect/>
          </a:stretch>
        </p:blipFill>
        <p:spPr>
          <a:xfrm>
            <a:off x="7575255" y="3295863"/>
            <a:ext cx="266273" cy="266273"/>
          </a:xfrm>
          <a:prstGeom prst="rect">
            <a:avLst/>
          </a:prstGeom>
        </p:spPr>
      </p:pic>
      <p:sp>
        <p:nvSpPr>
          <p:cNvPr id="51" name="Text 35"/>
          <p:cNvSpPr txBox="1"/>
          <p:nvPr/>
        </p:nvSpPr>
        <p:spPr>
          <a:xfrm>
            <a:off x="8165592" y="3154680"/>
            <a:ext cx="344728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The shell is already generic</a:t>
            </a:r>
            <a:endParaRPr lang="en-US" sz="1500" dirty="0"/>
          </a:p>
        </p:txBody>
      </p:sp>
      <p:sp>
        <p:nvSpPr>
          <p:cNvPr id="52" name="Text 36"/>
          <p:cNvSpPr txBox="1"/>
          <p:nvPr/>
        </p:nvSpPr>
        <p:spPr>
          <a:xfrm>
            <a:off x="8165592" y="3456432"/>
            <a:ext cx="3447288" cy="704088"/>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TopBar, SideNav, auth, the group cookie, theme, icons. Only the serverless tree and its client are product-specific.</a:t>
            </a:r>
            <a:endParaRPr lang="en-US" sz="1050" dirty="0"/>
          </a:p>
        </p:txBody>
      </p:sp>
      <p:sp>
        <p:nvSpPr>
          <p:cNvPr id="53" name="Shape 37"/>
          <p:cNvSpPr/>
          <p:nvPr/>
        </p:nvSpPr>
        <p:spPr>
          <a:xfrm>
            <a:off x="7452360" y="4224528"/>
            <a:ext cx="512064" cy="512064"/>
          </a:xfrm>
          <a:prstGeom prst="roundRect">
            <a:avLst>
              <a:gd name="adj" fmla="val 17857"/>
            </a:avLst>
          </a:prstGeom>
          <a:solidFill>
            <a:srgbClr val="A78BFA">
              <a:alpha val="18000"/>
            </a:srgbClr>
          </a:solidFill>
          <a:ln w="6350">
            <a:solidFill>
              <a:srgbClr val="A78BFA">
                <a:alpha val="60000"/>
              </a:srgbClr>
            </a:solidFill>
            <a:prstDash val="solid"/>
          </a:ln>
        </p:spPr>
      </p:sp>
      <p:pic>
        <p:nvPicPr>
          <p:cNvPr id="54" name="Image 14" descr="preencoded.png">    </p:cNvPr>
          <p:cNvPicPr>
            <a:picLocks noChangeAspect="1"/>
          </p:cNvPicPr>
          <p:nvPr/>
        </p:nvPicPr>
        <p:blipFill>
          <a:blip r:embed="rId16"/>
          <a:stretch>
            <a:fillRect/>
          </a:stretch>
        </p:blipFill>
        <p:spPr>
          <a:xfrm>
            <a:off x="7575255" y="4347423"/>
            <a:ext cx="266273" cy="266273"/>
          </a:xfrm>
          <a:prstGeom prst="rect">
            <a:avLst/>
          </a:prstGeom>
        </p:spPr>
      </p:pic>
      <p:sp>
        <p:nvSpPr>
          <p:cNvPr id="55" name="Text 38"/>
          <p:cNvSpPr txBox="1"/>
          <p:nvPr/>
        </p:nvSpPr>
        <p:spPr>
          <a:xfrm>
            <a:off x="8165592" y="4206240"/>
            <a:ext cx="344728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The reusable shape is legible</a:t>
            </a:r>
            <a:endParaRPr lang="en-US" sz="1500" dirty="0"/>
          </a:p>
        </p:txBody>
      </p:sp>
      <p:sp>
        <p:nvSpPr>
          <p:cNvPr id="56" name="Text 39"/>
          <p:cNvSpPr txBox="1"/>
          <p:nvPr/>
        </p:nvSpPr>
        <p:spPr>
          <a:xfrm>
            <a:off x="8165592" y="4507992"/>
            <a:ext cx="3447288" cy="704088"/>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A lib/&lt;id&gt;.ts client, an actions.ts, one context gate per product, and forms driven by that API's /info.</a:t>
            </a:r>
            <a:endParaRPr lang="en-US" sz="1050" dirty="0"/>
          </a:p>
        </p:txBody>
      </p:sp>
      <p:sp>
        <p:nvSpPr>
          <p:cNvPr id="57" name="Shape 40"/>
          <p:cNvSpPr/>
          <p:nvPr/>
        </p:nvSpPr>
        <p:spPr>
          <a:xfrm>
            <a:off x="7452360" y="5276088"/>
            <a:ext cx="512064" cy="512064"/>
          </a:xfrm>
          <a:prstGeom prst="roundRect">
            <a:avLst>
              <a:gd name="adj" fmla="val 17857"/>
            </a:avLst>
          </a:prstGeom>
          <a:solidFill>
            <a:srgbClr val="A78BFA">
              <a:alpha val="18000"/>
            </a:srgbClr>
          </a:solidFill>
          <a:ln w="6350">
            <a:solidFill>
              <a:srgbClr val="A78BFA">
                <a:alpha val="60000"/>
              </a:srgbClr>
            </a:solidFill>
            <a:prstDash val="solid"/>
          </a:ln>
        </p:spPr>
      </p:sp>
      <p:pic>
        <p:nvPicPr>
          <p:cNvPr id="58" name="Image 15" descr="preencoded.png">    </p:cNvPr>
          <p:cNvPicPr>
            <a:picLocks noChangeAspect="1"/>
          </p:cNvPicPr>
          <p:nvPr/>
        </p:nvPicPr>
        <p:blipFill>
          <a:blip r:embed="rId17"/>
          <a:stretch>
            <a:fillRect/>
          </a:stretch>
        </p:blipFill>
        <p:spPr>
          <a:xfrm>
            <a:off x="7575255" y="5398983"/>
            <a:ext cx="266273" cy="266273"/>
          </a:xfrm>
          <a:prstGeom prst="rect">
            <a:avLst/>
          </a:prstGeom>
        </p:spPr>
      </p:pic>
      <p:sp>
        <p:nvSpPr>
          <p:cNvPr id="59" name="Text 41"/>
          <p:cNvSpPr txBox="1"/>
          <p:nvPr/>
        </p:nvSpPr>
        <p:spPr>
          <a:xfrm>
            <a:off x="8165592" y="5257800"/>
            <a:ext cx="3447288" cy="292608"/>
          </a:xfrm>
          <a:prstGeom prst="rect">
            <a:avLst/>
          </a:prstGeom>
          <a:noFill/>
          <a:ln/>
        </p:spPr>
        <p:txBody>
          <a:bodyPr wrap="square" lIns="0" tIns="0" rIns="0" bIns="0" rtlCol="0" anchor="ctr"/>
          <a:lstStyle/>
          <a:p>
            <a:pPr indent="0" marL="0">
              <a:buNone/>
            </a:pPr>
            <a:r>
              <a:rPr lang="en-US" sz="1500" b="1" dirty="0">
                <a:solidFill>
                  <a:srgbClr val="F1F5F9"/>
                </a:solidFill>
                <a:latin typeface="Calibri" pitchFamily="34" charset="0"/>
                <a:ea typeface="Calibri" pitchFamily="34" charset="-122"/>
                <a:cs typeface="Calibri" pitchFamily="34" charset="-120"/>
              </a:rPr>
              <a:t>What we do next</a:t>
            </a:r>
            <a:endParaRPr lang="en-US" sz="1500" dirty="0"/>
          </a:p>
        </p:txBody>
      </p:sp>
      <p:sp>
        <p:nvSpPr>
          <p:cNvPr id="60" name="Text 42"/>
          <p:cNvSpPr txBox="1"/>
          <p:nvPr/>
        </p:nvSpPr>
        <p:spPr>
          <a:xfrm>
            <a:off x="8165592" y="5559552"/>
            <a:ext cx="3447288" cy="704088"/>
          </a:xfrm>
          <a:prstGeom prst="rect">
            <a:avLst/>
          </a:prstGeom>
          <a:noFill/>
          <a:ln/>
        </p:spPr>
        <p:txBody>
          <a:bodyPr wrap="square" lIns="0" tIns="0" rIns="0" bIns="0" rtlCol="0" anchor="t"/>
          <a:lstStyle/>
          <a:p>
            <a:pPr indent="0" marL="0">
              <a:buNone/>
            </a:pPr>
            <a:r>
              <a:rPr lang="en-US" sz="1050" dirty="0">
                <a:solidFill>
                  <a:srgbClr val="94A3B8"/>
                </a:solidFill>
                <a:latin typeface="Calibri" pitchFamily="34" charset="0"/>
                <a:ea typeface="Calibri" pitchFamily="34" charset="-122"/>
                <a:cs typeface="Calibri" pitchFamily="34" charset="-120"/>
              </a:rPr>
              <a:t>Lift a shared resource layer out of the serverless tree, and generate the TypeScript client from /openapi.json so the contract stops being copied by hand.</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347472"/>
            <a:ext cx="7315200" cy="274320"/>
          </a:xfrm>
          <a:prstGeom prst="rect">
            <a:avLst/>
          </a:prstGeom>
          <a:noFill/>
          <a:ln/>
        </p:spPr>
        <p:txBody>
          <a:bodyPr wrap="square" lIns="0" tIns="0" rIns="0" bIns="0" rtlCol="0" anchor="ctr"/>
          <a:lstStyle/>
          <a:p>
            <a:pPr indent="0" marL="0">
              <a:buNone/>
            </a:pPr>
            <a:r>
              <a:rPr lang="en-US" sz="1050" b="1" spc="300" kern="0" dirty="0">
                <a:solidFill>
                  <a:srgbClr val="A78BFA"/>
                </a:solidFill>
                <a:latin typeface="Calibri" pitchFamily="34" charset="0"/>
                <a:ea typeface="Calibri" pitchFamily="34" charset="-122"/>
                <a:cs typeface="Calibri" pitchFamily="34" charset="-120"/>
              </a:rPr>
              <a:t>CHAPTER 04  ·  THE PORTAL &amp; WHAT COMES NEXT</a:t>
            </a:r>
            <a:endParaRPr lang="en-US" sz="1050" dirty="0"/>
          </a:p>
        </p:txBody>
      </p:sp>
      <p:sp>
        <p:nvSpPr>
          <p:cNvPr id="3" name="Text 1"/>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22 / 23</a:t>
            </a:r>
            <a:endParaRPr lang="en-US" sz="950" dirty="0"/>
          </a:p>
        </p:txBody>
      </p:sp>
      <p:sp>
        <p:nvSpPr>
          <p:cNvPr id="4" name="Text 2"/>
          <p:cNvSpPr txBox="1"/>
          <p:nvPr/>
        </p:nvSpPr>
        <p:spPr>
          <a:xfrm>
            <a:off x="594360" y="658368"/>
            <a:ext cx="11000232" cy="731520"/>
          </a:xfrm>
          <a:prstGeom prst="rect">
            <a:avLst/>
          </a:prstGeom>
          <a:noFill/>
          <a:ln/>
        </p:spPr>
        <p:txBody>
          <a:bodyPr wrap="square" lIns="0" tIns="0" rIns="0" bIns="0" rtlCol="0" anchor="ctr"/>
          <a:lstStyle/>
          <a:p>
            <a:pPr indent="0" marL="0">
              <a:buNone/>
            </a:pPr>
            <a:r>
              <a:rPr lang="en-US" sz="3400" b="1" dirty="0">
                <a:solidFill>
                  <a:srgbClr val="F1F5F9"/>
                </a:solidFill>
                <a:latin typeface="Cambria" pitchFamily="34" charset="0"/>
                <a:ea typeface="Cambria" pitchFamily="34" charset="-122"/>
                <a:cs typeface="Cambria" pitchFamily="34" charset="-120"/>
              </a:rPr>
              <a:t>cloudlet-apis: the next API starts at step five</a:t>
            </a:r>
            <a:endParaRPr lang="en-US" sz="3400" dirty="0"/>
          </a:p>
        </p:txBody>
      </p:sp>
      <p:sp>
        <p:nvSpPr>
          <p:cNvPr id="5" name="Text 3"/>
          <p:cNvSpPr txBox="1"/>
          <p:nvPr/>
        </p:nvSpPr>
        <p:spPr>
          <a:xfrm>
            <a:off x="594360" y="1371600"/>
            <a:ext cx="10543032" cy="457200"/>
          </a:xfrm>
          <a:prstGeom prst="rect">
            <a:avLst/>
          </a:prstGeom>
          <a:noFill/>
          <a:ln/>
        </p:spPr>
        <p:txBody>
          <a:bodyPr wrap="square" lIns="0" tIns="0" rIns="0" bIns="0" rtlCol="0" anchor="t"/>
          <a:lstStyle/>
          <a:p>
            <a:pPr indent="0" marL="0">
              <a:buNone/>
            </a:pPr>
            <a:r>
              <a:rPr lang="en-US" sz="1500" i="1" dirty="0">
                <a:solidFill>
                  <a:srgbClr val="94A3B8"/>
                </a:solidFill>
                <a:latin typeface="Calibri" pitchFamily="34" charset="0"/>
                <a:ea typeface="Calibri" pitchFamily="34" charset="-122"/>
                <a:cs typeface="Calibri" pitchFamily="34" charset="-120"/>
              </a:rPr>
              <a:t>Everything we got right building the Serverless API, published as a library instead of copied into the next repo.</a:t>
            </a:r>
            <a:endParaRPr lang="en-US" sz="1500" dirty="0"/>
          </a:p>
        </p:txBody>
      </p:sp>
      <p:sp>
        <p:nvSpPr>
          <p:cNvPr id="6" name="Shape 4"/>
          <p:cNvSpPr/>
          <p:nvPr/>
        </p:nvSpPr>
        <p:spPr>
          <a:xfrm>
            <a:off x="594360" y="2103120"/>
            <a:ext cx="4937760" cy="1051560"/>
          </a:xfrm>
          <a:prstGeom prst="roundRect">
            <a:avLst>
              <a:gd name="adj" fmla="val 8696"/>
            </a:avLst>
          </a:prstGeom>
          <a:solidFill>
            <a:srgbClr val="18213A"/>
          </a:solidFill>
          <a:ln w="12700">
            <a:solidFill>
              <a:srgbClr val="A78BFA"/>
            </a:solidFill>
            <a:prstDash val="solid"/>
          </a:ln>
          <a:effectLst>
            <a:outerShdw sx="100000" sy="100000" kx="0" ky="0" algn="bl" rotWithShape="0" blurRad="101600" dist="38100" dir="5400000">
              <a:srgbClr val="000000">
                <a:alpha val="35000"/>
              </a:srgbClr>
            </a:outerShdw>
          </a:effectLst>
        </p:spPr>
      </p:sp>
      <p:sp>
        <p:nvSpPr>
          <p:cNvPr id="7" name="Text 5"/>
          <p:cNvSpPr txBox="1"/>
          <p:nvPr/>
        </p:nvSpPr>
        <p:spPr>
          <a:xfrm>
            <a:off x="777240" y="2212848"/>
            <a:ext cx="1188720" cy="365760"/>
          </a:xfrm>
          <a:prstGeom prst="rect">
            <a:avLst/>
          </a:prstGeom>
          <a:noFill/>
          <a:ln/>
        </p:spPr>
        <p:txBody>
          <a:bodyPr wrap="square" lIns="0" tIns="0" rIns="0" bIns="0" rtlCol="0" anchor="ctr"/>
          <a:lstStyle/>
          <a:p>
            <a:pPr indent="0" marL="0">
              <a:buNone/>
            </a:pPr>
            <a:r>
              <a:rPr lang="en-US" sz="1400" b="1" dirty="0">
                <a:solidFill>
                  <a:srgbClr val="A78BFA"/>
                </a:solidFill>
                <a:latin typeface="Courier New" pitchFamily="34" charset="0"/>
                <a:ea typeface="Courier New" pitchFamily="34" charset="-122"/>
                <a:cs typeface="Courier New" pitchFamily="34" charset="-120"/>
              </a:rPr>
              <a:t>[auth]</a:t>
            </a:r>
            <a:endParaRPr lang="en-US" sz="1400" dirty="0"/>
          </a:p>
        </p:txBody>
      </p:sp>
      <p:sp>
        <p:nvSpPr>
          <p:cNvPr id="8" name="Text 6"/>
          <p:cNvSpPr txBox="1"/>
          <p:nvPr/>
        </p:nvSpPr>
        <p:spPr>
          <a:xfrm>
            <a:off x="1965960" y="2231136"/>
            <a:ext cx="3383280" cy="320040"/>
          </a:xfrm>
          <a:prstGeom prst="rect">
            <a:avLst/>
          </a:prstGeom>
          <a:noFill/>
          <a:ln/>
        </p:spPr>
        <p:txBody>
          <a:bodyPr wrap="square" lIns="0" tIns="0" rIns="0" bIns="0" rtlCol="0" anchor="ctr"/>
          <a:lstStyle/>
          <a:p>
            <a:pPr algn="r" indent="0" marL="0">
              <a:buNone/>
            </a:pPr>
            <a:r>
              <a:rPr lang="en-US" sz="900" dirty="0">
                <a:solidFill>
                  <a:srgbClr val="5B6B8A"/>
                </a:solidFill>
                <a:latin typeface="Courier New" pitchFamily="34" charset="0"/>
                <a:ea typeface="Courier New" pitchFamily="34" charset="-122"/>
                <a:cs typeface="Courier New" pitchFamily="34" charset="-120"/>
              </a:rPr>
              <a:t>adds FastAPI, httpx, pyjwt</a:t>
            </a:r>
            <a:endParaRPr lang="en-US" sz="900" dirty="0"/>
          </a:p>
        </p:txBody>
      </p:sp>
      <p:sp>
        <p:nvSpPr>
          <p:cNvPr id="9" name="Text 7"/>
          <p:cNvSpPr txBox="1"/>
          <p:nvPr/>
        </p:nvSpPr>
        <p:spPr>
          <a:xfrm>
            <a:off x="777240" y="2560320"/>
            <a:ext cx="4572000" cy="54864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OIDC discovery + JWKS cache · admin key on the same header · SSO login in Swagger · token proxy · stream tickets</a:t>
            </a:r>
            <a:endParaRPr lang="en-US" sz="1100" dirty="0"/>
          </a:p>
        </p:txBody>
      </p:sp>
      <p:sp>
        <p:nvSpPr>
          <p:cNvPr id="10" name="Shape 8"/>
          <p:cNvSpPr/>
          <p:nvPr/>
        </p:nvSpPr>
        <p:spPr>
          <a:xfrm>
            <a:off x="594360" y="3264408"/>
            <a:ext cx="4937760" cy="1051560"/>
          </a:xfrm>
          <a:prstGeom prst="roundRect">
            <a:avLst>
              <a:gd name="adj" fmla="val 8696"/>
            </a:avLst>
          </a:prstGeom>
          <a:solidFill>
            <a:srgbClr val="121A2C"/>
          </a:solidFill>
          <a:ln w="12700">
            <a:solidFill>
              <a:srgbClr val="A78BFA"/>
            </a:solidFill>
            <a:prstDash val="solid"/>
          </a:ln>
          <a:effectLst>
            <a:outerShdw sx="100000" sy="100000" kx="0" ky="0" algn="bl" rotWithShape="0" blurRad="101600" dist="38100" dir="5400000">
              <a:srgbClr val="000000">
                <a:alpha val="35000"/>
              </a:srgbClr>
            </a:outerShdw>
          </a:effectLst>
        </p:spPr>
      </p:sp>
      <p:sp>
        <p:nvSpPr>
          <p:cNvPr id="11" name="Text 9"/>
          <p:cNvSpPr txBox="1"/>
          <p:nvPr/>
        </p:nvSpPr>
        <p:spPr>
          <a:xfrm>
            <a:off x="777240" y="3374136"/>
            <a:ext cx="1188720" cy="365760"/>
          </a:xfrm>
          <a:prstGeom prst="rect">
            <a:avLst/>
          </a:prstGeom>
          <a:noFill/>
          <a:ln/>
        </p:spPr>
        <p:txBody>
          <a:bodyPr wrap="square" lIns="0" tIns="0" rIns="0" bIns="0" rtlCol="0" anchor="ctr"/>
          <a:lstStyle/>
          <a:p>
            <a:pPr indent="0" marL="0">
              <a:buNone/>
            </a:pPr>
            <a:r>
              <a:rPr lang="en-US" sz="1400" b="1" dirty="0">
                <a:solidFill>
                  <a:srgbClr val="A78BFA"/>
                </a:solidFill>
                <a:latin typeface="Courier New" pitchFamily="34" charset="0"/>
                <a:ea typeface="Courier New" pitchFamily="34" charset="-122"/>
                <a:cs typeface="Courier New" pitchFamily="34" charset="-120"/>
              </a:rPr>
              <a:t>[web]</a:t>
            </a:r>
            <a:endParaRPr lang="en-US" sz="1400" dirty="0"/>
          </a:p>
        </p:txBody>
      </p:sp>
      <p:sp>
        <p:nvSpPr>
          <p:cNvPr id="12" name="Text 10"/>
          <p:cNvSpPr txBox="1"/>
          <p:nvPr/>
        </p:nvSpPr>
        <p:spPr>
          <a:xfrm>
            <a:off x="1965960" y="3392424"/>
            <a:ext cx="3383280" cy="320040"/>
          </a:xfrm>
          <a:prstGeom prst="rect">
            <a:avLst/>
          </a:prstGeom>
          <a:noFill/>
          <a:ln/>
        </p:spPr>
        <p:txBody>
          <a:bodyPr wrap="square" lIns="0" tIns="0" rIns="0" bIns="0" rtlCol="0" anchor="ctr"/>
          <a:lstStyle/>
          <a:p>
            <a:pPr algn="r" indent="0" marL="0">
              <a:buNone/>
            </a:pPr>
            <a:r>
              <a:rPr lang="en-US" sz="900" dirty="0">
                <a:solidFill>
                  <a:srgbClr val="5B6B8A"/>
                </a:solidFill>
                <a:latin typeface="Courier New" pitchFamily="34" charset="0"/>
                <a:ea typeface="Courier New" pitchFamily="34" charset="-122"/>
                <a:cs typeface="Courier New" pitchFamily="34" charset="-120"/>
              </a:rPr>
              <a:t>adds FastAPI</a:t>
            </a:r>
            <a:endParaRPr lang="en-US" sz="900" dirty="0"/>
          </a:p>
        </p:txBody>
      </p:sp>
      <p:sp>
        <p:nvSpPr>
          <p:cNvPr id="13" name="Text 11"/>
          <p:cNvSpPr txBox="1"/>
          <p:nvPr/>
        </p:nvSpPr>
        <p:spPr>
          <a:xfrm>
            <a:off x="777240" y="3721608"/>
            <a:ext cx="4572000" cy="54864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health probes · one error envelope · offline Swagger and ReDoc · base_path for a shared host</a:t>
            </a:r>
            <a:endParaRPr lang="en-US" sz="1100" dirty="0"/>
          </a:p>
        </p:txBody>
      </p:sp>
      <p:sp>
        <p:nvSpPr>
          <p:cNvPr id="14" name="Shape 12"/>
          <p:cNvSpPr/>
          <p:nvPr/>
        </p:nvSpPr>
        <p:spPr>
          <a:xfrm>
            <a:off x="594360" y="4425696"/>
            <a:ext cx="4937760" cy="1051560"/>
          </a:xfrm>
          <a:prstGeom prst="roundRect">
            <a:avLst>
              <a:gd name="adj" fmla="val 8696"/>
            </a:avLst>
          </a:prstGeom>
          <a:solidFill>
            <a:srgbClr val="121A2C"/>
          </a:solidFill>
          <a:ln w="12700">
            <a:solidFill>
              <a:srgbClr val="A78BFA"/>
            </a:solidFill>
            <a:prstDash val="solid"/>
          </a:ln>
          <a:effectLst>
            <a:outerShdw sx="100000" sy="100000" kx="0" ky="0" algn="bl" rotWithShape="0" blurRad="101600" dist="38100" dir="5400000">
              <a:srgbClr val="000000">
                <a:alpha val="35000"/>
              </a:srgbClr>
            </a:outerShdw>
          </a:effectLst>
        </p:spPr>
      </p:sp>
      <p:sp>
        <p:nvSpPr>
          <p:cNvPr id="15" name="Text 13"/>
          <p:cNvSpPr txBox="1"/>
          <p:nvPr/>
        </p:nvSpPr>
        <p:spPr>
          <a:xfrm>
            <a:off x="777240" y="4535424"/>
            <a:ext cx="1188720" cy="365760"/>
          </a:xfrm>
          <a:prstGeom prst="rect">
            <a:avLst/>
          </a:prstGeom>
          <a:noFill/>
          <a:ln/>
        </p:spPr>
        <p:txBody>
          <a:bodyPr wrap="square" lIns="0" tIns="0" rIns="0" bIns="0" rtlCol="0" anchor="ctr"/>
          <a:lstStyle/>
          <a:p>
            <a:pPr indent="0" marL="0">
              <a:buNone/>
            </a:pPr>
            <a:r>
              <a:rPr lang="en-US" sz="1400" b="1" dirty="0">
                <a:solidFill>
                  <a:srgbClr val="A78BFA"/>
                </a:solidFill>
                <a:latin typeface="Courier New" pitchFamily="34" charset="0"/>
                <a:ea typeface="Courier New" pitchFamily="34" charset="-122"/>
                <a:cs typeface="Courier New" pitchFamily="34" charset="-120"/>
              </a:rPr>
              <a:t>core</a:t>
            </a:r>
            <a:endParaRPr lang="en-US" sz="1400" dirty="0"/>
          </a:p>
        </p:txBody>
      </p:sp>
      <p:sp>
        <p:nvSpPr>
          <p:cNvPr id="16" name="Text 14"/>
          <p:cNvSpPr txBox="1"/>
          <p:nvPr/>
        </p:nvSpPr>
        <p:spPr>
          <a:xfrm>
            <a:off x="1965960" y="4553712"/>
            <a:ext cx="3383280" cy="320040"/>
          </a:xfrm>
          <a:prstGeom prst="rect">
            <a:avLst/>
          </a:prstGeom>
          <a:noFill/>
          <a:ln/>
        </p:spPr>
        <p:txBody>
          <a:bodyPr wrap="square" lIns="0" tIns="0" rIns="0" bIns="0" rtlCol="0" anchor="ctr"/>
          <a:lstStyle/>
          <a:p>
            <a:pPr algn="r" indent="0" marL="0">
              <a:buNone/>
            </a:pPr>
            <a:r>
              <a:rPr lang="en-US" sz="900" dirty="0">
                <a:solidFill>
                  <a:srgbClr val="5B6B8A"/>
                </a:solidFill>
                <a:latin typeface="Courier New" pitchFamily="34" charset="0"/>
                <a:ea typeface="Courier New" pitchFamily="34" charset="-122"/>
                <a:cs typeface="Courier New" pitchFamily="34" charset="-120"/>
              </a:rPr>
              <a:t>pydantic only</a:t>
            </a:r>
            <a:endParaRPr lang="en-US" sz="900" dirty="0"/>
          </a:p>
        </p:txBody>
      </p:sp>
      <p:sp>
        <p:nvSpPr>
          <p:cNvPr id="17" name="Text 15"/>
          <p:cNvSpPr txBox="1"/>
          <p:nvPr/>
        </p:nvSpPr>
        <p:spPr>
          <a:xfrm>
            <a:off x="777240" y="4882896"/>
            <a:ext cx="4572000" cy="548640"/>
          </a:xfrm>
          <a:prstGeom prst="rect">
            <a:avLst/>
          </a:prstGeom>
          <a:noFill/>
          <a:ln/>
        </p:spPr>
        <p:txBody>
          <a:bodyPr wrap="square" lIns="0" tIns="0" rIns="0" bIns="0" rtlCol="0" anchor="t"/>
          <a:lstStyle/>
          <a:p>
            <a:pPr indent="0" marL="0">
              <a:buNone/>
            </a:pPr>
            <a:r>
              <a:rPr lang="en-US" sz="1100" dirty="0">
                <a:solidFill>
                  <a:srgbClr val="94A3B8"/>
                </a:solidFill>
                <a:latin typeface="Calibri" pitchFamily="34" charset="0"/>
                <a:ea typeface="Calibri" pitchFamily="34" charset="-122"/>
                <a:cs typeface="Calibri" pitchFamily="34" charset="-120"/>
              </a:rPr>
              <a:t>APIError catalogue · Name and Group rules · normalize_group · logging · X-Request-ID</a:t>
            </a:r>
            <a:endParaRPr lang="en-US" sz="1100" dirty="0"/>
          </a:p>
        </p:txBody>
      </p:sp>
      <p:sp>
        <p:nvSpPr>
          <p:cNvPr id="18" name="Text 16"/>
          <p:cNvSpPr txBox="1"/>
          <p:nvPr/>
        </p:nvSpPr>
        <p:spPr>
          <a:xfrm>
            <a:off x="594360" y="5605272"/>
            <a:ext cx="4937760" cy="548640"/>
          </a:xfrm>
          <a:prstGeom prst="rect">
            <a:avLst/>
          </a:prstGeom>
          <a:noFill/>
          <a:ln/>
        </p:spPr>
        <p:txBody>
          <a:bodyPr wrap="square" lIns="0" tIns="0" rIns="0" bIns="0" rtlCol="0" anchor="t"/>
          <a:lstStyle/>
          <a:p>
            <a:pPr algn="l" indent="0" marL="0">
              <a:buNone/>
            </a:pPr>
            <a:r>
              <a:rPr lang="en-US" sz="1000" i="1" dirty="0">
                <a:solidFill>
                  <a:srgbClr val="5B6B8A"/>
                </a:solidFill>
                <a:latin typeface="Calibri" pitchFamily="34" charset="0"/>
                <a:ea typeface="Calibri" pitchFamily="34" charset="-122"/>
                <a:cs typeface="Calibri" pitchFamily="34" charset="-120"/>
              </a:rPr>
              <a:t>Enforced, not documented: a test spawns a fresh interpreter per core module and asserts FastAPI never appears. The build controller ships with no web stack because of it.</a:t>
            </a:r>
            <a:endParaRPr lang="en-US" sz="1000" dirty="0"/>
          </a:p>
        </p:txBody>
      </p:sp>
      <p:sp>
        <p:nvSpPr>
          <p:cNvPr id="19" name="Shape 17"/>
          <p:cNvSpPr/>
          <p:nvPr/>
        </p:nvSpPr>
        <p:spPr>
          <a:xfrm>
            <a:off x="5943600" y="2103120"/>
            <a:ext cx="5650992" cy="3017520"/>
          </a:xfrm>
          <a:prstGeom prst="roundRect">
            <a:avLst>
              <a:gd name="adj" fmla="val 3636"/>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20" name="Text 18"/>
          <p:cNvSpPr txBox="1"/>
          <p:nvPr/>
        </p:nvSpPr>
        <p:spPr>
          <a:xfrm>
            <a:off x="6172200" y="2212848"/>
            <a:ext cx="2743200" cy="274320"/>
          </a:xfrm>
          <a:prstGeom prst="rect">
            <a:avLst/>
          </a:prstGeom>
          <a:noFill/>
          <a:ln/>
        </p:spPr>
        <p:txBody>
          <a:bodyPr wrap="square" lIns="0" tIns="0" rIns="0" bIns="0" rtlCol="0" anchor="ctr"/>
          <a:lstStyle/>
          <a:p>
            <a:pPr indent="0" marL="0">
              <a:buNone/>
            </a:pPr>
            <a:r>
              <a:rPr lang="en-US" sz="1050" b="1" spc="300" kern="0" dirty="0">
                <a:solidFill>
                  <a:srgbClr val="A78BFA"/>
                </a:solidFill>
                <a:latin typeface="Calibri" pitchFamily="34" charset="0"/>
                <a:ea typeface="Calibri" pitchFamily="34" charset="-122"/>
                <a:cs typeface="Calibri" pitchFamily="34" charset="-120"/>
              </a:rPr>
              <a:t>WIRING A NEW API</a:t>
            </a:r>
            <a:endParaRPr lang="en-US" sz="1050" dirty="0"/>
          </a:p>
        </p:txBody>
      </p:sp>
      <p:sp>
        <p:nvSpPr>
          <p:cNvPr id="21" name="Text 19"/>
          <p:cNvSpPr txBox="1"/>
          <p:nvPr/>
        </p:nvSpPr>
        <p:spPr>
          <a:xfrm>
            <a:off x="6172200" y="2560320"/>
            <a:ext cx="365760" cy="438912"/>
          </a:xfrm>
          <a:prstGeom prst="rect">
            <a:avLst/>
          </a:prstGeom>
          <a:noFill/>
          <a:ln/>
        </p:spPr>
        <p:txBody>
          <a:bodyPr wrap="square" lIns="0" tIns="0" rIns="0" bIns="0" rtlCol="0" anchor="ctr"/>
          <a:lstStyle/>
          <a:p>
            <a:pPr indent="0" marL="0">
              <a:buNone/>
            </a:pPr>
            <a:r>
              <a:rPr lang="en-US" sz="2000" b="1" dirty="0">
                <a:solidFill>
                  <a:srgbClr val="A78BFA"/>
                </a:solidFill>
                <a:latin typeface="Cambria" pitchFamily="34" charset="0"/>
                <a:ea typeface="Cambria" pitchFamily="34" charset="-122"/>
                <a:cs typeface="Cambria" pitchFamily="34" charset="-120"/>
              </a:rPr>
              <a:t>1</a:t>
            </a:r>
            <a:endParaRPr lang="en-US" sz="2000" dirty="0"/>
          </a:p>
        </p:txBody>
      </p:sp>
      <p:sp>
        <p:nvSpPr>
          <p:cNvPr id="22" name="Text 20"/>
          <p:cNvSpPr txBox="1"/>
          <p:nvPr/>
        </p:nvSpPr>
        <p:spPr>
          <a:xfrm>
            <a:off x="6583680" y="2560320"/>
            <a:ext cx="4782312" cy="438912"/>
          </a:xfrm>
          <a:prstGeom prst="rect">
            <a:avLst/>
          </a:prstGeom>
          <a:noFill/>
          <a:ln/>
        </p:spPr>
        <p:txBody>
          <a:bodyPr wrap="square" lIns="0" tIns="0" rIns="0" bIns="0" rtlCol="0" anchor="ctr"/>
          <a:lstStyle/>
          <a:p>
            <a:pPr indent="0" marL="0">
              <a:buNone/>
            </a:pPr>
            <a:r>
              <a:rPr lang="en-US" sz="1150" b="1" dirty="0">
                <a:solidFill>
                  <a:srgbClr val="F1F5F9"/>
                </a:solidFill>
                <a:latin typeface="Calibri" pitchFamily="34" charset="0"/>
                <a:ea typeface="Calibri" pitchFamily="34" charset="-122"/>
                <a:cs typeface="Calibri" pitchFamily="34" charset="-120"/>
              </a:rPr>
              <a:t>Settings  </a:t>
            </a:r>
            <a:pPr indent="0" marL="0">
              <a:buNone/>
            </a:pPr>
            <a:r>
              <a:rPr lang="en-US" sz="1150" dirty="0">
                <a:solidFill>
                  <a:srgbClr val="94A3B8"/>
                </a:solidFill>
                <a:latin typeface="Calibri" pitchFamily="34" charset="0"/>
                <a:ea typeface="Calibri" pitchFamily="34" charset="-122"/>
                <a:cs typeface="Calibri" pitchFamily="34" charset="-120"/>
              </a:rPr>
              <a:t>your BaseSettings embeds SSOConfig; the library never reads the environment</a:t>
            </a:r>
            <a:endParaRPr lang="en-US" sz="1150" dirty="0"/>
          </a:p>
        </p:txBody>
      </p:sp>
      <p:sp>
        <p:nvSpPr>
          <p:cNvPr id="23" name="Text 21"/>
          <p:cNvSpPr txBox="1"/>
          <p:nvPr/>
        </p:nvSpPr>
        <p:spPr>
          <a:xfrm>
            <a:off x="6172200" y="2980944"/>
            <a:ext cx="365760" cy="438912"/>
          </a:xfrm>
          <a:prstGeom prst="rect">
            <a:avLst/>
          </a:prstGeom>
          <a:noFill/>
          <a:ln/>
        </p:spPr>
        <p:txBody>
          <a:bodyPr wrap="square" lIns="0" tIns="0" rIns="0" bIns="0" rtlCol="0" anchor="ctr"/>
          <a:lstStyle/>
          <a:p>
            <a:pPr indent="0" marL="0">
              <a:buNone/>
            </a:pPr>
            <a:r>
              <a:rPr lang="en-US" sz="2000" b="1" dirty="0">
                <a:solidFill>
                  <a:srgbClr val="A78BFA"/>
                </a:solidFill>
                <a:latin typeface="Cambria" pitchFamily="34" charset="0"/>
                <a:ea typeface="Cambria" pitchFamily="34" charset="-122"/>
                <a:cs typeface="Cambria" pitchFamily="34" charset="-120"/>
              </a:rPr>
              <a:t>2</a:t>
            </a:r>
            <a:endParaRPr lang="en-US" sz="2000" dirty="0"/>
          </a:p>
        </p:txBody>
      </p:sp>
      <p:sp>
        <p:nvSpPr>
          <p:cNvPr id="24" name="Text 22"/>
          <p:cNvSpPr txBox="1"/>
          <p:nvPr/>
        </p:nvSpPr>
        <p:spPr>
          <a:xfrm>
            <a:off x="6583680" y="2980944"/>
            <a:ext cx="4782312" cy="438912"/>
          </a:xfrm>
          <a:prstGeom prst="rect">
            <a:avLst/>
          </a:prstGeom>
          <a:noFill/>
          <a:ln/>
        </p:spPr>
        <p:txBody>
          <a:bodyPr wrap="square" lIns="0" tIns="0" rIns="0" bIns="0" rtlCol="0" anchor="ctr"/>
          <a:lstStyle/>
          <a:p>
            <a:pPr indent="0" marL="0">
              <a:buNone/>
            </a:pPr>
            <a:r>
              <a:rPr lang="en-US" sz="1150" b="1" dirty="0">
                <a:solidFill>
                  <a:srgbClr val="F1F5F9"/>
                </a:solidFill>
                <a:latin typeface="Calibri" pitchFamily="34" charset="0"/>
                <a:ea typeface="Calibri" pitchFamily="34" charset="-122"/>
                <a:cs typeface="Calibri" pitchFamily="34" charset="-120"/>
              </a:rPr>
              <a:t>Auth  </a:t>
            </a:r>
            <a:pPr indent="0" marL="0">
              <a:buNone/>
            </a:pPr>
            <a:r>
              <a:rPr lang="en-US" sz="1150" dirty="0">
                <a:solidFill>
                  <a:srgbClr val="94A3B8"/>
                </a:solidFill>
                <a:latin typeface="Calibri" pitchFamily="34" charset="0"/>
                <a:ea typeface="Calibri" pitchFamily="34" charset="-122"/>
                <a:cs typeface="Calibri" pitchFamily="34" charset="-120"/>
              </a:rPr>
              <a:t>SSOAuth(settings.sso) and a CurrentUser dependency</a:t>
            </a:r>
            <a:endParaRPr lang="en-US" sz="1150" dirty="0"/>
          </a:p>
        </p:txBody>
      </p:sp>
      <p:sp>
        <p:nvSpPr>
          <p:cNvPr id="25" name="Text 23"/>
          <p:cNvSpPr txBox="1"/>
          <p:nvPr/>
        </p:nvSpPr>
        <p:spPr>
          <a:xfrm>
            <a:off x="6172200" y="3401568"/>
            <a:ext cx="365760" cy="438912"/>
          </a:xfrm>
          <a:prstGeom prst="rect">
            <a:avLst/>
          </a:prstGeom>
          <a:noFill/>
          <a:ln/>
        </p:spPr>
        <p:txBody>
          <a:bodyPr wrap="square" lIns="0" tIns="0" rIns="0" bIns="0" rtlCol="0" anchor="ctr"/>
          <a:lstStyle/>
          <a:p>
            <a:pPr indent="0" marL="0">
              <a:buNone/>
            </a:pPr>
            <a:r>
              <a:rPr lang="en-US" sz="2000" b="1" dirty="0">
                <a:solidFill>
                  <a:srgbClr val="A78BFA"/>
                </a:solidFill>
                <a:latin typeface="Cambria" pitchFamily="34" charset="0"/>
                <a:ea typeface="Cambria" pitchFamily="34" charset="-122"/>
                <a:cs typeface="Cambria" pitchFamily="34" charset="-120"/>
              </a:rPr>
              <a:t>3</a:t>
            </a:r>
            <a:endParaRPr lang="en-US" sz="2000" dirty="0"/>
          </a:p>
        </p:txBody>
      </p:sp>
      <p:sp>
        <p:nvSpPr>
          <p:cNvPr id="26" name="Text 24"/>
          <p:cNvSpPr txBox="1"/>
          <p:nvPr/>
        </p:nvSpPr>
        <p:spPr>
          <a:xfrm>
            <a:off x="6583680" y="3401568"/>
            <a:ext cx="4782312" cy="438912"/>
          </a:xfrm>
          <a:prstGeom prst="rect">
            <a:avLst/>
          </a:prstGeom>
          <a:noFill/>
          <a:ln/>
        </p:spPr>
        <p:txBody>
          <a:bodyPr wrap="square" lIns="0" tIns="0" rIns="0" bIns="0" rtlCol="0" anchor="ctr"/>
          <a:lstStyle/>
          <a:p>
            <a:pPr indent="0" marL="0">
              <a:buNone/>
            </a:pPr>
            <a:r>
              <a:rPr lang="en-US" sz="1150" b="1" dirty="0">
                <a:solidFill>
                  <a:srgbClr val="F1F5F9"/>
                </a:solidFill>
                <a:latin typeface="Calibri" pitchFamily="34" charset="0"/>
                <a:ea typeface="Calibri" pitchFamily="34" charset="-122"/>
                <a:cs typeface="Calibri" pitchFamily="34" charset="-120"/>
              </a:rPr>
              <a:t>App  </a:t>
            </a:r>
            <a:pPr indent="0" marL="0">
              <a:buNone/>
            </a:pPr>
            <a:r>
              <a:rPr lang="en-US" sz="1150" dirty="0">
                <a:solidFill>
                  <a:srgbClr val="94A3B8"/>
                </a:solidFill>
                <a:latin typeface="Calibri" pitchFamily="34" charset="0"/>
                <a:ea typeface="Calibri" pitchFamily="34" charset="-122"/>
                <a:cs typeface="Calibri" pitchFamily="34" charset="-120"/>
              </a:rPr>
              <a:t>logging, RequestIDMiddleware, exception handlers, offline docs, SSO login, health router</a:t>
            </a:r>
            <a:endParaRPr lang="en-US" sz="1150" dirty="0"/>
          </a:p>
        </p:txBody>
      </p:sp>
      <p:sp>
        <p:nvSpPr>
          <p:cNvPr id="27" name="Text 25"/>
          <p:cNvSpPr txBox="1"/>
          <p:nvPr/>
        </p:nvSpPr>
        <p:spPr>
          <a:xfrm>
            <a:off x="6172200" y="3822192"/>
            <a:ext cx="365760" cy="438912"/>
          </a:xfrm>
          <a:prstGeom prst="rect">
            <a:avLst/>
          </a:prstGeom>
          <a:noFill/>
          <a:ln/>
        </p:spPr>
        <p:txBody>
          <a:bodyPr wrap="square" lIns="0" tIns="0" rIns="0" bIns="0" rtlCol="0" anchor="ctr"/>
          <a:lstStyle/>
          <a:p>
            <a:pPr indent="0" marL="0">
              <a:buNone/>
            </a:pPr>
            <a:r>
              <a:rPr lang="en-US" sz="2000" b="1" dirty="0">
                <a:solidFill>
                  <a:srgbClr val="A78BFA"/>
                </a:solidFill>
                <a:latin typeface="Cambria" pitchFamily="34" charset="0"/>
                <a:ea typeface="Cambria" pitchFamily="34" charset="-122"/>
                <a:cs typeface="Cambria" pitchFamily="34" charset="-120"/>
              </a:rPr>
              <a:t>4</a:t>
            </a:r>
            <a:endParaRPr lang="en-US" sz="2000" dirty="0"/>
          </a:p>
        </p:txBody>
      </p:sp>
      <p:sp>
        <p:nvSpPr>
          <p:cNvPr id="28" name="Text 26"/>
          <p:cNvSpPr txBox="1"/>
          <p:nvPr/>
        </p:nvSpPr>
        <p:spPr>
          <a:xfrm>
            <a:off x="6583680" y="3822192"/>
            <a:ext cx="4782312" cy="438912"/>
          </a:xfrm>
          <a:prstGeom prst="rect">
            <a:avLst/>
          </a:prstGeom>
          <a:noFill/>
          <a:ln/>
        </p:spPr>
        <p:txBody>
          <a:bodyPr wrap="square" lIns="0" tIns="0" rIns="0" bIns="0" rtlCol="0" anchor="ctr"/>
          <a:lstStyle/>
          <a:p>
            <a:pPr indent="0" marL="0">
              <a:buNone/>
            </a:pPr>
            <a:r>
              <a:rPr lang="en-US" sz="1150" b="1" dirty="0">
                <a:solidFill>
                  <a:srgbClr val="F1F5F9"/>
                </a:solidFill>
                <a:latin typeface="Calibri" pitchFamily="34" charset="0"/>
                <a:ea typeface="Calibri" pitchFamily="34" charset="-122"/>
                <a:cs typeface="Calibri" pitchFamily="34" charset="-120"/>
              </a:rPr>
              <a:t>Errors  </a:t>
            </a:r>
            <a:pPr indent="0" marL="0">
              <a:buNone/>
            </a:pPr>
            <a:r>
              <a:rPr lang="en-US" sz="1150" dirty="0">
                <a:solidFill>
                  <a:srgbClr val="94A3B8"/>
                </a:solidFill>
                <a:latin typeface="Calibri" pitchFamily="34" charset="0"/>
                <a:ea typeface="Calibri" pitchFamily="34" charset="-122"/>
                <a:cs typeface="Calibri" pitchFamily="34" charset="-120"/>
              </a:rPr>
              <a:t>subclass APIError; the catalogue publishes itself on /info</a:t>
            </a:r>
            <a:endParaRPr lang="en-US" sz="1150" dirty="0"/>
          </a:p>
        </p:txBody>
      </p:sp>
      <p:sp>
        <p:nvSpPr>
          <p:cNvPr id="29" name="Text 27"/>
          <p:cNvSpPr txBox="1"/>
          <p:nvPr/>
        </p:nvSpPr>
        <p:spPr>
          <a:xfrm>
            <a:off x="6172200" y="4242816"/>
            <a:ext cx="365760" cy="438912"/>
          </a:xfrm>
          <a:prstGeom prst="rect">
            <a:avLst/>
          </a:prstGeom>
          <a:noFill/>
          <a:ln/>
        </p:spPr>
        <p:txBody>
          <a:bodyPr wrap="square" lIns="0" tIns="0" rIns="0" bIns="0" rtlCol="0" anchor="ctr"/>
          <a:lstStyle/>
          <a:p>
            <a:pPr indent="0" marL="0">
              <a:buNone/>
            </a:pPr>
            <a:r>
              <a:rPr lang="en-US" sz="2000" b="1" dirty="0">
                <a:solidFill>
                  <a:srgbClr val="A78BFA"/>
                </a:solidFill>
                <a:latin typeface="Cambria" pitchFamily="34" charset="0"/>
                <a:ea typeface="Cambria" pitchFamily="34" charset="-122"/>
                <a:cs typeface="Cambria" pitchFamily="34" charset="-120"/>
              </a:rPr>
              <a:t>5</a:t>
            </a:r>
            <a:endParaRPr lang="en-US" sz="2000" dirty="0"/>
          </a:p>
        </p:txBody>
      </p:sp>
      <p:sp>
        <p:nvSpPr>
          <p:cNvPr id="30" name="Text 28"/>
          <p:cNvSpPr txBox="1"/>
          <p:nvPr/>
        </p:nvSpPr>
        <p:spPr>
          <a:xfrm>
            <a:off x="6583680" y="4242816"/>
            <a:ext cx="4782312" cy="438912"/>
          </a:xfrm>
          <a:prstGeom prst="rect">
            <a:avLst/>
          </a:prstGeom>
          <a:noFill/>
          <a:ln/>
        </p:spPr>
        <p:txBody>
          <a:bodyPr wrap="square" lIns="0" tIns="0" rIns="0" bIns="0" rtlCol="0" anchor="ctr"/>
          <a:lstStyle/>
          <a:p>
            <a:pPr indent="0" marL="0">
              <a:buNone/>
            </a:pPr>
            <a:r>
              <a:rPr lang="en-US" sz="1150" b="1" dirty="0">
                <a:solidFill>
                  <a:srgbClr val="F1F5F9"/>
                </a:solidFill>
                <a:latin typeface="Calibri" pitchFamily="34" charset="0"/>
                <a:ea typeface="Calibri" pitchFamily="34" charset="-122"/>
                <a:cs typeface="Calibri" pitchFamily="34" charset="-120"/>
              </a:rPr>
              <a:t>Streams  </a:t>
            </a:r>
            <a:pPr indent="0" marL="0">
              <a:buNone/>
            </a:pPr>
            <a:r>
              <a:rPr lang="en-US" sz="1150" dirty="0">
                <a:solidFill>
                  <a:srgbClr val="94A3B8"/>
                </a:solidFill>
                <a:latin typeface="Calibri" pitchFamily="34" charset="0"/>
                <a:ea typeface="Calibri" pitchFamily="34" charset="-122"/>
                <a:cs typeface="Calibri" pitchFamily="34" charset="-120"/>
              </a:rPr>
              <a:t>StreamTickets, only if you serve SSE</a:t>
            </a:r>
            <a:endParaRPr lang="en-US" sz="1150" dirty="0"/>
          </a:p>
        </p:txBody>
      </p:sp>
      <p:sp>
        <p:nvSpPr>
          <p:cNvPr id="31" name="Text 29"/>
          <p:cNvSpPr txBox="1"/>
          <p:nvPr/>
        </p:nvSpPr>
        <p:spPr>
          <a:xfrm>
            <a:off x="6172200" y="4681728"/>
            <a:ext cx="5193792" cy="329184"/>
          </a:xfrm>
          <a:prstGeom prst="rect">
            <a:avLst/>
          </a:prstGeom>
          <a:noFill/>
          <a:ln/>
        </p:spPr>
        <p:txBody>
          <a:bodyPr wrap="square" lIns="0" tIns="0" rIns="0" bIns="0" rtlCol="0" anchor="t"/>
          <a:lstStyle/>
          <a:p>
            <a:pPr indent="0" marL="0">
              <a:buNone/>
            </a:pPr>
            <a:r>
              <a:rPr lang="en-US" sz="1000" i="1" dirty="0">
                <a:solidFill>
                  <a:srgbClr val="5B6B8A"/>
                </a:solidFill>
                <a:latin typeface="Calibri" pitchFamily="34" charset="0"/>
                <a:ea typeface="Calibri" pitchFamily="34" charset="-122"/>
                <a:cs typeface="Calibri" pitchFamily="34" charset="-120"/>
              </a:rPr>
              <a:t>≈ 15 lines of wiring, plus the security review that came with them: constant-time compares, a grant whitelist, body caps, uniform 401s, discovery backoff.</a:t>
            </a:r>
            <a:endParaRPr lang="en-US" sz="1000" dirty="0"/>
          </a:p>
        </p:txBody>
      </p:sp>
      <p:sp>
        <p:nvSpPr>
          <p:cNvPr id="32" name="Shape 30"/>
          <p:cNvSpPr/>
          <p:nvPr/>
        </p:nvSpPr>
        <p:spPr>
          <a:xfrm>
            <a:off x="5943600" y="5303520"/>
            <a:ext cx="5650992" cy="914400"/>
          </a:xfrm>
          <a:prstGeom prst="roundRect">
            <a:avLst>
              <a:gd name="adj" fmla="val 12000"/>
            </a:avLst>
          </a:prstGeom>
          <a:solidFill>
            <a:srgbClr val="121A2C"/>
          </a:solidFill>
          <a:ln w="9525">
            <a:solidFill>
              <a:srgbClr val="24304D"/>
            </a:solidFill>
            <a:prstDash val="solid"/>
          </a:ln>
          <a:effectLst>
            <a:outerShdw sx="100000" sy="100000" kx="0" ky="0" algn="bl" rotWithShape="0" blurRad="101600" dist="38100" dir="5400000">
              <a:srgbClr val="000000">
                <a:alpha val="35000"/>
              </a:srgbClr>
            </a:outerShdw>
          </a:effectLst>
        </p:spPr>
      </p:sp>
      <p:sp>
        <p:nvSpPr>
          <p:cNvPr id="33" name="Shape 31"/>
          <p:cNvSpPr/>
          <p:nvPr/>
        </p:nvSpPr>
        <p:spPr>
          <a:xfrm>
            <a:off x="6126480" y="5532120"/>
            <a:ext cx="457200" cy="457200"/>
          </a:xfrm>
          <a:prstGeom prst="roundRect">
            <a:avLst>
              <a:gd name="adj" fmla="val 20000"/>
            </a:avLst>
          </a:prstGeom>
          <a:solidFill>
            <a:srgbClr val="A78BFA">
              <a:alpha val="18000"/>
            </a:srgbClr>
          </a:solidFill>
          <a:ln w="6350">
            <a:solidFill>
              <a:srgbClr val="A78BFA">
                <a:alpha val="60000"/>
              </a:srgbClr>
            </a:solidFill>
            <a:prstDash val="solid"/>
          </a:ln>
        </p:spPr>
      </p:sp>
      <p:pic>
        <p:nvPicPr>
          <p:cNvPr id="34" name="Image 0" descr="preencoded.png">    </p:cNvPr>
          <p:cNvPicPr>
            <a:picLocks noChangeAspect="1"/>
          </p:cNvPicPr>
          <p:nvPr/>
        </p:nvPicPr>
        <p:blipFill>
          <a:blip r:embed="rId2"/>
          <a:stretch>
            <a:fillRect/>
          </a:stretch>
        </p:blipFill>
        <p:spPr>
          <a:xfrm>
            <a:off x="6236208" y="5641848"/>
            <a:ext cx="237744" cy="237744"/>
          </a:xfrm>
          <a:prstGeom prst="rect">
            <a:avLst/>
          </a:prstGeom>
        </p:spPr>
      </p:pic>
      <p:sp>
        <p:nvSpPr>
          <p:cNvPr id="35" name="Text 32"/>
          <p:cNvSpPr txBox="1"/>
          <p:nvPr/>
        </p:nvSpPr>
        <p:spPr>
          <a:xfrm>
            <a:off x="6720840" y="5349240"/>
            <a:ext cx="4690872" cy="822960"/>
          </a:xfrm>
          <a:prstGeom prst="rect">
            <a:avLst/>
          </a:prstGeom>
          <a:noFill/>
          <a:ln/>
        </p:spPr>
        <p:txBody>
          <a:bodyPr wrap="square" lIns="0" tIns="0" rIns="0" bIns="0" rtlCol="0" anchor="ctr"/>
          <a:lstStyle/>
          <a:p>
            <a:pPr indent="0" marL="0">
              <a:buNone/>
            </a:pPr>
            <a:r>
              <a:rPr lang="en-US" sz="1100" b="1" dirty="0">
                <a:solidFill>
                  <a:srgbClr val="F1F5F9"/>
                </a:solidFill>
                <a:latin typeface="Calibri" pitchFamily="34" charset="0"/>
                <a:ea typeface="Calibri" pitchFamily="34" charset="-122"/>
                <a:cs typeface="Calibri" pitchFamily="34" charset="-120"/>
              </a:rPr>
              <a:t>Why it matters. </a:t>
            </a:r>
            <a:pPr indent="0" marL="0">
              <a:buNone/>
            </a:pPr>
            <a:r>
              <a:rPr lang="en-US" sz="1100" dirty="0">
                <a:solidFill>
                  <a:srgbClr val="94A3B8"/>
                </a:solidFill>
                <a:latin typeface="Calibri" pitchFamily="34" charset="0"/>
                <a:ea typeface="Calibri" pitchFamily="34" charset="-122"/>
                <a:cs typeface="Calibri" pitchFamily="34" charset="-120"/>
              </a:rPr>
              <a:t>Two APIs normalizing groups differently is an authorization bug, not a formatting one. Next to extract: the mTLS multi-cluster client and the region fan-out.</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594360" y="822960"/>
            <a:ext cx="7315200" cy="320040"/>
          </a:xfrm>
          <a:prstGeom prst="rect">
            <a:avLst/>
          </a:prstGeom>
          <a:noFill/>
          <a:ln/>
        </p:spPr>
        <p:txBody>
          <a:bodyPr wrap="square" lIns="0" tIns="0" rIns="0" bIns="0" rtlCol="0" anchor="ctr"/>
          <a:lstStyle/>
          <a:p>
            <a:pPr indent="0" marL="0">
              <a:buNone/>
            </a:pPr>
            <a:r>
              <a:rPr lang="en-US" sz="1200" b="1" spc="400" kern="0" dirty="0">
                <a:solidFill>
                  <a:srgbClr val="22D3EE"/>
                </a:solidFill>
                <a:latin typeface="Calibri" pitchFamily="34" charset="0"/>
                <a:ea typeface="Calibri" pitchFamily="34" charset="-122"/>
                <a:cs typeface="Calibri" pitchFamily="34" charset="-120"/>
              </a:rPr>
              <a:t>WHAT WE BUILT</a:t>
            </a:r>
            <a:endParaRPr lang="en-US" sz="1200" dirty="0"/>
          </a:p>
        </p:txBody>
      </p:sp>
      <p:sp>
        <p:nvSpPr>
          <p:cNvPr id="3" name="Text 1"/>
          <p:cNvSpPr txBox="1"/>
          <p:nvPr/>
        </p:nvSpPr>
        <p:spPr>
          <a:xfrm>
            <a:off x="594360" y="1188720"/>
            <a:ext cx="10515600" cy="914400"/>
          </a:xfrm>
          <a:prstGeom prst="rect">
            <a:avLst/>
          </a:prstGeom>
          <a:noFill/>
          <a:ln/>
        </p:spPr>
        <p:txBody>
          <a:bodyPr wrap="square" lIns="0" tIns="0" rIns="0" bIns="0" rtlCol="0" anchor="ctr"/>
          <a:lstStyle/>
          <a:p>
            <a:pPr indent="0" marL="0">
              <a:buNone/>
            </a:pPr>
            <a:r>
              <a:rPr lang="en-US" sz="4000" b="1" dirty="0">
                <a:solidFill>
                  <a:srgbClr val="F1F5F9"/>
                </a:solidFill>
                <a:latin typeface="Cambria" pitchFamily="34" charset="0"/>
                <a:ea typeface="Cambria" pitchFamily="34" charset="-122"/>
                <a:cs typeface="Cambria" pitchFamily="34" charset="-120"/>
              </a:rPr>
              <a:t>Code in, a running service in two regions out.</a:t>
            </a:r>
            <a:endParaRPr lang="en-US" sz="4000" dirty="0"/>
          </a:p>
        </p:txBody>
      </p:sp>
      <p:sp>
        <p:nvSpPr>
          <p:cNvPr id="4" name="Text 2"/>
          <p:cNvSpPr txBox="1"/>
          <p:nvPr/>
        </p:nvSpPr>
        <p:spPr>
          <a:xfrm>
            <a:off x="594360" y="2514600"/>
            <a:ext cx="1642872" cy="777240"/>
          </a:xfrm>
          <a:prstGeom prst="rect">
            <a:avLst/>
          </a:prstGeom>
          <a:noFill/>
          <a:ln/>
        </p:spPr>
        <p:txBody>
          <a:bodyPr wrap="square" lIns="0" tIns="0" rIns="0" bIns="0" rtlCol="0" anchor="b"/>
          <a:lstStyle/>
          <a:p>
            <a:pPr indent="0" marL="0">
              <a:buNone/>
            </a:pPr>
            <a:r>
              <a:rPr lang="en-US" sz="4800" b="1" dirty="0">
                <a:solidFill>
                  <a:srgbClr val="22D3EE"/>
                </a:solidFill>
                <a:latin typeface="Cambria" pitchFamily="34" charset="0"/>
                <a:ea typeface="Cambria" pitchFamily="34" charset="-122"/>
                <a:cs typeface="Cambria" pitchFamily="34" charset="-120"/>
              </a:rPr>
              <a:t>4</a:t>
            </a:r>
            <a:endParaRPr lang="en-US" sz="4800" dirty="0"/>
          </a:p>
        </p:txBody>
      </p:sp>
      <p:sp>
        <p:nvSpPr>
          <p:cNvPr id="5" name="Text 3"/>
          <p:cNvSpPr txBox="1"/>
          <p:nvPr/>
        </p:nvSpPr>
        <p:spPr>
          <a:xfrm>
            <a:off x="594360" y="3319272"/>
            <a:ext cx="1642872"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repositories</a:t>
            </a:r>
            <a:endParaRPr lang="en-US" sz="1250" dirty="0"/>
          </a:p>
        </p:txBody>
      </p:sp>
      <p:sp>
        <p:nvSpPr>
          <p:cNvPr id="6" name="Text 4"/>
          <p:cNvSpPr txBox="1"/>
          <p:nvPr/>
        </p:nvSpPr>
        <p:spPr>
          <a:xfrm>
            <a:off x="2465832" y="2514600"/>
            <a:ext cx="1642872" cy="777240"/>
          </a:xfrm>
          <a:prstGeom prst="rect">
            <a:avLst/>
          </a:prstGeom>
          <a:noFill/>
          <a:ln/>
        </p:spPr>
        <p:txBody>
          <a:bodyPr wrap="square" lIns="0" tIns="0" rIns="0" bIns="0" rtlCol="0" anchor="b"/>
          <a:lstStyle/>
          <a:p>
            <a:pPr indent="0" marL="0">
              <a:buNone/>
            </a:pPr>
            <a:r>
              <a:rPr lang="en-US" sz="4800" b="1" dirty="0">
                <a:solidFill>
                  <a:srgbClr val="22D3EE"/>
                </a:solidFill>
                <a:latin typeface="Cambria" pitchFamily="34" charset="0"/>
                <a:ea typeface="Cambria" pitchFamily="34" charset="-122"/>
                <a:cs typeface="Cambria" pitchFamily="34" charset="-120"/>
              </a:rPr>
              <a:t>3</a:t>
            </a:r>
            <a:endParaRPr lang="en-US" sz="4800" dirty="0"/>
          </a:p>
        </p:txBody>
      </p:sp>
      <p:sp>
        <p:nvSpPr>
          <p:cNvPr id="7" name="Text 5"/>
          <p:cNvSpPr txBox="1"/>
          <p:nvPr/>
        </p:nvSpPr>
        <p:spPr>
          <a:xfrm>
            <a:off x="2465832" y="3319272"/>
            <a:ext cx="1642872"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services, 3 images</a:t>
            </a:r>
            <a:endParaRPr lang="en-US" sz="1250" dirty="0"/>
          </a:p>
        </p:txBody>
      </p:sp>
      <p:sp>
        <p:nvSpPr>
          <p:cNvPr id="8" name="Text 6"/>
          <p:cNvSpPr txBox="1"/>
          <p:nvPr/>
        </p:nvSpPr>
        <p:spPr>
          <a:xfrm>
            <a:off x="4337304" y="2514600"/>
            <a:ext cx="1642872" cy="777240"/>
          </a:xfrm>
          <a:prstGeom prst="rect">
            <a:avLst/>
          </a:prstGeom>
          <a:noFill/>
          <a:ln/>
        </p:spPr>
        <p:txBody>
          <a:bodyPr wrap="square" lIns="0" tIns="0" rIns="0" bIns="0" rtlCol="0" anchor="b"/>
          <a:lstStyle/>
          <a:p>
            <a:pPr indent="0" marL="0">
              <a:buNone/>
            </a:pPr>
            <a:r>
              <a:rPr lang="en-US" sz="4800" b="1" dirty="0">
                <a:solidFill>
                  <a:srgbClr val="22D3EE"/>
                </a:solidFill>
                <a:latin typeface="Cambria" pitchFamily="34" charset="0"/>
                <a:ea typeface="Cambria" pitchFamily="34" charset="-122"/>
                <a:cs typeface="Cambria" pitchFamily="34" charset="-120"/>
              </a:rPr>
              <a:t>23</a:t>
            </a:r>
            <a:endParaRPr lang="en-US" sz="4800" dirty="0"/>
          </a:p>
        </p:txBody>
      </p:sp>
      <p:sp>
        <p:nvSpPr>
          <p:cNvPr id="9" name="Text 7"/>
          <p:cNvSpPr txBox="1"/>
          <p:nvPr/>
        </p:nvSpPr>
        <p:spPr>
          <a:xfrm>
            <a:off x="4337304" y="3319272"/>
            <a:ext cx="1642872"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API endpoints</a:t>
            </a:r>
            <a:endParaRPr lang="en-US" sz="1250" dirty="0"/>
          </a:p>
        </p:txBody>
      </p:sp>
      <p:sp>
        <p:nvSpPr>
          <p:cNvPr id="10" name="Text 8"/>
          <p:cNvSpPr txBox="1"/>
          <p:nvPr/>
        </p:nvSpPr>
        <p:spPr>
          <a:xfrm>
            <a:off x="6208776" y="2514600"/>
            <a:ext cx="1642872" cy="777240"/>
          </a:xfrm>
          <a:prstGeom prst="rect">
            <a:avLst/>
          </a:prstGeom>
          <a:noFill/>
          <a:ln/>
        </p:spPr>
        <p:txBody>
          <a:bodyPr wrap="square" lIns="0" tIns="0" rIns="0" bIns="0" rtlCol="0" anchor="b"/>
          <a:lstStyle/>
          <a:p>
            <a:pPr indent="0" marL="0">
              <a:buNone/>
            </a:pPr>
            <a:r>
              <a:rPr lang="en-US" sz="4800" b="1" dirty="0">
                <a:solidFill>
                  <a:srgbClr val="22D3EE"/>
                </a:solidFill>
                <a:latin typeface="Cambria" pitchFamily="34" charset="0"/>
                <a:ea typeface="Cambria" pitchFamily="34" charset="-122"/>
                <a:cs typeface="Cambria" pitchFamily="34" charset="-120"/>
              </a:rPr>
              <a:t>2</a:t>
            </a:r>
            <a:endParaRPr lang="en-US" sz="4800" dirty="0"/>
          </a:p>
        </p:txBody>
      </p:sp>
      <p:sp>
        <p:nvSpPr>
          <p:cNvPr id="11" name="Text 9"/>
          <p:cNvSpPr txBox="1"/>
          <p:nvPr/>
        </p:nvSpPr>
        <p:spPr>
          <a:xfrm>
            <a:off x="6208776" y="3319272"/>
            <a:ext cx="1642872"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regions, active/active</a:t>
            </a:r>
            <a:endParaRPr lang="en-US" sz="1250" dirty="0"/>
          </a:p>
        </p:txBody>
      </p:sp>
      <p:sp>
        <p:nvSpPr>
          <p:cNvPr id="12" name="Text 10"/>
          <p:cNvSpPr txBox="1"/>
          <p:nvPr/>
        </p:nvSpPr>
        <p:spPr>
          <a:xfrm>
            <a:off x="8080248" y="2514600"/>
            <a:ext cx="1642872" cy="777240"/>
          </a:xfrm>
          <a:prstGeom prst="rect">
            <a:avLst/>
          </a:prstGeom>
          <a:noFill/>
          <a:ln/>
        </p:spPr>
        <p:txBody>
          <a:bodyPr wrap="square" lIns="0" tIns="0" rIns="0" bIns="0" rtlCol="0" anchor="b"/>
          <a:lstStyle/>
          <a:p>
            <a:pPr indent="0" marL="0">
              <a:buNone/>
            </a:pPr>
            <a:r>
              <a:rPr lang="en-US" sz="4800" b="1" dirty="0">
                <a:solidFill>
                  <a:srgbClr val="F59E0B"/>
                </a:solidFill>
                <a:latin typeface="Cambria" pitchFamily="34" charset="0"/>
                <a:ea typeface="Cambria" pitchFamily="34" charset="-122"/>
                <a:cs typeface="Cambria" pitchFamily="34" charset="-120"/>
              </a:rPr>
              <a:t>3</a:t>
            </a:r>
            <a:endParaRPr lang="en-US" sz="4800" dirty="0"/>
          </a:p>
        </p:txBody>
      </p:sp>
      <p:sp>
        <p:nvSpPr>
          <p:cNvPr id="13" name="Text 11"/>
          <p:cNvSpPr txBox="1"/>
          <p:nvPr/>
        </p:nvSpPr>
        <p:spPr>
          <a:xfrm>
            <a:off x="8080248" y="3319272"/>
            <a:ext cx="1642872"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runtimes: go · python · node</a:t>
            </a:r>
            <a:endParaRPr lang="en-US" sz="1250" dirty="0"/>
          </a:p>
        </p:txBody>
      </p:sp>
      <p:sp>
        <p:nvSpPr>
          <p:cNvPr id="14" name="Text 12"/>
          <p:cNvSpPr txBox="1"/>
          <p:nvPr/>
        </p:nvSpPr>
        <p:spPr>
          <a:xfrm>
            <a:off x="9951720" y="2514600"/>
            <a:ext cx="1642872" cy="777240"/>
          </a:xfrm>
          <a:prstGeom prst="rect">
            <a:avLst/>
          </a:prstGeom>
          <a:noFill/>
          <a:ln/>
        </p:spPr>
        <p:txBody>
          <a:bodyPr wrap="square" lIns="0" tIns="0" rIns="0" bIns="0" rtlCol="0" anchor="b"/>
          <a:lstStyle/>
          <a:p>
            <a:pPr indent="0" marL="0">
              <a:buNone/>
            </a:pPr>
            <a:r>
              <a:rPr lang="en-US" sz="4800" b="1" dirty="0">
                <a:solidFill>
                  <a:srgbClr val="A78BFA"/>
                </a:solidFill>
                <a:latin typeface="Cambria" pitchFamily="34" charset="0"/>
                <a:ea typeface="Cambria" pitchFamily="34" charset="-122"/>
                <a:cs typeface="Cambria" pitchFamily="34" charset="-120"/>
              </a:rPr>
              <a:t>0</a:t>
            </a:r>
            <a:endParaRPr lang="en-US" sz="4800" dirty="0"/>
          </a:p>
        </p:txBody>
      </p:sp>
      <p:sp>
        <p:nvSpPr>
          <p:cNvPr id="15" name="Text 13"/>
          <p:cNvSpPr txBox="1"/>
          <p:nvPr/>
        </p:nvSpPr>
        <p:spPr>
          <a:xfrm>
            <a:off x="9951720" y="3319272"/>
            <a:ext cx="1642872" cy="457200"/>
          </a:xfrm>
          <a:prstGeom prst="rect">
            <a:avLst/>
          </a:prstGeom>
          <a:noFill/>
          <a:ln/>
        </p:spPr>
        <p:txBody>
          <a:bodyPr wrap="square" lIns="0" tIns="0" rIns="0" bIns="0" rtlCol="0" anchor="t"/>
          <a:lstStyle/>
          <a:p>
            <a:pPr indent="0" marL="0">
              <a:buNone/>
            </a:pPr>
            <a:r>
              <a:rPr lang="en-US" sz="1250" dirty="0">
                <a:solidFill>
                  <a:srgbClr val="94A3B8"/>
                </a:solidFill>
                <a:latin typeface="Calibri" pitchFamily="34" charset="0"/>
                <a:ea typeface="Calibri" pitchFamily="34" charset="-122"/>
                <a:cs typeface="Calibri" pitchFamily="34" charset="-120"/>
              </a:rPr>
              <a:t>kubectl for customers</a:t>
            </a:r>
            <a:endParaRPr lang="en-US" sz="1250" dirty="0"/>
          </a:p>
        </p:txBody>
      </p:sp>
      <p:sp>
        <p:nvSpPr>
          <p:cNvPr id="16" name="Text 14"/>
          <p:cNvSpPr txBox="1"/>
          <p:nvPr/>
        </p:nvSpPr>
        <p:spPr>
          <a:xfrm>
            <a:off x="594360" y="4206240"/>
            <a:ext cx="7863840" cy="17373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94A3B8"/>
                </a:solidFill>
                <a:latin typeface="Calibri" pitchFamily="34" charset="0"/>
                <a:ea typeface="Calibri" pitchFamily="34" charset="-122"/>
                <a:cs typeface="Calibri" pitchFamily="34" charset="-120"/>
              </a:rPr>
              <a:t>The operator owns Knative; we own the contract on top of it.</a:t>
            </a:r>
            <a:endParaRPr lang="en-US" sz="1500" dirty="0"/>
          </a:p>
          <a:p>
            <a:pPr marL="177800" indent="-177800">
              <a:spcAft>
                <a:spcPts val="800"/>
              </a:spcAft>
              <a:buSzPct val="100000"/>
              <a:buChar char="•"/>
            </a:pPr>
            <a:r>
              <a:rPr lang="en-US" sz="1500" dirty="0">
                <a:solidFill>
                  <a:srgbClr val="94A3B8"/>
                </a:solidFill>
                <a:latin typeface="Calibri" pitchFamily="34" charset="0"/>
                <a:ea typeface="Calibri" pitchFamily="34" charset="-122"/>
                <a:cs typeface="Calibri" pitchFamily="34" charset="-120"/>
              </a:rPr>
              <a:t>The spec is a pure function of the definition, so two regions need no leader.</a:t>
            </a:r>
            <a:endParaRPr lang="en-US" sz="1500" dirty="0"/>
          </a:p>
          <a:p>
            <a:pPr marL="177800" indent="-177800">
              <a:spcAft>
                <a:spcPts val="800"/>
              </a:spcAft>
              <a:buSzPct val="100000"/>
              <a:buChar char="•"/>
            </a:pPr>
            <a:r>
              <a:rPr lang="en-US" sz="1500" dirty="0">
                <a:solidFill>
                  <a:srgbClr val="94A3B8"/>
                </a:solidFill>
                <a:latin typeface="Calibri" pitchFamily="34" charset="0"/>
                <a:ea typeface="Calibri" pitchFamily="34" charset="-122"/>
                <a:cs typeface="Calibri" pitchFamily="34" charset="-120"/>
              </a:rPr>
              <a:t>Builds are declared, watched, and rolled in by a controller that can only write digests.</a:t>
            </a:r>
            <a:endParaRPr lang="en-US" sz="1500" dirty="0"/>
          </a:p>
          <a:p>
            <a:pPr marL="177800" indent="-177800">
              <a:spcAft>
                <a:spcPts val="800"/>
              </a:spcAft>
              <a:buSzPct val="100000"/>
              <a:buChar char="•"/>
            </a:pPr>
            <a:r>
              <a:rPr lang="en-US" sz="1500" dirty="0">
                <a:solidFill>
                  <a:srgbClr val="94A3B8"/>
                </a:solidFill>
                <a:latin typeface="Calibri" pitchFamily="34" charset="0"/>
                <a:ea typeface="Calibri" pitchFamily="34" charset="-122"/>
                <a:cs typeface="Calibri" pitchFamily="34" charset="-120"/>
              </a:rPr>
              <a:t>The portal and the library exist so the second product is cheaper than the first.</a:t>
            </a:r>
            <a:endParaRPr lang="en-US" sz="1500" dirty="0"/>
          </a:p>
        </p:txBody>
      </p:sp>
      <p:sp>
        <p:nvSpPr>
          <p:cNvPr id="17" name="Text 15"/>
          <p:cNvSpPr txBox="1"/>
          <p:nvPr/>
        </p:nvSpPr>
        <p:spPr>
          <a:xfrm>
            <a:off x="8595360" y="5120640"/>
            <a:ext cx="3017520" cy="548640"/>
          </a:xfrm>
          <a:prstGeom prst="rect">
            <a:avLst/>
          </a:prstGeom>
          <a:noFill/>
          <a:ln/>
        </p:spPr>
        <p:txBody>
          <a:bodyPr wrap="square" lIns="0" tIns="0" rIns="0" bIns="0" rtlCol="0" anchor="ctr"/>
          <a:lstStyle/>
          <a:p>
            <a:pPr algn="r" indent="0" marL="0">
              <a:buNone/>
            </a:pPr>
            <a:r>
              <a:rPr lang="en-US" sz="2200" b="1" dirty="0">
                <a:solidFill>
                  <a:srgbClr val="F1F5F9"/>
                </a:solidFill>
                <a:latin typeface="Cambria" pitchFamily="34" charset="0"/>
                <a:ea typeface="Cambria" pitchFamily="34" charset="-122"/>
                <a:cs typeface="Cambria" pitchFamily="34" charset="-120"/>
              </a:rPr>
              <a:t>Thank you. Questions?</a:t>
            </a:r>
            <a:endParaRPr lang="en-US" sz="2200" dirty="0"/>
          </a:p>
        </p:txBody>
      </p:sp>
      <p:sp>
        <p:nvSpPr>
          <p:cNvPr id="18" name="Text 16"/>
          <p:cNvSpPr txBox="1"/>
          <p:nvPr/>
        </p:nvSpPr>
        <p:spPr>
          <a:xfrm>
            <a:off x="10637215" y="6355080"/>
            <a:ext cx="960120" cy="274320"/>
          </a:xfrm>
          <a:prstGeom prst="rect">
            <a:avLst/>
          </a:prstGeom>
          <a:noFill/>
          <a:ln/>
        </p:spPr>
        <p:txBody>
          <a:bodyPr wrap="square" lIns="0" tIns="0" rIns="0" bIns="0" rtlCol="0" anchor="ctr"/>
          <a:lstStyle/>
          <a:p>
            <a:pPr algn="r" indent="0" marL="0">
              <a:buNone/>
            </a:pPr>
            <a:r>
              <a:rPr lang="en-US" sz="950" dirty="0">
                <a:solidFill>
                  <a:srgbClr val="5B6B8A"/>
                </a:solidFill>
                <a:latin typeface="Courier New" pitchFamily="34" charset="0"/>
                <a:ea typeface="Courier New" pitchFamily="34" charset="-122"/>
                <a:cs typeface="Courier New" pitchFamily="34" charset="-120"/>
              </a:rPr>
              <a:t>23 / 23</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Serverless on Cloudlet</dc:title>
  <dc:subject>PptxGenJS Presentation</dc:subject>
  <dc:creator>PptxGenJS</dc:creator>
  <cp:lastModifiedBy>PptxGenJS</cp:lastModifiedBy>
  <cp:revision>1</cp:revision>
  <dcterms:created xsi:type="dcterms:W3CDTF">2026-09-03T19:52:23Z</dcterms:created>
  <dcterms:modified xsi:type="dcterms:W3CDTF">2026-09-03T19:52:23Z</dcterms:modified>
</cp:coreProperties>
</file>