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first, before any properties. Serverless does not mean there is no server; it means the team shipping the code does not own the machine, the capacity, or the scaling. The unit you hand over is code or an image, not a host. The platform places it, starts it on demand and stops it when idle, and the bill follows the work rather than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consequences of the definition. Scale to zero is the defining property: an idle workload costs nothing and needs nobody. Scaling out is automatic. Patching the base and the runtime is the platform's job, so nobody plans capacity for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trade-offs before the architecture, one row per click. Cost: nothing when idle, but a hot loop of requests is billed per request. Ops: no patching, but you cannot tune the kernel or the runtime. Scale: automatic in both directions, but the first request after idle pays a cold start. Speed: a function ships in minutes, but the deployment model is the platform's. Fit: request-driven and bursty workloads win; long-running or stateful jobs do not belong here. Deploy: a few clicks to ship, at the cost of control over how it is built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Knative was opened up by Google in 2018 and became a CNCF incubating project in 2022, so it is not a vendor-only technology. It is not a platform in itself: it is a set of Kubernetes building blocks. Serving covers request-driven workloads, Eventing covers event routing with brokers and triggers. We run Serving; Eventing exists but we do not expose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objects the team writes every day, then bring the table up a row at a time after the points. A Deployment runs the code, a Service plus an Ingress reaches it, an HPA scales it but never below one, a rolling update replaces it. Knative Serving covers the same needs with one object and adds what plain Kubernetes lacks: immutable revisions you can route between, and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block lands with the line that explains it. A Service owns a Configuration and a Route. Every change to the Configuration stamps a new immutable Revision; old ones stay addressable. The Route decides which revisions receive traffic and in what split. A DomainMapping attaches a hostname of your choosing, which is how we give one workload the same address in both regions. In the web deck, click any block to see the YAML for that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vocabulary before showing the flow. Every pod runs a queue proxy sidecar that reports how many requests are in flight. The Knative Pod Autoscaler reads that and decides the replica count. The Activator is the component that sits in the request path when a revision is at zero, so a request is never dropped while pods start. minScale keeps pods warm for latency-sensitive workloads; maxScale is the ceiling the API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flow, one box per line. When nothing arrives the revision drops to zero pods and the Activator takes its place in the data path. The next request is held by the Activator, which asks the KPA for capacity; pods start, the request is forwarded, and once the revision is healthy the Activator steps out of the path and traffic goes straight to the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Both offerings carry the same ten endpoints; the only difference is that a function has /build where a container has /pull. Two public info endpoints and one ticket mint sit outside the group.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body shape for both offerings, one band per line. Sizes map to CPU request-only and memory request equals limit. Concurrency and rps use the KPA and can scale to zero; cpu and memory switch to HPA. PUT is a full replace but keeps redacted secrets when omitted, so a read-modify-write never strips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vocabulary is closed and published on /info so no client hardcodes it. Walk the happy path one chip at a time, then the failure path. Building only appears for functions, because only a function has a build. Terminating follows a delete. Failed always carries a machine-readable reason next to the human message, and every region reports its own status which the API rolls up into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create, and the 202 that answers it. Note what the caller does not send: no namespace, no image, no Knative anything. Note what comes back immediately: a status of Pending, the hostname the workload will answer on, a statusUrl to poll, and one row per region. Secrets sent in env or files come back redacted, never echoed.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loop, in order: cert-manager issues an ACME client certificate, the API pod mounts it, the API server authenticates the certificate as a Kubernetes user, RBAC authorizes that user inside the tenant namespace, and the workload is applied. The CN is a DNS name because ACME only issues to DNS identities.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points first, then bring the whole picture up at once. 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only about why the step exists. A cluster cannot run a git repository; a pod starts a container image and nothing else. So between source and a running workload there is always a step that produces an image. That step is the build. The container offering simply means the user has already done it and hands us the result; the function offering means we do it for them. How we do it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Native Buildpacks are a CNCF specification, not something we invented. Instead of a Dockerfile per repository, a detection phase inspects the source: requirements.txt or pyproject means Python, go.mod means Go, package.json means Node. Every image comes off the same curated base, and because that base is a separate layer it can be swapped by rebase without rerunning the build. Paketo is the buildpack family we mirror.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kpack is the Kubernetes controller that runs buildpacks, and its objects arrive one per line. An Image is the declaration of what should be built and from where. A SourceResolver turns a branch into a concrete commit. A Build is one attempt at that commit, numbered. Each Build ends up as a Pod. A Builder is the toolchain, the stack plus the buildpacks, that the build uses. Nothing here is specific to us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Cloud Native Buildpacks lifecycle, the same everywhere kpack runs, with nothing of ours in it. It executes as ordered init containers on a single pod, which is why each phase has its own log stream and you can point at exactly where a build failed. Detect chooses the buildpack group, restore pulls cached layers so a rerun is fast, and export is the phase that assembles the OCI layers and pushes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kpack repository is not a fork of upstream; it is a Helm chart that packages upstream kpack 0.18 and adds what an airgap needs. The CRDs ship as templates rather than an untouched crds/ directory because the conversion webhook's clientConfig has to be templated to the release namespace. The clusterBuild block creates the ClusterStack and ClusterStore plus the credentials that pull them. The mirror scripts pull three classes of artifact, including the runtimes that buildpacks fetch at build time, which nothing else mirrors.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our side. The API is pure declaration: it emits a kpack Image, a git Secret and a build ServiceAccount into the workload's own tenant namespace, in the same pass as the Knative Service, and stamps them with the Knative Service's ownerReference so deleting the function garbage-collects the build objects. Everything is per region, and the image is pushed to that region's registry under the group and name. A Kyverno policy injects the internal CA into the build pod, initContainers included, because prepare is where the clone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 by importing the service out of the image and failing if fastapi or jwt are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Compute and Dev Tools are the two we expect next. Adding an offering is data, not code: a JSON entry or one environment variable lights up a card, a route segment and the nav.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auto:0:fade"/>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auto:1:zoom"/>
          <p:cNvSpPr txBox="1"/>
          <p:nvPr/>
        </p:nvSpPr>
        <p:spPr>
          <a:xfrm>
            <a:off x="640080" y="2194560"/>
            <a:ext cx="768096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auto:2:fade"/>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auto:3:fade"/>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auto:4:wipeD"/>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
        <p:nvSpPr>
          <p:cNvPr id="8" name="auto:5:wipeD"/>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auto:6:wipeD"/>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2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400"/>
                                        <p:tgtEl>
                                          <p:spTgt spid="3"/>
                                        </p:tgtEl>
                                      </p:cBhvr>
                                    </p:animEffect>
                                  </p:childTnLst>
                                </p:cTn>
                              </p:par>
                              <p:par>
                                <p:cTn id="9" presetID="53" presetClass="entr" presetSubtype="0" fill="hold" grpId="0" nodeType="withEffect">
                                  <p:stCondLst>
                                    <p:cond delay="8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Scale>
                                      <p:cBhvr>
                                        <p:cTn id="8" dur="450" fill="hold"/>
                                        <p:tgtEl>
                                          <p:spTgt spid="4"/>
                                        </p:tgtEl>
                                      </p:cBhvr>
                                      <p:from x="60000" y="60000"/>
                                      <p:to x="100000" y="100000"/>
                                    </p:animScale>
                                  </p:childTnLst>
                                </p:cTn>
                              </p:par>
                              <p:par>
                                <p:cTn id="12" presetID="10" presetClass="entr" presetSubtype="0" fill="hold" grpId="0" nodeType="withEffect">
                                  <p:stCondLst>
                                    <p:cond delay="1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childTnLst>
                                </p:cTn>
                              </p:par>
                              <p:par>
                                <p:cTn id="15" presetID="10" presetClass="entr" presetSubtype="0" fill="hold" grpId="0" nodeType="withEffect">
                                  <p:stCondLst>
                                    <p:cond delay="24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00"/>
                                        <p:tgtEl>
                                          <p:spTgt spid="6"/>
                                        </p:tgtEl>
                                      </p:cBhvr>
                                    </p:animEffect>
                                  </p:childTnLst>
                                </p:cTn>
                              </p:par>
                              <p:par>
                                <p:cTn id="18" presetID="22" presetClass="entr" presetSubtype="4" fill="hold" grpId="0" nodeType="withEffect">
                                  <p:stCondLst>
                                    <p:cond delay="32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350"/>
                                        <p:tgtEl>
                                          <p:spTgt spid="7"/>
                                        </p:tgtEl>
                                      </p:cBhvr>
                                    </p:animEffect>
                                  </p:childTnLst>
                                </p:cTn>
                              </p:par>
                              <p:par>
                                <p:cTn id="21" presetID="22" presetClass="entr" presetSubtype="4"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wipe(down)">
                                      <p:cBhvr>
                                        <p:cTn id="20" dur="350"/>
                                        <p:tgtEl>
                                          <p:spTgt spid="8"/>
                                        </p:tgtEl>
                                      </p:cBhvr>
                                    </p:animEffect>
                                  </p:childTnLst>
                                </p:cTn>
                              </p:par>
                              <p:par>
                                <p:cTn id="24" presetID="22" presetClass="entr" presetSubtype="4" fill="hold" grpId="0" nodeType="withEffect">
                                  <p:stCondLst>
                                    <p:cond delay="480"/>
                                  </p:stCondLst>
                                  <p:childTnLst>
                                    <p:set>
                                      <p:cBhvr>
                                        <p:cTn id="22" dur="1" fill="hold">
                                          <p:stCondLst>
                                            <p:cond delay="0"/>
                                          </p:stCondLst>
                                        </p:cTn>
                                        <p:tgtEl>
                                          <p:spTgt spid="9"/>
                                        </p:tgtEl>
                                        <p:attrNameLst>
                                          <p:attrName>style.visibility</p:attrName>
                                        </p:attrNameLst>
                                      </p:cBhvr>
                                      <p:to>
                                        <p:strVal val="visible"/>
                                      </p:to>
                                    </p:set>
                                    <p:animEffect transition="in" filter="wipe(down)">
                                      <p:cBhvr>
                                        <p:cTn id="23"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serverless computing</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Knative and OpenShift Serverless Operator</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active-active Knative wrapper</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Functions: buildpacks, kpack, build controller</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portal and cloudlet-apis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Where we go next</a:t>
            </a:r>
            <a:endParaRPr lang="en-US" sz="1700" dirty="0"/>
          </a:p>
        </p:txBody>
      </p:sp>
      <p:sp>
        <p:nvSpPr>
          <p:cNvPr id="17"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4400" b="1" dirty="0">
                <a:solidFill>
                  <a:srgbClr val="0B7A75"/>
                </a:solidFill>
                <a:latin typeface="Century Schoolbook" pitchFamily="34" charset="0"/>
                <a:ea typeface="Century Schoolbook" pitchFamily="34" charset="-122"/>
                <a:cs typeface="Century Schoolbook" pitchFamily="34" charset="-120"/>
              </a:rPr>
              <a:t>34</a:t>
            </a:r>
            <a:endParaRPr lang="en-US" sz="4400" dirty="0"/>
          </a:p>
        </p:txBody>
      </p:sp>
      <p:sp>
        <p:nvSpPr>
          <p:cNvPr id="18"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six topics · one platform</a:t>
            </a:r>
            <a:endParaRPr lang="en-US" sz="1100" dirty="0"/>
          </a:p>
        </p:txBody>
      </p:sp>
      <p:sp>
        <p:nvSpPr>
          <p:cNvPr id="19" name="Text 1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450"/>
                                        <p:tgtEl>
                                          <p:spTgt spid="17"/>
                                        </p:tgtEl>
                                      </p:cBhvr>
                                    </p:animEffect>
                                    <p:animScale>
                                      <p:cBhvr>
                                        <p:cTn id="5" dur="450" fill="hold"/>
                                        <p:tgtEl>
                                          <p:spTgt spid="17"/>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8"/>
                                        </p:tgtEl>
                                        <p:attrNameLst>
                                          <p:attrName>style.visibility</p:attrName>
                                        </p:attrNameLst>
                                      </p:cBhvr>
                                      <p:to>
                                        <p:strVal val="visible"/>
                                      </p:to>
                                    </p:set>
                                    <p:animEffect transition="in" filter="fade">
                                      <p:cBhvr>
                                        <p:cTn id="8"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wipe(left)">
                                      <p:cBhvr>
                                        <p:cTn id="53" dur="350"/>
                                        <p:tgtEl>
                                          <p:spTgt spid="15"/>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wipe(left)">
                                      <p:cBhvr>
                                        <p:cTn id="56"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Serverless, defined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servers exist, you stop managing them</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hand over a unit of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platform decides where it runs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It runs only while work arrives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are billed for that time</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4400" b="1" dirty="0">
                <a:solidFill>
                  <a:srgbClr val="0B7A75"/>
                </a:solidFill>
                <a:latin typeface="Century Schoolbook" pitchFamily="34" charset="0"/>
                <a:ea typeface="Century Schoolbook" pitchFamily="34" charset="-122"/>
                <a:cs typeface="Century Schoolbook" pitchFamily="34" charset="-120"/>
              </a:rPr>
              <a:t>serverless ≠ no servers</a:t>
            </a:r>
            <a:endParaRPr lang="en-US" sz="4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someone else's problem, on purpose</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that buys you</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no capacity meeting</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4400" b="1" dirty="0">
                <a:solidFill>
                  <a:srgbClr val="0B7A75"/>
                </a:solidFill>
                <a:latin typeface="Century Schoolbook" pitchFamily="34" charset="0"/>
                <a:ea typeface="Century Schoolbook" pitchFamily="34" charset="-122"/>
                <a:cs typeface="Century Schoolbook" pitchFamily="34" charset="-120"/>
              </a:rPr>
              <a:t>0 → N → 0</a:t>
            </a:r>
            <a:endParaRPr lang="en-US" sz="4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Serverless: the trade-offs</a:t>
            </a:r>
            <a:endParaRPr lang="en-US" sz="3800" dirty="0"/>
          </a:p>
        </p:txBody>
      </p:sp>
      <p:sp>
        <p:nvSpPr>
          <p:cNvPr id="5" name="Text 2"/>
          <p:cNvSpPr txBox="1"/>
          <p:nvPr/>
        </p:nvSpPr>
        <p:spPr>
          <a:xfrm>
            <a:off x="3017520" y="2103120"/>
            <a:ext cx="420624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PRO</a:t>
            </a:r>
            <a:endParaRPr lang="en-US" sz="1100" dirty="0"/>
          </a:p>
        </p:txBody>
      </p:sp>
      <p:sp>
        <p:nvSpPr>
          <p:cNvPr id="6" name="Text 3"/>
          <p:cNvSpPr txBox="1"/>
          <p:nvPr/>
        </p:nvSpPr>
        <p:spPr>
          <a:xfrm>
            <a:off x="7223760" y="2103120"/>
            <a:ext cx="429768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CON</a:t>
            </a:r>
            <a:endParaRPr lang="en-US" sz="1100" dirty="0"/>
          </a:p>
        </p:txBody>
      </p:sp>
      <p:sp>
        <p:nvSpPr>
          <p:cNvPr id="7" name="step:1:wipeL"/>
          <p:cNvSpPr txBox="1"/>
          <p:nvPr/>
        </p:nvSpPr>
        <p:spPr>
          <a:xfrm>
            <a:off x="640080" y="2606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Cost</a:t>
            </a:r>
            <a:endParaRPr lang="en-US" sz="1700" dirty="0"/>
          </a:p>
        </p:txBody>
      </p:sp>
      <p:sp>
        <p:nvSpPr>
          <p:cNvPr id="8" name="step:1:wipeL"/>
          <p:cNvSpPr txBox="1"/>
          <p:nvPr/>
        </p:nvSpPr>
        <p:spPr>
          <a:xfrm>
            <a:off x="3063240" y="26060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Pay only when it runs</a:t>
            </a:r>
            <a:endParaRPr lang="en-US" sz="1700" dirty="0"/>
          </a:p>
        </p:txBody>
      </p:sp>
      <p:sp>
        <p:nvSpPr>
          <p:cNvPr id="9" name="step:1:wipeL"/>
          <p:cNvSpPr txBox="1"/>
          <p:nvPr/>
        </p:nvSpPr>
        <p:spPr>
          <a:xfrm>
            <a:off x="7269480" y="2606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Bills spike under load</a:t>
            </a:r>
            <a:endParaRPr lang="en-US" sz="1700" dirty="0"/>
          </a:p>
        </p:txBody>
      </p:sp>
      <p:sp>
        <p:nvSpPr>
          <p:cNvPr id="10" name="step:2:wipeL"/>
          <p:cNvSpPr txBox="1"/>
          <p:nvPr/>
        </p:nvSpPr>
        <p:spPr>
          <a:xfrm>
            <a:off x="640080" y="32156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Ops</a:t>
            </a:r>
            <a:endParaRPr lang="en-US" sz="1700" dirty="0"/>
          </a:p>
        </p:txBody>
      </p:sp>
      <p:sp>
        <p:nvSpPr>
          <p:cNvPr id="11" name="step:2:wipeL"/>
          <p:cNvSpPr txBox="1"/>
          <p:nvPr/>
        </p:nvSpPr>
        <p:spPr>
          <a:xfrm>
            <a:off x="3063240" y="32156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servers to patch</a:t>
            </a:r>
            <a:endParaRPr lang="en-US" sz="1700" dirty="0"/>
          </a:p>
        </p:txBody>
      </p:sp>
      <p:sp>
        <p:nvSpPr>
          <p:cNvPr id="12" name="step:2:wipeL"/>
          <p:cNvSpPr txBox="1"/>
          <p:nvPr/>
        </p:nvSpPr>
        <p:spPr>
          <a:xfrm>
            <a:off x="7269480" y="32156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Runtime is not yours</a:t>
            </a:r>
            <a:endParaRPr lang="en-US" sz="1700" dirty="0"/>
          </a:p>
        </p:txBody>
      </p:sp>
      <p:sp>
        <p:nvSpPr>
          <p:cNvPr id="13" name="step:2:wipeL"/>
          <p:cNvSpPr/>
          <p:nvPr/>
        </p:nvSpPr>
        <p:spPr>
          <a:xfrm>
            <a:off x="640080" y="3215640"/>
            <a:ext cx="10881360" cy="0"/>
          </a:xfrm>
          <a:prstGeom prst="line">
            <a:avLst/>
          </a:prstGeom>
          <a:noFill/>
          <a:ln w="6350">
            <a:solidFill>
              <a:srgbClr val="E4E7EC"/>
            </a:solidFill>
            <a:prstDash val="solid"/>
          </a:ln>
        </p:spPr>
      </p:sp>
      <p:sp>
        <p:nvSpPr>
          <p:cNvPr id="14" name="step:3:wipeL"/>
          <p:cNvSpPr txBox="1"/>
          <p:nvPr/>
        </p:nvSpPr>
        <p:spPr>
          <a:xfrm>
            <a:off x="640080" y="38252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Scale</a:t>
            </a:r>
            <a:endParaRPr lang="en-US" sz="1700" dirty="0"/>
          </a:p>
        </p:txBody>
      </p:sp>
      <p:sp>
        <p:nvSpPr>
          <p:cNvPr id="15" name="step:3:wipeL"/>
          <p:cNvSpPr txBox="1"/>
          <p:nvPr/>
        </p:nvSpPr>
        <p:spPr>
          <a:xfrm>
            <a:off x="3063240" y="38252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Up and down by itself</a:t>
            </a:r>
            <a:endParaRPr lang="en-US" sz="1700" dirty="0"/>
          </a:p>
        </p:txBody>
      </p:sp>
      <p:sp>
        <p:nvSpPr>
          <p:cNvPr id="16" name="step:3:wipeL"/>
          <p:cNvSpPr txBox="1"/>
          <p:nvPr/>
        </p:nvSpPr>
        <p:spPr>
          <a:xfrm>
            <a:off x="7269480" y="38252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Cold start on first hit</a:t>
            </a:r>
            <a:endParaRPr lang="en-US" sz="1700" dirty="0"/>
          </a:p>
        </p:txBody>
      </p:sp>
      <p:sp>
        <p:nvSpPr>
          <p:cNvPr id="17" name="step:3:wipeL"/>
          <p:cNvSpPr/>
          <p:nvPr/>
        </p:nvSpPr>
        <p:spPr>
          <a:xfrm>
            <a:off x="640080" y="3825240"/>
            <a:ext cx="10881360" cy="0"/>
          </a:xfrm>
          <a:prstGeom prst="line">
            <a:avLst/>
          </a:prstGeom>
          <a:noFill/>
          <a:ln w="6350">
            <a:solidFill>
              <a:srgbClr val="E4E7EC"/>
            </a:solidFill>
            <a:prstDash val="solid"/>
          </a:ln>
        </p:spPr>
      </p:sp>
      <p:sp>
        <p:nvSpPr>
          <p:cNvPr id="18" name="step:4:wipeL"/>
          <p:cNvSpPr txBox="1"/>
          <p:nvPr/>
        </p:nvSpPr>
        <p:spPr>
          <a:xfrm>
            <a:off x="640080" y="44348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Speed</a:t>
            </a:r>
            <a:endParaRPr lang="en-US" sz="1700" dirty="0"/>
          </a:p>
        </p:txBody>
      </p:sp>
      <p:sp>
        <p:nvSpPr>
          <p:cNvPr id="19" name="step:4:wipeL"/>
          <p:cNvSpPr txBox="1"/>
          <p:nvPr/>
        </p:nvSpPr>
        <p:spPr>
          <a:xfrm>
            <a:off x="3063240" y="44348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function in minutes</a:t>
            </a:r>
            <a:endParaRPr lang="en-US" sz="1700" dirty="0"/>
          </a:p>
        </p:txBody>
      </p:sp>
      <p:sp>
        <p:nvSpPr>
          <p:cNvPr id="20" name="step:4:wipeL"/>
          <p:cNvSpPr txBox="1"/>
          <p:nvPr/>
        </p:nvSpPr>
        <p:spPr>
          <a:xfrm>
            <a:off x="7269480" y="44348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Platform lock-in</a:t>
            </a:r>
            <a:endParaRPr lang="en-US" sz="1700" dirty="0"/>
          </a:p>
        </p:txBody>
      </p:sp>
      <p:sp>
        <p:nvSpPr>
          <p:cNvPr id="21" name="step:4:wipeL"/>
          <p:cNvSpPr/>
          <p:nvPr/>
        </p:nvSpPr>
        <p:spPr>
          <a:xfrm>
            <a:off x="640080" y="4434840"/>
            <a:ext cx="10881360" cy="0"/>
          </a:xfrm>
          <a:prstGeom prst="line">
            <a:avLst/>
          </a:prstGeom>
          <a:noFill/>
          <a:ln w="6350">
            <a:solidFill>
              <a:srgbClr val="E4E7EC"/>
            </a:solidFill>
            <a:prstDash val="solid"/>
          </a:ln>
        </p:spPr>
      </p:sp>
      <p:sp>
        <p:nvSpPr>
          <p:cNvPr id="22" name="step:5:wipeL"/>
          <p:cNvSpPr txBox="1"/>
          <p:nvPr/>
        </p:nvSpPr>
        <p:spPr>
          <a:xfrm>
            <a:off x="640080" y="50444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Fit</a:t>
            </a:r>
            <a:endParaRPr lang="en-US" sz="1700" dirty="0"/>
          </a:p>
        </p:txBody>
      </p:sp>
      <p:sp>
        <p:nvSpPr>
          <p:cNvPr id="23" name="step:5:wipeL"/>
          <p:cNvSpPr txBox="1"/>
          <p:nvPr/>
        </p:nvSpPr>
        <p:spPr>
          <a:xfrm>
            <a:off x="3063240" y="50444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Bursty, event-driven</a:t>
            </a:r>
            <a:endParaRPr lang="en-US" sz="1700" dirty="0"/>
          </a:p>
        </p:txBody>
      </p:sp>
      <p:sp>
        <p:nvSpPr>
          <p:cNvPr id="24" name="step:5:wipeL"/>
          <p:cNvSpPr txBox="1"/>
          <p:nvPr/>
        </p:nvSpPr>
        <p:spPr>
          <a:xfrm>
            <a:off x="7269480" y="50444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Long-running jobs, state</a:t>
            </a:r>
            <a:endParaRPr lang="en-US" sz="1700" dirty="0"/>
          </a:p>
        </p:txBody>
      </p:sp>
      <p:sp>
        <p:nvSpPr>
          <p:cNvPr id="25" name="step:5:wipeL"/>
          <p:cNvSpPr/>
          <p:nvPr/>
        </p:nvSpPr>
        <p:spPr>
          <a:xfrm>
            <a:off x="640080" y="5044440"/>
            <a:ext cx="10881360" cy="0"/>
          </a:xfrm>
          <a:prstGeom prst="line">
            <a:avLst/>
          </a:prstGeom>
          <a:noFill/>
          <a:ln w="6350">
            <a:solidFill>
              <a:srgbClr val="E4E7EC"/>
            </a:solidFill>
            <a:prstDash val="solid"/>
          </a:ln>
        </p:spPr>
      </p:sp>
      <p:sp>
        <p:nvSpPr>
          <p:cNvPr id="26" name="step:6:wipeL"/>
          <p:cNvSpPr txBox="1"/>
          <p:nvPr/>
        </p:nvSpPr>
        <p:spPr>
          <a:xfrm>
            <a:off x="640080" y="5654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Deploy</a:t>
            </a:r>
            <a:endParaRPr lang="en-US" sz="1700" dirty="0"/>
          </a:p>
        </p:txBody>
      </p:sp>
      <p:sp>
        <p:nvSpPr>
          <p:cNvPr id="27" name="step:6:wipeL"/>
          <p:cNvSpPr txBox="1"/>
          <p:nvPr/>
        </p:nvSpPr>
        <p:spPr>
          <a:xfrm>
            <a:off x="3063240" y="56540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Easy, few clicks</a:t>
            </a:r>
            <a:endParaRPr lang="en-US" sz="1700" dirty="0"/>
          </a:p>
        </p:txBody>
      </p:sp>
      <p:sp>
        <p:nvSpPr>
          <p:cNvPr id="28" name="step:6:wipeL"/>
          <p:cNvSpPr txBox="1"/>
          <p:nvPr/>
        </p:nvSpPr>
        <p:spPr>
          <a:xfrm>
            <a:off x="7269480" y="5654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Less control and customization</a:t>
            </a:r>
            <a:endParaRPr lang="en-US" sz="1700" dirty="0"/>
          </a:p>
        </p:txBody>
      </p:sp>
      <p:sp>
        <p:nvSpPr>
          <p:cNvPr id="29" name="step:6:wipeL"/>
          <p:cNvSpPr/>
          <p:nvPr/>
        </p:nvSpPr>
        <p:spPr>
          <a:xfrm>
            <a:off x="640080" y="5654040"/>
            <a:ext cx="10881360" cy="0"/>
          </a:xfrm>
          <a:prstGeom prst="line">
            <a:avLst/>
          </a:prstGeom>
          <a:noFill/>
          <a:ln w="6350">
            <a:solidFill>
              <a:srgbClr val="E4E7EC"/>
            </a:solidFill>
            <a:prstDash val="solid"/>
          </a:ln>
        </p:spPr>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wipe(left)">
                                      <p:cBhvr>
                                        <p:cTn id="4" dur="350"/>
                                        <p:tgtEl>
                                          <p:spTgt spid="7"/>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par>
                                <p:cTn id="11"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350"/>
                                        <p:tgtEl>
                                          <p:spTgt spid="9"/>
                                        </p:tgtEl>
                                      </p:cBhvr>
                                    </p:animEffect>
                                  </p:childTnLst>
                                </p:cTn>
                              </p:par>
                            </p:childTnLst>
                          </p:cTn>
                        </p:par>
                      </p:childTnLst>
                    </p:cTn>
                  </p:par>
                  <p:par>
                    <p:cTn id="26" fill="hold">
                      <p:stCondLst>
                        <p:cond delay="indefinite"/>
                      </p:stCondLst>
                      <p:childTnLst>
                        <p:par>
                          <p:cTn id="27" fill="hold">
                            <p:stCondLst>
                              <p:cond delay="0"/>
                            </p:stCondLst>
                            <p:childTnLst>
                              <p:par>
                                <p:cTn id="16" presetID="22" presetClass="entr" presetSubtype="8"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350"/>
                                        <p:tgtEl>
                                          <p:spTgt spid="10"/>
                                        </p:tgtEl>
                                      </p:cBhvr>
                                    </p:animEffect>
                                  </p:childTnLst>
                                </p:cTn>
                              </p:par>
                              <p:par>
                                <p:cTn id="19" presetID="22" presetClass="entr" presetSubtype="8"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350"/>
                                        <p:tgtEl>
                                          <p:spTgt spid="11"/>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350"/>
                                        <p:tgtEl>
                                          <p:spTgt spid="12"/>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left)">
                                      <p:cBhvr>
                                        <p:cTn id="24" dur="350"/>
                                        <p:tgtEl>
                                          <p:spTgt spid="13"/>
                                        </p:tgtEl>
                                      </p:cBhvr>
                                    </p:animEffect>
                                  </p:childTnLst>
                                </p:cTn>
                              </p:par>
                            </p:childTnLst>
                          </p:cTn>
                        </p:par>
                      </p:childTnLst>
                    </p:cTn>
                  </p:par>
                  <p:par>
                    <p:cTn id="40" fill="hold">
                      <p:stCondLst>
                        <p:cond delay="indefinite"/>
                      </p:stCondLst>
                      <p:childTnLst>
                        <p:par>
                          <p:cTn id="41"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wipe(left)">
                                      <p:cBhvr>
                                        <p:cTn id="29" dur="350"/>
                                        <p:tgtEl>
                                          <p:spTgt spid="14"/>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wipe(left)">
                                      <p:cBhvr>
                                        <p:cTn id="32" dur="350"/>
                                        <p:tgtEl>
                                          <p:spTgt spid="15"/>
                                        </p:tgtEl>
                                      </p:cBhvr>
                                    </p:animEffect>
                                  </p:childTnLst>
                                </p:cTn>
                              </p:par>
                              <p:par>
                                <p:cTn id="36" presetID="22" presetClass="entr" presetSubtype="8"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wipe(left)">
                                      <p:cBhvr>
                                        <p:cTn id="35" dur="350"/>
                                        <p:tgtEl>
                                          <p:spTgt spid="16"/>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wipe(left)">
                                      <p:cBhvr>
                                        <p:cTn id="38" dur="350"/>
                                        <p:tgtEl>
                                          <p:spTgt spid="17"/>
                                        </p:tgtEl>
                                      </p:cBhvr>
                                    </p:animEffect>
                                  </p:childTnLst>
                                </p:cTn>
                              </p:par>
                            </p:childTnLst>
                          </p:cTn>
                        </p:par>
                      </p:childTnLst>
                    </p:cTn>
                  </p:par>
                  <p:par>
                    <p:cTn id="54" fill="hold">
                      <p:stCondLst>
                        <p:cond delay="indefinite"/>
                      </p:stCondLst>
                      <p:childTnLst>
                        <p:par>
                          <p:cTn id="55" fill="hold">
                            <p:stCondLst>
                              <p:cond delay="0"/>
                            </p:stCondLst>
                            <p:childTnLst>
                              <p:par>
                                <p:cTn id="44" presetID="22" presetClass="entr" presetSubtype="8"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wipe(left)">
                                      <p:cBhvr>
                                        <p:cTn id="43" dur="350"/>
                                        <p:tgtEl>
                                          <p:spTgt spid="18"/>
                                        </p:tgtEl>
                                      </p:cBhvr>
                                    </p:animEffect>
                                  </p:childTnLst>
                                </p:cTn>
                              </p:par>
                              <p:par>
                                <p:cTn id="47" presetID="22" presetClass="entr" presetSubtype="8"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wipe(left)">
                                      <p:cBhvr>
                                        <p:cTn id="46" dur="350"/>
                                        <p:tgtEl>
                                          <p:spTgt spid="19"/>
                                        </p:tgtEl>
                                      </p:cBhvr>
                                    </p:animEffect>
                                  </p:childTnLst>
                                </p:cTn>
                              </p:par>
                              <p:par>
                                <p:cTn id="50" presetID="22" presetClass="entr" presetSubtype="8"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wipe(left)">
                                      <p:cBhvr>
                                        <p:cTn id="49" dur="350"/>
                                        <p:tgtEl>
                                          <p:spTgt spid="20"/>
                                        </p:tgtEl>
                                      </p:cBhvr>
                                    </p:animEffect>
                                  </p:childTnLst>
                                </p:cTn>
                              </p:par>
                              <p:par>
                                <p:cTn id="53" presetID="22" presetClass="entr" presetSubtype="8"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wipe(left)">
                                      <p:cBhvr>
                                        <p:cTn id="52" dur="350"/>
                                        <p:tgtEl>
                                          <p:spTgt spid="21"/>
                                        </p:tgtEl>
                                      </p:cBhvr>
                                    </p:animEffect>
                                  </p:childTnLst>
                                </p:cTn>
                              </p:par>
                            </p:childTnLst>
                          </p:cTn>
                        </p:par>
                      </p:childTnLst>
                    </p:cTn>
                  </p:par>
                  <p:par>
                    <p:cTn id="68" fill="hold">
                      <p:stCondLst>
                        <p:cond delay="indefinite"/>
                      </p:stCondLst>
                      <p:childTnLst>
                        <p:par>
                          <p:cTn id="69" fill="hold">
                            <p:stCondLst>
                              <p:cond delay="0"/>
                            </p:stCondLst>
                            <p:childTnLst>
                              <p:par>
                                <p:cTn id="58" presetID="22" presetClass="entr" presetSubtype="8" fill="hold" grpId="0" nodeType="click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wipe(left)">
                                      <p:cBhvr>
                                        <p:cTn id="57" dur="350"/>
                                        <p:tgtEl>
                                          <p:spTgt spid="22"/>
                                        </p:tgtEl>
                                      </p:cBhvr>
                                    </p:animEffect>
                                  </p:childTnLst>
                                </p:cTn>
                              </p:par>
                              <p:par>
                                <p:cTn id="61" presetID="22" presetClass="entr" presetSubtype="8" fill="hold" grpId="0" nodeType="with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350"/>
                                        <p:tgtEl>
                                          <p:spTgt spid="23"/>
                                        </p:tgtEl>
                                      </p:cBhvr>
                                    </p:animEffect>
                                  </p:childTnLst>
                                </p:cTn>
                              </p:par>
                              <p:par>
                                <p:cTn id="64" presetID="22" presetClass="entr" presetSubtype="8"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wipe(left)">
                                      <p:cBhvr>
                                        <p:cTn id="63" dur="350"/>
                                        <p:tgtEl>
                                          <p:spTgt spid="24"/>
                                        </p:tgtEl>
                                      </p:cBhvr>
                                    </p:animEffect>
                                  </p:childTnLst>
                                </p:cTn>
                              </p:par>
                              <p:par>
                                <p:cTn id="67" presetID="22" presetClass="entr" presetSubtype="8" fill="hold" grpId="0"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350"/>
                                        <p:tgtEl>
                                          <p:spTgt spid="25"/>
                                        </p:tgtEl>
                                      </p:cBhvr>
                                    </p:animEffect>
                                  </p:childTnLst>
                                </p:cTn>
                              </p:par>
                            </p:childTnLst>
                          </p:cTn>
                        </p:par>
                      </p:childTnLst>
                    </p:cTn>
                  </p:par>
                  <p:par>
                    <p:cTn id="82" fill="hold">
                      <p:stCondLst>
                        <p:cond delay="indefinite"/>
                      </p:stCondLst>
                      <p:childTnLst>
                        <p:par>
                          <p:cTn id="83" fill="hold">
                            <p:stCondLst>
                              <p:cond delay="0"/>
                            </p:stCondLst>
                            <p:childTnLst>
                              <p:par>
                                <p:cTn id="72" presetID="22" presetClass="entr" presetSubtype="8" fill="hold" grpId="0" nodeType="click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wipe(left)">
                                      <p:cBhvr>
                                        <p:cTn id="71" dur="350"/>
                                        <p:tgtEl>
                                          <p:spTgt spid="26"/>
                                        </p:tgtEl>
                                      </p:cBhvr>
                                    </p:animEffect>
                                  </p:childTnLst>
                                </p:cTn>
                              </p:par>
                              <p:par>
                                <p:cTn id="75" presetID="22" presetClass="entr" presetSubtype="8" fill="hold" grpId="0"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wipe(left)">
                                      <p:cBhvr>
                                        <p:cTn id="74" dur="350"/>
                                        <p:tgtEl>
                                          <p:spTgt spid="27"/>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wipe(left)">
                                      <p:cBhvr>
                                        <p:cTn id="77" dur="350"/>
                                        <p:tgtEl>
                                          <p:spTgt spid="28"/>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wipe(left)">
                                      <p:cBhvr>
                                        <p:cTn id="80"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Knative, and where it came from</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Google open-sourced it in 2018</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CNCF project since 2022</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building blocks for Kubernetes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Two halves: Serving and Eventing</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run Serving only</a:t>
            </a:r>
            <a:endParaRPr lang="en-US" sz="1900" dirty="0"/>
          </a:p>
        </p:txBody>
      </p:sp>
      <p:sp>
        <p:nvSpPr>
          <p:cNvPr id="15"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auto: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2018</a:t>
            </a:r>
            <a:endParaRPr lang="en-US" sz="1400" dirty="0"/>
          </a:p>
        </p:txBody>
      </p:sp>
      <p:sp>
        <p:nvSpPr>
          <p:cNvPr id="17" name="auto:2: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Google open-sources Knative</a:t>
            </a:r>
            <a:endParaRPr lang="en-US" sz="950" dirty="0"/>
          </a:p>
        </p:txBody>
      </p:sp>
      <p:sp>
        <p:nvSpPr>
          <p:cNvPr id="18"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auto:4: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2022</a:t>
            </a:r>
            <a:endParaRPr lang="en-US" sz="1400" dirty="0"/>
          </a:p>
        </p:txBody>
      </p:sp>
      <p:sp>
        <p:nvSpPr>
          <p:cNvPr id="20" name="auto:5: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donated to the CNCF</a:t>
            </a:r>
            <a:endParaRPr lang="en-US" sz="950" dirty="0"/>
          </a:p>
        </p:txBody>
      </p:sp>
      <p:sp>
        <p:nvSpPr>
          <p:cNvPr id="21"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auto:7: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Serving</a:t>
            </a:r>
            <a:endParaRPr lang="en-US" sz="1400" dirty="0"/>
          </a:p>
        </p:txBody>
      </p:sp>
      <p:sp>
        <p:nvSpPr>
          <p:cNvPr id="23" name="auto:8: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request-driven workloads</a:t>
            </a:r>
            <a:endParaRPr lang="en-US" sz="950" dirty="0"/>
          </a:p>
        </p:txBody>
      </p:sp>
      <p:sp>
        <p:nvSpPr>
          <p:cNvPr id="24"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auto:10: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Eventing</a:t>
            </a:r>
            <a:endParaRPr lang="en-US" sz="1400" dirty="0"/>
          </a:p>
        </p:txBody>
      </p:sp>
      <p:sp>
        <p:nvSpPr>
          <p:cNvPr id="26" name="auto:11: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brokers, triggers, CloudEvents</a:t>
            </a:r>
            <a:endParaRPr lang="en-US" sz="950" dirty="0"/>
          </a:p>
        </p:txBody>
      </p:sp>
      <p:sp>
        <p:nvSpPr>
          <p:cNvPr id="27"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auto:13: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Ours</a:t>
            </a:r>
            <a:endParaRPr lang="en-US" sz="1400" dirty="0"/>
          </a:p>
        </p:txBody>
      </p:sp>
      <p:sp>
        <p:nvSpPr>
          <p:cNvPr id="29" name="auto:14: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Serving, via the Operator</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22" presetClass="entr" presetSubtype="4"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350"/>
                                        <p:tgtEl>
                                          <p:spTgt spid="16"/>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down)">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Knative, from what we already run</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know Deployment, Service, Ingress, HPA</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Knative bundles them into one object</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Adds revisions, routing and scale-to-zero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Runs on any Kubernetes, ours is OpenShift</a:t>
            </a:r>
            <a:endParaRPr lang="en-US" sz="1900" dirty="0"/>
          </a:p>
        </p:txBody>
      </p:sp>
      <p:sp>
        <p:nvSpPr>
          <p:cNvPr id="13" name="Shape 10"/>
          <p:cNvSpPr/>
          <p:nvPr/>
        </p:nvSpPr>
        <p:spPr>
          <a:xfrm>
            <a:off x="9281160" y="2514600"/>
            <a:ext cx="2286000" cy="2560320"/>
          </a:xfrm>
          <a:prstGeom prst="rect">
            <a:avLst/>
          </a:prstGeom>
          <a:solidFill>
            <a:srgbClr val="E3F1F0"/>
          </a:solidFill>
          <a:ln w="12700">
            <a:solidFill>
              <a:srgbClr val="E3F1F0"/>
            </a:solidFill>
            <a:prstDash val="solid"/>
          </a:ln>
        </p:spPr>
      </p:sp>
      <p:sp>
        <p:nvSpPr>
          <p:cNvPr id="14" name="Text 11"/>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NEED</a:t>
            </a:r>
            <a:endParaRPr lang="en-US" sz="900" dirty="0"/>
          </a:p>
        </p:txBody>
      </p:sp>
      <p:sp>
        <p:nvSpPr>
          <p:cNvPr id="15" name="Text 12"/>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PLAIN KUBERNETES</a:t>
            </a:r>
            <a:endParaRPr lang="en-US" sz="900" dirty="0"/>
          </a:p>
        </p:txBody>
      </p:sp>
      <p:sp>
        <p:nvSpPr>
          <p:cNvPr id="16" name="Text 13"/>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KNATIVE</a:t>
            </a:r>
            <a:endParaRPr lang="en-US" sz="900" dirty="0"/>
          </a:p>
        </p:txBody>
      </p:sp>
      <p:sp>
        <p:nvSpPr>
          <p:cNvPr id="17" name="step:5: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Run the code</a:t>
            </a:r>
            <a:endParaRPr lang="en-US" sz="1250" dirty="0"/>
          </a:p>
        </p:txBody>
      </p:sp>
      <p:sp>
        <p:nvSpPr>
          <p:cNvPr id="18" name="step:5: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Deployment</a:t>
            </a:r>
            <a:endParaRPr lang="en-US" sz="1250" dirty="0"/>
          </a:p>
        </p:txBody>
      </p:sp>
      <p:sp>
        <p:nvSpPr>
          <p:cNvPr id="19" name="step:5: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Revision</a:t>
            </a:r>
            <a:endParaRPr lang="en-US" sz="1250" dirty="0"/>
          </a:p>
        </p:txBody>
      </p:sp>
      <p:sp>
        <p:nvSpPr>
          <p:cNvPr id="20" name="step:6: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Reach it</a:t>
            </a:r>
            <a:endParaRPr lang="en-US" sz="1250" dirty="0"/>
          </a:p>
        </p:txBody>
      </p:sp>
      <p:sp>
        <p:nvSpPr>
          <p:cNvPr id="21" name="step:6: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Service + Ingress</a:t>
            </a:r>
            <a:endParaRPr lang="en-US" sz="1250" dirty="0"/>
          </a:p>
        </p:txBody>
      </p:sp>
      <p:sp>
        <p:nvSpPr>
          <p:cNvPr id="22" name="step:6: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Route</a:t>
            </a:r>
            <a:endParaRPr lang="en-US" sz="1250" dirty="0"/>
          </a:p>
        </p:txBody>
      </p:sp>
      <p:sp>
        <p:nvSpPr>
          <p:cNvPr id="23" name="step:6:wipeL"/>
          <p:cNvSpPr/>
          <p:nvPr/>
        </p:nvSpPr>
        <p:spPr>
          <a:xfrm>
            <a:off x="6172200" y="3063240"/>
            <a:ext cx="5394960" cy="0"/>
          </a:xfrm>
          <a:prstGeom prst="line">
            <a:avLst/>
          </a:prstGeom>
          <a:noFill/>
          <a:ln w="6350">
            <a:solidFill>
              <a:srgbClr val="E4E7EC"/>
            </a:solidFill>
            <a:prstDash val="solid"/>
          </a:ln>
        </p:spPr>
      </p:sp>
      <p:sp>
        <p:nvSpPr>
          <p:cNvPr id="24" name="step:7: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Scale it</a:t>
            </a:r>
            <a:endParaRPr lang="en-US" sz="1250" dirty="0"/>
          </a:p>
        </p:txBody>
      </p:sp>
      <p:sp>
        <p:nvSpPr>
          <p:cNvPr id="25" name="step:7: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HPA, never to zero</a:t>
            </a:r>
            <a:endParaRPr lang="en-US" sz="1250" dirty="0"/>
          </a:p>
        </p:txBody>
      </p:sp>
      <p:sp>
        <p:nvSpPr>
          <p:cNvPr id="26" name="step:7: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KPA, down to zero</a:t>
            </a:r>
            <a:endParaRPr lang="en-US" sz="1250" dirty="0"/>
          </a:p>
        </p:txBody>
      </p:sp>
      <p:sp>
        <p:nvSpPr>
          <p:cNvPr id="27" name="step:7:wipeL"/>
          <p:cNvSpPr/>
          <p:nvPr/>
        </p:nvSpPr>
        <p:spPr>
          <a:xfrm>
            <a:off x="6172200" y="3566160"/>
            <a:ext cx="5394960" cy="0"/>
          </a:xfrm>
          <a:prstGeom prst="line">
            <a:avLst/>
          </a:prstGeom>
          <a:noFill/>
          <a:ln w="6350">
            <a:solidFill>
              <a:srgbClr val="E4E7EC"/>
            </a:solidFill>
            <a:prstDash val="solid"/>
          </a:ln>
        </p:spPr>
      </p:sp>
      <p:sp>
        <p:nvSpPr>
          <p:cNvPr id="28" name="step:8: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Change it</a:t>
            </a:r>
            <a:endParaRPr lang="en-US" sz="1250" dirty="0"/>
          </a:p>
        </p:txBody>
      </p:sp>
      <p:sp>
        <p:nvSpPr>
          <p:cNvPr id="29" name="step:8: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Rolling update</a:t>
            </a:r>
            <a:endParaRPr lang="en-US" sz="1250" dirty="0"/>
          </a:p>
        </p:txBody>
      </p:sp>
      <p:sp>
        <p:nvSpPr>
          <p:cNvPr id="30" name="step:8: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New Revision, old kept</a:t>
            </a:r>
            <a:endParaRPr lang="en-US" sz="1250" dirty="0"/>
          </a:p>
        </p:txBody>
      </p:sp>
      <p:sp>
        <p:nvSpPr>
          <p:cNvPr id="31" name="step:8:wipeL"/>
          <p:cNvSpPr/>
          <p:nvPr/>
        </p:nvSpPr>
        <p:spPr>
          <a:xfrm>
            <a:off x="6172200" y="4069080"/>
            <a:ext cx="5394960" cy="0"/>
          </a:xfrm>
          <a:prstGeom prst="line">
            <a:avLst/>
          </a:prstGeom>
          <a:noFill/>
          <a:ln w="6350">
            <a:solidFill>
              <a:srgbClr val="E4E7EC"/>
            </a:solidFill>
            <a:prstDash val="solid"/>
          </a:ln>
        </p:spPr>
      </p:sp>
      <p:sp>
        <p:nvSpPr>
          <p:cNvPr id="32" name="step:9: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Own hostname</a:t>
            </a:r>
            <a:endParaRPr lang="en-US" sz="1250" dirty="0"/>
          </a:p>
        </p:txBody>
      </p:sp>
      <p:sp>
        <p:nvSpPr>
          <p:cNvPr id="33" name="step:9: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Ingress rule</a:t>
            </a:r>
            <a:endParaRPr lang="en-US" sz="1250" dirty="0"/>
          </a:p>
        </p:txBody>
      </p:sp>
      <p:sp>
        <p:nvSpPr>
          <p:cNvPr id="34" name="step:9: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DomainMapping</a:t>
            </a:r>
            <a:endParaRPr lang="en-US" sz="1250" dirty="0"/>
          </a:p>
        </p:txBody>
      </p:sp>
      <p:sp>
        <p:nvSpPr>
          <p:cNvPr id="35" name="step:9:wipeL"/>
          <p:cNvSpPr/>
          <p:nvPr/>
        </p:nvSpPr>
        <p:spPr>
          <a:xfrm>
            <a:off x="6172200" y="4572000"/>
            <a:ext cx="5394960" cy="0"/>
          </a:xfrm>
          <a:prstGeom prst="line">
            <a:avLst/>
          </a:prstGeom>
          <a:noFill/>
          <a:ln w="6350">
            <a:solidFill>
              <a:srgbClr val="E4E7EC"/>
            </a:solidFill>
            <a:prstDash val="solid"/>
          </a:ln>
        </p:spPr>
      </p:sp>
      <p:sp>
        <p:nvSpPr>
          <p:cNvPr id="36" name="Text 3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07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350"/>
                                        <p:tgtEl>
                                          <p:spTgt spid="17"/>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wipe(left)">
                                      <p:cBhvr>
                                        <p:cTn id="39" dur="350"/>
                                        <p:tgtEl>
                                          <p:spTgt spid="18"/>
                                        </p:tgtEl>
                                      </p:cBhvr>
                                    </p:animEffect>
                                  </p:childTnLst>
                                </p:cTn>
                              </p:par>
                              <p:par>
                                <p:cTn id="43" presetID="22" presetClass="entr" presetSubtype="8"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350"/>
                                        <p:tgtEl>
                                          <p:spTgt spid="19"/>
                                        </p:tgtEl>
                                      </p:cBhvr>
                                    </p:animEffect>
                                  </p:childTnLst>
                                </p:cTn>
                              </p:par>
                            </p:childTnLst>
                          </p:cTn>
                        </p:par>
                      </p:childTnLst>
                    </p:cTn>
                  </p:par>
                  <p:par>
                    <p:cTn id="58" fill="hold">
                      <p:stCondLst>
                        <p:cond delay="indefinite"/>
                      </p:stCondLst>
                      <p:childTnLst>
                        <p:par>
                          <p:cTn id="59" fill="hold">
                            <p:stCondLst>
                              <p:cond delay="0"/>
                            </p:stCondLst>
                            <p:childTnLst>
                              <p:par>
                                <p:cTn id="48" presetID="22" presetClass="entr" presetSubtype="8" fill="hold" grpId="0" nodeType="click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350"/>
                                        <p:tgtEl>
                                          <p:spTgt spid="20"/>
                                        </p:tgtEl>
                                      </p:cBhvr>
                                    </p:animEffect>
                                  </p:childTnLst>
                                </p:cTn>
                              </p:par>
                              <p:par>
                                <p:cTn id="51" presetID="22" presetClass="entr" presetSubtype="8"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350"/>
                                        <p:tgtEl>
                                          <p:spTgt spid="21"/>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wipe(left)">
                                      <p:cBhvr>
                                        <p:cTn id="53" dur="350"/>
                                        <p:tgtEl>
                                          <p:spTgt spid="22"/>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23"/>
                                        </p:tgtEl>
                                        <p:attrNameLst>
                                          <p:attrName>style.visibility</p:attrName>
                                        </p:attrNameLst>
                                      </p:cBhvr>
                                      <p:to>
                                        <p:strVal val="visible"/>
                                      </p:to>
                                    </p:set>
                                    <p:animEffect transition="in" filter="wipe(left)">
                                      <p:cBhvr>
                                        <p:cTn id="56" dur="350"/>
                                        <p:tgtEl>
                                          <p:spTgt spid="23"/>
                                        </p:tgtEl>
                                      </p:cBhvr>
                                    </p:animEffect>
                                  </p:childTnLst>
                                </p:cTn>
                              </p:par>
                            </p:childTnLst>
                          </p:cTn>
                        </p:par>
                      </p:childTnLst>
                    </p:cTn>
                  </p:par>
                  <p:par>
                    <p:cTn id="72" fill="hold">
                      <p:stCondLst>
                        <p:cond delay="indefinite"/>
                      </p:stCondLst>
                      <p:childTnLst>
                        <p:par>
                          <p:cTn id="73" fill="hold">
                            <p:stCondLst>
                              <p:cond delay="0"/>
                            </p:stCondLst>
                            <p:childTnLst>
                              <p:par>
                                <p:cTn id="62" presetID="22" presetClass="entr" presetSubtype="8" fill="hold" grpId="0" nodeType="click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wipe(left)">
                                      <p:cBhvr>
                                        <p:cTn id="61" dur="350"/>
                                        <p:tgtEl>
                                          <p:spTgt spid="24"/>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wipe(left)">
                                      <p:cBhvr>
                                        <p:cTn id="64" dur="350"/>
                                        <p:tgtEl>
                                          <p:spTgt spid="25"/>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left)">
                                      <p:cBhvr>
                                        <p:cTn id="67" dur="350"/>
                                        <p:tgtEl>
                                          <p:spTgt spid="26"/>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350"/>
                                        <p:tgtEl>
                                          <p:spTgt spid="27"/>
                                        </p:tgtEl>
                                      </p:cBhvr>
                                    </p:animEffect>
                                  </p:childTnLst>
                                </p:cTn>
                              </p:par>
                            </p:childTnLst>
                          </p:cTn>
                        </p:par>
                      </p:childTnLst>
                    </p:cTn>
                  </p:par>
                  <p:par>
                    <p:cTn id="86" fill="hold">
                      <p:stCondLst>
                        <p:cond delay="indefinite"/>
                      </p:stCondLst>
                      <p:childTnLst>
                        <p:par>
                          <p:cTn id="87"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wipe(left)">
                                      <p:cBhvr>
                                        <p:cTn id="75" dur="350"/>
                                        <p:tgtEl>
                                          <p:spTgt spid="28"/>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350"/>
                                        <p:tgtEl>
                                          <p:spTgt spid="29"/>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wipe(left)">
                                      <p:cBhvr>
                                        <p:cTn id="81" dur="350"/>
                                        <p:tgtEl>
                                          <p:spTgt spid="30"/>
                                        </p:tgtEl>
                                      </p:cBhvr>
                                    </p:animEffect>
                                  </p:childTnLst>
                                </p:cTn>
                              </p:par>
                              <p:par>
                                <p:cTn id="85" presetID="22" presetClass="entr" presetSubtype="8" fill="hold" grpId="0" nodeType="withEffect">
                                  <p:stCondLst>
                                    <p:cond delay="0"/>
                                  </p:stCondLst>
                                  <p:childTnLst>
                                    <p:set>
                                      <p:cBhvr>
                                        <p:cTn id="83" dur="1" fill="hold">
                                          <p:stCondLst>
                                            <p:cond delay="0"/>
                                          </p:stCondLst>
                                        </p:cTn>
                                        <p:tgtEl>
                                          <p:spTgt spid="31"/>
                                        </p:tgtEl>
                                        <p:attrNameLst>
                                          <p:attrName>style.visibility</p:attrName>
                                        </p:attrNameLst>
                                      </p:cBhvr>
                                      <p:to>
                                        <p:strVal val="visible"/>
                                      </p:to>
                                    </p:set>
                                    <p:animEffect transition="in" filter="wipe(left)">
                                      <p:cBhvr>
                                        <p:cTn id="84" dur="350"/>
                                        <p:tgtEl>
                                          <p:spTgt spid="31"/>
                                        </p:tgtEl>
                                      </p:cBhvr>
                                    </p:animEffect>
                                  </p:childTnLst>
                                </p:cTn>
                              </p:par>
                            </p:childTnLst>
                          </p:cTn>
                        </p:par>
                      </p:childTnLst>
                    </p:cTn>
                  </p:par>
                  <p:par>
                    <p:cTn id="100" fill="hold">
                      <p:stCondLst>
                        <p:cond delay="indefinite"/>
                      </p:stCondLst>
                      <p:childTnLst>
                        <p:par>
                          <p:cTn id="101" fill="hold">
                            <p:stCondLst>
                              <p:cond delay="0"/>
                            </p:stCondLst>
                            <p:childTnLst>
                              <p:par>
                                <p:cTn id="90" presetID="22" presetClass="entr" presetSubtype="8" fill="hold" grpId="0" nodeType="click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wipe(left)">
                                      <p:cBhvr>
                                        <p:cTn id="89" dur="350"/>
                                        <p:tgtEl>
                                          <p:spTgt spid="32"/>
                                        </p:tgtEl>
                                      </p:cBhvr>
                                    </p:animEffect>
                                  </p:childTnLst>
                                </p:cTn>
                              </p:par>
                              <p:par>
                                <p:cTn id="93" presetID="22" presetClass="entr" presetSubtype="8" fill="hold" grpId="0" nodeType="with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350"/>
                                        <p:tgtEl>
                                          <p:spTgt spid="33"/>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wipe(left)">
                                      <p:cBhvr>
                                        <p:cTn id="95" dur="350"/>
                                        <p:tgtEl>
                                          <p:spTgt spid="34"/>
                                        </p:tgtEl>
                                      </p:cBhvr>
                                    </p:animEffect>
                                  </p:childTnLst>
                                </p:cTn>
                              </p:par>
                              <p:par>
                                <p:cTn id="99" presetID="22" presetClass="entr" presetSubtype="8" fill="hold" grpId="0" nodeType="withEffect">
                                  <p:stCondLst>
                                    <p:cond delay="0"/>
                                  </p:stCondLst>
                                  <p:childTnLst>
                                    <p:set>
                                      <p:cBhvr>
                                        <p:cTn id="97" dur="1" fill="hold">
                                          <p:stCondLst>
                                            <p:cond delay="0"/>
                                          </p:stCondLst>
                                        </p:cTn>
                                        <p:tgtEl>
                                          <p:spTgt spid="35"/>
                                        </p:tgtEl>
                                        <p:attrNameLst>
                                          <p:attrName>style.visibility</p:attrName>
                                        </p:attrNameLst>
                                      </p:cBhvr>
                                      <p:to>
                                        <p:strVal val="visible"/>
                                      </p:to>
                                    </p:set>
                                    <p:animEffect transition="in" filter="wipe(left)">
                                      <p:cBhvr>
                                        <p:cTn id="98"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object: the Knative Service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Service owns Configuration and Route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Configuration holds the desired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change is an immutable Revision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Route sends traffic to revisions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DomainMapping gives it your hostname</a:t>
            </a:r>
            <a:endParaRPr lang="en-US" sz="1900" dirty="0"/>
          </a:p>
        </p:txBody>
      </p:sp>
      <p:sp>
        <p:nvSpPr>
          <p:cNvPr id="15" name="step:2:wipeL"/>
          <p:cNvSpPr/>
          <p:nvPr/>
        </p:nvSpPr>
        <p:spPr>
          <a:xfrm flipH="1">
            <a:off x="7431024" y="2677058"/>
            <a:ext cx="1438656" cy="593446"/>
          </a:xfrm>
          <a:prstGeom prst="line">
            <a:avLst/>
          </a:prstGeom>
          <a:noFill/>
          <a:ln w="15875">
            <a:solidFill>
              <a:srgbClr val="98A2B3"/>
            </a:solidFill>
            <a:prstDash val="solid"/>
            <a:tailEnd type="triangle"/>
          </a:ln>
        </p:spPr>
      </p:sp>
      <p:sp>
        <p:nvSpPr>
          <p:cNvPr id="16" name="step:3:wipeL"/>
          <p:cNvSpPr/>
          <p:nvPr/>
        </p:nvSpPr>
        <p:spPr>
          <a:xfrm>
            <a:off x="7431024" y="3845966"/>
            <a:ext cx="0" cy="593446"/>
          </a:xfrm>
          <a:prstGeom prst="line">
            <a:avLst/>
          </a:prstGeom>
          <a:noFill/>
          <a:ln w="15875">
            <a:solidFill>
              <a:srgbClr val="98A2B3"/>
            </a:solidFill>
            <a:prstDash val="solid"/>
            <a:tailEnd type="triangle"/>
          </a:ln>
        </p:spPr>
      </p:sp>
      <p:sp>
        <p:nvSpPr>
          <p:cNvPr id="17" name="step:4:wipeL"/>
          <p:cNvSpPr/>
          <p:nvPr/>
        </p:nvSpPr>
        <p:spPr>
          <a:xfrm>
            <a:off x="8869680" y="2677058"/>
            <a:ext cx="1438656" cy="593446"/>
          </a:xfrm>
          <a:prstGeom prst="line">
            <a:avLst/>
          </a:prstGeom>
          <a:noFill/>
          <a:ln w="15875">
            <a:solidFill>
              <a:srgbClr val="98A2B3"/>
            </a:solidFill>
            <a:prstDash val="solid"/>
            <a:tailEnd type="triangle"/>
          </a:ln>
        </p:spPr>
      </p:sp>
      <p:sp>
        <p:nvSpPr>
          <p:cNvPr id="18" name="step:4:wipeL"/>
          <p:cNvSpPr/>
          <p:nvPr/>
        </p:nvSpPr>
        <p:spPr>
          <a:xfrm flipH="1">
            <a:off x="8510016" y="3558235"/>
            <a:ext cx="719328" cy="1168908"/>
          </a:xfrm>
          <a:prstGeom prst="line">
            <a:avLst/>
          </a:prstGeom>
          <a:noFill/>
          <a:ln w="15875">
            <a:solidFill>
              <a:srgbClr val="98A2B3"/>
            </a:solidFill>
            <a:prstDash val="dash"/>
            <a:tailEnd type="triangle"/>
          </a:ln>
        </p:spPr>
      </p:sp>
      <p:sp>
        <p:nvSpPr>
          <p:cNvPr id="19" name="step:5:wipeL"/>
          <p:cNvSpPr/>
          <p:nvPr/>
        </p:nvSpPr>
        <p:spPr>
          <a:xfrm flipV="1">
            <a:off x="10308336" y="3845966"/>
            <a:ext cx="0" cy="593446"/>
          </a:xfrm>
          <a:prstGeom prst="line">
            <a:avLst/>
          </a:prstGeom>
          <a:noFill/>
          <a:ln w="15875">
            <a:solidFill>
              <a:srgbClr val="98A2B3"/>
            </a:solidFill>
            <a:prstDash val="dash"/>
            <a:tailEnd type="triangle"/>
          </a:ln>
        </p:spPr>
      </p:sp>
      <p:sp>
        <p:nvSpPr>
          <p:cNvPr id="20" name="step:1:wipeD"/>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1" name="step:1:wipeD"/>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2" name="step:2:wipeD"/>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3" name="step:2:wipeD"/>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 of the code</a:t>
            </a:r>
            <a:endParaRPr lang="en-US" sz="1200" dirty="0"/>
          </a:p>
        </p:txBody>
      </p:sp>
      <p:sp>
        <p:nvSpPr>
          <p:cNvPr id="24" name="step:3:wipeD"/>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5" name="step:3:wipeD"/>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6" name="step:4:wipeD"/>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7" name="step:4:wipeD"/>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8" name="step:5:wipeD"/>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29" name="step:5:wipeD"/>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DomainMapping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your own hostname</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350"/>
                                        <p:tgtEl>
                                          <p:spTgt spid="20"/>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down)">
                                      <p:cBhvr>
                                        <p:cTn id="13" dur="350"/>
                                        <p:tgtEl>
                                          <p:spTgt spid="21"/>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wipe(down)">
                                      <p:cBhvr>
                                        <p:cTn id="27" dur="350"/>
                                        <p:tgtEl>
                                          <p:spTgt spid="22"/>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wipe(down)">
                                      <p:cBhvr>
                                        <p:cTn id="30" dur="350"/>
                                        <p:tgtEl>
                                          <p:spTgt spid="23"/>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4"/>
                                        </p:tgtEl>
                                        <p:attrNameLst>
                                          <p:attrName>style.visibility</p:attrName>
                                        </p:attrNameLst>
                                      </p:cBhvr>
                                      <p:to>
                                        <p:strVal val="visible"/>
                                      </p:to>
                                    </p:set>
                                    <p:animEffect transition="in" filter="wipe(down)">
                                      <p:cBhvr>
                                        <p:cTn id="44" dur="350"/>
                                        <p:tgtEl>
                                          <p:spTgt spid="24"/>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wipe(down)">
                                      <p:cBhvr>
                                        <p:cTn id="47" dur="350"/>
                                        <p:tgtEl>
                                          <p:spTgt spid="25"/>
                                        </p:tgtEl>
                                      </p:cBhvr>
                                    </p:animEffect>
                                  </p:childTnLst>
                                </p:cTn>
                              </p:par>
                            </p:childTnLst>
                          </p:cTn>
                        </p:par>
                      </p:childTnLst>
                    </p:cTn>
                  </p:par>
                  <p:par>
                    <p:cTn id="69" fill="hold">
                      <p:stCondLst>
                        <p:cond delay="indefinite"/>
                      </p:stCondLst>
                      <p:childTnLst>
                        <p:par>
                          <p:cTn id="70"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par>
                                <p:cTn id="68" presetID="22" presetClass="entr" presetSubtype="4" fill="hold" grpId="0"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wipe(down)">
                                      <p:cBhvr>
                                        <p:cTn id="67" dur="350"/>
                                        <p:tgtEl>
                                          <p:spTgt spid="27"/>
                                        </p:tgtEl>
                                      </p:cBhvr>
                                    </p:animEffect>
                                  </p:childTnLst>
                                </p:cTn>
                              </p:par>
                            </p:childTnLst>
                          </p:cTn>
                        </p:par>
                      </p:childTnLst>
                    </p:cTn>
                  </p:par>
                  <p:par>
                    <p:cTn id="86" fill="hold">
                      <p:stCondLst>
                        <p:cond delay="indefinite"/>
                      </p:stCondLst>
                      <p:childTnLst>
                        <p:par>
                          <p:cTn id="87"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3"/>
                                        </p:tgtEl>
                                        <p:attrNameLst>
                                          <p:attrName>style.visibility</p:attrName>
                                        </p:attrNameLst>
                                      </p:cBhvr>
                                      <p:to>
                                        <p:strVal val="visible"/>
                                      </p:to>
                                    </p:set>
                                    <p:animEffect transition="in" filter="wipe(left)">
                                      <p:cBhvr>
                                        <p:cTn id="72" dur="350"/>
                                        <p:tgtEl>
                                          <p:spTgt spid="13"/>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wipe(left)">
                                      <p:cBhvr>
                                        <p:cTn id="75" dur="350"/>
                                        <p:tgtEl>
                                          <p:spTgt spid="14"/>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Effect transition="in" filter="wipe(left)">
                                      <p:cBhvr>
                                        <p:cTn id="78" dur="350"/>
                                        <p:tgtEl>
                                          <p:spTgt spid="19"/>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par>
                                <p:cTn id="85" presetID="22" presetClass="entr" presetSubtype="4"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wipe(down)">
                                      <p:cBhvr>
                                        <p:cTn id="8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pieces that do the scaling</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Concurrency: requests in flight per pod</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queue proxy measures it</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KPA turns that into replicas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Activator stands in at zero</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minScale and maxScale bound it</a:t>
            </a:r>
            <a:endParaRPr lang="en-US" sz="1900" dirty="0"/>
          </a:p>
        </p:txBody>
      </p:sp>
      <p:sp>
        <p:nvSpPr>
          <p:cNvPr id="15" name="Text 12"/>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PIECE</a:t>
            </a:r>
            <a:endParaRPr lang="en-US" sz="900" dirty="0"/>
          </a:p>
        </p:txBody>
      </p:sp>
      <p:sp>
        <p:nvSpPr>
          <p:cNvPr id="16" name="Text 13"/>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WHAT IT DOES</a:t>
            </a:r>
            <a:endParaRPr lang="en-US" sz="900" dirty="0"/>
          </a:p>
        </p:txBody>
      </p:sp>
      <p:sp>
        <p:nvSpPr>
          <p:cNvPr id="17" name="Text 14"/>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ROLE</a:t>
            </a:r>
            <a:endParaRPr lang="en-US" sz="900" dirty="0"/>
          </a:p>
        </p:txBody>
      </p:sp>
      <p:sp>
        <p:nvSpPr>
          <p:cNvPr id="18" name="step:6: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Queue proxy</a:t>
            </a:r>
            <a:endParaRPr lang="en-US" sz="1250" dirty="0"/>
          </a:p>
        </p:txBody>
      </p:sp>
      <p:sp>
        <p:nvSpPr>
          <p:cNvPr id="19" name="step:6: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Counts in-flight requests</a:t>
            </a:r>
            <a:endParaRPr lang="en-US" sz="1250" dirty="0"/>
          </a:p>
        </p:txBody>
      </p:sp>
      <p:sp>
        <p:nvSpPr>
          <p:cNvPr id="20" name="step:6: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meter</a:t>
            </a:r>
            <a:endParaRPr lang="en-US" sz="1250" dirty="0"/>
          </a:p>
        </p:txBody>
      </p:sp>
      <p:sp>
        <p:nvSpPr>
          <p:cNvPr id="21" name="step:7: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KPA</a:t>
            </a:r>
            <a:endParaRPr lang="en-US" sz="1250" dirty="0"/>
          </a:p>
        </p:txBody>
      </p:sp>
      <p:sp>
        <p:nvSpPr>
          <p:cNvPr id="22" name="step:7: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Requests → replica count</a:t>
            </a:r>
            <a:endParaRPr lang="en-US" sz="1250" dirty="0"/>
          </a:p>
        </p:txBody>
      </p:sp>
      <p:sp>
        <p:nvSpPr>
          <p:cNvPr id="23" name="step:7: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decision</a:t>
            </a:r>
            <a:endParaRPr lang="en-US" sz="1250" dirty="0"/>
          </a:p>
        </p:txBody>
      </p:sp>
      <p:sp>
        <p:nvSpPr>
          <p:cNvPr id="24" name="step:7:wipeL"/>
          <p:cNvSpPr/>
          <p:nvPr/>
        </p:nvSpPr>
        <p:spPr>
          <a:xfrm>
            <a:off x="6172200" y="3063240"/>
            <a:ext cx="5394960" cy="0"/>
          </a:xfrm>
          <a:prstGeom prst="line">
            <a:avLst/>
          </a:prstGeom>
          <a:noFill/>
          <a:ln w="6350">
            <a:solidFill>
              <a:srgbClr val="E4E7EC"/>
            </a:solidFill>
            <a:prstDash val="solid"/>
          </a:ln>
        </p:spPr>
      </p:sp>
      <p:sp>
        <p:nvSpPr>
          <p:cNvPr id="25" name="step:8: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Activator</a:t>
            </a:r>
            <a:endParaRPr lang="en-US" sz="1250" dirty="0"/>
          </a:p>
        </p:txBody>
      </p:sp>
      <p:sp>
        <p:nvSpPr>
          <p:cNvPr id="26" name="step:8: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Holds requests while pods start</a:t>
            </a:r>
            <a:endParaRPr lang="en-US" sz="1250" dirty="0"/>
          </a:p>
        </p:txBody>
      </p:sp>
      <p:sp>
        <p:nvSpPr>
          <p:cNvPr id="27" name="step:8: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safety net</a:t>
            </a:r>
            <a:endParaRPr lang="en-US" sz="1250" dirty="0"/>
          </a:p>
        </p:txBody>
      </p:sp>
      <p:sp>
        <p:nvSpPr>
          <p:cNvPr id="28" name="step:8:wipeL"/>
          <p:cNvSpPr/>
          <p:nvPr/>
        </p:nvSpPr>
        <p:spPr>
          <a:xfrm>
            <a:off x="6172200" y="3566160"/>
            <a:ext cx="5394960" cy="0"/>
          </a:xfrm>
          <a:prstGeom prst="line">
            <a:avLst/>
          </a:prstGeom>
          <a:noFill/>
          <a:ln w="6350">
            <a:solidFill>
              <a:srgbClr val="E4E7EC"/>
            </a:solidFill>
            <a:prstDash val="solid"/>
          </a:ln>
        </p:spPr>
      </p:sp>
      <p:sp>
        <p:nvSpPr>
          <p:cNvPr id="29" name="step:9: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minScale</a:t>
            </a:r>
            <a:endParaRPr lang="en-US" sz="1250" dirty="0"/>
          </a:p>
        </p:txBody>
      </p:sp>
      <p:sp>
        <p:nvSpPr>
          <p:cNvPr id="30" name="step:9: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Keeps N pods warm</a:t>
            </a:r>
            <a:endParaRPr lang="en-US" sz="1250" dirty="0"/>
          </a:p>
        </p:txBody>
      </p:sp>
      <p:sp>
        <p:nvSpPr>
          <p:cNvPr id="31" name="step:9: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override</a:t>
            </a:r>
            <a:endParaRPr lang="en-US" sz="1250" dirty="0"/>
          </a:p>
        </p:txBody>
      </p:sp>
      <p:sp>
        <p:nvSpPr>
          <p:cNvPr id="32" name="step:9:wipeL"/>
          <p:cNvSpPr/>
          <p:nvPr/>
        </p:nvSpPr>
        <p:spPr>
          <a:xfrm>
            <a:off x="6172200" y="4069080"/>
            <a:ext cx="5394960" cy="0"/>
          </a:xfrm>
          <a:prstGeom prst="line">
            <a:avLst/>
          </a:prstGeom>
          <a:noFill/>
          <a:ln w="6350">
            <a:solidFill>
              <a:srgbClr val="E4E7EC"/>
            </a:solidFill>
            <a:prstDash val="solid"/>
          </a:ln>
        </p:spPr>
      </p:sp>
      <p:sp>
        <p:nvSpPr>
          <p:cNvPr id="33" name="step:10: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maxScale</a:t>
            </a:r>
            <a:endParaRPr lang="en-US" sz="1250" dirty="0"/>
          </a:p>
        </p:txBody>
      </p:sp>
      <p:sp>
        <p:nvSpPr>
          <p:cNvPr id="34" name="step:10: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Caps the fan-out</a:t>
            </a:r>
            <a:endParaRPr lang="en-US" sz="1250" dirty="0"/>
          </a:p>
        </p:txBody>
      </p:sp>
      <p:sp>
        <p:nvSpPr>
          <p:cNvPr id="35" name="step:10: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ceiling</a:t>
            </a:r>
            <a:endParaRPr lang="en-US" sz="1250" dirty="0"/>
          </a:p>
        </p:txBody>
      </p:sp>
      <p:sp>
        <p:nvSpPr>
          <p:cNvPr id="36" name="step:10:wipeL"/>
          <p:cNvSpPr/>
          <p:nvPr/>
        </p:nvSpPr>
        <p:spPr>
          <a:xfrm>
            <a:off x="6172200" y="4572000"/>
            <a:ext cx="5394960" cy="0"/>
          </a:xfrm>
          <a:prstGeom prst="line">
            <a:avLst/>
          </a:prstGeom>
          <a:noFill/>
          <a:ln w="6350">
            <a:solidFill>
              <a:srgbClr val="E4E7EC"/>
            </a:solidFill>
            <a:prstDash val="solid"/>
          </a:ln>
        </p:spPr>
      </p:sp>
      <p:sp>
        <p:nvSpPr>
          <p:cNvPr id="37" name="Text 3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52" fill="hold">
                      <p:stCondLst>
                        <p:cond delay="indefinite"/>
                      </p:stCondLst>
                      <p:childTnLst>
                        <p:par>
                          <p:cTn id="53"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wipe(left)">
                                      <p:cBhvr>
                                        <p:cTn id="44" dur="350"/>
                                        <p:tgtEl>
                                          <p:spTgt spid="18"/>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left)">
                                      <p:cBhvr>
                                        <p:cTn id="47" dur="350"/>
                                        <p:tgtEl>
                                          <p:spTgt spid="19"/>
                                        </p:tgtEl>
                                      </p:cBhvr>
                                    </p:animEffect>
                                  </p:childTnLst>
                                </p:cTn>
                              </p:par>
                              <p:par>
                                <p:cTn id="51" presetID="22" presetClass="entr" presetSubtype="8"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350"/>
                                        <p:tgtEl>
                                          <p:spTgt spid="20"/>
                                        </p:tgtEl>
                                      </p:cBhvr>
                                    </p:animEffect>
                                  </p:childTnLst>
                                </p:cTn>
                              </p:par>
                            </p:childTnLst>
                          </p:cTn>
                        </p:par>
                      </p:childTnLst>
                    </p:cTn>
                  </p:par>
                  <p:par>
                    <p:cTn id="66" fill="hold">
                      <p:stCondLst>
                        <p:cond delay="indefinite"/>
                      </p:stCondLst>
                      <p:childTnLst>
                        <p:par>
                          <p:cTn id="67" fill="hold">
                            <p:stCondLst>
                              <p:cond delay="0"/>
                            </p:stCondLst>
                            <p:childTnLst>
                              <p:par>
                                <p:cTn id="56" presetID="2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350"/>
                                        <p:tgtEl>
                                          <p:spTgt spid="21"/>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left)">
                                      <p:cBhvr>
                                        <p:cTn id="58" dur="350"/>
                                        <p:tgtEl>
                                          <p:spTgt spid="22"/>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wipe(left)">
                                      <p:cBhvr>
                                        <p:cTn id="61" dur="350"/>
                                        <p:tgtEl>
                                          <p:spTgt spid="23"/>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wipe(left)">
                                      <p:cBhvr>
                                        <p:cTn id="64" dur="350"/>
                                        <p:tgtEl>
                                          <p:spTgt spid="24"/>
                                        </p:tgtEl>
                                      </p:cBhvr>
                                    </p:animEffect>
                                  </p:childTnLst>
                                </p:cTn>
                              </p:par>
                            </p:childTnLst>
                          </p:cTn>
                        </p:par>
                      </p:childTnLst>
                    </p:cTn>
                  </p:par>
                  <p:par>
                    <p:cTn id="80" fill="hold">
                      <p:stCondLst>
                        <p:cond delay="indefinite"/>
                      </p:stCondLst>
                      <p:childTnLst>
                        <p:par>
                          <p:cTn id="81"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25"/>
                                        </p:tgtEl>
                                        <p:attrNameLst>
                                          <p:attrName>style.visibility</p:attrName>
                                        </p:attrNameLst>
                                      </p:cBhvr>
                                      <p:to>
                                        <p:strVal val="visible"/>
                                      </p:to>
                                    </p:set>
                                    <p:animEffect transition="in" filter="wipe(left)">
                                      <p:cBhvr>
                                        <p:cTn id="69" dur="350"/>
                                        <p:tgtEl>
                                          <p:spTgt spid="25"/>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wipe(left)">
                                      <p:cBhvr>
                                        <p:cTn id="72" dur="350"/>
                                        <p:tgtEl>
                                          <p:spTgt spid="26"/>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wipe(left)">
                                      <p:cBhvr>
                                        <p:cTn id="75" dur="350"/>
                                        <p:tgtEl>
                                          <p:spTgt spid="27"/>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wipe(left)">
                                      <p:cBhvr>
                                        <p:cTn id="78" dur="350"/>
                                        <p:tgtEl>
                                          <p:spTgt spid="28"/>
                                        </p:tgtEl>
                                      </p:cBhvr>
                                    </p:animEffect>
                                  </p:childTnLst>
                                </p:cTn>
                              </p:par>
                            </p:childTnLst>
                          </p:cTn>
                        </p:par>
                      </p:childTnLst>
                    </p:cTn>
                  </p:par>
                  <p:par>
                    <p:cTn id="94" fill="hold">
                      <p:stCondLst>
                        <p:cond delay="indefinite"/>
                      </p:stCondLst>
                      <p:childTnLst>
                        <p:par>
                          <p:cTn id="95"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wipe(left)">
                                      <p:cBhvr>
                                        <p:cTn id="83" dur="350"/>
                                        <p:tgtEl>
                                          <p:spTgt spid="29"/>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wipe(left)">
                                      <p:cBhvr>
                                        <p:cTn id="86" dur="350"/>
                                        <p:tgtEl>
                                          <p:spTgt spid="30"/>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wipe(left)">
                                      <p:cBhvr>
                                        <p:cTn id="89" dur="350"/>
                                        <p:tgtEl>
                                          <p:spTgt spid="31"/>
                                        </p:tgtEl>
                                      </p:cBhvr>
                                    </p:animEffect>
                                  </p:childTnLst>
                                </p:cTn>
                              </p:par>
                              <p:par>
                                <p:cTn id="93" presetID="22" presetClass="entr" presetSubtype="8"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wipe(left)">
                                      <p:cBhvr>
                                        <p:cTn id="92" dur="350"/>
                                        <p:tgtEl>
                                          <p:spTgt spid="32"/>
                                        </p:tgtEl>
                                      </p:cBhvr>
                                    </p:animEffect>
                                  </p:childTnLst>
                                </p:cTn>
                              </p:par>
                            </p:childTnLst>
                          </p:cTn>
                        </p:par>
                      </p:childTnLst>
                    </p:cTn>
                  </p:par>
                  <p:par>
                    <p:cTn id="108" fill="hold">
                      <p:stCondLst>
                        <p:cond delay="indefinite"/>
                      </p:stCondLst>
                      <p:childTnLst>
                        <p:par>
                          <p:cTn id="109" fill="hold">
                            <p:stCondLst>
                              <p:cond delay="0"/>
                            </p:stCondLst>
                            <p:childTnLst>
                              <p:par>
                                <p:cTn id="98" presetID="22" presetClass="entr" presetSubtype="8" fill="hold" grpId="0" nodeType="click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wipe(left)">
                                      <p:cBhvr>
                                        <p:cTn id="97" dur="350"/>
                                        <p:tgtEl>
                                          <p:spTgt spid="33"/>
                                        </p:tgtEl>
                                      </p:cBhvr>
                                    </p:animEffect>
                                  </p:childTnLst>
                                </p:cTn>
                              </p:par>
                              <p:par>
                                <p:cTn id="101" presetID="22" presetClass="entr" presetSubtype="8"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350"/>
                                        <p:tgtEl>
                                          <p:spTgt spid="34"/>
                                        </p:tgtEl>
                                      </p:cBhvr>
                                    </p:animEffect>
                                  </p:childTnLst>
                                </p:cTn>
                              </p:par>
                              <p:par>
                                <p:cTn id="104" presetID="22" presetClass="entr" presetSubtype="8"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350"/>
                                        <p:tgtEl>
                                          <p:spTgt spid="35"/>
                                        </p:tgtEl>
                                      </p:cBhvr>
                                    </p:animEffect>
                                  </p:childTnLst>
                                </p:cTn>
                              </p:par>
                              <p:par>
                                <p:cTn id="107" presetID="22" presetClass="entr" presetSubtype="8" fill="hold" grpId="0" nodeType="withEffect">
                                  <p:stCondLst>
                                    <p:cond delay="0"/>
                                  </p:stCondLst>
                                  <p:childTnLst>
                                    <p:set>
                                      <p:cBhvr>
                                        <p:cTn id="105" dur="1" fill="hold">
                                          <p:stCondLst>
                                            <p:cond delay="0"/>
                                          </p:stCondLst>
                                        </p:cTn>
                                        <p:tgtEl>
                                          <p:spTgt spid="36"/>
                                        </p:tgtEl>
                                        <p:attrNameLst>
                                          <p:attrName>style.visibility</p:attrName>
                                        </p:attrNameLst>
                                      </p:cBhvr>
                                      <p:to>
                                        <p:strVal val="visible"/>
                                      </p:to>
                                    </p:set>
                                    <p:animEffect transition="in" filter="wipe(left)">
                                      <p:cBhvr>
                                        <p:cTn id="106" dur="3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Scaling to zero, and back</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idle revision drops to zero pods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next request reaches the Activator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Activator asks the KPA for capacity</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Pods start and the request continues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Once healthy, traffic goes direct</a:t>
            </a:r>
            <a:endParaRPr lang="en-US" sz="1900" dirty="0"/>
          </a:p>
        </p:txBody>
      </p:sp>
      <p:sp>
        <p:nvSpPr>
          <p:cNvPr id="15" name="step:2:wipeL"/>
          <p:cNvSpPr/>
          <p:nvPr/>
        </p:nvSpPr>
        <p:spPr>
          <a:xfrm>
            <a:off x="8060436" y="2569159"/>
            <a:ext cx="449580" cy="0"/>
          </a:xfrm>
          <a:prstGeom prst="line">
            <a:avLst/>
          </a:prstGeom>
          <a:noFill/>
          <a:ln w="15875">
            <a:solidFill>
              <a:srgbClr val="98A2B3"/>
            </a:solidFill>
            <a:prstDash val="solid"/>
            <a:tailEnd type="triangle"/>
          </a:ln>
        </p:spPr>
      </p:sp>
      <p:sp>
        <p:nvSpPr>
          <p:cNvPr id="16" name="step:3:wipeL"/>
          <p:cNvSpPr/>
          <p:nvPr/>
        </p:nvSpPr>
        <p:spPr>
          <a:xfrm flipH="1">
            <a:off x="7206234" y="2856890"/>
            <a:ext cx="2202942" cy="863194"/>
          </a:xfrm>
          <a:prstGeom prst="line">
            <a:avLst/>
          </a:prstGeom>
          <a:noFill/>
          <a:ln w="15875">
            <a:solidFill>
              <a:srgbClr val="98A2B3"/>
            </a:solidFill>
            <a:prstDash val="solid"/>
            <a:tailEnd type="triangle"/>
          </a:ln>
        </p:spPr>
      </p:sp>
      <p:sp>
        <p:nvSpPr>
          <p:cNvPr id="17" name="step:4:wipeL"/>
          <p:cNvSpPr/>
          <p:nvPr/>
        </p:nvSpPr>
        <p:spPr>
          <a:xfrm>
            <a:off x="8060436" y="4007815"/>
            <a:ext cx="449580" cy="0"/>
          </a:xfrm>
          <a:prstGeom prst="line">
            <a:avLst/>
          </a:prstGeom>
          <a:noFill/>
          <a:ln w="15875">
            <a:solidFill>
              <a:srgbClr val="98A2B3"/>
            </a:solidFill>
            <a:prstDash val="solid"/>
            <a:tailEnd type="triangle"/>
          </a:ln>
        </p:spPr>
      </p:sp>
      <p:sp>
        <p:nvSpPr>
          <p:cNvPr id="18" name="step:5:wipeL"/>
          <p:cNvSpPr/>
          <p:nvPr/>
        </p:nvSpPr>
        <p:spPr>
          <a:xfrm>
            <a:off x="9409176" y="4295546"/>
            <a:ext cx="0" cy="683362"/>
          </a:xfrm>
          <a:prstGeom prst="line">
            <a:avLst/>
          </a:prstGeom>
          <a:noFill/>
          <a:ln w="15875">
            <a:solidFill>
              <a:srgbClr val="98A2B3"/>
            </a:solidFill>
            <a:prstDash val="solid"/>
            <a:tailEnd type="triangle"/>
          </a:ln>
        </p:spPr>
      </p:sp>
      <p:sp>
        <p:nvSpPr>
          <p:cNvPr id="19" name="step:1:wipeD"/>
          <p:cNvSpPr/>
          <p:nvPr/>
        </p:nvSpPr>
        <p:spPr>
          <a:xfrm>
            <a:off x="6352032" y="2281428"/>
            <a:ext cx="1708404" cy="575462"/>
          </a:xfrm>
          <a:prstGeom prst="roundRect">
            <a:avLst>
              <a:gd name="adj" fmla="val 12712"/>
            </a:avLst>
          </a:prstGeom>
          <a:solidFill>
            <a:srgbClr val="FFFFFF"/>
          </a:solidFill>
          <a:ln w="15875">
            <a:solidFill>
              <a:srgbClr val="0B7A75"/>
            </a:solidFill>
            <a:prstDash val="solid"/>
          </a:ln>
        </p:spPr>
      </p:sp>
      <p:sp>
        <p:nvSpPr>
          <p:cNvPr id="20" name="step:1:wipeD"/>
          <p:cNvSpPr txBox="1"/>
          <p:nvPr/>
        </p:nvSpPr>
        <p:spPr>
          <a:xfrm>
            <a:off x="6352032" y="2281428"/>
            <a:ext cx="170840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at zero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pods, no cost</a:t>
            </a:r>
            <a:endParaRPr lang="en-US" sz="1200" dirty="0"/>
          </a:p>
        </p:txBody>
      </p:sp>
      <p:sp>
        <p:nvSpPr>
          <p:cNvPr id="21" name="step:2:wipeD"/>
          <p:cNvSpPr/>
          <p:nvPr/>
        </p:nvSpPr>
        <p:spPr>
          <a:xfrm>
            <a:off x="8510016" y="2281428"/>
            <a:ext cx="1798320" cy="575462"/>
          </a:xfrm>
          <a:prstGeom prst="roundRect">
            <a:avLst>
              <a:gd name="adj" fmla="val 12712"/>
            </a:avLst>
          </a:prstGeom>
          <a:solidFill>
            <a:srgbClr val="FFFFFF"/>
          </a:solidFill>
          <a:ln w="22225">
            <a:solidFill>
              <a:srgbClr val="E4572E"/>
            </a:solidFill>
            <a:prstDash val="solid"/>
          </a:ln>
        </p:spPr>
      </p:sp>
      <p:sp>
        <p:nvSpPr>
          <p:cNvPr id="22" name="step:2:wipeD"/>
          <p:cNvSpPr txBox="1"/>
          <p:nvPr/>
        </p:nvSpPr>
        <p:spPr>
          <a:xfrm>
            <a:off x="8510016" y="2281428"/>
            <a:ext cx="1798320"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Activator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buffers the request</a:t>
            </a:r>
            <a:endParaRPr lang="en-US" sz="1200" dirty="0"/>
          </a:p>
        </p:txBody>
      </p:sp>
      <p:sp>
        <p:nvSpPr>
          <p:cNvPr id="23" name="step:3:wipeD"/>
          <p:cNvSpPr/>
          <p:nvPr/>
        </p:nvSpPr>
        <p:spPr>
          <a:xfrm>
            <a:off x="6352032" y="3720084"/>
            <a:ext cx="1708404" cy="575462"/>
          </a:xfrm>
          <a:prstGeom prst="roundRect">
            <a:avLst>
              <a:gd name="adj" fmla="val 12712"/>
            </a:avLst>
          </a:prstGeom>
          <a:solidFill>
            <a:srgbClr val="FFFFFF"/>
          </a:solidFill>
          <a:ln w="15875">
            <a:solidFill>
              <a:srgbClr val="0B7A75"/>
            </a:solidFill>
            <a:prstDash val="solid"/>
          </a:ln>
        </p:spPr>
      </p:sp>
      <p:sp>
        <p:nvSpPr>
          <p:cNvPr id="24" name="step:3:wipeD"/>
          <p:cNvSpPr txBox="1"/>
          <p:nvPr/>
        </p:nvSpPr>
        <p:spPr>
          <a:xfrm>
            <a:off x="6352032" y="3720084"/>
            <a:ext cx="170840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asks for replicas</a:t>
            </a:r>
            <a:endParaRPr lang="en-US" sz="1200" dirty="0"/>
          </a:p>
        </p:txBody>
      </p:sp>
      <p:sp>
        <p:nvSpPr>
          <p:cNvPr id="25" name="step:4:wipeD"/>
          <p:cNvSpPr/>
          <p:nvPr/>
        </p:nvSpPr>
        <p:spPr>
          <a:xfrm>
            <a:off x="8510016" y="3720084"/>
            <a:ext cx="1798320" cy="575462"/>
          </a:xfrm>
          <a:prstGeom prst="roundRect">
            <a:avLst>
              <a:gd name="adj" fmla="val 12712"/>
            </a:avLst>
          </a:prstGeom>
          <a:solidFill>
            <a:srgbClr val="FFFFFF"/>
          </a:solidFill>
          <a:ln w="15875">
            <a:solidFill>
              <a:srgbClr val="0B7A75"/>
            </a:solidFill>
            <a:prstDash val="solid"/>
          </a:ln>
        </p:spPr>
      </p:sp>
      <p:sp>
        <p:nvSpPr>
          <p:cNvPr id="26" name="step:4:wipeD"/>
          <p:cNvSpPr txBox="1"/>
          <p:nvPr/>
        </p:nvSpPr>
        <p:spPr>
          <a:xfrm>
            <a:off x="8510016" y="3720084"/>
            <a:ext cx="1798320"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pods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a:t>
            </a:r>
            <a:endParaRPr lang="en-US" sz="1200" dirty="0"/>
          </a:p>
        </p:txBody>
      </p:sp>
      <p:sp>
        <p:nvSpPr>
          <p:cNvPr id="27" name="step:5:wipeD"/>
          <p:cNvSpPr/>
          <p:nvPr/>
        </p:nvSpPr>
        <p:spPr>
          <a:xfrm>
            <a:off x="8510016" y="4978908"/>
            <a:ext cx="1798320" cy="575462"/>
          </a:xfrm>
          <a:prstGeom prst="roundRect">
            <a:avLst>
              <a:gd name="adj" fmla="val 12712"/>
            </a:avLst>
          </a:prstGeom>
          <a:solidFill>
            <a:srgbClr val="FFFFFF"/>
          </a:solidFill>
          <a:ln w="15875">
            <a:solidFill>
              <a:srgbClr val="0B7A75"/>
            </a:solidFill>
            <a:prstDash val="solid"/>
          </a:ln>
        </p:spPr>
      </p:sp>
      <p:sp>
        <p:nvSpPr>
          <p:cNvPr id="28" name="step:5:wipeD"/>
          <p:cNvSpPr txBox="1"/>
          <p:nvPr/>
        </p:nvSpPr>
        <p:spPr>
          <a:xfrm>
            <a:off x="8510016" y="4978908"/>
            <a:ext cx="1798320"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Ready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Activator steps out</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10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auto: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auto:2: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auto:4: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auto:5: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auto:7: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auto:8: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auto:10: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auto:11: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auto:13: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auto:14: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22" presetClass="entr" presetSubtype="4"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350"/>
                                        <p:tgtEl>
                                          <p:spTgt spid="16"/>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down)">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Shape 8"/>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Text 9"/>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Text 10"/>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auto:0: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auto:1: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auto:2: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auto:3: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auto:4: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auto:5: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auto:6:wipeL"/>
          <p:cNvSpPr/>
          <p:nvPr/>
        </p:nvSpPr>
        <p:spPr>
          <a:xfrm>
            <a:off x="6172200" y="3063240"/>
            <a:ext cx="5394960" cy="0"/>
          </a:xfrm>
          <a:prstGeom prst="line">
            <a:avLst/>
          </a:prstGeom>
          <a:noFill/>
          <a:ln w="6350">
            <a:solidFill>
              <a:srgbClr val="E4E7EC"/>
            </a:solidFill>
            <a:prstDash val="solid"/>
          </a:ln>
        </p:spPr>
      </p:sp>
      <p:sp>
        <p:nvSpPr>
          <p:cNvPr id="21" name="auto:7: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auto:8: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auto:9: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auto:10:wipeL"/>
          <p:cNvSpPr/>
          <p:nvPr/>
        </p:nvSpPr>
        <p:spPr>
          <a:xfrm>
            <a:off x="6172200" y="3566160"/>
            <a:ext cx="5394960" cy="0"/>
          </a:xfrm>
          <a:prstGeom prst="line">
            <a:avLst/>
          </a:prstGeom>
          <a:noFill/>
          <a:ln w="6350">
            <a:solidFill>
              <a:srgbClr val="E4E7EC"/>
            </a:solidFill>
            <a:prstDash val="solid"/>
          </a:ln>
        </p:spPr>
      </p:sp>
      <p:sp>
        <p:nvSpPr>
          <p:cNvPr id="25" name="auto:11: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auto:12: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auto:13: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auto:14:wipeL"/>
          <p:cNvSpPr/>
          <p:nvPr/>
        </p:nvSpPr>
        <p:spPr>
          <a:xfrm>
            <a:off x="6172200" y="4069080"/>
            <a:ext cx="5394960" cy="0"/>
          </a:xfrm>
          <a:prstGeom prst="line">
            <a:avLst/>
          </a:prstGeom>
          <a:noFill/>
          <a:ln w="6350">
            <a:solidFill>
              <a:srgbClr val="E4E7EC"/>
            </a:solidFill>
            <a:prstDash val="solid"/>
          </a:ln>
        </p:spPr>
      </p:sp>
      <p:sp>
        <p:nvSpPr>
          <p:cNvPr id="29" name="auto:15: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auto:16: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auto:17: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auto:18:wipeL"/>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61"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wipe(left)">
                                      <p:cBhvr>
                                        <p:cTn id="4" dur="350"/>
                                        <p:tgtEl>
                                          <p:spTgt spid="14"/>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350"/>
                                        <p:tgtEl>
                                          <p:spTgt spid="15"/>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0" dur="350"/>
                                        <p:tgtEl>
                                          <p:spTgt spid="16"/>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7"/>
                                        </p:tgtEl>
                                        <p:attrNameLst>
                                          <p:attrName>style.visibility</p:attrName>
                                        </p:attrNameLst>
                                      </p:cBhvr>
                                      <p:to>
                                        <p:strVal val="visible"/>
                                      </p:to>
                                    </p:set>
                                    <p:animEffect transition="in" filter="wipe(left)">
                                      <p:cBhvr>
                                        <p:cTn id="13" dur="350"/>
                                        <p:tgtEl>
                                          <p:spTgt spid="17"/>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350"/>
                                        <p:tgtEl>
                                          <p:spTgt spid="18"/>
                                        </p:tgtEl>
                                      </p:cBhvr>
                                    </p:animEffect>
                                  </p:childTnLst>
                                </p:cTn>
                              </p:par>
                              <p:par>
                                <p:cTn id="20" presetID="22" presetClass="entr" presetSubtype="8" fill="hold" grpId="0" nodeType="withEffect">
                                  <p:stCondLst>
                                    <p:cond delay="400"/>
                                  </p:stCondLst>
                                  <p:childTnLst>
                                    <p:set>
                                      <p:cBhvr>
                                        <p:cTn id="18" dur="1" fill="hold">
                                          <p:stCondLst>
                                            <p:cond delay="0"/>
                                          </p:stCondLst>
                                        </p:cTn>
                                        <p:tgtEl>
                                          <p:spTgt spid="19"/>
                                        </p:tgtEl>
                                        <p:attrNameLst>
                                          <p:attrName>style.visibility</p:attrName>
                                        </p:attrNameLst>
                                      </p:cBhvr>
                                      <p:to>
                                        <p:strVal val="visible"/>
                                      </p:to>
                                    </p:set>
                                    <p:animEffect transition="in" filter="wipe(left)">
                                      <p:cBhvr>
                                        <p:cTn id="19" dur="350"/>
                                        <p:tgtEl>
                                          <p:spTgt spid="19"/>
                                        </p:tgtEl>
                                      </p:cBhvr>
                                    </p:animEffect>
                                  </p:childTnLst>
                                </p:cTn>
                              </p:par>
                              <p:par>
                                <p:cTn id="23" presetID="22" presetClass="entr" presetSubtype="8" fill="hold" grpId="0" nodeType="withEffect">
                                  <p:stCondLst>
                                    <p:cond delay="480"/>
                                  </p:stCondLst>
                                  <p:childTnLst>
                                    <p:set>
                                      <p:cBhvr>
                                        <p:cTn id="21" dur="1" fill="hold">
                                          <p:stCondLst>
                                            <p:cond delay="0"/>
                                          </p:stCondLst>
                                        </p:cTn>
                                        <p:tgtEl>
                                          <p:spTgt spid="20"/>
                                        </p:tgtEl>
                                        <p:attrNameLst>
                                          <p:attrName>style.visibility</p:attrName>
                                        </p:attrNameLst>
                                      </p:cBhvr>
                                      <p:to>
                                        <p:strVal val="visible"/>
                                      </p:to>
                                    </p:set>
                                    <p:animEffect transition="in" filter="wipe(left)">
                                      <p:cBhvr>
                                        <p:cTn id="22" dur="350"/>
                                        <p:tgtEl>
                                          <p:spTgt spid="20"/>
                                        </p:tgtEl>
                                      </p:cBhvr>
                                    </p:animEffect>
                                  </p:childTnLst>
                                </p:cTn>
                              </p:par>
                              <p:par>
                                <p:cTn id="26" presetID="22" presetClass="entr" presetSubtype="8" fill="hold" grpId="0" nodeType="withEffect">
                                  <p:stCondLst>
                                    <p:cond delay="56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350"/>
                                        <p:tgtEl>
                                          <p:spTgt spid="21"/>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22"/>
                                        </p:tgtEl>
                                        <p:attrNameLst>
                                          <p:attrName>style.visibility</p:attrName>
                                        </p:attrNameLst>
                                      </p:cBhvr>
                                      <p:to>
                                        <p:strVal val="visible"/>
                                      </p:to>
                                    </p:set>
                                    <p:animEffect transition="in" filter="wipe(left)">
                                      <p:cBhvr>
                                        <p:cTn id="28" dur="350"/>
                                        <p:tgtEl>
                                          <p:spTgt spid="22"/>
                                        </p:tgtEl>
                                      </p:cBhvr>
                                    </p:animEffect>
                                  </p:childTnLst>
                                </p:cTn>
                              </p:par>
                              <p:par>
                                <p:cTn id="32" presetID="22" presetClass="entr" presetSubtype="8" fill="hold" grpId="0" nodeType="withEffect">
                                  <p:stCondLst>
                                    <p:cond delay="720"/>
                                  </p:stCondLst>
                                  <p:childTnLst>
                                    <p:set>
                                      <p:cBhvr>
                                        <p:cTn id="30" dur="1" fill="hold">
                                          <p:stCondLst>
                                            <p:cond delay="0"/>
                                          </p:stCondLst>
                                        </p:cTn>
                                        <p:tgtEl>
                                          <p:spTgt spid="23"/>
                                        </p:tgtEl>
                                        <p:attrNameLst>
                                          <p:attrName>style.visibility</p:attrName>
                                        </p:attrNameLst>
                                      </p:cBhvr>
                                      <p:to>
                                        <p:strVal val="visible"/>
                                      </p:to>
                                    </p:set>
                                    <p:animEffect transition="in" filter="wipe(left)">
                                      <p:cBhvr>
                                        <p:cTn id="31" dur="350"/>
                                        <p:tgtEl>
                                          <p:spTgt spid="23"/>
                                        </p:tgtEl>
                                      </p:cBhvr>
                                    </p:animEffect>
                                  </p:childTnLst>
                                </p:cTn>
                              </p:par>
                              <p:par>
                                <p:cTn id="35" presetID="22" presetClass="entr" presetSubtype="8" fill="hold" grpId="0" nodeType="withEffect">
                                  <p:stCondLst>
                                    <p:cond delay="80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350"/>
                                        <p:tgtEl>
                                          <p:spTgt spid="24"/>
                                        </p:tgtEl>
                                      </p:cBhvr>
                                    </p:animEffect>
                                  </p:childTnLst>
                                </p:cTn>
                              </p:par>
                              <p:par>
                                <p:cTn id="38" presetID="22" presetClass="entr" presetSubtype="8" fill="hold" grpId="0" nodeType="withEffect">
                                  <p:stCondLst>
                                    <p:cond delay="88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350"/>
                                        <p:tgtEl>
                                          <p:spTgt spid="25"/>
                                        </p:tgtEl>
                                      </p:cBhvr>
                                    </p:animEffect>
                                  </p:childTnLst>
                                </p:cTn>
                              </p:par>
                              <p:par>
                                <p:cTn id="41" presetID="22" presetClass="entr" presetSubtype="8" fill="hold" grpId="0" nodeType="withEffect">
                                  <p:stCondLst>
                                    <p:cond delay="960"/>
                                  </p:stCondLst>
                                  <p:childTnLst>
                                    <p:set>
                                      <p:cBhvr>
                                        <p:cTn id="39" dur="1" fill="hold">
                                          <p:stCondLst>
                                            <p:cond delay="0"/>
                                          </p:stCondLst>
                                        </p:cTn>
                                        <p:tgtEl>
                                          <p:spTgt spid="26"/>
                                        </p:tgtEl>
                                        <p:attrNameLst>
                                          <p:attrName>style.visibility</p:attrName>
                                        </p:attrNameLst>
                                      </p:cBhvr>
                                      <p:to>
                                        <p:strVal val="visible"/>
                                      </p:to>
                                    </p:set>
                                    <p:animEffect transition="in" filter="wipe(left)">
                                      <p:cBhvr>
                                        <p:cTn id="40" dur="350"/>
                                        <p:tgtEl>
                                          <p:spTgt spid="26"/>
                                        </p:tgtEl>
                                      </p:cBhvr>
                                    </p:animEffect>
                                  </p:childTnLst>
                                </p:cTn>
                              </p:par>
                              <p:par>
                                <p:cTn id="44" presetID="22" presetClass="entr" presetSubtype="8" fill="hold" grpId="0" nodeType="withEffect">
                                  <p:stCondLst>
                                    <p:cond delay="1040"/>
                                  </p:stCondLst>
                                  <p:childTnLst>
                                    <p:set>
                                      <p:cBhvr>
                                        <p:cTn id="42" dur="1" fill="hold">
                                          <p:stCondLst>
                                            <p:cond delay="0"/>
                                          </p:stCondLst>
                                        </p:cTn>
                                        <p:tgtEl>
                                          <p:spTgt spid="27"/>
                                        </p:tgtEl>
                                        <p:attrNameLst>
                                          <p:attrName>style.visibility</p:attrName>
                                        </p:attrNameLst>
                                      </p:cBhvr>
                                      <p:to>
                                        <p:strVal val="visible"/>
                                      </p:to>
                                    </p:set>
                                    <p:animEffect transition="in" filter="wipe(left)">
                                      <p:cBhvr>
                                        <p:cTn id="43" dur="350"/>
                                        <p:tgtEl>
                                          <p:spTgt spid="27"/>
                                        </p:tgtEl>
                                      </p:cBhvr>
                                    </p:animEffect>
                                  </p:childTnLst>
                                </p:cTn>
                              </p:par>
                              <p:par>
                                <p:cTn id="47" presetID="22" presetClass="entr" presetSubtype="8" fill="hold" grpId="0" nodeType="withEffect">
                                  <p:stCondLst>
                                    <p:cond delay="1120"/>
                                  </p:stCondLst>
                                  <p:childTnLst>
                                    <p:set>
                                      <p:cBhvr>
                                        <p:cTn id="45" dur="1" fill="hold">
                                          <p:stCondLst>
                                            <p:cond delay="0"/>
                                          </p:stCondLst>
                                        </p:cTn>
                                        <p:tgtEl>
                                          <p:spTgt spid="28"/>
                                        </p:tgtEl>
                                        <p:attrNameLst>
                                          <p:attrName>style.visibility</p:attrName>
                                        </p:attrNameLst>
                                      </p:cBhvr>
                                      <p:to>
                                        <p:strVal val="visible"/>
                                      </p:to>
                                    </p:set>
                                    <p:animEffect transition="in" filter="wipe(left)">
                                      <p:cBhvr>
                                        <p:cTn id="46" dur="350"/>
                                        <p:tgtEl>
                                          <p:spTgt spid="28"/>
                                        </p:tgtEl>
                                      </p:cBhvr>
                                    </p:animEffect>
                                  </p:childTnLst>
                                </p:cTn>
                              </p:par>
                              <p:par>
                                <p:cTn id="50" presetID="22" presetClass="entr" presetSubtype="8" fill="hold" grpId="0" nodeType="withEffect">
                                  <p:stCondLst>
                                    <p:cond delay="1200"/>
                                  </p:stCondLst>
                                  <p:childTnLst>
                                    <p:set>
                                      <p:cBhvr>
                                        <p:cTn id="48" dur="1" fill="hold">
                                          <p:stCondLst>
                                            <p:cond delay="0"/>
                                          </p:stCondLst>
                                        </p:cTn>
                                        <p:tgtEl>
                                          <p:spTgt spid="29"/>
                                        </p:tgtEl>
                                        <p:attrNameLst>
                                          <p:attrName>style.visibility</p:attrName>
                                        </p:attrNameLst>
                                      </p:cBhvr>
                                      <p:to>
                                        <p:strVal val="visible"/>
                                      </p:to>
                                    </p:set>
                                    <p:animEffect transition="in" filter="wipe(left)">
                                      <p:cBhvr>
                                        <p:cTn id="49" dur="350"/>
                                        <p:tgtEl>
                                          <p:spTgt spid="29"/>
                                        </p:tgtEl>
                                      </p:cBhvr>
                                    </p:animEffect>
                                  </p:childTnLst>
                                </p:cTn>
                              </p:par>
                              <p:par>
                                <p:cTn id="53" presetID="22" presetClass="entr" presetSubtype="8" fill="hold" grpId="0" nodeType="withEffect">
                                  <p:stCondLst>
                                    <p:cond delay="1280"/>
                                  </p:stCondLst>
                                  <p:childTnLst>
                                    <p:set>
                                      <p:cBhvr>
                                        <p:cTn id="51" dur="1" fill="hold">
                                          <p:stCondLst>
                                            <p:cond delay="0"/>
                                          </p:stCondLst>
                                        </p:cTn>
                                        <p:tgtEl>
                                          <p:spTgt spid="30"/>
                                        </p:tgtEl>
                                        <p:attrNameLst>
                                          <p:attrName>style.visibility</p:attrName>
                                        </p:attrNameLst>
                                      </p:cBhvr>
                                      <p:to>
                                        <p:strVal val="visible"/>
                                      </p:to>
                                    </p:set>
                                    <p:animEffect transition="in" filter="wipe(left)">
                                      <p:cBhvr>
                                        <p:cTn id="52" dur="350"/>
                                        <p:tgtEl>
                                          <p:spTgt spid="30"/>
                                        </p:tgtEl>
                                      </p:cBhvr>
                                    </p:animEffect>
                                  </p:childTnLst>
                                </p:cTn>
                              </p:par>
                              <p:par>
                                <p:cTn id="56" presetID="22" presetClass="entr" presetSubtype="8" fill="hold" grpId="0" nodeType="withEffect">
                                  <p:stCondLst>
                                    <p:cond delay="1360"/>
                                  </p:stCondLst>
                                  <p:childTnLst>
                                    <p:set>
                                      <p:cBhvr>
                                        <p:cTn id="54" dur="1" fill="hold">
                                          <p:stCondLst>
                                            <p:cond delay="0"/>
                                          </p:stCondLst>
                                        </p:cTn>
                                        <p:tgtEl>
                                          <p:spTgt spid="31"/>
                                        </p:tgtEl>
                                        <p:attrNameLst>
                                          <p:attrName>style.visibility</p:attrName>
                                        </p:attrNameLst>
                                      </p:cBhvr>
                                      <p:to>
                                        <p:strVal val="visible"/>
                                      </p:to>
                                    </p:set>
                                    <p:animEffect transition="in" filter="wipe(left)">
                                      <p:cBhvr>
                                        <p:cTn id="55" dur="350"/>
                                        <p:tgtEl>
                                          <p:spTgt spid="31"/>
                                        </p:tgtEl>
                                      </p:cBhvr>
                                    </p:animEffect>
                                  </p:childTnLst>
                                </p:cTn>
                              </p:par>
                              <p:par>
                                <p:cTn id="59" presetID="22" presetClass="entr" presetSubtype="8" fill="hold" grpId="0" nodeType="withEffect">
                                  <p:stCondLst>
                                    <p:cond delay="1440"/>
                                  </p:stCondLst>
                                  <p:childTnLst>
                                    <p:set>
                                      <p:cBhvr>
                                        <p:cTn id="57" dur="1" fill="hold">
                                          <p:stCondLst>
                                            <p:cond delay="0"/>
                                          </p:stCondLst>
                                        </p:cTn>
                                        <p:tgtEl>
                                          <p:spTgt spid="32"/>
                                        </p:tgtEl>
                                        <p:attrNameLst>
                                          <p:attrName>style.visibility</p:attrName>
                                        </p:attrNameLst>
                                      </p:cBhvr>
                                      <p:to>
                                        <p:strVal val="visible"/>
                                      </p:to>
                                    </p:set>
                                    <p:animEffect transition="in" filter="wipe(left)">
                                      <p:cBhvr>
                                        <p:cTn id="58" dur="350"/>
                                        <p:tgtEl>
                                          <p:spTgt spid="32"/>
                                        </p:tgtEl>
                                      </p:cBhvr>
                                    </p:animEffect>
                                  </p:childTnLst>
                                </p:cTn>
                              </p:par>
                            </p:childTnLst>
                          </p:cTn>
                        </p:par>
                      </p:childTnLst>
                    </p:cTn>
                  </p:par>
                  <p:par>
                    <p:cTn id="68" fill="hold">
                      <p:stCondLst>
                        <p:cond delay="indefinite"/>
                      </p:stCondLst>
                      <p:childTnLst>
                        <p:par>
                          <p:cTn id="69" fill="hold">
                            <p:stCondLst>
                              <p:cond delay="0"/>
                            </p:stCondLst>
                            <p:childTnLst>
                              <p:par>
                                <p:cTn id="64" presetID="22" presetClass="entr" presetSubtype="8" fill="hold" grpId="0" nodeType="clickEffect">
                                  <p:stCondLst>
                                    <p:cond delay="0"/>
                                  </p:stCondLst>
                                  <p:childTnLst>
                                    <p:set>
                                      <p:cBhvr>
                                        <p:cTn id="62" dur="1" fill="hold">
                                          <p:stCondLst>
                                            <p:cond delay="0"/>
                                          </p:stCondLst>
                                        </p:cTn>
                                        <p:tgtEl>
                                          <p:spTgt spid="5"/>
                                        </p:tgtEl>
                                        <p:attrNameLst>
                                          <p:attrName>style.visibility</p:attrName>
                                        </p:attrNameLst>
                                      </p:cBhvr>
                                      <p:to>
                                        <p:strVal val="visible"/>
                                      </p:to>
                                    </p:set>
                                    <p:animEffect transition="in" filter="wipe(left)">
                                      <p:cBhvr>
                                        <p:cTn id="63" dur="350"/>
                                        <p:tgtEl>
                                          <p:spTgt spid="5"/>
                                        </p:tgtEl>
                                      </p:cBhvr>
                                    </p:animEffect>
                                  </p:childTnLst>
                                </p:cTn>
                              </p:par>
                              <p:par>
                                <p:cTn id="67" presetID="22" presetClass="entr" presetSubtype="8" fill="hold" grpId="0" nodeType="withEffect">
                                  <p:stCondLst>
                                    <p:cond delay="0"/>
                                  </p:stCondLst>
                                  <p:childTnLst>
                                    <p:set>
                                      <p:cBhvr>
                                        <p:cTn id="65" dur="1" fill="hold">
                                          <p:stCondLst>
                                            <p:cond delay="0"/>
                                          </p:stCondLst>
                                        </p:cTn>
                                        <p:tgtEl>
                                          <p:spTgt spid="6"/>
                                        </p:tgtEl>
                                        <p:attrNameLst>
                                          <p:attrName>style.visibility</p:attrName>
                                        </p:attrNameLst>
                                      </p:cBhvr>
                                      <p:to>
                                        <p:strVal val="visible"/>
                                      </p:to>
                                    </p:set>
                                    <p:animEffect transition="in" filter="wipe(left)">
                                      <p:cBhvr>
                                        <p:cTn id="66" dur="350"/>
                                        <p:tgtEl>
                                          <p:spTgt spid="6"/>
                                        </p:tgtEl>
                                      </p:cBhvr>
                                    </p:animEffect>
                                  </p:childTnLst>
                                </p:cTn>
                              </p:par>
                            </p:childTnLst>
                          </p:cTn>
                        </p:par>
                      </p:childTnLst>
                    </p:cTn>
                  </p:par>
                  <p:par>
                    <p:cTn id="76" fill="hold">
                      <p:stCondLst>
                        <p:cond delay="indefinite"/>
                      </p:stCondLst>
                      <p:childTnLst>
                        <p:par>
                          <p:cTn id="77" fill="hold">
                            <p:stCondLst>
                              <p:cond delay="0"/>
                            </p:stCondLst>
                            <p:childTnLst>
                              <p:par>
                                <p:cTn id="72" presetID="22" presetClass="entr" presetSubtype="8" fill="hold" grpId="0" nodeType="clickEffect">
                                  <p:stCondLst>
                                    <p:cond delay="0"/>
                                  </p:stCondLst>
                                  <p:childTnLst>
                                    <p:set>
                                      <p:cBhvr>
                                        <p:cTn id="70" dur="1" fill="hold">
                                          <p:stCondLst>
                                            <p:cond delay="0"/>
                                          </p:stCondLst>
                                        </p:cTn>
                                        <p:tgtEl>
                                          <p:spTgt spid="7"/>
                                        </p:tgtEl>
                                        <p:attrNameLst>
                                          <p:attrName>style.visibility</p:attrName>
                                        </p:attrNameLst>
                                      </p:cBhvr>
                                      <p:to>
                                        <p:strVal val="visible"/>
                                      </p:to>
                                    </p:set>
                                    <p:animEffect transition="in" filter="wipe(left)">
                                      <p:cBhvr>
                                        <p:cTn id="71" dur="350"/>
                                        <p:tgtEl>
                                          <p:spTgt spid="7"/>
                                        </p:tgtEl>
                                      </p:cBhvr>
                                    </p:animEffect>
                                  </p:childTnLst>
                                </p:cTn>
                              </p:par>
                              <p:par>
                                <p:cTn id="75" presetID="22" presetClass="entr" presetSubtype="8" fill="hold" grpId="0" nodeType="withEffect">
                                  <p:stCondLst>
                                    <p:cond delay="0"/>
                                  </p:stCondLst>
                                  <p:childTnLst>
                                    <p:set>
                                      <p:cBhvr>
                                        <p:cTn id="73" dur="1" fill="hold">
                                          <p:stCondLst>
                                            <p:cond delay="0"/>
                                          </p:stCondLst>
                                        </p:cTn>
                                        <p:tgtEl>
                                          <p:spTgt spid="8"/>
                                        </p:tgtEl>
                                        <p:attrNameLst>
                                          <p:attrName>style.visibility</p:attrName>
                                        </p:attrNameLst>
                                      </p:cBhvr>
                                      <p:to>
                                        <p:strVal val="visible"/>
                                      </p:to>
                                    </p:set>
                                    <p:animEffect transition="in" filter="wipe(left)">
                                      <p:cBhvr>
                                        <p:cTn id="74" dur="350"/>
                                        <p:tgtEl>
                                          <p:spTgt spid="8"/>
                                        </p:tgtEl>
                                      </p:cBhvr>
                                    </p:animEffect>
                                  </p:childTnLst>
                                </p:cTn>
                              </p:par>
                            </p:childTnLst>
                          </p:cTn>
                        </p:par>
                      </p:childTnLst>
                    </p:cTn>
                  </p:par>
                  <p:par>
                    <p:cTn id="84" fill="hold">
                      <p:stCondLst>
                        <p:cond delay="indefinite"/>
                      </p:stCondLst>
                      <p:childTnLst>
                        <p:par>
                          <p:cTn id="85" fill="hold">
                            <p:stCondLst>
                              <p:cond delay="0"/>
                            </p:stCondLst>
                            <p:childTnLst>
                              <p:par>
                                <p:cTn id="80" presetID="22" presetClass="entr" presetSubtype="8" fill="hold" grpId="0" nodeType="click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wipe(left)">
                                      <p:cBhvr>
                                        <p:cTn id="79" dur="350"/>
                                        <p:tgtEl>
                                          <p:spTgt spid="9"/>
                                        </p:tgtEl>
                                      </p:cBhvr>
                                    </p:animEffect>
                                  </p:childTnLst>
                                </p:cTn>
                              </p:par>
                              <p:par>
                                <p:cTn id="83" presetID="22" presetClass="entr" presetSubtype="8"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wipe(left)">
                                      <p:cBhvr>
                                        <p:cTn id="82" dur="3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serverless application.</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13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Kubernetes-client, cloudlet-apis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auto:0:zoom"/>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1</a:t>
            </a:r>
            <a:endParaRPr lang="en-US" sz="5400" dirty="0"/>
          </a:p>
        </p:txBody>
      </p:sp>
      <p:sp>
        <p:nvSpPr>
          <p:cNvPr id="16" name="auto:1:fade"/>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call to deploy everywhere</a:t>
            </a:r>
            <a:endParaRPr lang="en-US" sz="1050" dirty="0"/>
          </a:p>
        </p:txBody>
      </p:sp>
      <p:sp>
        <p:nvSpPr>
          <p:cNvPr id="17" name="auto:2:zoom"/>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23</a:t>
            </a:r>
            <a:endParaRPr lang="en-US" sz="5400" dirty="0"/>
          </a:p>
        </p:txBody>
      </p:sp>
      <p:sp>
        <p:nvSpPr>
          <p:cNvPr id="18" name="auto:3:fade"/>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9" name="auto:4:zoom"/>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3</a:t>
            </a:r>
            <a:endParaRPr lang="en-US" sz="5400" dirty="0"/>
          </a:p>
        </p:txBody>
      </p:sp>
      <p:sp>
        <p:nvSpPr>
          <p:cNvPr id="20" name="auto:5:fade"/>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21" name="auto:6:zoom"/>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2" name="auto:7:fade"/>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14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par>
                                <p:cTn id="13" presetID="53" presetClass="entr" presetSubtype="0" fill="hold" grpId="0" nodeType="withEffect">
                                  <p:stCondLst>
                                    <p:cond delay="16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50"/>
                                        <p:tgtEl>
                                          <p:spTgt spid="17"/>
                                        </p:tgtEl>
                                      </p:cBhvr>
                                    </p:animEffect>
                                    <p:animScale>
                                      <p:cBhvr>
                                        <p:cTn id="12" dur="450" fill="hold"/>
                                        <p:tgtEl>
                                          <p:spTgt spid="17"/>
                                        </p:tgtEl>
                                      </p:cBhvr>
                                      <p:from x="60000" y="60000"/>
                                      <p:to x="100000" y="100000"/>
                                    </p:animScale>
                                  </p:childTnLst>
                                </p:cTn>
                              </p:par>
                              <p:par>
                                <p:cTn id="16" presetID="10" presetClass="entr" presetSubtype="0" fill="hold" grpId="0" nodeType="withEffect">
                                  <p:stCondLst>
                                    <p:cond delay="24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20" presetID="53" presetClass="entr" presetSubtype="0" fill="hold" grpId="0" nodeType="withEffect">
                                  <p:stCondLst>
                                    <p:cond delay="32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50"/>
                                        <p:tgtEl>
                                          <p:spTgt spid="19"/>
                                        </p:tgtEl>
                                      </p:cBhvr>
                                    </p:animEffect>
                                    <p:animScale>
                                      <p:cBhvr>
                                        <p:cTn id="19" dur="450" fill="hold"/>
                                        <p:tgtEl>
                                          <p:spTgt spid="19"/>
                                        </p:tgtEl>
                                      </p:cBhvr>
                                      <p:from x="60000" y="60000"/>
                                      <p:to x="100000" y="100000"/>
                                    </p:animScale>
                                  </p:childTnLst>
                                </p:cTn>
                              </p:par>
                              <p:par>
                                <p:cTn id="23" presetID="10" presetClass="entr" presetSubtype="0" fill="hold" grpId="0" nodeType="withEffect">
                                  <p:stCondLst>
                                    <p:cond delay="40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7" presetID="53" presetClass="entr" presetSubtype="0" fill="hold" grpId="0" nodeType="withEffect">
                                  <p:stCondLst>
                                    <p:cond delay="48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50"/>
                                        <p:tgtEl>
                                          <p:spTgt spid="21"/>
                                        </p:tgtEl>
                                      </p:cBhvr>
                                    </p:animEffect>
                                    <p:animScale>
                                      <p:cBhvr>
                                        <p:cTn id="26" dur="450" fill="hold"/>
                                        <p:tgtEl>
                                          <p:spTgt spid="21"/>
                                        </p:tgtEl>
                                      </p:cBhvr>
                                      <p:from x="60000" y="60000"/>
                                      <p:to x="100000" y="100000"/>
                                    </p:animScale>
                                  </p:childTnLst>
                                </p:cTn>
                              </p:par>
                              <p:par>
                                <p:cTn id="30" presetID="10" presetClass="entr" presetSubtype="0" fill="hold" grpId="0" nodeType="withEffect">
                                  <p:stCondLst>
                                    <p:cond delay="56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5" presetID="22" presetClass="entr" presetSubtype="8"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wipe(left)">
                                      <p:cBhvr>
                                        <p:cTn id="34" dur="350"/>
                                        <p:tgtEl>
                                          <p:spTgt spid="5"/>
                                        </p:tgtEl>
                                      </p:cBhvr>
                                    </p:animEffect>
                                  </p:childTnLst>
                                </p:cTn>
                              </p:par>
                              <p:par>
                                <p:cTn id="38" presetID="22" presetClass="entr" presetSubtype="8" fill="hold" grpId="0" nodeType="with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wipe(left)">
                                      <p:cBhvr>
                                        <p:cTn id="37" dur="350"/>
                                        <p:tgtEl>
                                          <p:spTgt spid="6"/>
                                        </p:tgtEl>
                                      </p:cBhvr>
                                    </p:animEffect>
                                  </p:childTnLst>
                                </p:cTn>
                              </p:par>
                            </p:childTnLst>
                          </p:cTn>
                        </p:par>
                      </p:childTnLst>
                    </p:cTn>
                  </p:par>
                  <p:par>
                    <p:cTn id="47" fill="hold">
                      <p:stCondLst>
                        <p:cond delay="indefinite"/>
                      </p:stCondLst>
                      <p:childTnLst>
                        <p:par>
                          <p:cTn id="48" fill="hold">
                            <p:stCondLst>
                              <p:cond delay="0"/>
                            </p:stCondLst>
                            <p:childTnLst>
                              <p:par>
                                <p:cTn id="43"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350"/>
                                        <p:tgtEl>
                                          <p:spTgt spid="7"/>
                                        </p:tgtEl>
                                      </p:cBhvr>
                                    </p:animEffect>
                                  </p:childTnLst>
                                </p:cTn>
                              </p:par>
                              <p:par>
                                <p:cTn id="46" presetID="22" presetClass="entr" presetSubtype="8" fill="hold" grpId="0" nodeType="with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wipe(left)">
                                      <p:cBhvr>
                                        <p:cTn id="45" dur="350"/>
                                        <p:tgtEl>
                                          <p:spTgt spid="8"/>
                                        </p:tgtEl>
                                      </p:cBhvr>
                                    </p:animEffect>
                                  </p:childTnLst>
                                </p:cTn>
                              </p:par>
                            </p:childTnLst>
                          </p:cTn>
                        </p:par>
                      </p:childTnLst>
                    </p:cTn>
                  </p:par>
                  <p:par>
                    <p:cTn id="55" fill="hold">
                      <p:stCondLst>
                        <p:cond delay="indefinite"/>
                      </p:stCondLst>
                      <p:childTnLst>
                        <p:par>
                          <p:cTn id="56" fill="hold">
                            <p:stCondLst>
                              <p:cond delay="0"/>
                            </p:stCondLst>
                            <p:childTnLst>
                              <p:par>
                                <p:cTn id="51" presetID="22" presetClass="entr" presetSubtype="8" fill="hold" grpId="0"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left)">
                                      <p:cBhvr>
                                        <p:cTn id="50" dur="350"/>
                                        <p:tgtEl>
                                          <p:spTgt spid="9"/>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wipe(left)">
                                      <p:cBhvr>
                                        <p:cTn id="53" dur="350"/>
                                        <p:tgtEl>
                                          <p:spTgt spid="10"/>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wipe(left)">
                                      <p:cBhvr>
                                        <p:cTn id="58" dur="350"/>
                                        <p:tgtEl>
                                          <p:spTgt spid="11"/>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wipe(left)">
                                      <p:cBhvr>
                                        <p:cTn id="61" dur="350"/>
                                        <p:tgtEl>
                                          <p:spTgt spid="12"/>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6" dur="350"/>
                                        <p:tgtEl>
                                          <p:spTgt spid="13"/>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wipe(left)">
                                      <p:cBhvr>
                                        <p:cTn id="6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offerings have the same shape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Allow live streaming with short-lived tickets</a:t>
            </a:r>
            <a:endParaRPr lang="en-US" sz="1900" dirty="0"/>
          </a:p>
        </p:txBody>
      </p:sp>
      <p:sp>
        <p:nvSpPr>
          <p:cNvPr id="15" name="auto:0:fade"/>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6" name="auto:1:fade"/>
          <p:cNvSpPr txBox="1"/>
          <p:nvPr/>
        </p:nvSpPr>
        <p:spPr>
          <a:xfrm>
            <a:off x="6400800" y="2377440"/>
            <a:ext cx="493776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/{name}/pull</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0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350"/>
                                        <p:tgtEl>
                                          <p:spTgt spid="5"/>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350"/>
                                        <p:tgtEl>
                                          <p:spTgt spid="6"/>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20" dur="350"/>
                                        <p:tgtEl>
                                          <p:spTgt spid="7"/>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350"/>
                                        <p:tgtEl>
                                          <p:spTgt spid="8"/>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350"/>
                                        <p:tgtEl>
                                          <p:spTgt spid="9"/>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350"/>
                                        <p:tgtEl>
                                          <p:spTgt spid="10"/>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350"/>
                                        <p:tgtEl>
                                          <p:spTgt spid="11"/>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350"/>
                                        <p:tgtEl>
                                          <p:spTgt spid="12"/>
                                        </p:tgtEl>
                                      </p:cBhvr>
                                    </p:animEffect>
                                  </p:childTnLst>
                                </p:cTn>
                              </p:par>
                            </p:childTnLst>
                          </p:cTn>
                        </p:par>
                      </p:childTnLst>
                    </p:cTn>
                  </p:par>
                  <p:par>
                    <p:cTn id="49" fill="hold">
                      <p:stCondLst>
                        <p:cond delay="indefinite"/>
                      </p:stCondLst>
                      <p:childTnLst>
                        <p:par>
                          <p:cTn id="50"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350"/>
                                        <p:tgtEl>
                                          <p:spTgt spid="13"/>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step:1: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step: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Identity</a:t>
            </a:r>
            <a:endParaRPr lang="en-US" sz="1400" dirty="0"/>
          </a:p>
        </p:txBody>
      </p:sp>
      <p:sp>
        <p:nvSpPr>
          <p:cNvPr id="17" name="step:1: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name · hostname · regions[]</a:t>
            </a:r>
            <a:endParaRPr lang="en-US" sz="950" dirty="0"/>
          </a:p>
        </p:txBody>
      </p:sp>
      <p:sp>
        <p:nvSpPr>
          <p:cNvPr id="18" name="step:2: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step:2: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Source</a:t>
            </a:r>
            <a:endParaRPr lang="en-US" sz="1400" dirty="0"/>
          </a:p>
        </p:txBody>
      </p:sp>
      <p:sp>
        <p:nvSpPr>
          <p:cNvPr id="20" name="step:2: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gitRepo · branch · runtime  |  image</a:t>
            </a:r>
            <a:endParaRPr lang="en-US" sz="950" dirty="0"/>
          </a:p>
        </p:txBody>
      </p:sp>
      <p:sp>
        <p:nvSpPr>
          <p:cNvPr id="21" name="step:3: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step:3: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Runtime</a:t>
            </a:r>
            <a:endParaRPr lang="en-US" sz="1400" dirty="0"/>
          </a:p>
        </p:txBody>
      </p:sp>
      <p:sp>
        <p:nvSpPr>
          <p:cNvPr id="23" name="step:3: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env[] · files[] · port · size</a:t>
            </a:r>
            <a:endParaRPr lang="en-US" sz="950" dirty="0"/>
          </a:p>
        </p:txBody>
      </p:sp>
      <p:sp>
        <p:nvSpPr>
          <p:cNvPr id="24" name="step:4: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step:4: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Scaling</a:t>
            </a:r>
            <a:endParaRPr lang="en-US" sz="1400" dirty="0"/>
          </a:p>
        </p:txBody>
      </p:sp>
      <p:sp>
        <p:nvSpPr>
          <p:cNvPr id="26" name="step:4: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minScale · maxScale · metric · target</a:t>
            </a:r>
            <a:endParaRPr lang="en-US" sz="950" dirty="0"/>
          </a:p>
        </p:txBody>
      </p:sp>
      <p:sp>
        <p:nvSpPr>
          <p:cNvPr id="27" name="step:5: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step:5: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Response</a:t>
            </a:r>
            <a:endParaRPr lang="en-US" sz="1400" dirty="0"/>
          </a:p>
        </p:txBody>
      </p:sp>
      <p:sp>
        <p:nvSpPr>
          <p:cNvPr id="29" name="step:5: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the request, secrets redacted</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35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350"/>
                                        <p:tgtEl>
                                          <p:spTgt spid="17"/>
                                        </p:tgtEl>
                                      </p:cBhvr>
                                    </p:animEffect>
                                  </p:childTnLst>
                                </p:cTn>
                              </p:par>
                            </p:childTnLst>
                          </p:cTn>
                        </p:par>
                      </p:childTnLst>
                    </p:cTn>
                  </p:par>
                  <p:par>
                    <p:cTn id="35" fill="hold">
                      <p:stCondLst>
                        <p:cond delay="indefinite"/>
                      </p:stCondLst>
                      <p:childTnLst>
                        <p:par>
                          <p:cTn id="36"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wipe(down)">
                                      <p:cBhvr>
                                        <p:cTn id="27" dur="350"/>
                                        <p:tgtEl>
                                          <p:spTgt spid="18"/>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350"/>
                                        <p:tgtEl>
                                          <p:spTgt spid="19"/>
                                        </p:tgtEl>
                                      </p:cBhvr>
                                    </p:animEffect>
                                  </p:childTnLst>
                                </p:cTn>
                              </p:par>
                              <p:par>
                                <p:cTn id="34" presetID="22" presetClass="entr" presetSubtype="4"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wipe(down)">
                                      <p:cBhvr>
                                        <p:cTn id="33" dur="350"/>
                                        <p:tgtEl>
                                          <p:spTgt spid="20"/>
                                        </p:tgtEl>
                                      </p:cBhvr>
                                    </p:animEffect>
                                  </p:childTnLst>
                                </p:cTn>
                              </p:par>
                            </p:childTnLst>
                          </p:cTn>
                        </p:par>
                      </p:childTnLst>
                    </p:cTn>
                  </p:par>
                  <p:par>
                    <p:cTn id="52" fill="hold">
                      <p:stCondLst>
                        <p:cond delay="indefinite"/>
                      </p:stCondLst>
                      <p:childTnLst>
                        <p:par>
                          <p:cTn id="53" fill="hold">
                            <p:stCondLst>
                              <p:cond delay="0"/>
                            </p:stCondLst>
                            <p:childTnLst>
                              <p:par>
                                <p:cTn id="39" presetID="22" presetClass="entr" presetSubtype="8" fill="hold" grpId="0" nodeType="click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350"/>
                                        <p:tgtEl>
                                          <p:spTgt spid="9"/>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350"/>
                                        <p:tgtEl>
                                          <p:spTgt spid="10"/>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wipe(down)">
                                      <p:cBhvr>
                                        <p:cTn id="44" dur="350"/>
                                        <p:tgtEl>
                                          <p:spTgt spid="21"/>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down)">
                                      <p:cBhvr>
                                        <p:cTn id="47" dur="350"/>
                                        <p:tgtEl>
                                          <p:spTgt spid="22"/>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wipe(down)">
                                      <p:cBhvr>
                                        <p:cTn id="50" dur="350"/>
                                        <p:tgtEl>
                                          <p:spTgt spid="23"/>
                                        </p:tgtEl>
                                      </p:cBhvr>
                                    </p:animEffect>
                                  </p:childTnLst>
                                </p:cTn>
                              </p:par>
                            </p:childTnLst>
                          </p:cTn>
                        </p:par>
                      </p:childTnLst>
                    </p:cTn>
                  </p:par>
                  <p:par>
                    <p:cTn id="69" fill="hold">
                      <p:stCondLst>
                        <p:cond delay="indefinite"/>
                      </p:stCondLst>
                      <p:childTnLst>
                        <p:par>
                          <p:cTn id="70" fill="hold">
                            <p:stCondLst>
                              <p:cond delay="0"/>
                            </p:stCondLst>
                            <p:childTnLst>
                              <p:par>
                                <p:cTn id="56" presetID="22" presetClass="entr" presetSubtype="8"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wipe(left)">
                                      <p:cBhvr>
                                        <p:cTn id="55" dur="350"/>
                                        <p:tgtEl>
                                          <p:spTgt spid="11"/>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wipe(left)">
                                      <p:cBhvr>
                                        <p:cTn id="58" dur="350"/>
                                        <p:tgtEl>
                                          <p:spTgt spid="12"/>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wipe(down)">
                                      <p:cBhvr>
                                        <p:cTn id="61" dur="350"/>
                                        <p:tgtEl>
                                          <p:spTgt spid="24"/>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wipe(down)">
                                      <p:cBhvr>
                                        <p:cTn id="64" dur="350"/>
                                        <p:tgtEl>
                                          <p:spTgt spid="25"/>
                                        </p:tgtEl>
                                      </p:cBhvr>
                                    </p:animEffect>
                                  </p:childTnLst>
                                </p:cTn>
                              </p:par>
                              <p:par>
                                <p:cTn id="68" presetID="22" presetClass="entr" presetSubtype="4"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down)">
                                      <p:cBhvr>
                                        <p:cTn id="67" dur="350"/>
                                        <p:tgtEl>
                                          <p:spTgt spid="26"/>
                                        </p:tgtEl>
                                      </p:cBhvr>
                                    </p:animEffect>
                                  </p:childTnLst>
                                </p:cTn>
                              </p:par>
                            </p:childTnLst>
                          </p:cTn>
                        </p:par>
                      </p:childTnLst>
                    </p:cTn>
                  </p:par>
                  <p:par>
                    <p:cTn id="86" fill="hold">
                      <p:stCondLst>
                        <p:cond delay="indefinite"/>
                      </p:stCondLst>
                      <p:childTnLst>
                        <p:par>
                          <p:cTn id="87"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3"/>
                                        </p:tgtEl>
                                        <p:attrNameLst>
                                          <p:attrName>style.visibility</p:attrName>
                                        </p:attrNameLst>
                                      </p:cBhvr>
                                      <p:to>
                                        <p:strVal val="visible"/>
                                      </p:to>
                                    </p:set>
                                    <p:animEffect transition="in" filter="wipe(left)">
                                      <p:cBhvr>
                                        <p:cTn id="72" dur="350"/>
                                        <p:tgtEl>
                                          <p:spTgt spid="13"/>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wipe(left)">
                                      <p:cBhvr>
                                        <p:cTn id="75" dur="350"/>
                                        <p:tgtEl>
                                          <p:spTgt spid="14"/>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par>
                                <p:cTn id="85" presetID="22" presetClass="entr" presetSubtype="4"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wipe(down)">
                                      <p:cBhvr>
                                        <p:cTn id="8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Every workload has one status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closed set, published on /info</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Pending, Building, Deploying, Ready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Building only exists for functions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Failed always carries a reason</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row per region, rolled up</a:t>
            </a:r>
            <a:endParaRPr lang="en-US" sz="1900" dirty="0"/>
          </a:p>
        </p:txBody>
      </p:sp>
      <p:sp>
        <p:nvSpPr>
          <p:cNvPr id="15" name="step:6:wipeL"/>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step:6:wipeL"/>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step:7:wipeL"/>
          <p:cNvSpPr/>
          <p:nvPr/>
        </p:nvSpPr>
        <p:spPr>
          <a:xfrm>
            <a:off x="7223760" y="2478024"/>
            <a:ext cx="256032" cy="0"/>
          </a:xfrm>
          <a:prstGeom prst="line">
            <a:avLst/>
          </a:prstGeom>
          <a:noFill/>
          <a:ln w="15875">
            <a:solidFill>
              <a:srgbClr val="98A2B3"/>
            </a:solidFill>
            <a:prstDash val="solid"/>
            <a:tailEnd type="triangle"/>
          </a:ln>
        </p:spPr>
      </p:sp>
      <p:sp>
        <p:nvSpPr>
          <p:cNvPr id="18" name="step:7:wipeL"/>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step:7:wipeL"/>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step:8:wipeL"/>
          <p:cNvSpPr/>
          <p:nvPr/>
        </p:nvSpPr>
        <p:spPr>
          <a:xfrm>
            <a:off x="8531352" y="2478024"/>
            <a:ext cx="256032" cy="0"/>
          </a:xfrm>
          <a:prstGeom prst="line">
            <a:avLst/>
          </a:prstGeom>
          <a:noFill/>
          <a:ln w="15875">
            <a:solidFill>
              <a:srgbClr val="98A2B3"/>
            </a:solidFill>
            <a:prstDash val="solid"/>
            <a:tailEnd type="triangle"/>
          </a:ln>
        </p:spPr>
      </p:sp>
      <p:sp>
        <p:nvSpPr>
          <p:cNvPr id="21" name="step:8:wipeL"/>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step:8:wipeL"/>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step:9:wipeL"/>
          <p:cNvSpPr/>
          <p:nvPr/>
        </p:nvSpPr>
        <p:spPr>
          <a:xfrm>
            <a:off x="9838944" y="2478024"/>
            <a:ext cx="256032" cy="0"/>
          </a:xfrm>
          <a:prstGeom prst="line">
            <a:avLst/>
          </a:prstGeom>
          <a:noFill/>
          <a:ln w="15875">
            <a:solidFill>
              <a:srgbClr val="98A2B3"/>
            </a:solidFill>
            <a:prstDash val="solid"/>
            <a:tailEnd type="triangle"/>
          </a:ln>
        </p:spPr>
      </p:sp>
      <p:sp>
        <p:nvSpPr>
          <p:cNvPr id="24" name="step:9:wipeL"/>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step:9:wipeL"/>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step:10:wipeL"/>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step:10:wipeL"/>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step:10:wipeL"/>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step:11:fade"/>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step:11:fade"/>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step:11:fade"/>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step:11:fade"/>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step:11:fade"/>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step:11:fade"/>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step:11:fade"/>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step:11:fade"/>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step:11:fade"/>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step:11:fade"/>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17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49" fill="hold">
                      <p:stCondLst>
                        <p:cond delay="indefinite"/>
                      </p:stCondLst>
                      <p:childTnLst>
                        <p:par>
                          <p:cTn id="50"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350"/>
                                        <p:tgtEl>
                                          <p:spTgt spid="15"/>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left)">
                                      <p:cBhvr>
                                        <p:cTn id="47" dur="350"/>
                                        <p:tgtEl>
                                          <p:spTgt spid="16"/>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350"/>
                                        <p:tgtEl>
                                          <p:spTgt spid="17"/>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350"/>
                                        <p:tgtEl>
                                          <p:spTgt spid="18"/>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350"/>
                                        <p:tgtEl>
                                          <p:spTgt spid="19"/>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grpId="0" nodeType="click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350"/>
                                        <p:tgtEl>
                                          <p:spTgt spid="20"/>
                                        </p:tgtEl>
                                      </p:cBhvr>
                                    </p:animEffect>
                                  </p:childTnLst>
                                </p:cTn>
                              </p:par>
                              <p:par>
                                <p:cTn id="67"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350"/>
                                        <p:tgtEl>
                                          <p:spTgt spid="21"/>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50"/>
                                        <p:tgtEl>
                                          <p:spTgt spid="22"/>
                                        </p:tgtEl>
                                      </p:cBhvr>
                                    </p:animEffect>
                                  </p:childTnLst>
                                </p:cTn>
                              </p:par>
                            </p:childTnLst>
                          </p:cTn>
                        </p:par>
                      </p:childTnLst>
                    </p:cTn>
                  </p:par>
                  <p:par>
                    <p:cTn id="82" fill="hold">
                      <p:stCondLst>
                        <p:cond delay="indefinite"/>
                      </p:stCondLst>
                      <p:childTnLst>
                        <p:par>
                          <p:cTn id="83"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50"/>
                                        <p:tgtEl>
                                          <p:spTgt spid="23"/>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wipe(left)">
                                      <p:cBhvr>
                                        <p:cTn id="77" dur="350"/>
                                        <p:tgtEl>
                                          <p:spTgt spid="24"/>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wipe(left)">
                                      <p:cBhvr>
                                        <p:cTn id="80" dur="350"/>
                                        <p:tgtEl>
                                          <p:spTgt spid="25"/>
                                        </p:tgtEl>
                                      </p:cBhvr>
                                    </p:animEffect>
                                  </p:childTnLst>
                                </p:cTn>
                              </p:par>
                            </p:childTnLst>
                          </p:cTn>
                        </p:par>
                      </p:childTnLst>
                    </p:cTn>
                  </p:par>
                  <p:par>
                    <p:cTn id="93" fill="hold">
                      <p:stCondLst>
                        <p:cond delay="indefinite"/>
                      </p:stCondLst>
                      <p:childTnLst>
                        <p:par>
                          <p:cTn id="94" fill="hold">
                            <p:stCondLst>
                              <p:cond delay="0"/>
                            </p:stCondLst>
                            <p:childTnLst>
                              <p:par>
                                <p:cTn id="86" presetID="22" presetClass="entr" presetSubtype="8" fill="hold" grpId="0" nodeType="click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wipe(left)">
                                      <p:cBhvr>
                                        <p:cTn id="85" dur="350"/>
                                        <p:tgtEl>
                                          <p:spTgt spid="26"/>
                                        </p:tgtEl>
                                      </p:cBhvr>
                                    </p:animEffect>
                                  </p:childTnLst>
                                </p:cTn>
                              </p:par>
                              <p:par>
                                <p:cTn id="89" presetID="22" presetClass="entr" presetSubtype="8" fill="hold" grpId="0" nodeType="with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wipe(left)">
                                      <p:cBhvr>
                                        <p:cTn id="88" dur="350"/>
                                        <p:tgtEl>
                                          <p:spTgt spid="27"/>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left)">
                                      <p:cBhvr>
                                        <p:cTn id="91" dur="350"/>
                                        <p:tgtEl>
                                          <p:spTgt spid="28"/>
                                        </p:tgtEl>
                                      </p:cBhvr>
                                    </p:animEffect>
                                  </p:childTnLst>
                                </p:cTn>
                              </p:par>
                            </p:childTnLst>
                          </p:cTn>
                        </p:par>
                      </p:childTnLst>
                    </p:cTn>
                  </p:par>
                  <p:par>
                    <p:cTn id="125" fill="hold">
                      <p:stCondLst>
                        <p:cond delay="indefinite"/>
                      </p:stCondLst>
                      <p:childTnLst>
                        <p:par>
                          <p:cTn id="126" fill="hold">
                            <p:stCondLst>
                              <p:cond delay="0"/>
                            </p:stCondLst>
                            <p:childTnLst>
                              <p:par>
                                <p:cTn id="97" presetID="10" presetClass="entr" presetSubtype="0" fill="hold" grpId="0" nodeType="click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6" dur="400"/>
                                        <p:tgtEl>
                                          <p:spTgt spid="29"/>
                                        </p:tgtEl>
                                      </p:cBhvr>
                                    </p:animEffect>
                                  </p:childTnLst>
                                </p:cTn>
                              </p:par>
                              <p:par>
                                <p:cTn id="100" presetID="10"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400"/>
                                        <p:tgtEl>
                                          <p:spTgt spid="30"/>
                                        </p:tgtEl>
                                      </p:cBhvr>
                                    </p:animEffect>
                                  </p:childTnLst>
                                </p:cTn>
                              </p:par>
                              <p:par>
                                <p:cTn id="103" presetID="10" presetClass="entr" presetSubtype="0" fill="hold" grpId="0" nodeType="withEffect">
                                  <p:stCondLst>
                                    <p:cond delay="0"/>
                                  </p:stCondLst>
                                  <p:childTnLst>
                                    <p:set>
                                      <p:cBhvr>
                                        <p:cTn id="101" dur="1" fill="hold">
                                          <p:stCondLst>
                                            <p:cond delay="0"/>
                                          </p:stCondLst>
                                        </p:cTn>
                                        <p:tgtEl>
                                          <p:spTgt spid="31"/>
                                        </p:tgtEl>
                                        <p:attrNameLst>
                                          <p:attrName>style.visibility</p:attrName>
                                        </p:attrNameLst>
                                      </p:cBhvr>
                                      <p:to>
                                        <p:strVal val="visible"/>
                                      </p:to>
                                    </p:set>
                                    <p:animEffect transition="in" filter="fade">
                                      <p:cBhvr>
                                        <p:cTn id="102" dur="400"/>
                                        <p:tgtEl>
                                          <p:spTgt spid="31"/>
                                        </p:tgtEl>
                                      </p:cBhvr>
                                    </p:animEffect>
                                  </p:childTnLst>
                                </p:cTn>
                              </p:par>
                              <p:par>
                                <p:cTn id="106" presetID="10" presetClass="entr" presetSubtype="0" fill="hold" grpId="0" nodeType="withEffect">
                                  <p:stCondLst>
                                    <p:cond delay="0"/>
                                  </p:stCondLst>
                                  <p:childTnLst>
                                    <p:set>
                                      <p:cBhvr>
                                        <p:cTn id="104" dur="1" fill="hold">
                                          <p:stCondLst>
                                            <p:cond delay="0"/>
                                          </p:stCondLst>
                                        </p:cTn>
                                        <p:tgtEl>
                                          <p:spTgt spid="32"/>
                                        </p:tgtEl>
                                        <p:attrNameLst>
                                          <p:attrName>style.visibility</p:attrName>
                                        </p:attrNameLst>
                                      </p:cBhvr>
                                      <p:to>
                                        <p:strVal val="visible"/>
                                      </p:to>
                                    </p:set>
                                    <p:animEffect transition="in" filter="fade">
                                      <p:cBhvr>
                                        <p:cTn id="105" dur="400"/>
                                        <p:tgtEl>
                                          <p:spTgt spid="32"/>
                                        </p:tgtEl>
                                      </p:cBhvr>
                                    </p:animEffect>
                                  </p:childTnLst>
                                </p:cTn>
                              </p:par>
                              <p:par>
                                <p:cTn id="109" presetID="10" presetClass="entr" presetSubtype="0" fill="hold" grpId="0" nodeType="withEffect">
                                  <p:stCondLst>
                                    <p:cond delay="0"/>
                                  </p:stCondLst>
                                  <p:childTnLst>
                                    <p:set>
                                      <p:cBhvr>
                                        <p:cTn id="107" dur="1" fill="hold">
                                          <p:stCondLst>
                                            <p:cond delay="0"/>
                                          </p:stCondLst>
                                        </p:cTn>
                                        <p:tgtEl>
                                          <p:spTgt spid="33"/>
                                        </p:tgtEl>
                                        <p:attrNameLst>
                                          <p:attrName>style.visibility</p:attrName>
                                        </p:attrNameLst>
                                      </p:cBhvr>
                                      <p:to>
                                        <p:strVal val="visible"/>
                                      </p:to>
                                    </p:set>
                                    <p:animEffect transition="in" filter="fade">
                                      <p:cBhvr>
                                        <p:cTn id="108" dur="400"/>
                                        <p:tgtEl>
                                          <p:spTgt spid="33"/>
                                        </p:tgtEl>
                                      </p:cBhvr>
                                    </p:animEffect>
                                  </p:childTnLst>
                                </p:cTn>
                              </p:par>
                              <p:par>
                                <p:cTn id="112"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par>
                                <p:cTn id="115" presetID="10" presetClass="entr" presetSubtype="0" fill="hold" grpId="0" nodeType="withEffect">
                                  <p:stCondLst>
                                    <p:cond delay="0"/>
                                  </p:stCondLst>
                                  <p:childTnLst>
                                    <p:set>
                                      <p:cBhvr>
                                        <p:cTn id="113" dur="1" fill="hold">
                                          <p:stCondLst>
                                            <p:cond delay="0"/>
                                          </p:stCondLst>
                                        </p:cTn>
                                        <p:tgtEl>
                                          <p:spTgt spid="35"/>
                                        </p:tgtEl>
                                        <p:attrNameLst>
                                          <p:attrName>style.visibility</p:attrName>
                                        </p:attrNameLst>
                                      </p:cBhvr>
                                      <p:to>
                                        <p:strVal val="visible"/>
                                      </p:to>
                                    </p:set>
                                    <p:animEffect transition="in" filter="fade">
                                      <p:cBhvr>
                                        <p:cTn id="114" dur="400"/>
                                        <p:tgtEl>
                                          <p:spTgt spid="35"/>
                                        </p:tgtEl>
                                      </p:cBhvr>
                                    </p:animEffect>
                                  </p:childTnLst>
                                </p:cTn>
                              </p:par>
                              <p:par>
                                <p:cTn id="118" presetID="10" presetClass="entr" presetSubtype="0" fill="hold" grpId="0" nodeType="with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fade">
                                      <p:cBhvr>
                                        <p:cTn id="117" dur="400"/>
                                        <p:tgtEl>
                                          <p:spTgt spid="36"/>
                                        </p:tgtEl>
                                      </p:cBhvr>
                                    </p:animEffect>
                                  </p:childTnLst>
                                </p:cTn>
                              </p:par>
                              <p:par>
                                <p:cTn id="121" presetID="10" presetClass="entr" presetSubtype="0" fill="hold" grpId="0" nodeType="withEffect">
                                  <p:stCondLst>
                                    <p:cond delay="0"/>
                                  </p:stCondLst>
                                  <p:childTnLst>
                                    <p:set>
                                      <p:cBhvr>
                                        <p:cTn id="119" dur="1" fill="hold">
                                          <p:stCondLst>
                                            <p:cond delay="0"/>
                                          </p:stCondLst>
                                        </p:cTn>
                                        <p:tgtEl>
                                          <p:spTgt spid="37"/>
                                        </p:tgtEl>
                                        <p:attrNameLst>
                                          <p:attrName>style.visibility</p:attrName>
                                        </p:attrNameLst>
                                      </p:cBhvr>
                                      <p:to>
                                        <p:strVal val="visible"/>
                                      </p:to>
                                    </p:set>
                                    <p:animEffect transition="in" filter="fade">
                                      <p:cBhvr>
                                        <p:cTn id="120" dur="400"/>
                                        <p:tgtEl>
                                          <p:spTgt spid="37"/>
                                        </p:tgtEl>
                                      </p:cBhvr>
                                    </p:animEffect>
                                  </p:childTnLst>
                                </p:cTn>
                              </p:par>
                              <p:par>
                                <p:cTn id="124" presetID="10" presetClass="entr" presetSubtype="0" fill="hold" grpId="0" nodeType="withEffect">
                                  <p:stCondLst>
                                    <p:cond delay="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request, and what comes back</a:t>
            </a:r>
            <a:endParaRPr lang="en-US" sz="3800" dirty="0"/>
          </a:p>
        </p:txBody>
      </p:sp>
      <p:sp>
        <p:nvSpPr>
          <p:cNvPr id="5" name="step:1:fade"/>
          <p:cNvSpPr/>
          <p:nvPr/>
        </p:nvSpPr>
        <p:spPr>
          <a:xfrm>
            <a:off x="640080" y="2057400"/>
            <a:ext cx="10881360" cy="4160520"/>
          </a:xfrm>
          <a:prstGeom prst="roundRect">
            <a:avLst>
              <a:gd name="adj" fmla="val 2198"/>
            </a:avLst>
          </a:prstGeom>
          <a:solidFill>
            <a:srgbClr val="F4F5F7"/>
          </a:solidFill>
          <a:ln w="12700">
            <a:solidFill>
              <a:srgbClr val="F4F5F7"/>
            </a:solidFill>
            <a:prstDash val="solid"/>
          </a:ln>
        </p:spPr>
      </p:sp>
      <p:sp>
        <p:nvSpPr>
          <p:cNvPr id="6" name="step:1:fade"/>
          <p:cNvSpPr txBox="1"/>
          <p:nvPr/>
        </p:nvSpPr>
        <p:spPr>
          <a:xfrm>
            <a:off x="868680" y="2240280"/>
            <a:ext cx="10424160" cy="3794760"/>
          </a:xfrm>
          <a:prstGeom prst="rect">
            <a:avLst/>
          </a:prstGeom>
          <a:noFill/>
          <a:ln/>
        </p:spPr>
        <p:txBody>
          <a:bodyPr wrap="square" lIns="0" tIns="0" rIns="0" bIns="0" rtlCol="0" anchor="t"/>
          <a:lstStyle/>
          <a:p>
            <a:pPr indent="0" marL="0">
              <a:lnSpc>
                <a:spcPct val="122000"/>
              </a:lnSpc>
              <a:buNone/>
            </a:pPr>
            <a:r>
              <a:rPr lang="en-US" sz="1200" b="1" dirty="0">
                <a:solidFill>
                  <a:srgbClr val="E4572E"/>
                </a:solidFill>
                <a:latin typeface="Courier New" pitchFamily="34" charset="0"/>
                <a:ea typeface="Courier New" pitchFamily="34" charset="-122"/>
                <a:cs typeface="Courier New" pitchFamily="34" charset="-120"/>
              </a:rPr>
              <a:t>POST /api/serverless/v1/groups/team-a/functions</a:t>
            </a:r>
            <a:endParaRPr lang="en-US" sz="1200" dirty="0"/>
          </a:p>
          <a:p>
            <a:pPr indent="0" marL="0">
              <a:lnSpc>
                <a:spcPct val="122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"name": "billing",  "port": 8080,  "size": "small",</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"gitRepo": "https://git.internal/team-a/billing.git",</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"branch": "main",  "runtime": "python",  "version": "3.12",</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"regions": ["central", "south"],</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"env": [{ "name": "LOG_LEVEL", "value": "info" }]</a:t>
            </a:r>
            <a:endParaRPr lang="en-US" sz="1200" dirty="0"/>
          </a:p>
          <a:p>
            <a:pPr indent="0" marL="0">
              <a:lnSpc>
                <a:spcPct val="122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a:t>
            </a:r>
            <a:endParaRPr lang="en-US" sz="1200" dirty="0"/>
          </a:p>
          <a:p>
            <a:pPr indent="0" marL="0">
              <a:lnSpc>
                <a:spcPct val="122000"/>
              </a:lnSpc>
              <a:buNone/>
            </a:pPr>
            <a:r>
              <a:rPr lang="en-US" sz="1200" b="1" dirty="0">
                <a:solidFill>
                  <a:srgbClr val="E4572E"/>
                </a:solidFill>
                <a:latin typeface="Courier New" pitchFamily="34" charset="0"/>
                <a:ea typeface="Courier New" pitchFamily="34" charset="-122"/>
                <a:cs typeface="Courier New" pitchFamily="34" charset="-120"/>
              </a:rPr>
              <a:t>202 Accepted</a:t>
            </a:r>
            <a:endParaRPr lang="en-US" sz="1200" dirty="0"/>
          </a:p>
          <a:p>
            <a:pPr indent="0" marL="0">
              <a:lnSpc>
                <a:spcPct val="122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"name": "billing",  "status": "Pending",</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"hostname": "billing-team-a.serverless.example",</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"statusUrl": "/groups/team-a/functions/billing",</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"regions": [{ "region": "central", "status": "Pending" },</a:t>
            </a:r>
            <a:endParaRPr lang="en-US" sz="1200" dirty="0"/>
          </a:p>
          <a:p>
            <a:pPr indent="0" marL="0">
              <a:lnSpc>
                <a:spcPct val="122000"/>
              </a:lnSpc>
              <a:buNone/>
            </a:pPr>
            <a:r>
              <a:rPr lang="en-US" sz="1200" dirty="0">
                <a:solidFill>
                  <a:srgbClr val="667085"/>
                </a:solidFill>
                <a:latin typeface="Courier New" pitchFamily="34" charset="0"/>
                <a:ea typeface="Courier New" pitchFamily="34" charset="-122"/>
                <a:cs typeface="Courier New" pitchFamily="34" charset="-120"/>
              </a:rPr>
              <a:t>               { "region": "south",   "status": "Pending" }]</a:t>
            </a:r>
            <a:endParaRPr lang="en-US" sz="1200" dirty="0"/>
          </a:p>
          <a:p>
            <a:pPr indent="0" marL="0">
              <a:lnSpc>
                <a:spcPct val="122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p:txBody>
      </p:sp>
      <p:sp>
        <p:nvSpPr>
          <p:cNvPr id="7" name="Text 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auto:0:wipeL"/>
          <p:cNvSpPr/>
          <p:nvPr/>
        </p:nvSpPr>
        <p:spPr>
          <a:xfrm>
            <a:off x="8599932" y="2506218"/>
            <a:ext cx="539496" cy="0"/>
          </a:xfrm>
          <a:prstGeom prst="line">
            <a:avLst/>
          </a:prstGeom>
          <a:noFill/>
          <a:ln w="15875">
            <a:solidFill>
              <a:srgbClr val="98A2B3"/>
            </a:solidFill>
            <a:prstDash val="solid"/>
            <a:tailEnd type="triangle"/>
          </a:ln>
        </p:spPr>
      </p:sp>
      <p:sp>
        <p:nvSpPr>
          <p:cNvPr id="16" name="auto:1:wipeL"/>
          <p:cNvSpPr/>
          <p:nvPr/>
        </p:nvSpPr>
        <p:spPr>
          <a:xfrm>
            <a:off x="10218420" y="2820924"/>
            <a:ext cx="0" cy="809244"/>
          </a:xfrm>
          <a:prstGeom prst="line">
            <a:avLst/>
          </a:prstGeom>
          <a:noFill/>
          <a:ln w="15875">
            <a:solidFill>
              <a:srgbClr val="98A2B3"/>
            </a:solidFill>
            <a:prstDash val="solid"/>
            <a:tailEnd type="triangle"/>
          </a:ln>
        </p:spPr>
      </p:sp>
      <p:sp>
        <p:nvSpPr>
          <p:cNvPr id="17" name="auto:2:wipeL"/>
          <p:cNvSpPr/>
          <p:nvPr/>
        </p:nvSpPr>
        <p:spPr>
          <a:xfrm flipH="1">
            <a:off x="8599932" y="3944874"/>
            <a:ext cx="539496" cy="0"/>
          </a:xfrm>
          <a:prstGeom prst="line">
            <a:avLst/>
          </a:prstGeom>
          <a:noFill/>
          <a:ln w="15875">
            <a:solidFill>
              <a:srgbClr val="98A2B3"/>
            </a:solidFill>
            <a:prstDash val="solid"/>
            <a:tailEnd type="triangle"/>
          </a:ln>
        </p:spPr>
      </p:sp>
      <p:sp>
        <p:nvSpPr>
          <p:cNvPr id="18" name="auto:3:wipeL"/>
          <p:cNvSpPr/>
          <p:nvPr/>
        </p:nvSpPr>
        <p:spPr>
          <a:xfrm>
            <a:off x="7520940" y="4259580"/>
            <a:ext cx="1348740" cy="719328"/>
          </a:xfrm>
          <a:prstGeom prst="line">
            <a:avLst/>
          </a:prstGeom>
          <a:noFill/>
          <a:ln w="15875">
            <a:solidFill>
              <a:srgbClr val="98A2B3"/>
            </a:solidFill>
            <a:prstDash val="solid"/>
            <a:tailEnd type="triangle"/>
          </a:ln>
        </p:spPr>
      </p:sp>
      <p:sp>
        <p:nvSpPr>
          <p:cNvPr id="19" name="auto:4:wipeD"/>
          <p:cNvSpPr/>
          <p:nvPr/>
        </p:nvSpPr>
        <p:spPr>
          <a:xfrm>
            <a:off x="6441948" y="2191512"/>
            <a:ext cx="2157984" cy="629412"/>
          </a:xfrm>
          <a:prstGeom prst="roundRect">
            <a:avLst>
              <a:gd name="adj" fmla="val 11622"/>
            </a:avLst>
          </a:prstGeom>
          <a:solidFill>
            <a:srgbClr val="FFFFFF"/>
          </a:solidFill>
          <a:ln w="15875">
            <a:solidFill>
              <a:srgbClr val="0B7A75"/>
            </a:solidFill>
            <a:prstDash val="solid"/>
          </a:ln>
        </p:spPr>
      </p:sp>
      <p:sp>
        <p:nvSpPr>
          <p:cNvPr id="20" name="auto:5:wipeD"/>
          <p:cNvSpPr txBox="1"/>
          <p:nvPr/>
        </p:nvSpPr>
        <p:spPr>
          <a:xfrm>
            <a:off x="6441948" y="2191512"/>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auto:6:wipeD"/>
          <p:cNvSpPr/>
          <p:nvPr/>
        </p:nvSpPr>
        <p:spPr>
          <a:xfrm>
            <a:off x="9139428" y="2191512"/>
            <a:ext cx="2157984" cy="629412"/>
          </a:xfrm>
          <a:prstGeom prst="roundRect">
            <a:avLst>
              <a:gd name="adj" fmla="val 11622"/>
            </a:avLst>
          </a:prstGeom>
          <a:solidFill>
            <a:srgbClr val="FFFFFF"/>
          </a:solidFill>
          <a:ln w="22225">
            <a:solidFill>
              <a:srgbClr val="E4572E"/>
            </a:solidFill>
            <a:prstDash val="solid"/>
          </a:ln>
        </p:spPr>
      </p:sp>
      <p:sp>
        <p:nvSpPr>
          <p:cNvPr id="22" name="auto:7:wipeD"/>
          <p:cNvSpPr txBox="1"/>
          <p:nvPr/>
        </p:nvSpPr>
        <p:spPr>
          <a:xfrm>
            <a:off x="9139428" y="2191512"/>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mounts tls.crt + tls.key</a:t>
            </a:r>
            <a:endParaRPr lang="en-US" sz="1200" dirty="0"/>
          </a:p>
        </p:txBody>
      </p:sp>
      <p:sp>
        <p:nvSpPr>
          <p:cNvPr id="23" name="auto:8:wipeD"/>
          <p:cNvSpPr/>
          <p:nvPr/>
        </p:nvSpPr>
        <p:spPr>
          <a:xfrm>
            <a:off x="9139428" y="3630168"/>
            <a:ext cx="2157984" cy="629412"/>
          </a:xfrm>
          <a:prstGeom prst="roundRect">
            <a:avLst>
              <a:gd name="adj" fmla="val 11622"/>
            </a:avLst>
          </a:prstGeom>
          <a:solidFill>
            <a:srgbClr val="FFFFFF"/>
          </a:solidFill>
          <a:ln w="15875">
            <a:solidFill>
              <a:srgbClr val="0B7A75"/>
            </a:solidFill>
            <a:prstDash val="solid"/>
          </a:ln>
        </p:spPr>
      </p:sp>
      <p:sp>
        <p:nvSpPr>
          <p:cNvPr id="24" name="auto:9:wipeD"/>
          <p:cNvSpPr txBox="1"/>
          <p:nvPr/>
        </p:nvSpPr>
        <p:spPr>
          <a:xfrm>
            <a:off x="9139428" y="3630168"/>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auto:10:wipeD"/>
          <p:cNvSpPr/>
          <p:nvPr/>
        </p:nvSpPr>
        <p:spPr>
          <a:xfrm>
            <a:off x="6441948" y="3630168"/>
            <a:ext cx="2157984" cy="629412"/>
          </a:xfrm>
          <a:prstGeom prst="roundRect">
            <a:avLst>
              <a:gd name="adj" fmla="val 11622"/>
            </a:avLst>
          </a:prstGeom>
          <a:solidFill>
            <a:srgbClr val="FFFFFF"/>
          </a:solidFill>
          <a:ln w="15875">
            <a:solidFill>
              <a:srgbClr val="0B7A75"/>
            </a:solidFill>
            <a:prstDash val="solid"/>
          </a:ln>
        </p:spPr>
      </p:sp>
      <p:sp>
        <p:nvSpPr>
          <p:cNvPr id="26" name="auto:11:wipeD"/>
          <p:cNvSpPr txBox="1"/>
          <p:nvPr/>
        </p:nvSpPr>
        <p:spPr>
          <a:xfrm>
            <a:off x="6441948" y="3630168"/>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role in the tenant namespace</a:t>
            </a:r>
            <a:endParaRPr lang="en-US" sz="1200" dirty="0"/>
          </a:p>
        </p:txBody>
      </p:sp>
      <p:sp>
        <p:nvSpPr>
          <p:cNvPr id="27" name="auto:12:wipeD"/>
          <p:cNvSpPr/>
          <p:nvPr/>
        </p:nvSpPr>
        <p:spPr>
          <a:xfrm>
            <a:off x="7341108" y="4978908"/>
            <a:ext cx="3057144" cy="557479"/>
          </a:xfrm>
          <a:prstGeom prst="roundRect">
            <a:avLst>
              <a:gd name="adj" fmla="val 13122"/>
            </a:avLst>
          </a:prstGeom>
          <a:solidFill>
            <a:srgbClr val="FFFFFF"/>
          </a:solidFill>
          <a:ln w="15875">
            <a:solidFill>
              <a:srgbClr val="0B7A75"/>
            </a:solidFill>
            <a:prstDash val="solid"/>
          </a:ln>
        </p:spPr>
      </p:sp>
      <p:sp>
        <p:nvSpPr>
          <p:cNvPr id="28" name="auto:13:wipeD"/>
          <p:cNvSpPr txBox="1"/>
          <p:nvPr/>
        </p:nvSpPr>
        <p:spPr>
          <a:xfrm>
            <a:off x="7341108" y="4978908"/>
            <a:ext cx="3057144" cy="557479"/>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workload applied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server-side apply, with force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19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step:6:wipeL"/>
          <p:cNvSpPr/>
          <p:nvPr/>
        </p:nvSpPr>
        <p:spPr>
          <a:xfrm flipH="1">
            <a:off x="7520940" y="2641092"/>
            <a:ext cx="1348740" cy="719328"/>
          </a:xfrm>
          <a:prstGeom prst="line">
            <a:avLst/>
          </a:prstGeom>
          <a:noFill/>
          <a:ln w="15875">
            <a:solidFill>
              <a:srgbClr val="98A2B3"/>
            </a:solidFill>
            <a:prstDash val="solid"/>
            <a:tailEnd type="triangle"/>
          </a:ln>
        </p:spPr>
      </p:sp>
      <p:sp>
        <p:nvSpPr>
          <p:cNvPr id="16" name="step:6:wipeL"/>
          <p:cNvSpPr/>
          <p:nvPr/>
        </p:nvSpPr>
        <p:spPr>
          <a:xfrm>
            <a:off x="8869680" y="2641092"/>
            <a:ext cx="1348740" cy="719328"/>
          </a:xfrm>
          <a:prstGeom prst="line">
            <a:avLst/>
          </a:prstGeom>
          <a:noFill/>
          <a:ln w="15875">
            <a:solidFill>
              <a:srgbClr val="98A2B3"/>
            </a:solidFill>
            <a:prstDash val="solid"/>
            <a:tailEnd type="triangle"/>
          </a:ln>
        </p:spPr>
      </p:sp>
      <p:sp>
        <p:nvSpPr>
          <p:cNvPr id="17" name="step:6:wipeL"/>
          <p:cNvSpPr/>
          <p:nvPr/>
        </p:nvSpPr>
        <p:spPr>
          <a:xfrm>
            <a:off x="8689848" y="3899916"/>
            <a:ext cx="359664" cy="0"/>
          </a:xfrm>
          <a:prstGeom prst="line">
            <a:avLst/>
          </a:prstGeom>
          <a:noFill/>
          <a:ln w="15875">
            <a:solidFill>
              <a:srgbClr val="98A2B3"/>
            </a:solidFill>
            <a:prstDash val="dash"/>
            <a:tailEnd type="triangle"/>
          </a:ln>
        </p:spPr>
      </p:sp>
      <p:sp>
        <p:nvSpPr>
          <p:cNvPr id="18" name="step:6:wipeL"/>
          <p:cNvSpPr/>
          <p:nvPr/>
        </p:nvSpPr>
        <p:spPr>
          <a:xfrm>
            <a:off x="7520940" y="4439412"/>
            <a:ext cx="1348740" cy="629412"/>
          </a:xfrm>
          <a:prstGeom prst="line">
            <a:avLst/>
          </a:prstGeom>
          <a:noFill/>
          <a:ln w="15875">
            <a:solidFill>
              <a:srgbClr val="98A2B3"/>
            </a:solidFill>
            <a:prstDash val="dash"/>
            <a:tailEnd type="triangle"/>
          </a:ln>
        </p:spPr>
      </p:sp>
      <p:sp>
        <p:nvSpPr>
          <p:cNvPr id="19" name="step:6:wipeL"/>
          <p:cNvSpPr/>
          <p:nvPr/>
        </p:nvSpPr>
        <p:spPr>
          <a:xfrm flipH="1">
            <a:off x="8869680" y="4439412"/>
            <a:ext cx="1348740" cy="629412"/>
          </a:xfrm>
          <a:prstGeom prst="line">
            <a:avLst/>
          </a:prstGeom>
          <a:noFill/>
          <a:ln w="15875">
            <a:solidFill>
              <a:srgbClr val="98A2B3"/>
            </a:solidFill>
            <a:prstDash val="dash"/>
            <a:tailEnd type="triangle"/>
          </a:ln>
        </p:spPr>
      </p:sp>
      <p:sp>
        <p:nvSpPr>
          <p:cNvPr id="20" name="step:6:wipeD"/>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step:6:wipeD"/>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step:6:wipeD"/>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step:6:wipeD"/>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step:6:wipeD"/>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step:6:wipeD"/>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step:6:wipeD"/>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step:6:wipeD"/>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82" fill="hold">
                      <p:stCondLst>
                        <p:cond delay="indefinite"/>
                      </p:stCondLst>
                      <p:childTnLst>
                        <p:par>
                          <p:cTn id="83"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350"/>
                                        <p:tgtEl>
                                          <p:spTgt spid="15"/>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left)">
                                      <p:cBhvr>
                                        <p:cTn id="47" dur="350"/>
                                        <p:tgtEl>
                                          <p:spTgt spid="16"/>
                                        </p:tgtEl>
                                      </p:cBhvr>
                                    </p:animEffect>
                                  </p:childTnLst>
                                </p:cTn>
                              </p:par>
                              <p:par>
                                <p:cTn id="51" presetID="22" presetClass="entr" presetSubtype="8"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left)">
                                      <p:cBhvr>
                                        <p:cTn id="50" dur="350"/>
                                        <p:tgtEl>
                                          <p:spTgt spid="17"/>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wipe(left)">
                                      <p:cBhvr>
                                        <p:cTn id="53" dur="350"/>
                                        <p:tgtEl>
                                          <p:spTgt spid="18"/>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wipe(left)">
                                      <p:cBhvr>
                                        <p:cTn id="56" dur="350"/>
                                        <p:tgtEl>
                                          <p:spTgt spid="19"/>
                                        </p:tgtEl>
                                      </p:cBhvr>
                                    </p:animEffect>
                                  </p:childTnLst>
                                </p:cTn>
                              </p:par>
                              <p:par>
                                <p:cTn id="60" presetID="22" presetClass="entr" presetSubtype="4"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down)">
                                      <p:cBhvr>
                                        <p:cTn id="59" dur="350"/>
                                        <p:tgtEl>
                                          <p:spTgt spid="20"/>
                                        </p:tgtEl>
                                      </p:cBhvr>
                                    </p:animEffect>
                                  </p:childTnLst>
                                </p:cTn>
                              </p:par>
                              <p:par>
                                <p:cTn id="63" presetID="22" presetClass="entr" presetSubtype="4"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down)">
                                      <p:cBhvr>
                                        <p:cTn id="62" dur="350"/>
                                        <p:tgtEl>
                                          <p:spTgt spid="21"/>
                                        </p:tgtEl>
                                      </p:cBhvr>
                                    </p:animEffect>
                                  </p:childTnLst>
                                </p:cTn>
                              </p:par>
                              <p:par>
                                <p:cTn id="66" presetID="22" presetClass="entr" presetSubtype="4"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down)">
                                      <p:cBhvr>
                                        <p:cTn id="65" dur="350"/>
                                        <p:tgtEl>
                                          <p:spTgt spid="22"/>
                                        </p:tgtEl>
                                      </p:cBhvr>
                                    </p:animEffect>
                                  </p:childTnLst>
                                </p:cTn>
                              </p:par>
                              <p:par>
                                <p:cTn id="69" presetID="22" presetClass="entr" presetSubtype="4"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down)">
                                      <p:cBhvr>
                                        <p:cTn id="68" dur="350"/>
                                        <p:tgtEl>
                                          <p:spTgt spid="23"/>
                                        </p:tgtEl>
                                      </p:cBhvr>
                                    </p:animEffect>
                                  </p:childTnLst>
                                </p:cTn>
                              </p:par>
                              <p:par>
                                <p:cTn id="72" presetID="22" presetClass="entr" presetSubtype="4"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wipe(down)">
                                      <p:cBhvr>
                                        <p:cTn id="71" dur="350"/>
                                        <p:tgtEl>
                                          <p:spTgt spid="24"/>
                                        </p:tgtEl>
                                      </p:cBhvr>
                                    </p:animEffect>
                                  </p:childTnLst>
                                </p:cTn>
                              </p:par>
                              <p:par>
                                <p:cTn id="75" presetID="22" presetClass="entr" presetSubtype="4"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wipe(down)">
                                      <p:cBhvr>
                                        <p:cTn id="74" dur="350"/>
                                        <p:tgtEl>
                                          <p:spTgt spid="25"/>
                                        </p:tgtEl>
                                      </p:cBhvr>
                                    </p:animEffect>
                                  </p:childTnLst>
                                </p:cTn>
                              </p:par>
                              <p:par>
                                <p:cTn id="78" presetID="22" presetClass="entr" presetSubtype="4"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wipe(down)">
                                      <p:cBhvr>
                                        <p:cTn id="77" dur="350"/>
                                        <p:tgtEl>
                                          <p:spTgt spid="26"/>
                                        </p:tgtEl>
                                      </p:cBhvr>
                                    </p:animEffect>
                                  </p:childTnLst>
                                </p:cTn>
                              </p:par>
                              <p:par>
                                <p:cTn id="81" presetID="22" presetClass="entr" presetSubtype="4"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wipe(down)">
                                      <p:cBhvr>
                                        <p:cTn id="80"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auto:0:wipeL"/>
          <p:cNvSpPr/>
          <p:nvPr/>
        </p:nvSpPr>
        <p:spPr>
          <a:xfrm>
            <a:off x="8330184" y="2578151"/>
            <a:ext cx="899160" cy="0"/>
          </a:xfrm>
          <a:prstGeom prst="line">
            <a:avLst/>
          </a:prstGeom>
          <a:noFill/>
          <a:ln w="15875">
            <a:solidFill>
              <a:srgbClr val="98A2B3"/>
            </a:solidFill>
            <a:prstDash val="solid"/>
            <a:tailEnd type="triangle"/>
          </a:ln>
        </p:spPr>
      </p:sp>
      <p:sp>
        <p:nvSpPr>
          <p:cNvPr id="18" name="auto:1:wipeL"/>
          <p:cNvSpPr/>
          <p:nvPr/>
        </p:nvSpPr>
        <p:spPr>
          <a:xfrm flipH="1">
            <a:off x="7520940" y="2874874"/>
            <a:ext cx="2787396" cy="935126"/>
          </a:xfrm>
          <a:prstGeom prst="line">
            <a:avLst/>
          </a:prstGeom>
          <a:noFill/>
          <a:ln w="15875">
            <a:solidFill>
              <a:srgbClr val="98A2B3"/>
            </a:solidFill>
            <a:prstDash val="solid"/>
            <a:tailEnd type="triangle"/>
          </a:ln>
        </p:spPr>
      </p:sp>
      <p:sp>
        <p:nvSpPr>
          <p:cNvPr id="19" name="auto:2:wipeL"/>
          <p:cNvSpPr/>
          <p:nvPr/>
        </p:nvSpPr>
        <p:spPr>
          <a:xfrm flipH="1">
            <a:off x="10218420" y="2874874"/>
            <a:ext cx="89916" cy="935126"/>
          </a:xfrm>
          <a:prstGeom prst="line">
            <a:avLst/>
          </a:prstGeom>
          <a:noFill/>
          <a:ln w="15875">
            <a:solidFill>
              <a:srgbClr val="98A2B3"/>
            </a:solidFill>
            <a:prstDash val="solid"/>
            <a:tailEnd type="triangle"/>
          </a:ln>
        </p:spPr>
      </p:sp>
      <p:sp>
        <p:nvSpPr>
          <p:cNvPr id="20" name="auto:3:wipeL"/>
          <p:cNvSpPr/>
          <p:nvPr/>
        </p:nvSpPr>
        <p:spPr>
          <a:xfrm flipV="1">
            <a:off x="8869680" y="2874874"/>
            <a:ext cx="1438656" cy="2193950"/>
          </a:xfrm>
          <a:prstGeom prst="line">
            <a:avLst/>
          </a:prstGeom>
          <a:noFill/>
          <a:ln w="15875">
            <a:solidFill>
              <a:srgbClr val="98A2B3"/>
            </a:solidFill>
            <a:prstDash val="dash"/>
            <a:tailEnd type="triangle"/>
          </a:ln>
        </p:spPr>
      </p:sp>
      <p:sp>
        <p:nvSpPr>
          <p:cNvPr id="21" name="auto:4:wipeD"/>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auto:5:wipeD"/>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auto:6:wipeD"/>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auto:7:wipeD"/>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auto:8:wipeD"/>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auto:9:wipeD"/>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auto:10:wipeD"/>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auto:11:wipeD"/>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auto:12:wipeD"/>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auto:13:wipeD"/>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15"/>
                                        </p:tgtEl>
                                        <p:attrNameLst>
                                          <p:attrName>style.visibility</p:attrName>
                                        </p:attrNameLst>
                                      </p:cBhvr>
                                      <p:to>
                                        <p:strVal val="visible"/>
                                      </p:to>
                                    </p:set>
                                    <p:animEffect transition="in" filter="wipe(left)">
                                      <p:cBhvr>
                                        <p:cTn id="88" dur="350"/>
                                        <p:tgtEl>
                                          <p:spTgt spid="15"/>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wipe(left)">
                                      <p:cBhvr>
                                        <p:cTn id="91"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22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a function needs a build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cluster cannot run a repository</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Kubernetes only ever starts images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Someone must turn source into an image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That step is the build</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For containers, the user already did it</a:t>
            </a:r>
            <a:endParaRPr lang="en-US" sz="1900" dirty="0"/>
          </a:p>
        </p:txBody>
      </p:sp>
      <p:sp>
        <p:nvSpPr>
          <p:cNvPr id="15" name="step:2:wipeL"/>
          <p:cNvSpPr/>
          <p:nvPr/>
        </p:nvSpPr>
        <p:spPr>
          <a:xfrm>
            <a:off x="7970520" y="2686050"/>
            <a:ext cx="359664" cy="0"/>
          </a:xfrm>
          <a:prstGeom prst="line">
            <a:avLst/>
          </a:prstGeom>
          <a:noFill/>
          <a:ln w="15875">
            <a:solidFill>
              <a:srgbClr val="98A2B3"/>
            </a:solidFill>
            <a:prstDash val="solid"/>
            <a:tailEnd type="triangle"/>
          </a:ln>
        </p:spPr>
      </p:sp>
      <p:sp>
        <p:nvSpPr>
          <p:cNvPr id="16" name="step:3:wipeL"/>
          <p:cNvSpPr/>
          <p:nvPr/>
        </p:nvSpPr>
        <p:spPr>
          <a:xfrm>
            <a:off x="9589008" y="2686050"/>
            <a:ext cx="359664" cy="0"/>
          </a:xfrm>
          <a:prstGeom prst="line">
            <a:avLst/>
          </a:prstGeom>
          <a:noFill/>
          <a:ln w="15875">
            <a:solidFill>
              <a:srgbClr val="98A2B3"/>
            </a:solidFill>
            <a:prstDash val="solid"/>
            <a:tailEnd type="triangle"/>
          </a:ln>
        </p:spPr>
      </p:sp>
      <p:sp>
        <p:nvSpPr>
          <p:cNvPr id="17" name="step:4:wipeL"/>
          <p:cNvSpPr/>
          <p:nvPr/>
        </p:nvSpPr>
        <p:spPr>
          <a:xfrm flipV="1">
            <a:off x="8779764" y="3000756"/>
            <a:ext cx="179832" cy="1258824"/>
          </a:xfrm>
          <a:prstGeom prst="line">
            <a:avLst/>
          </a:prstGeom>
          <a:noFill/>
          <a:ln w="15875">
            <a:solidFill>
              <a:srgbClr val="98A2B3"/>
            </a:solidFill>
            <a:prstDash val="dash"/>
            <a:tailEnd type="triangle"/>
          </a:ln>
        </p:spPr>
      </p:sp>
      <p:sp>
        <p:nvSpPr>
          <p:cNvPr id="18" name="step:5:wipeL"/>
          <p:cNvSpPr/>
          <p:nvPr/>
        </p:nvSpPr>
        <p:spPr>
          <a:xfrm flipV="1">
            <a:off x="10668000" y="3000756"/>
            <a:ext cx="0" cy="1258824"/>
          </a:xfrm>
          <a:prstGeom prst="line">
            <a:avLst/>
          </a:prstGeom>
          <a:noFill/>
          <a:ln w="15875">
            <a:solidFill>
              <a:srgbClr val="98A2B3"/>
            </a:solidFill>
            <a:prstDash val="dash"/>
            <a:tailEnd type="triangle"/>
          </a:ln>
        </p:spPr>
      </p:sp>
      <p:sp>
        <p:nvSpPr>
          <p:cNvPr id="19" name="step:1:wipeD"/>
          <p:cNvSpPr/>
          <p:nvPr/>
        </p:nvSpPr>
        <p:spPr>
          <a:xfrm>
            <a:off x="6352032" y="2371344"/>
            <a:ext cx="1618488" cy="629412"/>
          </a:xfrm>
          <a:prstGeom prst="roundRect">
            <a:avLst>
              <a:gd name="adj" fmla="val 11622"/>
            </a:avLst>
          </a:prstGeom>
          <a:solidFill>
            <a:srgbClr val="FFFFFF"/>
          </a:solidFill>
          <a:ln w="15875">
            <a:solidFill>
              <a:srgbClr val="0B7A75"/>
            </a:solidFill>
            <a:prstDash val="solid"/>
          </a:ln>
        </p:spPr>
      </p:sp>
      <p:sp>
        <p:nvSpPr>
          <p:cNvPr id="20" name="step:1:wipeD"/>
          <p:cNvSpPr txBox="1"/>
          <p:nvPr/>
        </p:nvSpPr>
        <p:spPr>
          <a:xfrm>
            <a:off x="6352032" y="2371344"/>
            <a:ext cx="1618488"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your source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 git repository</a:t>
            </a:r>
            <a:endParaRPr lang="en-US" sz="1200" dirty="0"/>
          </a:p>
        </p:txBody>
      </p:sp>
      <p:sp>
        <p:nvSpPr>
          <p:cNvPr id="21" name="step:2:wipeD"/>
          <p:cNvSpPr/>
          <p:nvPr/>
        </p:nvSpPr>
        <p:spPr>
          <a:xfrm>
            <a:off x="8330184" y="2371344"/>
            <a:ext cx="1258824" cy="629412"/>
          </a:xfrm>
          <a:prstGeom prst="roundRect">
            <a:avLst>
              <a:gd name="adj" fmla="val 11622"/>
            </a:avLst>
          </a:prstGeom>
          <a:solidFill>
            <a:srgbClr val="FFFFFF"/>
          </a:solidFill>
          <a:ln w="22225">
            <a:solidFill>
              <a:srgbClr val="E4572E"/>
            </a:solidFill>
            <a:prstDash val="solid"/>
          </a:ln>
        </p:spPr>
      </p:sp>
      <p:sp>
        <p:nvSpPr>
          <p:cNvPr id="22" name="step:2:wipeD"/>
          <p:cNvSpPr txBox="1"/>
          <p:nvPr/>
        </p:nvSpPr>
        <p:spPr>
          <a:xfrm>
            <a:off x="8330184" y="2371344"/>
            <a:ext cx="125882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missing step</a:t>
            </a:r>
            <a:endParaRPr lang="en-US" sz="1200" dirty="0"/>
          </a:p>
        </p:txBody>
      </p:sp>
      <p:sp>
        <p:nvSpPr>
          <p:cNvPr id="23" name="step:3:wipeD"/>
          <p:cNvSpPr/>
          <p:nvPr/>
        </p:nvSpPr>
        <p:spPr>
          <a:xfrm>
            <a:off x="9948672" y="2371344"/>
            <a:ext cx="1438656" cy="629412"/>
          </a:xfrm>
          <a:prstGeom prst="roundRect">
            <a:avLst>
              <a:gd name="adj" fmla="val 11622"/>
            </a:avLst>
          </a:prstGeom>
          <a:solidFill>
            <a:srgbClr val="FFFFFF"/>
          </a:solidFill>
          <a:ln w="15875">
            <a:solidFill>
              <a:srgbClr val="0B7A75"/>
            </a:solidFill>
            <a:prstDash val="solid"/>
          </a:ln>
        </p:spPr>
      </p:sp>
      <p:sp>
        <p:nvSpPr>
          <p:cNvPr id="24" name="step:3:wipeD"/>
          <p:cNvSpPr txBox="1"/>
          <p:nvPr/>
        </p:nvSpPr>
        <p:spPr>
          <a:xfrm>
            <a:off x="9948672" y="237134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an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what a pod runs</a:t>
            </a:r>
            <a:endParaRPr lang="en-US" sz="1200" dirty="0"/>
          </a:p>
        </p:txBody>
      </p:sp>
      <p:sp>
        <p:nvSpPr>
          <p:cNvPr id="25" name="step:4:wipeD"/>
          <p:cNvSpPr/>
          <p:nvPr/>
        </p:nvSpPr>
        <p:spPr>
          <a:xfrm>
            <a:off x="7880604" y="4259580"/>
            <a:ext cx="1798320" cy="701345"/>
          </a:xfrm>
          <a:prstGeom prst="roundRect">
            <a:avLst>
              <a:gd name="adj" fmla="val 10430"/>
            </a:avLst>
          </a:prstGeom>
          <a:solidFill>
            <a:srgbClr val="FFFFFF"/>
          </a:solidFill>
          <a:ln w="22225">
            <a:solidFill>
              <a:srgbClr val="E4572E"/>
            </a:solidFill>
            <a:prstDash val="solid"/>
          </a:ln>
        </p:spPr>
      </p:sp>
      <p:sp>
        <p:nvSpPr>
          <p:cNvPr id="26" name="step:4:wipeD"/>
          <p:cNvSpPr txBox="1"/>
          <p:nvPr/>
        </p:nvSpPr>
        <p:spPr>
          <a:xfrm>
            <a:off x="7880604" y="4259580"/>
            <a:ext cx="1798320" cy="701345"/>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function offering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we build the image</a:t>
            </a:r>
            <a:endParaRPr lang="en-US" sz="1200" dirty="0"/>
          </a:p>
        </p:txBody>
      </p:sp>
      <p:sp>
        <p:nvSpPr>
          <p:cNvPr id="27" name="step:5:wipeD"/>
          <p:cNvSpPr/>
          <p:nvPr/>
        </p:nvSpPr>
        <p:spPr>
          <a:xfrm>
            <a:off x="9858756" y="4259580"/>
            <a:ext cx="1618488" cy="701345"/>
          </a:xfrm>
          <a:prstGeom prst="roundRect">
            <a:avLst>
              <a:gd name="adj" fmla="val 10430"/>
            </a:avLst>
          </a:prstGeom>
          <a:solidFill>
            <a:srgbClr val="FFFFFF"/>
          </a:solidFill>
          <a:ln w="15875">
            <a:solidFill>
              <a:srgbClr val="0B7A75"/>
            </a:solidFill>
            <a:prstDash val="solid"/>
          </a:ln>
        </p:spPr>
      </p:sp>
      <p:sp>
        <p:nvSpPr>
          <p:cNvPr id="28" name="step:5:wipeD"/>
          <p:cNvSpPr txBox="1"/>
          <p:nvPr/>
        </p:nvSpPr>
        <p:spPr>
          <a:xfrm>
            <a:off x="9858756" y="4259580"/>
            <a:ext cx="1618488" cy="701345"/>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container offering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you bring the image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open standard, not a Dockerfile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Detection reads your source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same base image for everyone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Rebase swaps that base, no rebuild</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Paketo is the family we mirror</a:t>
            </a:r>
            <a:endParaRPr lang="en-US" sz="1900" dirty="0"/>
          </a:p>
        </p:txBody>
      </p:sp>
      <p:sp>
        <p:nvSpPr>
          <p:cNvPr id="15" name="Shape 12"/>
          <p:cNvSpPr/>
          <p:nvPr/>
        </p:nvSpPr>
        <p:spPr>
          <a:xfrm>
            <a:off x="9281160" y="2514600"/>
            <a:ext cx="2286000" cy="2560320"/>
          </a:xfrm>
          <a:prstGeom prst="rect">
            <a:avLst/>
          </a:prstGeom>
          <a:solidFill>
            <a:srgbClr val="E3F1F0"/>
          </a:solidFill>
          <a:ln w="12700">
            <a:solidFill>
              <a:srgbClr val="E3F1F0"/>
            </a:solidFill>
            <a:prstDash val="solid"/>
          </a:ln>
        </p:spPr>
      </p:sp>
      <p:sp>
        <p:nvSpPr>
          <p:cNvPr id="16" name="Text 13"/>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DOCKERFILE</a:t>
            </a:r>
            <a:endParaRPr lang="en-US" sz="900" dirty="0"/>
          </a:p>
        </p:txBody>
      </p:sp>
      <p:sp>
        <p:nvSpPr>
          <p:cNvPr id="17" name="Text 14"/>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BUILDPACKS</a:t>
            </a:r>
            <a:endParaRPr lang="en-US" sz="900" dirty="0"/>
          </a:p>
        </p:txBody>
      </p:sp>
      <p:sp>
        <p:nvSpPr>
          <p:cNvPr id="18" name="step:6: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Who writes it</a:t>
            </a:r>
            <a:endParaRPr lang="en-US" sz="1250" dirty="0"/>
          </a:p>
        </p:txBody>
      </p:sp>
      <p:sp>
        <p:nvSpPr>
          <p:cNvPr id="19" name="step:6: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Every team, again</a:t>
            </a:r>
            <a:endParaRPr lang="en-US" sz="1250" dirty="0"/>
          </a:p>
        </p:txBody>
      </p:sp>
      <p:sp>
        <p:nvSpPr>
          <p:cNvPr id="20" name="step:6: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Nobody</a:t>
            </a:r>
            <a:endParaRPr lang="en-US" sz="1250" dirty="0"/>
          </a:p>
        </p:txBody>
      </p:sp>
      <p:sp>
        <p:nvSpPr>
          <p:cNvPr id="21" name="step:7: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Base image</a:t>
            </a:r>
            <a:endParaRPr lang="en-US" sz="1250" dirty="0"/>
          </a:p>
        </p:txBody>
      </p:sp>
      <p:sp>
        <p:nvSpPr>
          <p:cNvPr id="22" name="step:7: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Whatever was pinned</a:t>
            </a:r>
            <a:endParaRPr lang="en-US" sz="1250" dirty="0"/>
          </a:p>
        </p:txBody>
      </p:sp>
      <p:sp>
        <p:nvSpPr>
          <p:cNvPr id="23" name="step:7: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One curated stack</a:t>
            </a:r>
            <a:endParaRPr lang="en-US" sz="1250" dirty="0"/>
          </a:p>
        </p:txBody>
      </p:sp>
      <p:sp>
        <p:nvSpPr>
          <p:cNvPr id="24" name="step:7:wipeL"/>
          <p:cNvSpPr/>
          <p:nvPr/>
        </p:nvSpPr>
        <p:spPr>
          <a:xfrm>
            <a:off x="6172200" y="3063240"/>
            <a:ext cx="5394960" cy="0"/>
          </a:xfrm>
          <a:prstGeom prst="line">
            <a:avLst/>
          </a:prstGeom>
          <a:noFill/>
          <a:ln w="6350">
            <a:solidFill>
              <a:srgbClr val="E4E7EC"/>
            </a:solidFill>
            <a:prstDash val="solid"/>
          </a:ln>
        </p:spPr>
      </p:sp>
      <p:sp>
        <p:nvSpPr>
          <p:cNvPr id="25" name="step:8: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Language setup</a:t>
            </a:r>
            <a:endParaRPr lang="en-US" sz="1250" dirty="0"/>
          </a:p>
        </p:txBody>
      </p:sp>
      <p:sp>
        <p:nvSpPr>
          <p:cNvPr id="26" name="step:8: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Copied between repos</a:t>
            </a:r>
            <a:endParaRPr lang="en-US" sz="1250" dirty="0"/>
          </a:p>
        </p:txBody>
      </p:sp>
      <p:sp>
        <p:nvSpPr>
          <p:cNvPr id="27" name="step:8: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Detected from source</a:t>
            </a:r>
            <a:endParaRPr lang="en-US" sz="1250" dirty="0"/>
          </a:p>
        </p:txBody>
      </p:sp>
      <p:sp>
        <p:nvSpPr>
          <p:cNvPr id="28" name="step:8:wipeL"/>
          <p:cNvSpPr/>
          <p:nvPr/>
        </p:nvSpPr>
        <p:spPr>
          <a:xfrm>
            <a:off x="6172200" y="3566160"/>
            <a:ext cx="5394960" cy="0"/>
          </a:xfrm>
          <a:prstGeom prst="line">
            <a:avLst/>
          </a:prstGeom>
          <a:noFill/>
          <a:ln w="6350">
            <a:solidFill>
              <a:srgbClr val="E4E7EC"/>
            </a:solidFill>
            <a:prstDash val="solid"/>
          </a:ln>
        </p:spPr>
      </p:sp>
      <p:sp>
        <p:nvSpPr>
          <p:cNvPr id="29" name="step:9: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Patching the base</a:t>
            </a:r>
            <a:endParaRPr lang="en-US" sz="1250" dirty="0"/>
          </a:p>
        </p:txBody>
      </p:sp>
      <p:sp>
        <p:nvSpPr>
          <p:cNvPr id="30" name="step:9: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Rebuild and hope</a:t>
            </a:r>
            <a:endParaRPr lang="en-US" sz="1250" dirty="0"/>
          </a:p>
        </p:txBody>
      </p:sp>
      <p:sp>
        <p:nvSpPr>
          <p:cNvPr id="31" name="step:9: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Rebase, in seconds</a:t>
            </a:r>
            <a:endParaRPr lang="en-US" sz="1250" dirty="0"/>
          </a:p>
        </p:txBody>
      </p:sp>
      <p:sp>
        <p:nvSpPr>
          <p:cNvPr id="32" name="step:9:wipeL"/>
          <p:cNvSpPr/>
          <p:nvPr/>
        </p:nvSpPr>
        <p:spPr>
          <a:xfrm>
            <a:off x="6172200" y="4069080"/>
            <a:ext cx="5394960" cy="0"/>
          </a:xfrm>
          <a:prstGeom prst="line">
            <a:avLst/>
          </a:prstGeom>
          <a:noFill/>
          <a:ln w="6350">
            <a:solidFill>
              <a:srgbClr val="E4E7EC"/>
            </a:solidFill>
            <a:prstDash val="solid"/>
          </a:ln>
        </p:spPr>
      </p:sp>
      <p:sp>
        <p:nvSpPr>
          <p:cNvPr id="33" name="step:10: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Consistency</a:t>
            </a:r>
            <a:endParaRPr lang="en-US" sz="1250" dirty="0"/>
          </a:p>
        </p:txBody>
      </p:sp>
      <p:sp>
        <p:nvSpPr>
          <p:cNvPr id="34" name="step:10: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Per repository</a:t>
            </a:r>
            <a:endParaRPr lang="en-US" sz="1250" dirty="0"/>
          </a:p>
        </p:txBody>
      </p:sp>
      <p:sp>
        <p:nvSpPr>
          <p:cNvPr id="35" name="step:10: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Platform-wide</a:t>
            </a:r>
            <a:endParaRPr lang="en-US" sz="1250" dirty="0"/>
          </a:p>
        </p:txBody>
      </p:sp>
      <p:sp>
        <p:nvSpPr>
          <p:cNvPr id="36" name="step:10:wipeL"/>
          <p:cNvSpPr/>
          <p:nvPr/>
        </p:nvSpPr>
        <p:spPr>
          <a:xfrm>
            <a:off x="6172200" y="4572000"/>
            <a:ext cx="5394960" cy="0"/>
          </a:xfrm>
          <a:prstGeom prst="line">
            <a:avLst/>
          </a:prstGeom>
          <a:noFill/>
          <a:ln w="6350">
            <a:solidFill>
              <a:srgbClr val="E4E7EC"/>
            </a:solidFill>
            <a:prstDash val="solid"/>
          </a:ln>
        </p:spPr>
      </p:sp>
      <p:sp>
        <p:nvSpPr>
          <p:cNvPr id="37" name="Text 3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24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52" fill="hold">
                      <p:stCondLst>
                        <p:cond delay="indefinite"/>
                      </p:stCondLst>
                      <p:childTnLst>
                        <p:par>
                          <p:cTn id="53"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wipe(left)">
                                      <p:cBhvr>
                                        <p:cTn id="44" dur="350"/>
                                        <p:tgtEl>
                                          <p:spTgt spid="18"/>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left)">
                                      <p:cBhvr>
                                        <p:cTn id="47" dur="350"/>
                                        <p:tgtEl>
                                          <p:spTgt spid="19"/>
                                        </p:tgtEl>
                                      </p:cBhvr>
                                    </p:animEffect>
                                  </p:childTnLst>
                                </p:cTn>
                              </p:par>
                              <p:par>
                                <p:cTn id="51" presetID="22" presetClass="entr" presetSubtype="8"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350"/>
                                        <p:tgtEl>
                                          <p:spTgt spid="20"/>
                                        </p:tgtEl>
                                      </p:cBhvr>
                                    </p:animEffect>
                                  </p:childTnLst>
                                </p:cTn>
                              </p:par>
                            </p:childTnLst>
                          </p:cTn>
                        </p:par>
                      </p:childTnLst>
                    </p:cTn>
                  </p:par>
                  <p:par>
                    <p:cTn id="66" fill="hold">
                      <p:stCondLst>
                        <p:cond delay="indefinite"/>
                      </p:stCondLst>
                      <p:childTnLst>
                        <p:par>
                          <p:cTn id="67" fill="hold">
                            <p:stCondLst>
                              <p:cond delay="0"/>
                            </p:stCondLst>
                            <p:childTnLst>
                              <p:par>
                                <p:cTn id="56" presetID="2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350"/>
                                        <p:tgtEl>
                                          <p:spTgt spid="21"/>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left)">
                                      <p:cBhvr>
                                        <p:cTn id="58" dur="350"/>
                                        <p:tgtEl>
                                          <p:spTgt spid="22"/>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wipe(left)">
                                      <p:cBhvr>
                                        <p:cTn id="61" dur="350"/>
                                        <p:tgtEl>
                                          <p:spTgt spid="23"/>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wipe(left)">
                                      <p:cBhvr>
                                        <p:cTn id="64" dur="350"/>
                                        <p:tgtEl>
                                          <p:spTgt spid="24"/>
                                        </p:tgtEl>
                                      </p:cBhvr>
                                    </p:animEffect>
                                  </p:childTnLst>
                                </p:cTn>
                              </p:par>
                            </p:childTnLst>
                          </p:cTn>
                        </p:par>
                      </p:childTnLst>
                    </p:cTn>
                  </p:par>
                  <p:par>
                    <p:cTn id="80" fill="hold">
                      <p:stCondLst>
                        <p:cond delay="indefinite"/>
                      </p:stCondLst>
                      <p:childTnLst>
                        <p:par>
                          <p:cTn id="81"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25"/>
                                        </p:tgtEl>
                                        <p:attrNameLst>
                                          <p:attrName>style.visibility</p:attrName>
                                        </p:attrNameLst>
                                      </p:cBhvr>
                                      <p:to>
                                        <p:strVal val="visible"/>
                                      </p:to>
                                    </p:set>
                                    <p:animEffect transition="in" filter="wipe(left)">
                                      <p:cBhvr>
                                        <p:cTn id="69" dur="350"/>
                                        <p:tgtEl>
                                          <p:spTgt spid="25"/>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wipe(left)">
                                      <p:cBhvr>
                                        <p:cTn id="72" dur="350"/>
                                        <p:tgtEl>
                                          <p:spTgt spid="26"/>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wipe(left)">
                                      <p:cBhvr>
                                        <p:cTn id="75" dur="350"/>
                                        <p:tgtEl>
                                          <p:spTgt spid="27"/>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wipe(left)">
                                      <p:cBhvr>
                                        <p:cTn id="78" dur="350"/>
                                        <p:tgtEl>
                                          <p:spTgt spid="28"/>
                                        </p:tgtEl>
                                      </p:cBhvr>
                                    </p:animEffect>
                                  </p:childTnLst>
                                </p:cTn>
                              </p:par>
                            </p:childTnLst>
                          </p:cTn>
                        </p:par>
                      </p:childTnLst>
                    </p:cTn>
                  </p:par>
                  <p:par>
                    <p:cTn id="94" fill="hold">
                      <p:stCondLst>
                        <p:cond delay="indefinite"/>
                      </p:stCondLst>
                      <p:childTnLst>
                        <p:par>
                          <p:cTn id="95"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wipe(left)">
                                      <p:cBhvr>
                                        <p:cTn id="83" dur="350"/>
                                        <p:tgtEl>
                                          <p:spTgt spid="29"/>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wipe(left)">
                                      <p:cBhvr>
                                        <p:cTn id="86" dur="350"/>
                                        <p:tgtEl>
                                          <p:spTgt spid="30"/>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wipe(left)">
                                      <p:cBhvr>
                                        <p:cTn id="89" dur="350"/>
                                        <p:tgtEl>
                                          <p:spTgt spid="31"/>
                                        </p:tgtEl>
                                      </p:cBhvr>
                                    </p:animEffect>
                                  </p:childTnLst>
                                </p:cTn>
                              </p:par>
                              <p:par>
                                <p:cTn id="93" presetID="22" presetClass="entr" presetSubtype="8"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wipe(left)">
                                      <p:cBhvr>
                                        <p:cTn id="92" dur="350"/>
                                        <p:tgtEl>
                                          <p:spTgt spid="32"/>
                                        </p:tgtEl>
                                      </p:cBhvr>
                                    </p:animEffect>
                                  </p:childTnLst>
                                </p:cTn>
                              </p:par>
                            </p:childTnLst>
                          </p:cTn>
                        </p:par>
                      </p:childTnLst>
                    </p:cTn>
                  </p:par>
                  <p:par>
                    <p:cTn id="108" fill="hold">
                      <p:stCondLst>
                        <p:cond delay="indefinite"/>
                      </p:stCondLst>
                      <p:childTnLst>
                        <p:par>
                          <p:cTn id="109" fill="hold">
                            <p:stCondLst>
                              <p:cond delay="0"/>
                            </p:stCondLst>
                            <p:childTnLst>
                              <p:par>
                                <p:cTn id="98" presetID="22" presetClass="entr" presetSubtype="8" fill="hold" grpId="0" nodeType="click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wipe(left)">
                                      <p:cBhvr>
                                        <p:cTn id="97" dur="350"/>
                                        <p:tgtEl>
                                          <p:spTgt spid="33"/>
                                        </p:tgtEl>
                                      </p:cBhvr>
                                    </p:animEffect>
                                  </p:childTnLst>
                                </p:cTn>
                              </p:par>
                              <p:par>
                                <p:cTn id="101" presetID="22" presetClass="entr" presetSubtype="8"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350"/>
                                        <p:tgtEl>
                                          <p:spTgt spid="34"/>
                                        </p:tgtEl>
                                      </p:cBhvr>
                                    </p:animEffect>
                                  </p:childTnLst>
                                </p:cTn>
                              </p:par>
                              <p:par>
                                <p:cTn id="104" presetID="22" presetClass="entr" presetSubtype="8"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350"/>
                                        <p:tgtEl>
                                          <p:spTgt spid="35"/>
                                        </p:tgtEl>
                                      </p:cBhvr>
                                    </p:animEffect>
                                  </p:childTnLst>
                                </p:cTn>
                              </p:par>
                              <p:par>
                                <p:cTn id="107" presetID="22" presetClass="entr" presetSubtype="8" fill="hold" grpId="0" nodeType="withEffect">
                                  <p:stCondLst>
                                    <p:cond delay="0"/>
                                  </p:stCondLst>
                                  <p:childTnLst>
                                    <p:set>
                                      <p:cBhvr>
                                        <p:cTn id="105" dur="1" fill="hold">
                                          <p:stCondLst>
                                            <p:cond delay="0"/>
                                          </p:stCondLst>
                                        </p:cTn>
                                        <p:tgtEl>
                                          <p:spTgt spid="36"/>
                                        </p:tgtEl>
                                        <p:attrNameLst>
                                          <p:attrName>style.visibility</p:attrName>
                                        </p:attrNameLst>
                                      </p:cBhvr>
                                      <p:to>
                                        <p:strVal val="visible"/>
                                      </p:to>
                                    </p:set>
                                    <p:animEffect transition="in" filter="wipe(left)">
                                      <p:cBhvr>
                                        <p:cTn id="106" dur="3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kpack: buildpacks on Kubernetes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Buildpacks need something to run them</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kpack runs them as pods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says what to build</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Build is a single attempt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Builder holds stack and buildpacks</a:t>
            </a:r>
            <a:endParaRPr lang="en-US" sz="1900" dirty="0"/>
          </a:p>
        </p:txBody>
      </p:sp>
      <p:sp>
        <p:nvSpPr>
          <p:cNvPr id="15" name="step:2:wipeL"/>
          <p:cNvSpPr/>
          <p:nvPr/>
        </p:nvSpPr>
        <p:spPr>
          <a:xfrm flipH="1">
            <a:off x="7386066" y="2677058"/>
            <a:ext cx="1483614" cy="683362"/>
          </a:xfrm>
          <a:prstGeom prst="line">
            <a:avLst/>
          </a:prstGeom>
          <a:noFill/>
          <a:ln w="15875">
            <a:solidFill>
              <a:srgbClr val="98A2B3"/>
            </a:solidFill>
            <a:prstDash val="solid"/>
            <a:tailEnd type="triangle"/>
          </a:ln>
        </p:spPr>
      </p:sp>
      <p:sp>
        <p:nvSpPr>
          <p:cNvPr id="16" name="step:3:wipeL"/>
          <p:cNvSpPr/>
          <p:nvPr/>
        </p:nvSpPr>
        <p:spPr>
          <a:xfrm>
            <a:off x="8869680" y="2677058"/>
            <a:ext cx="1483614" cy="683362"/>
          </a:xfrm>
          <a:prstGeom prst="line">
            <a:avLst/>
          </a:prstGeom>
          <a:noFill/>
          <a:ln w="15875">
            <a:solidFill>
              <a:srgbClr val="98A2B3"/>
            </a:solidFill>
            <a:prstDash val="solid"/>
            <a:tailEnd type="triangle"/>
          </a:ln>
        </p:spPr>
      </p:sp>
      <p:sp>
        <p:nvSpPr>
          <p:cNvPr id="17" name="step:4:wipeL"/>
          <p:cNvSpPr/>
          <p:nvPr/>
        </p:nvSpPr>
        <p:spPr>
          <a:xfrm>
            <a:off x="10353294" y="3935882"/>
            <a:ext cx="0" cy="773278"/>
          </a:xfrm>
          <a:prstGeom prst="line">
            <a:avLst/>
          </a:prstGeom>
          <a:noFill/>
          <a:ln w="15875">
            <a:solidFill>
              <a:srgbClr val="98A2B3"/>
            </a:solidFill>
            <a:prstDash val="solid"/>
            <a:tailEnd type="triangle"/>
          </a:ln>
        </p:spPr>
      </p:sp>
      <p:sp>
        <p:nvSpPr>
          <p:cNvPr id="18" name="step:5:wipeL"/>
          <p:cNvSpPr/>
          <p:nvPr/>
        </p:nvSpPr>
        <p:spPr>
          <a:xfrm flipV="1">
            <a:off x="8420100" y="3648151"/>
            <a:ext cx="899160" cy="1348740"/>
          </a:xfrm>
          <a:prstGeom prst="line">
            <a:avLst/>
          </a:prstGeom>
          <a:noFill/>
          <a:ln w="15875">
            <a:solidFill>
              <a:srgbClr val="98A2B3"/>
            </a:solidFill>
            <a:prstDash val="dash"/>
            <a:tailEnd type="triangle"/>
          </a:ln>
        </p:spPr>
      </p:sp>
      <p:sp>
        <p:nvSpPr>
          <p:cNvPr id="19" name="step:1:wipeD"/>
          <p:cNvSpPr/>
          <p:nvPr/>
        </p:nvSpPr>
        <p:spPr>
          <a:xfrm>
            <a:off x="7880604" y="2101596"/>
            <a:ext cx="1978152" cy="575462"/>
          </a:xfrm>
          <a:prstGeom prst="roundRect">
            <a:avLst>
              <a:gd name="adj" fmla="val 12712"/>
            </a:avLst>
          </a:prstGeom>
          <a:solidFill>
            <a:srgbClr val="FFFFFF"/>
          </a:solidFill>
          <a:ln w="22225">
            <a:solidFill>
              <a:srgbClr val="E4572E"/>
            </a:solidFill>
            <a:prstDash val="solid"/>
          </a:ln>
        </p:spPr>
      </p:sp>
      <p:sp>
        <p:nvSpPr>
          <p:cNvPr id="20" name="step:1:wipeD"/>
          <p:cNvSpPr txBox="1"/>
          <p:nvPr/>
        </p:nvSpPr>
        <p:spPr>
          <a:xfrm>
            <a:off x="7880604" y="2101596"/>
            <a:ext cx="1978152"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desired build</a:t>
            </a:r>
            <a:endParaRPr lang="en-US" sz="1200" dirty="0"/>
          </a:p>
        </p:txBody>
      </p:sp>
      <p:sp>
        <p:nvSpPr>
          <p:cNvPr id="21" name="step:2:wipeD"/>
          <p:cNvSpPr/>
          <p:nvPr/>
        </p:nvSpPr>
        <p:spPr>
          <a:xfrm>
            <a:off x="6352032" y="3360420"/>
            <a:ext cx="2068068" cy="575462"/>
          </a:xfrm>
          <a:prstGeom prst="roundRect">
            <a:avLst>
              <a:gd name="adj" fmla="val 12712"/>
            </a:avLst>
          </a:prstGeom>
          <a:solidFill>
            <a:srgbClr val="FFFFFF"/>
          </a:solidFill>
          <a:ln w="15875">
            <a:solidFill>
              <a:srgbClr val="0B7A75"/>
            </a:solidFill>
            <a:prstDash val="solid"/>
          </a:ln>
        </p:spPr>
      </p:sp>
      <p:sp>
        <p:nvSpPr>
          <p:cNvPr id="22" name="step:2:wipeD"/>
          <p:cNvSpPr txBox="1"/>
          <p:nvPr/>
        </p:nvSpPr>
        <p:spPr>
          <a:xfrm>
            <a:off x="6352032" y="3360420"/>
            <a:ext cx="206806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SourceResolver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git ref → commit SHA</a:t>
            </a:r>
            <a:endParaRPr lang="en-US" sz="1200" dirty="0"/>
          </a:p>
        </p:txBody>
      </p:sp>
      <p:sp>
        <p:nvSpPr>
          <p:cNvPr id="23" name="step:3:wipeD"/>
          <p:cNvSpPr/>
          <p:nvPr/>
        </p:nvSpPr>
        <p:spPr>
          <a:xfrm>
            <a:off x="9319260" y="3360420"/>
            <a:ext cx="2068068" cy="575462"/>
          </a:xfrm>
          <a:prstGeom prst="roundRect">
            <a:avLst>
              <a:gd name="adj" fmla="val 12712"/>
            </a:avLst>
          </a:prstGeom>
          <a:solidFill>
            <a:srgbClr val="FFFFFF"/>
          </a:solidFill>
          <a:ln w="15875">
            <a:solidFill>
              <a:srgbClr val="0B7A75"/>
            </a:solidFill>
            <a:prstDash val="solid"/>
          </a:ln>
        </p:spPr>
      </p:sp>
      <p:sp>
        <p:nvSpPr>
          <p:cNvPr id="24" name="step:3:wipeD"/>
          <p:cNvSpPr txBox="1"/>
          <p:nvPr/>
        </p:nvSpPr>
        <p:spPr>
          <a:xfrm>
            <a:off x="9319260" y="3360420"/>
            <a:ext cx="206806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one attempt, numbered</a:t>
            </a:r>
            <a:endParaRPr lang="en-US" sz="1200" dirty="0"/>
          </a:p>
        </p:txBody>
      </p:sp>
      <p:sp>
        <p:nvSpPr>
          <p:cNvPr id="25" name="step:4:wipeD"/>
          <p:cNvSpPr/>
          <p:nvPr/>
        </p:nvSpPr>
        <p:spPr>
          <a:xfrm>
            <a:off x="9319260" y="4709160"/>
            <a:ext cx="2068068" cy="575462"/>
          </a:xfrm>
          <a:prstGeom prst="roundRect">
            <a:avLst>
              <a:gd name="adj" fmla="val 12712"/>
            </a:avLst>
          </a:prstGeom>
          <a:solidFill>
            <a:srgbClr val="FFFFFF"/>
          </a:solidFill>
          <a:ln w="15875">
            <a:solidFill>
              <a:srgbClr val="0B7A75"/>
            </a:solidFill>
            <a:prstDash val="solid"/>
          </a:ln>
        </p:spPr>
      </p:sp>
      <p:sp>
        <p:nvSpPr>
          <p:cNvPr id="26" name="step:4:wipeD"/>
          <p:cNvSpPr txBox="1"/>
          <p:nvPr/>
        </p:nvSpPr>
        <p:spPr>
          <a:xfrm>
            <a:off x="9319260" y="4709160"/>
            <a:ext cx="206806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lifecycle runs here</a:t>
            </a:r>
            <a:endParaRPr lang="en-US" sz="1200" dirty="0"/>
          </a:p>
        </p:txBody>
      </p:sp>
      <p:sp>
        <p:nvSpPr>
          <p:cNvPr id="27" name="step:5:wipeD"/>
          <p:cNvSpPr/>
          <p:nvPr/>
        </p:nvSpPr>
        <p:spPr>
          <a:xfrm>
            <a:off x="6352032" y="4709160"/>
            <a:ext cx="2068068" cy="575462"/>
          </a:xfrm>
          <a:prstGeom prst="roundRect">
            <a:avLst>
              <a:gd name="adj" fmla="val 12712"/>
            </a:avLst>
          </a:prstGeom>
          <a:solidFill>
            <a:srgbClr val="FFFFFF"/>
          </a:solidFill>
          <a:ln w="15875">
            <a:solidFill>
              <a:srgbClr val="0B7A75"/>
            </a:solidFill>
            <a:prstDash val="solid"/>
          </a:ln>
        </p:spPr>
      </p:sp>
      <p:sp>
        <p:nvSpPr>
          <p:cNvPr id="28" name="step:5:wipeD"/>
          <p:cNvSpPr txBox="1"/>
          <p:nvPr/>
        </p:nvSpPr>
        <p:spPr>
          <a:xfrm>
            <a:off x="6352032" y="4709160"/>
            <a:ext cx="206806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stack + buildpacks</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25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phase by phase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lifecycle runs as init containers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a named container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Cached layers make a rerun fast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Export assembles and pushes the image</a:t>
            </a:r>
            <a:endParaRPr lang="en-US" sz="1900" dirty="0"/>
          </a:p>
        </p:txBody>
      </p:sp>
      <p:sp>
        <p:nvSpPr>
          <p:cNvPr id="15" name="auto:0:wipeD"/>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auto:1:wipeD"/>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auto:2:wipeD"/>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auto:3:wipeD"/>
          <p:cNvSpPr txBox="1"/>
          <p:nvPr/>
        </p:nvSpPr>
        <p:spPr>
          <a:xfrm>
            <a:off x="6281928"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fetch the source</a:t>
            </a:r>
            <a:endParaRPr lang="en-US" sz="900" dirty="0"/>
          </a:p>
        </p:txBody>
      </p:sp>
      <p:sp>
        <p:nvSpPr>
          <p:cNvPr id="19" name="auto:4:wipeD"/>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auto:5:wipeD"/>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auto:6:wipeD"/>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auto:7:wipeD"/>
          <p:cNvSpPr txBox="1"/>
          <p:nvPr/>
        </p:nvSpPr>
        <p:spPr>
          <a:xfrm>
            <a:off x="7662672"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read the previous image</a:t>
            </a:r>
            <a:endParaRPr lang="en-US" sz="900" dirty="0"/>
          </a:p>
        </p:txBody>
      </p:sp>
      <p:sp>
        <p:nvSpPr>
          <p:cNvPr id="23" name="auto:8:wipeD"/>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auto:9:wipeD"/>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auto:10:wipeD"/>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auto:11:wipeD"/>
          <p:cNvSpPr txBox="1"/>
          <p:nvPr/>
        </p:nvSpPr>
        <p:spPr>
          <a:xfrm>
            <a:off x="9043416"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pick the buildpacks</a:t>
            </a:r>
            <a:endParaRPr lang="en-US" sz="900" dirty="0"/>
          </a:p>
        </p:txBody>
      </p:sp>
      <p:sp>
        <p:nvSpPr>
          <p:cNvPr id="27" name="auto:12:wipeD"/>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auto:13:wipeD"/>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auto:14:wipeD"/>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auto:15:wipeD"/>
          <p:cNvSpPr txBox="1"/>
          <p:nvPr/>
        </p:nvSpPr>
        <p:spPr>
          <a:xfrm>
            <a:off x="10424160"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bring back cached layers</a:t>
            </a:r>
            <a:endParaRPr lang="en-US" sz="900" dirty="0"/>
          </a:p>
        </p:txBody>
      </p:sp>
      <p:sp>
        <p:nvSpPr>
          <p:cNvPr id="31" name="auto:16:wipeD"/>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auto:17:wipeD"/>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auto:18:wipeD"/>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auto:19:wipeD"/>
          <p:cNvSpPr txBox="1"/>
          <p:nvPr/>
        </p:nvSpPr>
        <p:spPr>
          <a:xfrm>
            <a:off x="6281928" y="376732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install and compile</a:t>
            </a:r>
            <a:endParaRPr lang="en-US" sz="900" dirty="0"/>
          </a:p>
        </p:txBody>
      </p:sp>
      <p:sp>
        <p:nvSpPr>
          <p:cNvPr id="35" name="auto:20:wipeD"/>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auto:21:wipeD"/>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auto:22:wipeD"/>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auto:23:wipeD"/>
          <p:cNvSpPr txBox="1"/>
          <p:nvPr/>
        </p:nvSpPr>
        <p:spPr>
          <a:xfrm>
            <a:off x="7662672" y="376732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assemble and push</a:t>
            </a:r>
            <a:endParaRPr lang="en-US" sz="900" dirty="0"/>
          </a:p>
        </p:txBody>
      </p:sp>
      <p:sp>
        <p:nvSpPr>
          <p:cNvPr id="39" name="auto:24:wipeD"/>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auto:25:wipeD"/>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auto:26:wipeD"/>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auto:27:wipeD"/>
          <p:cNvSpPr txBox="1"/>
          <p:nvPr/>
        </p:nvSpPr>
        <p:spPr>
          <a:xfrm>
            <a:off x="9043416" y="376732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finish up</a:t>
            </a:r>
            <a:endParaRPr lang="en-US" sz="90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26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7" fill="hold">
                      <p:stCondLst>
                        <p:cond delay="indefinite"/>
                        <p:cond evt="onBegin" delay="0">
                          <p:tn val="2"/>
                        </p:cond>
                      </p:stCondLst>
                      <p:childTnLst>
                        <p:par>
                          <p:cTn id="88"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22" presetClass="entr" presetSubtype="4"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350"/>
                                        <p:tgtEl>
                                          <p:spTgt spid="16"/>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down)">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22" presetClass="entr" presetSubtype="4"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wipe(down)">
                                      <p:cBhvr>
                                        <p:cTn id="49" dur="35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22" presetClass="entr" presetSubtype="4"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wipe(down)">
                                      <p:cBhvr>
                                        <p:cTn id="55" dur="350"/>
                                        <p:tgtEl>
                                          <p:spTgt spid="32"/>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wipe(down)">
                                      <p:cBhvr>
                                        <p:cTn id="58" dur="350"/>
                                        <p:tgtEl>
                                          <p:spTgt spid="33"/>
                                        </p:tgtEl>
                                      </p:cBhvr>
                                    </p:animEffect>
                                  </p:childTnLst>
                                </p:cTn>
                              </p:par>
                              <p:par>
                                <p:cTn id="62" presetID="22" presetClass="entr" presetSubtype="4"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wipe(down)">
                                      <p:cBhvr>
                                        <p:cTn id="61" dur="35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22" presetClass="entr" presetSubtype="4"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wipe(down)">
                                      <p:cBhvr>
                                        <p:cTn id="67" dur="350"/>
                                        <p:tgtEl>
                                          <p:spTgt spid="36"/>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wipe(down)">
                                      <p:cBhvr>
                                        <p:cTn id="70" dur="350"/>
                                        <p:tgtEl>
                                          <p:spTgt spid="37"/>
                                        </p:tgtEl>
                                      </p:cBhvr>
                                    </p:animEffect>
                                  </p:childTnLst>
                                </p:cTn>
                              </p:par>
                              <p:par>
                                <p:cTn id="74" presetID="22" presetClass="entr" presetSubtype="4"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wipe(down)">
                                      <p:cBhvr>
                                        <p:cTn id="73" dur="350"/>
                                        <p:tgtEl>
                                          <p:spTgt spid="38"/>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9"/>
                                        </p:tgtEl>
                                        <p:attrNameLst>
                                          <p:attrName>style.visibility</p:attrName>
                                        </p:attrNameLst>
                                      </p:cBhvr>
                                      <p:to>
                                        <p:strVal val="visible"/>
                                      </p:to>
                                    </p:set>
                                    <p:animEffect transition="in" filter="wipe(down)">
                                      <p:cBhvr>
                                        <p:cTn id="76" dur="350"/>
                                        <p:tgtEl>
                                          <p:spTgt spid="39"/>
                                        </p:tgtEl>
                                      </p:cBhvr>
                                    </p:animEffect>
                                  </p:childTnLst>
                                </p:cTn>
                              </p:par>
                              <p:par>
                                <p:cTn id="80" presetID="22" presetClass="entr" presetSubtype="4" fill="hold" grpId="0" nodeType="withEffect">
                                  <p:stCondLst>
                                    <p:cond delay="2000"/>
                                  </p:stCondLst>
                                  <p:childTnLst>
                                    <p:set>
                                      <p:cBhvr>
                                        <p:cTn id="78" dur="1" fill="hold">
                                          <p:stCondLst>
                                            <p:cond delay="0"/>
                                          </p:stCondLst>
                                        </p:cTn>
                                        <p:tgtEl>
                                          <p:spTgt spid="40"/>
                                        </p:tgtEl>
                                        <p:attrNameLst>
                                          <p:attrName>style.visibility</p:attrName>
                                        </p:attrNameLst>
                                      </p:cBhvr>
                                      <p:to>
                                        <p:strVal val="visible"/>
                                      </p:to>
                                    </p:set>
                                    <p:animEffect transition="in" filter="wipe(down)">
                                      <p:cBhvr>
                                        <p:cTn id="79" dur="350"/>
                                        <p:tgtEl>
                                          <p:spTgt spid="40"/>
                                        </p:tgtEl>
                                      </p:cBhvr>
                                    </p:animEffect>
                                  </p:childTnLst>
                                </p:cTn>
                              </p:par>
                              <p:par>
                                <p:cTn id="83" presetID="22" presetClass="entr" presetSubtype="4" fill="hold" grpId="0" nodeType="withEffect">
                                  <p:stCondLst>
                                    <p:cond delay="2080"/>
                                  </p:stCondLst>
                                  <p:childTnLst>
                                    <p:set>
                                      <p:cBhvr>
                                        <p:cTn id="81" dur="1" fill="hold">
                                          <p:stCondLst>
                                            <p:cond delay="0"/>
                                          </p:stCondLst>
                                        </p:cTn>
                                        <p:tgtEl>
                                          <p:spTgt spid="41"/>
                                        </p:tgtEl>
                                        <p:attrNameLst>
                                          <p:attrName>style.visibility</p:attrName>
                                        </p:attrNameLst>
                                      </p:cBhvr>
                                      <p:to>
                                        <p:strVal val="visible"/>
                                      </p:to>
                                    </p:set>
                                    <p:animEffect transition="in" filter="wipe(down)">
                                      <p:cBhvr>
                                        <p:cTn id="82" dur="350"/>
                                        <p:tgtEl>
                                          <p:spTgt spid="41"/>
                                        </p:tgtEl>
                                      </p:cBhvr>
                                    </p:animEffect>
                                  </p:childTnLst>
                                </p:cTn>
                              </p:par>
                              <p:par>
                                <p:cTn id="86" presetID="22" presetClass="entr" presetSubtype="4" fill="hold" grpId="0" nodeType="withEffect">
                                  <p:stCondLst>
                                    <p:cond delay="2160"/>
                                  </p:stCondLst>
                                  <p:childTnLst>
                                    <p:set>
                                      <p:cBhvr>
                                        <p:cTn id="84" dur="1" fill="hold">
                                          <p:stCondLst>
                                            <p:cond delay="0"/>
                                          </p:stCondLst>
                                        </p:cTn>
                                        <p:tgtEl>
                                          <p:spTgt spid="42"/>
                                        </p:tgtEl>
                                        <p:attrNameLst>
                                          <p:attrName>style.visibility</p:attrName>
                                        </p:attrNameLst>
                                      </p:cBhvr>
                                      <p:to>
                                        <p:strVal val="visible"/>
                                      </p:to>
                                    </p:set>
                                    <p:animEffect transition="in" filter="wipe(down)">
                                      <p:cBhvr>
                                        <p:cTn id="85" dur="350"/>
                                        <p:tgtEl>
                                          <p:spTgt spid="42"/>
                                        </p:tgtEl>
                                      </p:cBhvr>
                                    </p:animEffect>
                                  </p:childTnLst>
                                </p:cTn>
                              </p:par>
                            </p:childTnLst>
                          </p:cTn>
                        </p:par>
                      </p:childTnLst>
                    </p:cTn>
                  </p:par>
                  <p:par>
                    <p:cTn id="95" fill="hold">
                      <p:stCondLst>
                        <p:cond delay="indefinite"/>
                      </p:stCondLst>
                      <p:childTnLst>
                        <p:par>
                          <p:cTn id="96" fill="hold">
                            <p:stCondLst>
                              <p:cond delay="0"/>
                            </p:stCondLst>
                            <p:childTnLst>
                              <p:par>
                                <p:cTn id="91" presetID="22" presetClass="entr" presetSubtype="8" fill="hold" grpId="0" nodeType="clickEffect">
                                  <p:stCondLst>
                                    <p:cond delay="0"/>
                                  </p:stCondLst>
                                  <p:childTnLst>
                                    <p:set>
                                      <p:cBhvr>
                                        <p:cTn id="89" dur="1" fill="hold">
                                          <p:stCondLst>
                                            <p:cond delay="0"/>
                                          </p:stCondLst>
                                        </p:cTn>
                                        <p:tgtEl>
                                          <p:spTgt spid="5"/>
                                        </p:tgtEl>
                                        <p:attrNameLst>
                                          <p:attrName>style.visibility</p:attrName>
                                        </p:attrNameLst>
                                      </p:cBhvr>
                                      <p:to>
                                        <p:strVal val="visible"/>
                                      </p:to>
                                    </p:set>
                                    <p:animEffect transition="in" filter="wipe(left)">
                                      <p:cBhvr>
                                        <p:cTn id="90" dur="350"/>
                                        <p:tgtEl>
                                          <p:spTgt spid="5"/>
                                        </p:tgtEl>
                                      </p:cBhvr>
                                    </p:animEffect>
                                  </p:childTnLst>
                                </p:cTn>
                              </p:par>
                              <p:par>
                                <p:cTn id="94" presetID="22" presetClass="entr" presetSubtype="8" fill="hold" grpId="0" nodeType="withEffect">
                                  <p:stCondLst>
                                    <p:cond delay="0"/>
                                  </p:stCondLst>
                                  <p:childTnLst>
                                    <p:set>
                                      <p:cBhvr>
                                        <p:cTn id="92" dur="1" fill="hold">
                                          <p:stCondLst>
                                            <p:cond delay="0"/>
                                          </p:stCondLst>
                                        </p:cTn>
                                        <p:tgtEl>
                                          <p:spTgt spid="6"/>
                                        </p:tgtEl>
                                        <p:attrNameLst>
                                          <p:attrName>style.visibility</p:attrName>
                                        </p:attrNameLst>
                                      </p:cBhvr>
                                      <p:to>
                                        <p:strVal val="visible"/>
                                      </p:to>
                                    </p:set>
                                    <p:animEffect transition="in" filter="wipe(left)">
                                      <p:cBhvr>
                                        <p:cTn id="93" dur="350"/>
                                        <p:tgtEl>
                                          <p:spTgt spid="6"/>
                                        </p:tgtEl>
                                      </p:cBhvr>
                                    </p:animEffect>
                                  </p:childTnLst>
                                </p:cTn>
                              </p:par>
                            </p:childTnLst>
                          </p:cTn>
                        </p:par>
                      </p:childTnLst>
                    </p:cTn>
                  </p:par>
                  <p:par>
                    <p:cTn id="103" fill="hold">
                      <p:stCondLst>
                        <p:cond delay="indefinite"/>
                      </p:stCondLst>
                      <p:childTnLst>
                        <p:par>
                          <p:cTn id="104" fill="hold">
                            <p:stCondLst>
                              <p:cond delay="0"/>
                            </p:stCondLst>
                            <p:childTnLst>
                              <p:par>
                                <p:cTn id="99" presetID="22" presetClass="entr" presetSubtype="8" fill="hold" grpId="0" nodeType="clickEffect">
                                  <p:stCondLst>
                                    <p:cond delay="0"/>
                                  </p:stCondLst>
                                  <p:childTnLst>
                                    <p:set>
                                      <p:cBhvr>
                                        <p:cTn id="97" dur="1" fill="hold">
                                          <p:stCondLst>
                                            <p:cond delay="0"/>
                                          </p:stCondLst>
                                        </p:cTn>
                                        <p:tgtEl>
                                          <p:spTgt spid="7"/>
                                        </p:tgtEl>
                                        <p:attrNameLst>
                                          <p:attrName>style.visibility</p:attrName>
                                        </p:attrNameLst>
                                      </p:cBhvr>
                                      <p:to>
                                        <p:strVal val="visible"/>
                                      </p:to>
                                    </p:set>
                                    <p:animEffect transition="in" filter="wipe(left)">
                                      <p:cBhvr>
                                        <p:cTn id="98" dur="350"/>
                                        <p:tgtEl>
                                          <p:spTgt spid="7"/>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left)">
                                      <p:cBhvr>
                                        <p:cTn id="101" dur="350"/>
                                        <p:tgtEl>
                                          <p:spTgt spid="8"/>
                                        </p:tgtEl>
                                      </p:cBhvr>
                                    </p:animEffect>
                                  </p:childTnLst>
                                </p:cTn>
                              </p:par>
                            </p:childTnLst>
                          </p:cTn>
                        </p:par>
                      </p:childTnLst>
                    </p:cTn>
                  </p:par>
                  <p:par>
                    <p:cTn id="111" fill="hold">
                      <p:stCondLst>
                        <p:cond delay="indefinite"/>
                      </p:stCondLst>
                      <p:childTnLst>
                        <p:par>
                          <p:cTn id="112" fill="hold">
                            <p:stCondLst>
                              <p:cond delay="0"/>
                            </p:stCondLst>
                            <p:childTnLst>
                              <p:par>
                                <p:cTn id="107" presetID="22" presetClass="entr" presetSubtype="8" fill="hold" grpId="0" nodeType="clickEffect">
                                  <p:stCondLst>
                                    <p:cond delay="0"/>
                                  </p:stCondLst>
                                  <p:childTnLst>
                                    <p:set>
                                      <p:cBhvr>
                                        <p:cTn id="105" dur="1" fill="hold">
                                          <p:stCondLst>
                                            <p:cond delay="0"/>
                                          </p:stCondLst>
                                        </p:cTn>
                                        <p:tgtEl>
                                          <p:spTgt spid="9"/>
                                        </p:tgtEl>
                                        <p:attrNameLst>
                                          <p:attrName>style.visibility</p:attrName>
                                        </p:attrNameLst>
                                      </p:cBhvr>
                                      <p:to>
                                        <p:strVal val="visible"/>
                                      </p:to>
                                    </p:set>
                                    <p:animEffect transition="in" filter="wipe(left)">
                                      <p:cBhvr>
                                        <p:cTn id="106" dur="350"/>
                                        <p:tgtEl>
                                          <p:spTgt spid="9"/>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10"/>
                                        </p:tgtEl>
                                        <p:attrNameLst>
                                          <p:attrName>style.visibility</p:attrName>
                                        </p:attrNameLst>
                                      </p:cBhvr>
                                      <p:to>
                                        <p:strVal val="visible"/>
                                      </p:to>
                                    </p:set>
                                    <p:animEffect transition="in" filter="wipe(left)">
                                      <p:cBhvr>
                                        <p:cTn id="109" dur="350"/>
                                        <p:tgtEl>
                                          <p:spTgt spid="10"/>
                                        </p:tgtEl>
                                      </p:cBhvr>
                                    </p:animEffect>
                                  </p:childTnLst>
                                </p:cTn>
                              </p:par>
                            </p:childTnLst>
                          </p:cTn>
                        </p:par>
                      </p:childTnLst>
                    </p:cTn>
                  </p:par>
                  <p:par>
                    <p:cTn id="119" fill="hold">
                      <p:stCondLst>
                        <p:cond delay="indefinite"/>
                      </p:stCondLst>
                      <p:childTnLst>
                        <p:par>
                          <p:cTn id="120" fill="hold">
                            <p:stCondLst>
                              <p:cond delay="0"/>
                            </p:stCondLst>
                            <p:childTnLst>
                              <p:par>
                                <p:cTn id="115" presetID="22" presetClass="entr" presetSubtype="8" fill="hold" grpId="0" nodeType="clickEffect">
                                  <p:stCondLst>
                                    <p:cond delay="0"/>
                                  </p:stCondLst>
                                  <p:childTnLst>
                                    <p:set>
                                      <p:cBhvr>
                                        <p:cTn id="113" dur="1" fill="hold">
                                          <p:stCondLst>
                                            <p:cond delay="0"/>
                                          </p:stCondLst>
                                        </p:cTn>
                                        <p:tgtEl>
                                          <p:spTgt spid="11"/>
                                        </p:tgtEl>
                                        <p:attrNameLst>
                                          <p:attrName>style.visibility</p:attrName>
                                        </p:attrNameLst>
                                      </p:cBhvr>
                                      <p:to>
                                        <p:strVal val="visible"/>
                                      </p:to>
                                    </p:set>
                                    <p:animEffect transition="in" filter="wipe(left)">
                                      <p:cBhvr>
                                        <p:cTn id="114" dur="350"/>
                                        <p:tgtEl>
                                          <p:spTgt spid="11"/>
                                        </p:tgtEl>
                                      </p:cBhvr>
                                    </p:animEffect>
                                  </p:childTnLst>
                                </p:cTn>
                              </p:par>
                              <p:par>
                                <p:cTn id="118" presetID="22" presetClass="entr" presetSubtype="8" fill="hold" grpId="0" nodeType="withEffect">
                                  <p:stCondLst>
                                    <p:cond delay="0"/>
                                  </p:stCondLst>
                                  <p:childTnLst>
                                    <p:set>
                                      <p:cBhvr>
                                        <p:cTn id="116" dur="1" fill="hold">
                                          <p:stCondLst>
                                            <p:cond delay="0"/>
                                          </p:stCondLst>
                                        </p:cTn>
                                        <p:tgtEl>
                                          <p:spTgt spid="12"/>
                                        </p:tgtEl>
                                        <p:attrNameLst>
                                          <p:attrName>style.visibility</p:attrName>
                                        </p:attrNameLst>
                                      </p:cBhvr>
                                      <p:to>
                                        <p:strVal val="visible"/>
                                      </p:to>
                                    </p:set>
                                    <p:animEffect transition="in" filter="wipe(left)">
                                      <p:cBhvr>
                                        <p:cTn id="117" dur="350"/>
                                        <p:tgtEl>
                                          <p:spTgt spid="12"/>
                                        </p:tgtEl>
                                      </p:cBhvr>
                                    </p:animEffect>
                                  </p:childTnLst>
                                </p:cTn>
                              </p:par>
                            </p:childTnLst>
                          </p:cTn>
                        </p:par>
                      </p:childTnLst>
                    </p:cTn>
                  </p:par>
                  <p:par>
                    <p:cTn id="127" fill="hold">
                      <p:stCondLst>
                        <p:cond delay="indefinite"/>
                      </p:stCondLst>
                      <p:childTnLst>
                        <p:par>
                          <p:cTn id="128" fill="hold">
                            <p:stCondLst>
                              <p:cond delay="0"/>
                            </p:stCondLst>
                            <p:childTnLst>
                              <p:par>
                                <p:cTn id="123" presetID="22" presetClass="entr" presetSubtype="8" fill="hold" grpId="0" nodeType="clickEffect">
                                  <p:stCondLst>
                                    <p:cond delay="0"/>
                                  </p:stCondLst>
                                  <p:childTnLst>
                                    <p:set>
                                      <p:cBhvr>
                                        <p:cTn id="121" dur="1" fill="hold">
                                          <p:stCondLst>
                                            <p:cond delay="0"/>
                                          </p:stCondLst>
                                        </p:cTn>
                                        <p:tgtEl>
                                          <p:spTgt spid="13"/>
                                        </p:tgtEl>
                                        <p:attrNameLst>
                                          <p:attrName>style.visibility</p:attrName>
                                        </p:attrNameLst>
                                      </p:cBhvr>
                                      <p:to>
                                        <p:strVal val="visible"/>
                                      </p:to>
                                    </p:set>
                                    <p:animEffect transition="in" filter="wipe(left)">
                                      <p:cBhvr>
                                        <p:cTn id="122" dur="350"/>
                                        <p:tgtEl>
                                          <p:spTgt spid="13"/>
                                        </p:tgtEl>
                                      </p:cBhvr>
                                    </p:animEffect>
                                  </p:childTnLst>
                                </p:cTn>
                              </p:par>
                              <p:par>
                                <p:cTn id="126" presetID="22" presetClass="entr" presetSubtype="8" fill="hold" grpId="0" nodeType="withEffect">
                                  <p:stCondLst>
                                    <p:cond delay="0"/>
                                  </p:stCondLst>
                                  <p:childTnLst>
                                    <p:set>
                                      <p:cBhvr>
                                        <p:cTn id="124" dur="1" fill="hold">
                                          <p:stCondLst>
                                            <p:cond delay="0"/>
                                          </p:stCondLst>
                                        </p:cTn>
                                        <p:tgtEl>
                                          <p:spTgt spid="14"/>
                                        </p:tgtEl>
                                        <p:attrNameLst>
                                          <p:attrName>style.visibility</p:attrName>
                                        </p:attrNameLst>
                                      </p:cBhvr>
                                      <p:to>
                                        <p:strVal val="visible"/>
                                      </p:to>
                                    </p:set>
                                    <p:animEffect transition="in" filter="wipe(left)">
                                      <p:cBhvr>
                                        <p:cTn id="125"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Our kpack chart</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 a fork, a Helm chart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Packages upstream kpack faithfully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CRDs as templates, for the webhook</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Creates the cluster build content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Mirror scripts for the airgap</a:t>
            </a:r>
            <a:endParaRPr lang="en-US" sz="1900" dirty="0"/>
          </a:p>
        </p:txBody>
      </p:sp>
      <p:sp>
        <p:nvSpPr>
          <p:cNvPr id="15" name="step:6: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step:6: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the chart</a:t>
            </a:r>
            <a:endParaRPr lang="en-US" sz="1400" dirty="0"/>
          </a:p>
        </p:txBody>
      </p:sp>
      <p:sp>
        <p:nvSpPr>
          <p:cNvPr id="17" name="step:6: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upstream kpack 0.18</a:t>
            </a:r>
            <a:endParaRPr lang="en-US" sz="950" dirty="0"/>
          </a:p>
        </p:txBody>
      </p:sp>
      <p:sp>
        <p:nvSpPr>
          <p:cNvPr id="18" name="step:7: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step:7: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CRDs</a:t>
            </a:r>
            <a:endParaRPr lang="en-US" sz="1400" dirty="0"/>
          </a:p>
        </p:txBody>
      </p:sp>
      <p:sp>
        <p:nvSpPr>
          <p:cNvPr id="20" name="step:7: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templated, not an untouched crds/</a:t>
            </a:r>
            <a:endParaRPr lang="en-US" sz="950" dirty="0"/>
          </a:p>
        </p:txBody>
      </p:sp>
      <p:sp>
        <p:nvSpPr>
          <p:cNvPr id="21" name="step:8: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step:8: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clusterBuild</a:t>
            </a:r>
            <a:endParaRPr lang="en-US" sz="1400" dirty="0"/>
          </a:p>
        </p:txBody>
      </p:sp>
      <p:sp>
        <p:nvSpPr>
          <p:cNvPr id="23" name="step:8: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ClusterStack + ClusterStore</a:t>
            </a:r>
            <a:endParaRPr lang="en-US" sz="950" dirty="0"/>
          </a:p>
        </p:txBody>
      </p:sp>
      <p:sp>
        <p:nvSpPr>
          <p:cNvPr id="24" name="step: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step:9: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credentials</a:t>
            </a:r>
            <a:endParaRPr lang="en-US" sz="1400" dirty="0"/>
          </a:p>
        </p:txBody>
      </p:sp>
      <p:sp>
        <p:nvSpPr>
          <p:cNvPr id="26" name="step:9: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projected by external-secrets</a:t>
            </a:r>
            <a:endParaRPr lang="en-US" sz="950" dirty="0"/>
          </a:p>
        </p:txBody>
      </p:sp>
      <p:sp>
        <p:nvSpPr>
          <p:cNvPr id="27" name="step:10: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step:10: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scripts/mirror</a:t>
            </a:r>
            <a:endParaRPr lang="en-US" sz="1400" dirty="0"/>
          </a:p>
        </p:txBody>
      </p:sp>
      <p:sp>
        <p:nvSpPr>
          <p:cNvPr id="29" name="step:10: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images, buildpackages, runtimes</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27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52" fill="hold">
                      <p:stCondLst>
                        <p:cond delay="indefinite"/>
                      </p:stCondLst>
                      <p:childTnLst>
                        <p:par>
                          <p:cTn id="53" fill="hold">
                            <p:stCondLst>
                              <p:cond delay="0"/>
                            </p:stCondLst>
                            <p:childTnLst>
                              <p:par>
                                <p:cTn id="45" presetID="22" presetClass="entr" presetSubtype="4"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350"/>
                                        <p:tgtEl>
                                          <p:spTgt spid="15"/>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350"/>
                                        <p:tgtEl>
                                          <p:spTgt spid="16"/>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350"/>
                                        <p:tgtEl>
                                          <p:spTgt spid="17"/>
                                        </p:tgtEl>
                                      </p:cBhvr>
                                    </p:animEffect>
                                  </p:childTnLst>
                                </p:cTn>
                              </p:par>
                            </p:childTnLst>
                          </p:cTn>
                        </p:par>
                      </p:childTnLst>
                    </p:cTn>
                  </p:par>
                  <p:par>
                    <p:cTn id="63" fill="hold">
                      <p:stCondLst>
                        <p:cond delay="indefinite"/>
                      </p:stCondLst>
                      <p:childTnLst>
                        <p:par>
                          <p:cTn id="64" fill="hold">
                            <p:stCondLst>
                              <p:cond delay="0"/>
                            </p:stCondLst>
                            <p:childTnLst>
                              <p:par>
                                <p:cTn id="56" presetID="22" presetClass="entr" presetSubtype="4"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down)">
                                      <p:cBhvr>
                                        <p:cTn id="55" dur="350"/>
                                        <p:tgtEl>
                                          <p:spTgt spid="18"/>
                                        </p:tgtEl>
                                      </p:cBhvr>
                                    </p:animEffect>
                                  </p:childTnLst>
                                </p:cTn>
                              </p:par>
                              <p:par>
                                <p:cTn id="59" presetID="22" presetClass="entr" presetSubtype="4"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down)">
                                      <p:cBhvr>
                                        <p:cTn id="58" dur="350"/>
                                        <p:tgtEl>
                                          <p:spTgt spid="19"/>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wipe(down)">
                                      <p:cBhvr>
                                        <p:cTn id="61" dur="350"/>
                                        <p:tgtEl>
                                          <p:spTgt spid="20"/>
                                        </p:tgtEl>
                                      </p:cBhvr>
                                    </p:animEffect>
                                  </p:childTnLst>
                                </p:cTn>
                              </p:par>
                            </p:childTnLst>
                          </p:cTn>
                        </p:par>
                      </p:childTnLst>
                    </p:cTn>
                  </p:par>
                  <p:par>
                    <p:cTn id="74" fill="hold">
                      <p:stCondLst>
                        <p:cond delay="indefinite"/>
                      </p:stCondLst>
                      <p:childTnLst>
                        <p:par>
                          <p:cTn id="75" fill="hold">
                            <p:stCondLst>
                              <p:cond delay="0"/>
                            </p:stCondLst>
                            <p:childTnLst>
                              <p:par>
                                <p:cTn id="67" presetID="22" presetClass="entr" presetSubtype="4" fill="hold" grpId="0" nodeType="click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down)">
                                      <p:cBhvr>
                                        <p:cTn id="66" dur="350"/>
                                        <p:tgtEl>
                                          <p:spTgt spid="21"/>
                                        </p:tgtEl>
                                      </p:cBhvr>
                                    </p:animEffect>
                                  </p:childTnLst>
                                </p:cTn>
                              </p:par>
                              <p:par>
                                <p:cTn id="70" presetID="22" presetClass="entr" presetSubtype="4"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down)">
                                      <p:cBhvr>
                                        <p:cTn id="69" dur="350"/>
                                        <p:tgtEl>
                                          <p:spTgt spid="22"/>
                                        </p:tgtEl>
                                      </p:cBhvr>
                                    </p:animEffect>
                                  </p:childTnLst>
                                </p:cTn>
                              </p:par>
                              <p:par>
                                <p:cTn id="73" presetID="22" presetClass="entr" presetSubtype="4"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wipe(down)">
                                      <p:cBhvr>
                                        <p:cTn id="72" dur="350"/>
                                        <p:tgtEl>
                                          <p:spTgt spid="23"/>
                                        </p:tgtEl>
                                      </p:cBhvr>
                                    </p:animEffect>
                                  </p:childTnLst>
                                </p:cTn>
                              </p:par>
                            </p:childTnLst>
                          </p:cTn>
                        </p:par>
                      </p:childTnLst>
                    </p:cTn>
                  </p:par>
                  <p:par>
                    <p:cTn id="85" fill="hold">
                      <p:stCondLst>
                        <p:cond delay="indefinite"/>
                      </p:stCondLst>
                      <p:childTnLst>
                        <p:par>
                          <p:cTn id="86" fill="hold">
                            <p:stCondLst>
                              <p:cond delay="0"/>
                            </p:stCondLst>
                            <p:childTnLst>
                              <p:par>
                                <p:cTn id="78" presetID="22" presetClass="entr" presetSubtype="4" fill="hold" grpId="0" nodeType="click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wipe(down)">
                                      <p:cBhvr>
                                        <p:cTn id="77" dur="350"/>
                                        <p:tgtEl>
                                          <p:spTgt spid="24"/>
                                        </p:tgtEl>
                                      </p:cBhvr>
                                    </p:animEffect>
                                  </p:childTnLst>
                                </p:cTn>
                              </p:par>
                              <p:par>
                                <p:cTn id="81" presetID="22" presetClass="entr" presetSubtype="4"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wipe(down)">
                                      <p:cBhvr>
                                        <p:cTn id="80" dur="350"/>
                                        <p:tgtEl>
                                          <p:spTgt spid="25"/>
                                        </p:tgtEl>
                                      </p:cBhvr>
                                    </p:animEffect>
                                  </p:childTnLst>
                                </p:cTn>
                              </p:par>
                              <p:par>
                                <p:cTn id="84" presetID="22" presetClass="entr" presetSubtype="4"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wipe(down)">
                                      <p:cBhvr>
                                        <p:cTn id="83" dur="350"/>
                                        <p:tgtEl>
                                          <p:spTgt spid="26"/>
                                        </p:tgtEl>
                                      </p:cBhvr>
                                    </p:animEffect>
                                  </p:childTnLst>
                                </p:cTn>
                              </p:par>
                            </p:childTnLst>
                          </p:cTn>
                        </p:par>
                      </p:childTnLst>
                    </p:cTn>
                  </p:par>
                  <p:par>
                    <p:cTn id="96" fill="hold">
                      <p:stCondLst>
                        <p:cond delay="indefinite"/>
                      </p:stCondLst>
                      <p:childTnLst>
                        <p:par>
                          <p:cTn id="97" fill="hold">
                            <p:stCondLst>
                              <p:cond delay="0"/>
                            </p:stCondLst>
                            <p:childTnLst>
                              <p:par>
                                <p:cTn id="89" presetID="22" presetClass="entr" presetSubtype="4" fill="hold" grpId="0" nodeType="click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wipe(down)">
                                      <p:cBhvr>
                                        <p:cTn id="88" dur="350"/>
                                        <p:tgtEl>
                                          <p:spTgt spid="27"/>
                                        </p:tgtEl>
                                      </p:cBhvr>
                                    </p:animEffect>
                                  </p:childTnLst>
                                </p:cTn>
                              </p:par>
                              <p:par>
                                <p:cTn id="92" presetID="22" presetClass="entr" presetSubtype="4"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down)">
                                      <p:cBhvr>
                                        <p:cTn id="91" dur="350"/>
                                        <p:tgtEl>
                                          <p:spTgt spid="28"/>
                                        </p:tgtEl>
                                      </p:cBhvr>
                                    </p:animEffect>
                                  </p:childTnLst>
                                </p:cTn>
                              </p:par>
                              <p:par>
                                <p:cTn id="95" presetID="22" presetClass="entr" presetSubtype="4" fill="hold" grpId="0" nodeType="withEffect">
                                  <p:stCondLst>
                                    <p:cond delay="0"/>
                                  </p:stCondLst>
                                  <p:childTnLst>
                                    <p:set>
                                      <p:cBhvr>
                                        <p:cTn id="93" dur="1" fill="hold">
                                          <p:stCondLst>
                                            <p:cond delay="0"/>
                                          </p:stCondLst>
                                        </p:cTn>
                                        <p:tgtEl>
                                          <p:spTgt spid="29"/>
                                        </p:tgtEl>
                                        <p:attrNameLst>
                                          <p:attrName>style.visibility</p:attrName>
                                        </p:attrNameLst>
                                      </p:cBhvr>
                                      <p:to>
                                        <p:strVal val="visible"/>
                                      </p:to>
                                    </p:set>
                                    <p:animEffect transition="in" filter="wipe(down)">
                                      <p:cBhvr>
                                        <p:cTn id="9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API uses kpack</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declares, it never builds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Image per function, per region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git Secret for the clone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ServiceAccount for the registry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Owned by the Knative Service</a:t>
            </a:r>
            <a:endParaRPr lang="en-US" sz="1900" dirty="0"/>
          </a:p>
        </p:txBody>
      </p:sp>
      <p:sp>
        <p:nvSpPr>
          <p:cNvPr id="15" name="step:2:wipeL"/>
          <p:cNvSpPr/>
          <p:nvPr/>
        </p:nvSpPr>
        <p:spPr>
          <a:xfrm flipH="1">
            <a:off x="7071360" y="2641092"/>
            <a:ext cx="1798320" cy="719328"/>
          </a:xfrm>
          <a:prstGeom prst="line">
            <a:avLst/>
          </a:prstGeom>
          <a:noFill/>
          <a:ln w="15875">
            <a:solidFill>
              <a:srgbClr val="98A2B3"/>
            </a:solidFill>
            <a:prstDash val="solid"/>
            <a:tailEnd type="triangle"/>
          </a:ln>
        </p:spPr>
      </p:sp>
      <p:sp>
        <p:nvSpPr>
          <p:cNvPr id="16" name="step:3:wipeL"/>
          <p:cNvSpPr/>
          <p:nvPr/>
        </p:nvSpPr>
        <p:spPr>
          <a:xfrm>
            <a:off x="8869680" y="2641092"/>
            <a:ext cx="0" cy="719328"/>
          </a:xfrm>
          <a:prstGeom prst="line">
            <a:avLst/>
          </a:prstGeom>
          <a:noFill/>
          <a:ln w="15875">
            <a:solidFill>
              <a:srgbClr val="98A2B3"/>
            </a:solidFill>
            <a:prstDash val="solid"/>
            <a:tailEnd type="triangle"/>
          </a:ln>
        </p:spPr>
      </p:sp>
      <p:sp>
        <p:nvSpPr>
          <p:cNvPr id="17" name="step:4:wipeL"/>
          <p:cNvSpPr/>
          <p:nvPr/>
        </p:nvSpPr>
        <p:spPr>
          <a:xfrm>
            <a:off x="8869680" y="2641092"/>
            <a:ext cx="1798320" cy="719328"/>
          </a:xfrm>
          <a:prstGeom prst="line">
            <a:avLst/>
          </a:prstGeom>
          <a:noFill/>
          <a:ln w="15875">
            <a:solidFill>
              <a:srgbClr val="98A2B3"/>
            </a:solidFill>
            <a:prstDash val="solid"/>
            <a:tailEnd type="triangle"/>
          </a:ln>
        </p:spPr>
      </p:sp>
      <p:sp>
        <p:nvSpPr>
          <p:cNvPr id="18" name="step:5:wipeL"/>
          <p:cNvSpPr/>
          <p:nvPr/>
        </p:nvSpPr>
        <p:spPr>
          <a:xfrm>
            <a:off x="7071360" y="3935882"/>
            <a:ext cx="1798320" cy="773278"/>
          </a:xfrm>
          <a:prstGeom prst="line">
            <a:avLst/>
          </a:prstGeom>
          <a:noFill/>
          <a:ln w="15875">
            <a:solidFill>
              <a:srgbClr val="98A2B3"/>
            </a:solidFill>
            <a:prstDash val="solid"/>
            <a:tailEnd type="triangle"/>
          </a:ln>
        </p:spPr>
      </p:sp>
      <p:sp>
        <p:nvSpPr>
          <p:cNvPr id="19" name="step:1:wipeD"/>
          <p:cNvSpPr/>
          <p:nvPr/>
        </p:nvSpPr>
        <p:spPr>
          <a:xfrm>
            <a:off x="7880604" y="2101596"/>
            <a:ext cx="1978152" cy="539496"/>
          </a:xfrm>
          <a:prstGeom prst="roundRect">
            <a:avLst>
              <a:gd name="adj" fmla="val 13559"/>
            </a:avLst>
          </a:prstGeom>
          <a:solidFill>
            <a:srgbClr val="FFFFFF"/>
          </a:solidFill>
          <a:ln w="22225">
            <a:solidFill>
              <a:srgbClr val="E4572E"/>
            </a:solidFill>
            <a:prstDash val="solid"/>
          </a:ln>
        </p:spPr>
      </p:sp>
      <p:sp>
        <p:nvSpPr>
          <p:cNvPr id="20" name="step:1:wipeD"/>
          <p:cNvSpPr txBox="1"/>
          <p:nvPr/>
        </p:nvSpPr>
        <p:spPr>
          <a:xfrm>
            <a:off x="7880604" y="2101596"/>
            <a:ext cx="197815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manifests only</a:t>
            </a:r>
            <a:endParaRPr lang="en-US" sz="1200" dirty="0"/>
          </a:p>
        </p:txBody>
      </p:sp>
      <p:sp>
        <p:nvSpPr>
          <p:cNvPr id="21" name="step:2:wipeD"/>
          <p:cNvSpPr/>
          <p:nvPr/>
        </p:nvSpPr>
        <p:spPr>
          <a:xfrm>
            <a:off x="6262116" y="3360420"/>
            <a:ext cx="1618488" cy="575462"/>
          </a:xfrm>
          <a:prstGeom prst="roundRect">
            <a:avLst>
              <a:gd name="adj" fmla="val 12712"/>
            </a:avLst>
          </a:prstGeom>
          <a:solidFill>
            <a:srgbClr val="FFFFFF"/>
          </a:solidFill>
          <a:ln w="15875">
            <a:solidFill>
              <a:srgbClr val="0B7A75"/>
            </a:solidFill>
            <a:prstDash val="solid"/>
          </a:ln>
        </p:spPr>
      </p:sp>
      <p:sp>
        <p:nvSpPr>
          <p:cNvPr id="22" name="step:2:wipeD"/>
          <p:cNvSpPr txBox="1"/>
          <p:nvPr/>
        </p:nvSpPr>
        <p:spPr>
          <a:xfrm>
            <a:off x="6262116" y="3360420"/>
            <a:ext cx="161848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named for the function</a:t>
            </a:r>
            <a:endParaRPr lang="en-US" sz="1200" dirty="0"/>
          </a:p>
        </p:txBody>
      </p:sp>
      <p:sp>
        <p:nvSpPr>
          <p:cNvPr id="23" name="step:3:wipeD"/>
          <p:cNvSpPr/>
          <p:nvPr/>
        </p:nvSpPr>
        <p:spPr>
          <a:xfrm>
            <a:off x="8060436" y="3360420"/>
            <a:ext cx="1618488" cy="575462"/>
          </a:xfrm>
          <a:prstGeom prst="roundRect">
            <a:avLst>
              <a:gd name="adj" fmla="val 12712"/>
            </a:avLst>
          </a:prstGeom>
          <a:solidFill>
            <a:srgbClr val="FFFFFF"/>
          </a:solidFill>
          <a:ln w="15875">
            <a:solidFill>
              <a:srgbClr val="0B7A75"/>
            </a:solidFill>
            <a:prstDash val="solid"/>
          </a:ln>
        </p:spPr>
      </p:sp>
      <p:sp>
        <p:nvSpPr>
          <p:cNvPr id="24" name="step:3:wipeD"/>
          <p:cNvSpPr txBox="1"/>
          <p:nvPr/>
        </p:nvSpPr>
        <p:spPr>
          <a:xfrm>
            <a:off x="8060436" y="3360420"/>
            <a:ext cx="161848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Secret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clone credentials</a:t>
            </a:r>
            <a:endParaRPr lang="en-US" sz="1200" dirty="0"/>
          </a:p>
        </p:txBody>
      </p:sp>
      <p:sp>
        <p:nvSpPr>
          <p:cNvPr id="25" name="step:4:wipeD"/>
          <p:cNvSpPr/>
          <p:nvPr/>
        </p:nvSpPr>
        <p:spPr>
          <a:xfrm>
            <a:off x="9858756" y="3360420"/>
            <a:ext cx="1618488" cy="575462"/>
          </a:xfrm>
          <a:prstGeom prst="roundRect">
            <a:avLst>
              <a:gd name="adj" fmla="val 12712"/>
            </a:avLst>
          </a:prstGeom>
          <a:solidFill>
            <a:srgbClr val="FFFFFF"/>
          </a:solidFill>
          <a:ln w="15875">
            <a:solidFill>
              <a:srgbClr val="0B7A75"/>
            </a:solidFill>
            <a:prstDash val="solid"/>
          </a:ln>
        </p:spPr>
      </p:sp>
      <p:sp>
        <p:nvSpPr>
          <p:cNvPr id="26" name="step:4:wipeD"/>
          <p:cNvSpPr txBox="1"/>
          <p:nvPr/>
        </p:nvSpPr>
        <p:spPr>
          <a:xfrm>
            <a:off x="9858756" y="3360420"/>
            <a:ext cx="161848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SA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registry credentials</a:t>
            </a:r>
            <a:endParaRPr lang="en-US" sz="1200" dirty="0"/>
          </a:p>
        </p:txBody>
      </p:sp>
      <p:sp>
        <p:nvSpPr>
          <p:cNvPr id="27" name="step:5:wipeD"/>
          <p:cNvSpPr/>
          <p:nvPr/>
        </p:nvSpPr>
        <p:spPr>
          <a:xfrm>
            <a:off x="7880604" y="4709160"/>
            <a:ext cx="1978152" cy="575462"/>
          </a:xfrm>
          <a:prstGeom prst="roundRect">
            <a:avLst>
              <a:gd name="adj" fmla="val 12712"/>
            </a:avLst>
          </a:prstGeom>
          <a:solidFill>
            <a:srgbClr val="FFFFFF"/>
          </a:solidFill>
          <a:ln w="15875">
            <a:solidFill>
              <a:srgbClr val="0B7A75"/>
            </a:solidFill>
            <a:prstDash val="solid"/>
          </a:ln>
        </p:spPr>
      </p:sp>
      <p:sp>
        <p:nvSpPr>
          <p:cNvPr id="28" name="step:5:wipeD"/>
          <p:cNvSpPr txBox="1"/>
          <p:nvPr/>
        </p:nvSpPr>
        <p:spPr>
          <a:xfrm>
            <a:off x="7880604" y="4709160"/>
            <a:ext cx="1978152"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{group}/{name}:{branch}</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28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step:2:wipeL"/>
          <p:cNvSpPr/>
          <p:nvPr/>
        </p:nvSpPr>
        <p:spPr>
          <a:xfrm>
            <a:off x="7790688" y="2865882"/>
            <a:ext cx="359664" cy="0"/>
          </a:xfrm>
          <a:prstGeom prst="line">
            <a:avLst/>
          </a:prstGeom>
          <a:noFill/>
          <a:ln w="15875">
            <a:solidFill>
              <a:srgbClr val="98A2B3"/>
            </a:solidFill>
            <a:prstDash val="solid"/>
            <a:tailEnd type="triangle"/>
          </a:ln>
        </p:spPr>
      </p:sp>
      <p:sp>
        <p:nvSpPr>
          <p:cNvPr id="16" name="step:3:wipeL"/>
          <p:cNvSpPr/>
          <p:nvPr/>
        </p:nvSpPr>
        <p:spPr>
          <a:xfrm>
            <a:off x="9589008" y="2865882"/>
            <a:ext cx="359664" cy="0"/>
          </a:xfrm>
          <a:prstGeom prst="line">
            <a:avLst/>
          </a:prstGeom>
          <a:noFill/>
          <a:ln w="15875">
            <a:solidFill>
              <a:srgbClr val="98A2B3"/>
            </a:solidFill>
            <a:prstDash val="solid"/>
            <a:tailEnd type="triangle"/>
          </a:ln>
        </p:spPr>
      </p:sp>
      <p:sp>
        <p:nvSpPr>
          <p:cNvPr id="17" name="step:4:wipeL"/>
          <p:cNvSpPr/>
          <p:nvPr/>
        </p:nvSpPr>
        <p:spPr>
          <a:xfrm flipV="1">
            <a:off x="7071360" y="3180588"/>
            <a:ext cx="0" cy="989076"/>
          </a:xfrm>
          <a:prstGeom prst="line">
            <a:avLst/>
          </a:prstGeom>
          <a:noFill/>
          <a:ln w="15875">
            <a:solidFill>
              <a:srgbClr val="98A2B3"/>
            </a:solidFill>
            <a:prstDash val="dash"/>
            <a:tailEnd type="triangle"/>
          </a:ln>
        </p:spPr>
      </p:sp>
      <p:sp>
        <p:nvSpPr>
          <p:cNvPr id="18" name="step:5:wipeL"/>
          <p:cNvSpPr/>
          <p:nvPr/>
        </p:nvSpPr>
        <p:spPr>
          <a:xfrm>
            <a:off x="10668000" y="3180588"/>
            <a:ext cx="0" cy="989076"/>
          </a:xfrm>
          <a:prstGeom prst="line">
            <a:avLst/>
          </a:prstGeom>
          <a:noFill/>
          <a:ln w="15875">
            <a:solidFill>
              <a:srgbClr val="98A2B3"/>
            </a:solidFill>
            <a:prstDash val="solid"/>
            <a:tailEnd type="triangle"/>
          </a:ln>
        </p:spPr>
      </p:sp>
      <p:sp>
        <p:nvSpPr>
          <p:cNvPr id="19" name="step:1:wipeD"/>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step:1:wipeD"/>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step:2:wipeD"/>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step:2:wipeD"/>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step:3:wipeD"/>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step:3:wipeD"/>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step:4:wipeD"/>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6" name="step:4:wipeD"/>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7" name="step:5:wipeD"/>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8" name="step:5:wipeD"/>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29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30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auto:0:wipeL"/>
          <p:cNvSpPr/>
          <p:nvPr/>
        </p:nvSpPr>
        <p:spPr>
          <a:xfrm>
            <a:off x="7700772" y="2865882"/>
            <a:ext cx="494538" cy="0"/>
          </a:xfrm>
          <a:prstGeom prst="line">
            <a:avLst/>
          </a:prstGeom>
          <a:noFill/>
          <a:ln w="15875">
            <a:solidFill>
              <a:srgbClr val="98A2B3"/>
            </a:solidFill>
            <a:prstDash val="solid"/>
            <a:tailEnd type="triangle"/>
          </a:ln>
        </p:spPr>
      </p:sp>
      <p:sp>
        <p:nvSpPr>
          <p:cNvPr id="18" name="auto:1:wipeL"/>
          <p:cNvSpPr/>
          <p:nvPr/>
        </p:nvSpPr>
        <p:spPr>
          <a:xfrm>
            <a:off x="9544050" y="2865882"/>
            <a:ext cx="494538" cy="0"/>
          </a:xfrm>
          <a:prstGeom prst="line">
            <a:avLst/>
          </a:prstGeom>
          <a:noFill/>
          <a:ln w="15875">
            <a:solidFill>
              <a:srgbClr val="98A2B3"/>
            </a:solidFill>
            <a:prstDash val="solid"/>
            <a:tailEnd type="triangle"/>
          </a:ln>
        </p:spPr>
      </p:sp>
      <p:sp>
        <p:nvSpPr>
          <p:cNvPr id="19" name="auto:2:wipeL"/>
          <p:cNvSpPr/>
          <p:nvPr/>
        </p:nvSpPr>
        <p:spPr>
          <a:xfrm>
            <a:off x="8869680" y="3180588"/>
            <a:ext cx="0" cy="899160"/>
          </a:xfrm>
          <a:prstGeom prst="line">
            <a:avLst/>
          </a:prstGeom>
          <a:noFill/>
          <a:ln w="15875">
            <a:solidFill>
              <a:srgbClr val="98A2B3"/>
            </a:solidFill>
            <a:prstDash val="dash"/>
            <a:tailEnd type="triangle"/>
          </a:ln>
        </p:spPr>
      </p:sp>
      <p:sp>
        <p:nvSpPr>
          <p:cNvPr id="20" name="auto:3:wipeL"/>
          <p:cNvSpPr/>
          <p:nvPr/>
        </p:nvSpPr>
        <p:spPr>
          <a:xfrm flipV="1">
            <a:off x="7700772" y="2865882"/>
            <a:ext cx="2337816" cy="1528572"/>
          </a:xfrm>
          <a:prstGeom prst="line">
            <a:avLst/>
          </a:prstGeom>
          <a:noFill/>
          <a:ln w="15875">
            <a:solidFill>
              <a:srgbClr val="98A2B3"/>
            </a:solidFill>
            <a:prstDash val="dash"/>
            <a:tailEnd type="triangle"/>
          </a:ln>
        </p:spPr>
      </p:sp>
      <p:sp>
        <p:nvSpPr>
          <p:cNvPr id="21" name="auto:4:wipeL"/>
          <p:cNvSpPr/>
          <p:nvPr/>
        </p:nvSpPr>
        <p:spPr>
          <a:xfrm>
            <a:off x="7026402" y="3180588"/>
            <a:ext cx="0" cy="899160"/>
          </a:xfrm>
          <a:prstGeom prst="line">
            <a:avLst/>
          </a:prstGeom>
          <a:noFill/>
          <a:ln w="15875">
            <a:solidFill>
              <a:srgbClr val="98A2B3"/>
            </a:solidFill>
            <a:prstDash val="dash"/>
            <a:tailEnd type="triangle"/>
          </a:ln>
        </p:spPr>
      </p:sp>
      <p:sp>
        <p:nvSpPr>
          <p:cNvPr id="22" name="auto:5:wipeD"/>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auto:6:wipeD"/>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auto:7:wipeD"/>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auto:8:wipeD"/>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auto:9:wipeD"/>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auto:10:wipeD"/>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auto:11:wipeD"/>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29" name="auto:12:wipeD"/>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0" name="auto:13:wipeD"/>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31" name="auto:14:wipeD"/>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31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left)">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wipe(down)">
                                      <p:cBhvr>
                                        <p:cTn id="46" dur="350"/>
                                        <p:tgtEl>
                                          <p:spTgt spid="31"/>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wipe(left)">
                                      <p:cBhvr>
                                        <p:cTn id="91" dur="350"/>
                                        <p:tgtEl>
                                          <p:spTgt spid="15"/>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wipe(left)">
                                      <p:cBhvr>
                                        <p:cTn id="94"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Compute is next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auto:0:wipeD"/>
          <p:cNvSpPr/>
          <p:nvPr/>
        </p:nvSpPr>
        <p:spPr>
          <a:xfrm>
            <a:off x="6172200" y="2286000"/>
            <a:ext cx="1261872" cy="658368"/>
          </a:xfrm>
          <a:prstGeom prst="roundRect">
            <a:avLst>
              <a:gd name="adj" fmla="val 11111"/>
            </a:avLst>
          </a:prstGeom>
          <a:solidFill>
            <a:srgbClr val="FFFFFF"/>
          </a:solidFill>
          <a:ln w="12700">
            <a:solidFill>
              <a:srgbClr val="E4572E"/>
            </a:solidFill>
            <a:prstDash val="solid"/>
          </a:ln>
        </p:spPr>
      </p:sp>
      <p:sp>
        <p:nvSpPr>
          <p:cNvPr id="14" name="auto:1:wipeD"/>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Compute</a:t>
            </a:r>
            <a:endParaRPr lang="en-US" sz="1050" dirty="0"/>
          </a:p>
        </p:txBody>
      </p:sp>
      <p:sp>
        <p:nvSpPr>
          <p:cNvPr id="15" name="auto:2:wipeD"/>
          <p:cNvSpPr txBox="1"/>
          <p:nvPr/>
        </p:nvSpPr>
        <p:spPr>
          <a:xfrm>
            <a:off x="6885432" y="2340864"/>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16" name="auto:3:wipeD"/>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7" name="auto:4:wipeD"/>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8" name="auto:5:wipeD"/>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9" name="auto:6:wipeD"/>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20" name="auto:7:wipeD"/>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1" name="auto:8:wipeD"/>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2" name="auto:9:wipeD"/>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3" name="auto:10:wipeD"/>
          <p:cNvSpPr/>
          <p:nvPr/>
        </p:nvSpPr>
        <p:spPr>
          <a:xfrm>
            <a:off x="6172200" y="3054096"/>
            <a:ext cx="1261872" cy="658368"/>
          </a:xfrm>
          <a:prstGeom prst="roundRect">
            <a:avLst>
              <a:gd name="adj" fmla="val 11111"/>
            </a:avLst>
          </a:prstGeom>
          <a:solidFill>
            <a:srgbClr val="F4F5F7"/>
          </a:solidFill>
          <a:ln w="12700">
            <a:solidFill>
              <a:srgbClr val="E4E7EC"/>
            </a:solidFill>
            <a:prstDash val="solid"/>
          </a:ln>
        </p:spPr>
      </p:sp>
      <p:sp>
        <p:nvSpPr>
          <p:cNvPr id="24" name="auto:11:wipeD"/>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Object Storage</a:t>
            </a:r>
            <a:endParaRPr lang="en-US" sz="1050" dirty="0"/>
          </a:p>
        </p:txBody>
      </p:sp>
      <p:sp>
        <p:nvSpPr>
          <p:cNvPr id="25" name="auto:12:wipeD"/>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auto:13:wipeD"/>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auto:14:wipeD"/>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auto:15:wipeD"/>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auto:16:wipeD"/>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auto:17:wipeD"/>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auto:18:wipeD"/>
          <p:cNvSpPr/>
          <p:nvPr/>
        </p:nvSpPr>
        <p:spPr>
          <a:xfrm>
            <a:off x="6172200" y="3822192"/>
            <a:ext cx="1261872" cy="658368"/>
          </a:xfrm>
          <a:prstGeom prst="roundRect">
            <a:avLst>
              <a:gd name="adj" fmla="val 11111"/>
            </a:avLst>
          </a:prstGeom>
          <a:solidFill>
            <a:srgbClr val="FFFFFF"/>
          </a:solidFill>
          <a:ln w="12700">
            <a:solidFill>
              <a:srgbClr val="E4572E"/>
            </a:solidFill>
            <a:prstDash val="solid"/>
          </a:ln>
        </p:spPr>
      </p:sp>
      <p:sp>
        <p:nvSpPr>
          <p:cNvPr id="32" name="auto:19:wipeD"/>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Dev Tools</a:t>
            </a:r>
            <a:endParaRPr lang="en-US" sz="1050" dirty="0"/>
          </a:p>
        </p:txBody>
      </p:sp>
      <p:sp>
        <p:nvSpPr>
          <p:cNvPr id="33" name="auto:20:wipeD"/>
          <p:cNvSpPr txBox="1"/>
          <p:nvPr/>
        </p:nvSpPr>
        <p:spPr>
          <a:xfrm>
            <a:off x="6885432" y="3877056"/>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34" name="auto:21:wipeD"/>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5" name="auto:22:wipeD"/>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6" name="auto:23:wipeD"/>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7" name="auto:24:wipeD"/>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8" name="auto:25:wipeD"/>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9" name="auto:26:wipeD"/>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40" name="Text 3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32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22" presetClass="entr" presetSubtype="4"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350"/>
                                        <p:tgtEl>
                                          <p:spTgt spid="14"/>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350"/>
                                        <p:tgtEl>
                                          <p:spTgt spid="16"/>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350"/>
                                        <p:tgtEl>
                                          <p:spTgt spid="17"/>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350"/>
                                        <p:tgtEl>
                                          <p:spTgt spid="18"/>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wipe(down)">
                                      <p:cBhvr>
                                        <p:cTn id="22" dur="350"/>
                                        <p:tgtEl>
                                          <p:spTgt spid="19"/>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wipe(down)">
                                      <p:cBhvr>
                                        <p:cTn id="25" dur="350"/>
                                        <p:tgtEl>
                                          <p:spTgt spid="20"/>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wipe(down)">
                                      <p:cBhvr>
                                        <p:cTn id="28" dur="350"/>
                                        <p:tgtEl>
                                          <p:spTgt spid="21"/>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wipe(down)">
                                      <p:cBhvr>
                                        <p:cTn id="31" dur="350"/>
                                        <p:tgtEl>
                                          <p:spTgt spid="22"/>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wipe(down)">
                                      <p:cBhvr>
                                        <p:cTn id="34" dur="350"/>
                                        <p:tgtEl>
                                          <p:spTgt spid="23"/>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wipe(down)">
                                      <p:cBhvr>
                                        <p:cTn id="37" dur="350"/>
                                        <p:tgtEl>
                                          <p:spTgt spid="24"/>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wipe(down)">
                                      <p:cBhvr>
                                        <p:cTn id="40" dur="350"/>
                                        <p:tgtEl>
                                          <p:spTgt spid="25"/>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wipe(down)">
                                      <p:cBhvr>
                                        <p:cTn id="43" dur="350"/>
                                        <p:tgtEl>
                                          <p:spTgt spid="26"/>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350"/>
                                        <p:tgtEl>
                                          <p:spTgt spid="27"/>
                                        </p:tgtEl>
                                      </p:cBhvr>
                                    </p:animEffect>
                                  </p:childTnLst>
                                </p:cTn>
                              </p:par>
                              <p:par>
                                <p:cTn id="50" presetID="22" presetClass="entr" presetSubtype="4"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wipe(down)">
                                      <p:cBhvr>
                                        <p:cTn id="49" dur="350"/>
                                        <p:tgtEl>
                                          <p:spTgt spid="28"/>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wipe(down)">
                                      <p:cBhvr>
                                        <p:cTn id="52" dur="350"/>
                                        <p:tgtEl>
                                          <p:spTgt spid="29"/>
                                        </p:tgtEl>
                                      </p:cBhvr>
                                    </p:animEffect>
                                  </p:childTnLst>
                                </p:cTn>
                              </p:par>
                              <p:par>
                                <p:cTn id="56" presetID="22" presetClass="entr" presetSubtype="4"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wipe(down)">
                                      <p:cBhvr>
                                        <p:cTn id="55" dur="350"/>
                                        <p:tgtEl>
                                          <p:spTgt spid="30"/>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down)">
                                      <p:cBhvr>
                                        <p:cTn id="58" dur="350"/>
                                        <p:tgtEl>
                                          <p:spTgt spid="31"/>
                                        </p:tgtEl>
                                      </p:cBhvr>
                                    </p:animEffect>
                                  </p:childTnLst>
                                </p:cTn>
                              </p:par>
                              <p:par>
                                <p:cTn id="62" presetID="22" presetClass="entr" presetSubtype="4"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wipe(down)">
                                      <p:cBhvr>
                                        <p:cTn id="61" dur="350"/>
                                        <p:tgtEl>
                                          <p:spTgt spid="32"/>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wipe(down)">
                                      <p:cBhvr>
                                        <p:cTn id="64" dur="350"/>
                                        <p:tgtEl>
                                          <p:spTgt spid="33"/>
                                        </p:tgtEl>
                                      </p:cBhvr>
                                    </p:animEffect>
                                  </p:childTnLst>
                                </p:cTn>
                              </p:par>
                              <p:par>
                                <p:cTn id="68" presetID="22" presetClass="entr" presetSubtype="4"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wipe(down)">
                                      <p:cBhvr>
                                        <p:cTn id="67" dur="350"/>
                                        <p:tgtEl>
                                          <p:spTgt spid="34"/>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down)">
                                      <p:cBhvr>
                                        <p:cTn id="70" dur="350"/>
                                        <p:tgtEl>
                                          <p:spTgt spid="35"/>
                                        </p:tgtEl>
                                      </p:cBhvr>
                                    </p:animEffect>
                                  </p:childTnLst>
                                </p:cTn>
                              </p:par>
                              <p:par>
                                <p:cTn id="74" presetID="22" presetClass="entr" presetSubtype="4" fill="hold" grpId="0" nodeType="withEffect">
                                  <p:stCondLst>
                                    <p:cond delay="1840"/>
                                  </p:stCondLst>
                                  <p:childTnLst>
                                    <p:set>
                                      <p:cBhvr>
                                        <p:cTn id="72" dur="1" fill="hold">
                                          <p:stCondLst>
                                            <p:cond delay="0"/>
                                          </p:stCondLst>
                                        </p:cTn>
                                        <p:tgtEl>
                                          <p:spTgt spid="36"/>
                                        </p:tgtEl>
                                        <p:attrNameLst>
                                          <p:attrName>style.visibility</p:attrName>
                                        </p:attrNameLst>
                                      </p:cBhvr>
                                      <p:to>
                                        <p:strVal val="visible"/>
                                      </p:to>
                                    </p:set>
                                    <p:animEffect transition="in" filter="wipe(down)">
                                      <p:cBhvr>
                                        <p:cTn id="73" dur="350"/>
                                        <p:tgtEl>
                                          <p:spTgt spid="36"/>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7"/>
                                        </p:tgtEl>
                                        <p:attrNameLst>
                                          <p:attrName>style.visibility</p:attrName>
                                        </p:attrNameLst>
                                      </p:cBhvr>
                                      <p:to>
                                        <p:strVal val="visible"/>
                                      </p:to>
                                    </p:set>
                                    <p:animEffect transition="in" filter="wipe(down)">
                                      <p:cBhvr>
                                        <p:cTn id="76" dur="350"/>
                                        <p:tgtEl>
                                          <p:spTgt spid="37"/>
                                        </p:tgtEl>
                                      </p:cBhvr>
                                    </p:animEffect>
                                  </p:childTnLst>
                                </p:cTn>
                              </p:par>
                              <p:par>
                                <p:cTn id="80" presetID="22" presetClass="entr" presetSubtype="4" fill="hold" grpId="0" nodeType="withEffect">
                                  <p:stCondLst>
                                    <p:cond delay="2000"/>
                                  </p:stCondLst>
                                  <p:childTnLst>
                                    <p:set>
                                      <p:cBhvr>
                                        <p:cTn id="78" dur="1" fill="hold">
                                          <p:stCondLst>
                                            <p:cond delay="0"/>
                                          </p:stCondLst>
                                        </p:cTn>
                                        <p:tgtEl>
                                          <p:spTgt spid="38"/>
                                        </p:tgtEl>
                                        <p:attrNameLst>
                                          <p:attrName>style.visibility</p:attrName>
                                        </p:attrNameLst>
                                      </p:cBhvr>
                                      <p:to>
                                        <p:strVal val="visible"/>
                                      </p:to>
                                    </p:set>
                                    <p:animEffect transition="in" filter="wipe(down)">
                                      <p:cBhvr>
                                        <p:cTn id="79" dur="350"/>
                                        <p:tgtEl>
                                          <p:spTgt spid="38"/>
                                        </p:tgtEl>
                                      </p:cBhvr>
                                    </p:animEffect>
                                  </p:childTnLst>
                                </p:cTn>
                              </p:par>
                              <p:par>
                                <p:cTn id="83" presetID="22" presetClass="entr" presetSubtype="4" fill="hold" grpId="0" nodeType="withEffect">
                                  <p:stCondLst>
                                    <p:cond delay="2080"/>
                                  </p:stCondLst>
                                  <p:childTnLst>
                                    <p:set>
                                      <p:cBhvr>
                                        <p:cTn id="81" dur="1" fill="hold">
                                          <p:stCondLst>
                                            <p:cond delay="0"/>
                                          </p:stCondLst>
                                        </p:cTn>
                                        <p:tgtEl>
                                          <p:spTgt spid="39"/>
                                        </p:tgtEl>
                                        <p:attrNameLst>
                                          <p:attrName>style.visibility</p:attrName>
                                        </p:attrNameLst>
                                      </p:cBhvr>
                                      <p:to>
                                        <p:strVal val="visible"/>
                                      </p:to>
                                    </p:set>
                                    <p:animEffect transition="in" filter="wipe(down)">
                                      <p:cBhvr>
                                        <p:cTn id="82" dur="350"/>
                                        <p:tgtEl>
                                          <p:spTgt spid="39"/>
                                        </p:tgtEl>
                                      </p:cBhvr>
                                    </p:animEffect>
                                  </p:childTnLst>
                                </p:cTn>
                              </p:par>
                            </p:childTnLst>
                          </p:cTn>
                        </p:par>
                      </p:childTnLst>
                    </p:cTn>
                  </p:par>
                  <p:par>
                    <p:cTn id="92" fill="hold">
                      <p:stCondLst>
                        <p:cond delay="indefinite"/>
                      </p:stCondLst>
                      <p:childTnLst>
                        <p:par>
                          <p:cTn id="93" fill="hold">
                            <p:stCondLst>
                              <p:cond delay="0"/>
                            </p:stCondLst>
                            <p:childTnLst>
                              <p:par>
                                <p:cTn id="88" presetID="22" presetClass="entr" presetSubtype="8" fill="hold" grpId="0" nodeType="clickEffect">
                                  <p:stCondLst>
                                    <p:cond delay="0"/>
                                  </p:stCondLst>
                                  <p:childTnLst>
                                    <p:set>
                                      <p:cBhvr>
                                        <p:cTn id="86" dur="1" fill="hold">
                                          <p:stCondLst>
                                            <p:cond delay="0"/>
                                          </p:stCondLst>
                                        </p:cTn>
                                        <p:tgtEl>
                                          <p:spTgt spid="5"/>
                                        </p:tgtEl>
                                        <p:attrNameLst>
                                          <p:attrName>style.visibility</p:attrName>
                                        </p:attrNameLst>
                                      </p:cBhvr>
                                      <p:to>
                                        <p:strVal val="visible"/>
                                      </p:to>
                                    </p:set>
                                    <p:animEffect transition="in" filter="wipe(left)">
                                      <p:cBhvr>
                                        <p:cTn id="87" dur="350"/>
                                        <p:tgtEl>
                                          <p:spTgt spid="5"/>
                                        </p:tgtEl>
                                      </p:cBhvr>
                                    </p:animEffect>
                                  </p:childTnLst>
                                </p:cTn>
                              </p:par>
                              <p:par>
                                <p:cTn id="91" presetID="22" presetClass="entr" presetSubtype="8" fill="hold" grpId="0" nodeType="withEffect">
                                  <p:stCondLst>
                                    <p:cond delay="0"/>
                                  </p:stCondLst>
                                  <p:childTnLst>
                                    <p:set>
                                      <p:cBhvr>
                                        <p:cTn id="89" dur="1" fill="hold">
                                          <p:stCondLst>
                                            <p:cond delay="0"/>
                                          </p:stCondLst>
                                        </p:cTn>
                                        <p:tgtEl>
                                          <p:spTgt spid="6"/>
                                        </p:tgtEl>
                                        <p:attrNameLst>
                                          <p:attrName>style.visibility</p:attrName>
                                        </p:attrNameLst>
                                      </p:cBhvr>
                                      <p:to>
                                        <p:strVal val="visible"/>
                                      </p:to>
                                    </p:set>
                                    <p:animEffect transition="in" filter="wipe(left)">
                                      <p:cBhvr>
                                        <p:cTn id="90" dur="350"/>
                                        <p:tgtEl>
                                          <p:spTgt spid="6"/>
                                        </p:tgtEl>
                                      </p:cBhvr>
                                    </p:animEffect>
                                  </p:childTnLst>
                                </p:cTn>
                              </p:par>
                            </p:childTnLst>
                          </p:cTn>
                        </p:par>
                      </p:childTnLst>
                    </p:cTn>
                  </p:par>
                  <p:par>
                    <p:cTn id="100" fill="hold">
                      <p:stCondLst>
                        <p:cond delay="indefinite"/>
                      </p:stCondLst>
                      <p:childTnLst>
                        <p:par>
                          <p:cTn id="101" fill="hold">
                            <p:stCondLst>
                              <p:cond delay="0"/>
                            </p:stCondLst>
                            <p:childTnLst>
                              <p:par>
                                <p:cTn id="96" presetID="22" presetClass="entr" presetSubtype="8" fill="hold" grpId="0" nodeType="clickEffect">
                                  <p:stCondLst>
                                    <p:cond delay="0"/>
                                  </p:stCondLst>
                                  <p:childTnLst>
                                    <p:set>
                                      <p:cBhvr>
                                        <p:cTn id="94" dur="1" fill="hold">
                                          <p:stCondLst>
                                            <p:cond delay="0"/>
                                          </p:stCondLst>
                                        </p:cTn>
                                        <p:tgtEl>
                                          <p:spTgt spid="7"/>
                                        </p:tgtEl>
                                        <p:attrNameLst>
                                          <p:attrName>style.visibility</p:attrName>
                                        </p:attrNameLst>
                                      </p:cBhvr>
                                      <p:to>
                                        <p:strVal val="visible"/>
                                      </p:to>
                                    </p:set>
                                    <p:animEffect transition="in" filter="wipe(left)">
                                      <p:cBhvr>
                                        <p:cTn id="95" dur="350"/>
                                        <p:tgtEl>
                                          <p:spTgt spid="7"/>
                                        </p:tgtEl>
                                      </p:cBhvr>
                                    </p:animEffect>
                                  </p:childTnLst>
                                </p:cTn>
                              </p:par>
                              <p:par>
                                <p:cTn id="99" presetID="22" presetClass="entr" presetSubtype="8" fill="hold" grpId="0" nodeType="withEffect">
                                  <p:stCondLst>
                                    <p:cond delay="0"/>
                                  </p:stCondLst>
                                  <p:childTnLst>
                                    <p:set>
                                      <p:cBhvr>
                                        <p:cTn id="97" dur="1" fill="hold">
                                          <p:stCondLst>
                                            <p:cond delay="0"/>
                                          </p:stCondLst>
                                        </p:cTn>
                                        <p:tgtEl>
                                          <p:spTgt spid="8"/>
                                        </p:tgtEl>
                                        <p:attrNameLst>
                                          <p:attrName>style.visibility</p:attrName>
                                        </p:attrNameLst>
                                      </p:cBhvr>
                                      <p:to>
                                        <p:strVal val="visible"/>
                                      </p:to>
                                    </p:set>
                                    <p:animEffect transition="in" filter="wipe(left)">
                                      <p:cBhvr>
                                        <p:cTn id="98" dur="350"/>
                                        <p:tgtEl>
                                          <p:spTgt spid="8"/>
                                        </p:tgtEl>
                                      </p:cBhvr>
                                    </p:animEffect>
                                  </p:childTnLst>
                                </p:cTn>
                              </p:par>
                            </p:childTnLst>
                          </p:cTn>
                        </p:par>
                      </p:childTnLst>
                    </p:cTn>
                  </p:par>
                  <p:par>
                    <p:cTn id="108" fill="hold">
                      <p:stCondLst>
                        <p:cond delay="indefinite"/>
                      </p:stCondLst>
                      <p:childTnLst>
                        <p:par>
                          <p:cTn id="109" fill="hold">
                            <p:stCondLst>
                              <p:cond delay="0"/>
                            </p:stCondLst>
                            <p:childTnLst>
                              <p:par>
                                <p:cTn id="104" presetID="22" presetClass="entr" presetSubtype="8" fill="hold" grpId="0" nodeType="click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left)">
                                      <p:cBhvr>
                                        <p:cTn id="103" dur="350"/>
                                        <p:tgtEl>
                                          <p:spTgt spid="9"/>
                                        </p:tgtEl>
                                      </p:cBhvr>
                                    </p:animEffect>
                                  </p:childTnLst>
                                </p:cTn>
                              </p:par>
                              <p:par>
                                <p:cTn id="107" presetID="22" presetClass="entr" presetSubtype="8" fill="hold" grpId="0" nodeType="withEffect">
                                  <p:stCondLst>
                                    <p:cond delay="0"/>
                                  </p:stCondLst>
                                  <p:childTnLst>
                                    <p:set>
                                      <p:cBhvr>
                                        <p:cTn id="105" dur="1" fill="hold">
                                          <p:stCondLst>
                                            <p:cond delay="0"/>
                                          </p:stCondLst>
                                        </p:cTn>
                                        <p:tgtEl>
                                          <p:spTgt spid="10"/>
                                        </p:tgtEl>
                                        <p:attrNameLst>
                                          <p:attrName>style.visibility</p:attrName>
                                        </p:attrNameLst>
                                      </p:cBhvr>
                                      <p:to>
                                        <p:strVal val="visible"/>
                                      </p:to>
                                    </p:set>
                                    <p:animEffect transition="in" filter="wipe(left)">
                                      <p:cBhvr>
                                        <p:cTn id="106" dur="350"/>
                                        <p:tgtEl>
                                          <p:spTgt spid="10"/>
                                        </p:tgtEl>
                                      </p:cBhvr>
                                    </p:animEffect>
                                  </p:childTnLst>
                                </p:cTn>
                              </p:par>
                            </p:childTnLst>
                          </p:cTn>
                        </p:par>
                      </p:childTnLst>
                    </p:cTn>
                  </p:par>
                  <p:par>
                    <p:cTn id="116" fill="hold">
                      <p:stCondLst>
                        <p:cond delay="indefinite"/>
                      </p:stCondLst>
                      <p:childTnLst>
                        <p:par>
                          <p:cTn id="117" fill="hold">
                            <p:stCondLst>
                              <p:cond delay="0"/>
                            </p:stCondLst>
                            <p:childTnLst>
                              <p:par>
                                <p:cTn id="112" presetID="22" presetClass="entr" presetSubtype="8" fill="hold" grpId="0" nodeType="clickEffect">
                                  <p:stCondLst>
                                    <p:cond delay="0"/>
                                  </p:stCondLst>
                                  <p:childTnLst>
                                    <p:set>
                                      <p:cBhvr>
                                        <p:cTn id="110" dur="1" fill="hold">
                                          <p:stCondLst>
                                            <p:cond delay="0"/>
                                          </p:stCondLst>
                                        </p:cTn>
                                        <p:tgtEl>
                                          <p:spTgt spid="11"/>
                                        </p:tgtEl>
                                        <p:attrNameLst>
                                          <p:attrName>style.visibility</p:attrName>
                                        </p:attrNameLst>
                                      </p:cBhvr>
                                      <p:to>
                                        <p:strVal val="visible"/>
                                      </p:to>
                                    </p:set>
                                    <p:animEffect transition="in" filter="wipe(left)">
                                      <p:cBhvr>
                                        <p:cTn id="111" dur="350"/>
                                        <p:tgtEl>
                                          <p:spTgt spid="11"/>
                                        </p:tgtEl>
                                      </p:cBhvr>
                                    </p:animEffect>
                                  </p:childTnLst>
                                </p:cTn>
                              </p:par>
                              <p:par>
                                <p:cTn id="115" presetID="22" presetClass="entr" presetSubtype="8" fill="hold" grpId="0" nodeType="withEffect">
                                  <p:stCondLst>
                                    <p:cond delay="0"/>
                                  </p:stCondLst>
                                  <p:childTnLst>
                                    <p:set>
                                      <p:cBhvr>
                                        <p:cTn id="113" dur="1" fill="hold">
                                          <p:stCondLst>
                                            <p:cond delay="0"/>
                                          </p:stCondLst>
                                        </p:cTn>
                                        <p:tgtEl>
                                          <p:spTgt spid="12"/>
                                        </p:tgtEl>
                                        <p:attrNameLst>
                                          <p:attrName>style.visibility</p:attrName>
                                        </p:attrNameLst>
                                      </p:cBhvr>
                                      <p:to>
                                        <p:strVal val="visible"/>
                                      </p:to>
                                    </p:set>
                                    <p:animEffect transition="in" filter="wipe(left)">
                                      <p:cBhvr>
                                        <p:cTn id="114"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step:6:wipeD"/>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step:6:wipeD"/>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step:6:wipeD"/>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step:7:wipeD"/>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step:7:wipeD"/>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step:7:wipeD"/>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step:8:wipeD"/>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step:8:wipeD"/>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step:8:wipeD"/>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33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52" fill="hold">
                      <p:stCondLst>
                        <p:cond delay="indefinite"/>
                      </p:stCondLst>
                      <p:childTnLst>
                        <p:par>
                          <p:cTn id="53" fill="hold">
                            <p:stCondLst>
                              <p:cond delay="0"/>
                            </p:stCondLst>
                            <p:childTnLst>
                              <p:par>
                                <p:cTn id="45" presetID="22" presetClass="entr" presetSubtype="4"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350"/>
                                        <p:tgtEl>
                                          <p:spTgt spid="15"/>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350"/>
                                        <p:tgtEl>
                                          <p:spTgt spid="16"/>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350"/>
                                        <p:tgtEl>
                                          <p:spTgt spid="17"/>
                                        </p:tgtEl>
                                      </p:cBhvr>
                                    </p:animEffect>
                                  </p:childTnLst>
                                </p:cTn>
                              </p:par>
                            </p:childTnLst>
                          </p:cTn>
                        </p:par>
                      </p:childTnLst>
                    </p:cTn>
                  </p:par>
                  <p:par>
                    <p:cTn id="63" fill="hold">
                      <p:stCondLst>
                        <p:cond delay="indefinite"/>
                      </p:stCondLst>
                      <p:childTnLst>
                        <p:par>
                          <p:cTn id="64" fill="hold">
                            <p:stCondLst>
                              <p:cond delay="0"/>
                            </p:stCondLst>
                            <p:childTnLst>
                              <p:par>
                                <p:cTn id="56" presetID="22" presetClass="entr" presetSubtype="4"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down)">
                                      <p:cBhvr>
                                        <p:cTn id="55" dur="350"/>
                                        <p:tgtEl>
                                          <p:spTgt spid="18"/>
                                        </p:tgtEl>
                                      </p:cBhvr>
                                    </p:animEffect>
                                  </p:childTnLst>
                                </p:cTn>
                              </p:par>
                              <p:par>
                                <p:cTn id="59" presetID="22" presetClass="entr" presetSubtype="4"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down)">
                                      <p:cBhvr>
                                        <p:cTn id="58" dur="350"/>
                                        <p:tgtEl>
                                          <p:spTgt spid="19"/>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wipe(down)">
                                      <p:cBhvr>
                                        <p:cTn id="61" dur="350"/>
                                        <p:tgtEl>
                                          <p:spTgt spid="20"/>
                                        </p:tgtEl>
                                      </p:cBhvr>
                                    </p:animEffect>
                                  </p:childTnLst>
                                </p:cTn>
                              </p:par>
                            </p:childTnLst>
                          </p:cTn>
                        </p:par>
                      </p:childTnLst>
                    </p:cTn>
                  </p:par>
                  <p:par>
                    <p:cTn id="74" fill="hold">
                      <p:stCondLst>
                        <p:cond delay="indefinite"/>
                      </p:stCondLst>
                      <p:childTnLst>
                        <p:par>
                          <p:cTn id="75" fill="hold">
                            <p:stCondLst>
                              <p:cond delay="0"/>
                            </p:stCondLst>
                            <p:childTnLst>
                              <p:par>
                                <p:cTn id="67" presetID="22" presetClass="entr" presetSubtype="4" fill="hold" grpId="0" nodeType="click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down)">
                                      <p:cBhvr>
                                        <p:cTn id="66" dur="350"/>
                                        <p:tgtEl>
                                          <p:spTgt spid="21"/>
                                        </p:tgtEl>
                                      </p:cBhvr>
                                    </p:animEffect>
                                  </p:childTnLst>
                                </p:cTn>
                              </p:par>
                              <p:par>
                                <p:cTn id="70" presetID="22" presetClass="entr" presetSubtype="4"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down)">
                                      <p:cBhvr>
                                        <p:cTn id="69" dur="350"/>
                                        <p:tgtEl>
                                          <p:spTgt spid="22"/>
                                        </p:tgtEl>
                                      </p:cBhvr>
                                    </p:animEffect>
                                  </p:childTnLst>
                                </p:cTn>
                              </p:par>
                              <p:par>
                                <p:cTn id="73" presetID="22" presetClass="entr" presetSubtype="4"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wipe(down)">
                                      <p:cBhvr>
                                        <p:cTn id="72" dur="3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zoom"/>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fade"/>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zoom"/>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fade"/>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zoom"/>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fade"/>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zoom"/>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fade"/>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zoom"/>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fade"/>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zoom"/>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fade"/>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wipeL"/>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wipeL"/>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wipeL"/>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wipeL"/>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wipeL"/>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wipeL"/>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wipeL"/>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wipeL"/>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zoom"/>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34 / 34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6" presetID="53"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50"/>
                                        <p:tgtEl>
                                          <p:spTgt spid="5"/>
                                        </p:tgtEl>
                                      </p:cBhvr>
                                    </p:animEffect>
                                    <p:animScale>
                                      <p:cBhvr>
                                        <p:cTn id="5" dur="450" fill="hold"/>
                                        <p:tgtEl>
                                          <p:spTgt spid="5"/>
                                        </p:tgtEl>
                                      </p:cBhvr>
                                      <p:from x="60000" y="60000"/>
                                      <p:to x="100000" y="100000"/>
                                    </p:animScale>
                                  </p:childTnLst>
                                </p:cTn>
                              </p:par>
                              <p:par>
                                <p:cTn id="9"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9" fill="hold">
                      <p:stCondLst>
                        <p:cond delay="indefinite"/>
                      </p:stCondLst>
                      <p:childTnLst>
                        <p:par>
                          <p:cTn id="20" fill="hold">
                            <p:stCondLst>
                              <p:cond delay="0"/>
                            </p:stCondLst>
                            <p:childTnLst>
                              <p:par>
                                <p:cTn id="15" presetID="53"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Scale>
                                      <p:cBhvr>
                                        <p:cTn id="14" dur="450" fill="hold"/>
                                        <p:tgtEl>
                                          <p:spTgt spid="7"/>
                                        </p:tgtEl>
                                      </p:cBhvr>
                                      <p:from x="60000" y="60000"/>
                                      <p:to x="100000" y="100000"/>
                                    </p:animScale>
                                  </p:childTnLst>
                                </p:cTn>
                              </p:par>
                              <p:par>
                                <p:cTn id="18"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24" presetID="53"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Scale>
                                      <p:cBhvr>
                                        <p:cTn id="23" dur="450" fill="hold"/>
                                        <p:tgtEl>
                                          <p:spTgt spid="9"/>
                                        </p:tgtEl>
                                      </p:cBhvr>
                                      <p:from x="60000" y="60000"/>
                                      <p:to x="100000" y="100000"/>
                                    </p:animScale>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3" presetID="53"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Scale>
                                      <p:cBhvr>
                                        <p:cTn id="32" dur="450" fill="hold"/>
                                        <p:tgtEl>
                                          <p:spTgt spid="11"/>
                                        </p:tgtEl>
                                      </p:cBhvr>
                                      <p:from x="60000" y="60000"/>
                                      <p:to x="100000" y="100000"/>
                                    </p:animScale>
                                  </p:childTnLst>
                                </p:cTn>
                              </p:par>
                              <p:par>
                                <p:cTn id="36"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2" presetID="53"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Scale>
                                      <p:cBhvr>
                                        <p:cTn id="41" dur="450" fill="hold"/>
                                        <p:tgtEl>
                                          <p:spTgt spid="13"/>
                                        </p:tgtEl>
                                      </p:cBhvr>
                                      <p:from x="60000" y="60000"/>
                                      <p:to x="100000" y="100000"/>
                                    </p:animScale>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childTnLst>
                          </p:cTn>
                        </p:par>
                      </p:childTnLst>
                    </p:cTn>
                  </p:par>
                  <p:par>
                    <p:cTn id="55" fill="hold">
                      <p:stCondLst>
                        <p:cond delay="indefinite"/>
                      </p:stCondLst>
                      <p:childTnLst>
                        <p:par>
                          <p:cTn id="56" fill="hold">
                            <p:stCondLst>
                              <p:cond delay="0"/>
                            </p:stCondLst>
                            <p:childTnLst>
                              <p:par>
                                <p:cTn id="51" presetID="53"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Scale>
                                      <p:cBhvr>
                                        <p:cTn id="50" dur="450" fill="hold"/>
                                        <p:tgtEl>
                                          <p:spTgt spid="15"/>
                                        </p:tgtEl>
                                      </p:cBhvr>
                                      <p:from x="60000" y="60000"/>
                                      <p:to x="100000" y="100000"/>
                                    </p:animScale>
                                  </p:childTnLst>
                                </p:cTn>
                              </p:par>
                              <p:par>
                                <p:cTn id="54"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00"/>
                                        <p:tgtEl>
                                          <p:spTgt spid="16"/>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350"/>
                                        <p:tgtEl>
                                          <p:spTgt spid="19"/>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350"/>
                                        <p:tgtEl>
                                          <p:spTgt spid="20"/>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350"/>
                                        <p:tgtEl>
                                          <p:spTgt spid="21"/>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wipe(left)">
                                      <p:cBhvr>
                                        <p:cTn id="77" dur="350"/>
                                        <p:tgtEl>
                                          <p:spTgt spid="22"/>
                                        </p:tgtEl>
                                      </p:cBhvr>
                                    </p:animEffect>
                                  </p:childTnLst>
                                </p:cTn>
                              </p:par>
                            </p:childTnLst>
                          </p:cTn>
                        </p:par>
                      </p:childTnLst>
                    </p:cTn>
                  </p:par>
                  <p:par>
                    <p:cTn id="87" fill="hold">
                      <p:stCondLst>
                        <p:cond delay="indefinite"/>
                      </p:stCondLst>
                      <p:childTnLst>
                        <p:par>
                          <p:cTn id="88" fill="hold">
                            <p:stCondLst>
                              <p:cond delay="0"/>
                            </p:stCondLst>
                            <p:childTnLst>
                              <p:par>
                                <p:cTn id="83" presetID="22" presetClass="entr" presetSubtype="8" fill="hold" grpId="0" nodeType="click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2" dur="350"/>
                                        <p:tgtEl>
                                          <p:spTgt spid="23"/>
                                        </p:tgtEl>
                                      </p:cBhvr>
                                    </p:animEffect>
                                  </p:childTnLst>
                                </p:cTn>
                              </p:par>
                              <p:par>
                                <p:cTn id="86" presetID="22" presetClass="entr" presetSubtype="8"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wipe(left)">
                                      <p:cBhvr>
                                        <p:cTn id="85" dur="350"/>
                                        <p:tgtEl>
                                          <p:spTgt spid="24"/>
                                        </p:tgtEl>
                                      </p:cBhvr>
                                    </p:animEffect>
                                  </p:childTnLst>
                                </p:cTn>
                              </p:par>
                            </p:childTnLst>
                          </p:cTn>
                        </p:par>
                      </p:childTnLst>
                    </p:cTn>
                  </p:par>
                  <p:par>
                    <p:cTn id="93" fill="hold">
                      <p:stCondLst>
                        <p:cond delay="indefinite"/>
                      </p:stCondLst>
                      <p:childTnLst>
                        <p:par>
                          <p:cTn id="94" fill="hold">
                            <p:stCondLst>
                              <p:cond delay="0"/>
                            </p:stCondLst>
                            <p:childTnLst>
                              <p:par>
                                <p:cTn id="92" presetID="53" presetClass="entr" presetSubtype="0" fill="hold" grpId="0" nodeType="click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Scale>
                                      <p:cBhvr>
                                        <p:cTn id="91" dur="450" fill="hold"/>
                                        <p:tgtEl>
                                          <p:spTgt spid="25"/>
                                        </p:tgtEl>
                                      </p:cBhvr>
                                      <p:from x="60000" y="60000"/>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2026-09-04T18:28:11Z</dcterms:created>
  <dcterms:modified xsi:type="dcterms:W3CDTF">2026-09-04T18:28:11Z</dcterms:modified>
</cp:coreProperties>
</file>