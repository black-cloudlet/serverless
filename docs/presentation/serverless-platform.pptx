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an immutable Revision. The KPA scales revisions on concurrency, including to zero; the Activator buffers requests while a revision wakes. DomainMapping lets us give one workload the same host in both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SERVERLESS ON CLOUDLET</a:t>
            </a:r>
            <a:endParaRPr lang="en-US" sz="1200" dirty="0"/>
          </a:p>
        </p:txBody>
      </p:sp>
      <p:sp>
        <p:nvSpPr>
          <p:cNvPr id="4" name="Text 1"/>
          <p:cNvSpPr txBox="1"/>
          <p:nvPr/>
        </p:nvSpPr>
        <p:spPr>
          <a:xfrm>
            <a:off x="640080" y="2194560"/>
            <a:ext cx="868680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Text 2"/>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Text 3"/>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Shape 4"/>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
        <p:nvSpPr>
          <p:cNvPr id="8" name="Shape 5"/>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Shape 6"/>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AGENDA</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Four chapters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01  Foundations: serverless, Knative, the Operator</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02  The API: contract, mTLS, two regions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03  Functions: buildpacks, kpack, build controller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04  Portal and cloudlet-apis: what comes next</a:t>
            </a:r>
            <a:endParaRPr lang="en-US" sz="1900" dirty="0"/>
          </a:p>
        </p:txBody>
      </p:sp>
      <p:sp>
        <p:nvSpPr>
          <p:cNvPr id="13" name="Text 10"/>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01 → 04</a:t>
            </a:r>
            <a:endParaRPr lang="en-US" sz="5400" dirty="0"/>
          </a:p>
        </p:txBody>
      </p:sp>
      <p:sp>
        <p:nvSpPr>
          <p:cNvPr id="14" name="Text 11"/>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fourteen questions, one platform</a:t>
            </a:r>
            <a:endParaRPr lang="en-US" sz="110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01 · 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Text 12"/>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Text 13"/>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01 · 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Knative?</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Kubernetes building blocks for serverless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Service owns Configuration and Route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Every change is an immutable Revision</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 concurrency in, replicas out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Activator wakes revisions from zero</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DomainMapping: your own hostname</a:t>
            </a:r>
            <a:endParaRPr lang="en-US" sz="1700" dirty="0"/>
          </a:p>
        </p:txBody>
      </p:sp>
      <p:sp>
        <p:nvSpPr>
          <p:cNvPr id="17" name="Shape 14"/>
          <p:cNvSpPr/>
          <p:nvPr/>
        </p:nvSpPr>
        <p:spPr>
          <a:xfrm flipH="1">
            <a:off x="7431024" y="2677058"/>
            <a:ext cx="1438656" cy="593446"/>
          </a:xfrm>
          <a:prstGeom prst="line">
            <a:avLst/>
          </a:prstGeom>
          <a:noFill/>
          <a:ln w="15875">
            <a:solidFill>
              <a:srgbClr val="98A2B3"/>
            </a:solidFill>
            <a:prstDash val="solid"/>
            <a:tailEnd type="triangle"/>
          </a:ln>
        </p:spPr>
      </p:sp>
      <p:sp>
        <p:nvSpPr>
          <p:cNvPr id="18" name="Shape 15"/>
          <p:cNvSpPr/>
          <p:nvPr/>
        </p:nvSpPr>
        <p:spPr>
          <a:xfrm>
            <a:off x="8869680" y="2677058"/>
            <a:ext cx="1438656" cy="593446"/>
          </a:xfrm>
          <a:prstGeom prst="line">
            <a:avLst/>
          </a:prstGeom>
          <a:noFill/>
          <a:ln w="15875">
            <a:solidFill>
              <a:srgbClr val="98A2B3"/>
            </a:solidFill>
            <a:prstDash val="solid"/>
            <a:tailEnd type="triangle"/>
          </a:ln>
        </p:spPr>
      </p:sp>
      <p:sp>
        <p:nvSpPr>
          <p:cNvPr id="19" name="Shape 16"/>
          <p:cNvSpPr/>
          <p:nvPr/>
        </p:nvSpPr>
        <p:spPr>
          <a:xfrm>
            <a:off x="7431024" y="3845966"/>
            <a:ext cx="0" cy="593446"/>
          </a:xfrm>
          <a:prstGeom prst="line">
            <a:avLst/>
          </a:prstGeom>
          <a:noFill/>
          <a:ln w="15875">
            <a:solidFill>
              <a:srgbClr val="98A2B3"/>
            </a:solidFill>
            <a:prstDash val="solid"/>
            <a:tailEnd type="triangle"/>
          </a:ln>
        </p:spPr>
      </p:sp>
      <p:sp>
        <p:nvSpPr>
          <p:cNvPr id="20" name="Shape 17"/>
          <p:cNvSpPr/>
          <p:nvPr/>
        </p:nvSpPr>
        <p:spPr>
          <a:xfrm flipH="1">
            <a:off x="8510016" y="4727143"/>
            <a:ext cx="719328" cy="0"/>
          </a:xfrm>
          <a:prstGeom prst="line">
            <a:avLst/>
          </a:prstGeom>
          <a:noFill/>
          <a:ln w="15875">
            <a:solidFill>
              <a:srgbClr val="98A2B3"/>
            </a:solidFill>
            <a:prstDash val="dash"/>
            <a:tailEnd type="triangle"/>
          </a:ln>
        </p:spPr>
      </p:sp>
      <p:sp>
        <p:nvSpPr>
          <p:cNvPr id="21" name="Shape 18"/>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2" name="Text 19"/>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3" name="Shape 20"/>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4" name="Text 21"/>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a:t>
            </a:r>
            <a:endParaRPr lang="en-US" sz="1200" dirty="0"/>
          </a:p>
        </p:txBody>
      </p:sp>
      <p:sp>
        <p:nvSpPr>
          <p:cNvPr id="25" name="Shape 22"/>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6" name="Text 23"/>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7" name="Shape 24"/>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8" name="Text 25"/>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9" name="Shape 26"/>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30" name="Text 27"/>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Autoscaler (KPA)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replicas</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01 · 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Shape 12"/>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Text 13"/>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Text 14"/>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Shape 15"/>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Text 16"/>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Text 17"/>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Shape 18"/>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Text 19"/>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Text 20"/>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Shape 21"/>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Text 22"/>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Text 23"/>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Shape 24"/>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Text 25"/>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Text 26"/>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01 · 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Shape 8"/>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Text 9"/>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Text 10"/>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Text 11"/>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Text 12"/>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Text 13"/>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Text 14"/>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Text 15"/>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Text 16"/>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Shape 17"/>
          <p:cNvSpPr/>
          <p:nvPr/>
        </p:nvSpPr>
        <p:spPr>
          <a:xfrm>
            <a:off x="6172200" y="3063240"/>
            <a:ext cx="5394960" cy="0"/>
          </a:xfrm>
          <a:prstGeom prst="line">
            <a:avLst/>
          </a:prstGeom>
          <a:noFill/>
          <a:ln w="6350">
            <a:solidFill>
              <a:srgbClr val="E4E7EC"/>
            </a:solidFill>
            <a:prstDash val="solid"/>
          </a:ln>
        </p:spPr>
      </p:sp>
      <p:sp>
        <p:nvSpPr>
          <p:cNvPr id="21" name="Text 18"/>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Text 19"/>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Text 20"/>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Shape 21"/>
          <p:cNvSpPr/>
          <p:nvPr/>
        </p:nvSpPr>
        <p:spPr>
          <a:xfrm>
            <a:off x="6172200" y="3566160"/>
            <a:ext cx="5394960" cy="0"/>
          </a:xfrm>
          <a:prstGeom prst="line">
            <a:avLst/>
          </a:prstGeom>
          <a:noFill/>
          <a:ln w="6350">
            <a:solidFill>
              <a:srgbClr val="E4E7EC"/>
            </a:solidFill>
            <a:prstDash val="solid"/>
          </a:ln>
        </p:spPr>
      </p:sp>
      <p:sp>
        <p:nvSpPr>
          <p:cNvPr id="25" name="Text 22"/>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Text 23"/>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Text 24"/>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Shape 25"/>
          <p:cNvSpPr/>
          <p:nvPr/>
        </p:nvSpPr>
        <p:spPr>
          <a:xfrm>
            <a:off x="6172200" y="4069080"/>
            <a:ext cx="5394960" cy="0"/>
          </a:xfrm>
          <a:prstGeom prst="line">
            <a:avLst/>
          </a:prstGeom>
          <a:noFill/>
          <a:ln w="6350">
            <a:solidFill>
              <a:srgbClr val="E4E7EC"/>
            </a:solidFill>
            <a:prstDash val="solid"/>
          </a:ln>
        </p:spPr>
      </p:sp>
      <p:sp>
        <p:nvSpPr>
          <p:cNvPr id="29" name="Text 26"/>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Text 27"/>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Text 28"/>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Shape 29"/>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914400"/>
            <a:ext cx="5486400" cy="2377440"/>
          </a:xfrm>
          <a:prstGeom prst="rect">
            <a:avLst/>
          </a:prstGeom>
          <a:noFill/>
          <a:ln/>
        </p:spPr>
        <p:txBody>
          <a:bodyPr wrap="square" lIns="0" tIns="0" rIns="0" bIns="0" rtlCol="0" anchor="ctr"/>
          <a:lstStyle/>
          <a:p>
            <a:pPr indent="0" marL="0">
              <a:buNone/>
            </a:pPr>
            <a:r>
              <a:rPr lang="en-US" sz="15000" b="1" dirty="0">
                <a:solidFill>
                  <a:srgbClr val="FFFFFF"/>
                </a:solidFill>
                <a:latin typeface="Century Schoolbook" pitchFamily="34" charset="0"/>
                <a:ea typeface="Century Schoolbook" pitchFamily="34" charset="-122"/>
                <a:cs typeface="Century Schoolbook" pitchFamily="34" charset="-120"/>
              </a:rPr>
              <a:t>02</a:t>
            </a:r>
            <a:endParaRPr lang="en-US" sz="15000" dirty="0"/>
          </a:p>
        </p:txBody>
      </p:sp>
      <p:sp>
        <p:nvSpPr>
          <p:cNvPr id="3" name="Text 1"/>
          <p:cNvSpPr txBox="1"/>
          <p:nvPr/>
        </p:nvSpPr>
        <p:spPr>
          <a:xfrm>
            <a:off x="640080" y="338328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Century Schoolbook" pitchFamily="34" charset="0"/>
                <a:ea typeface="Century Schoolbook" pitchFamily="34" charset="-122"/>
                <a:cs typeface="Century Schoolbook" pitchFamily="34" charset="-120"/>
              </a:rPr>
              <a:t>The API</a:t>
            </a:r>
            <a:endParaRPr lang="en-US" sz="4800" dirty="0"/>
          </a:p>
        </p:txBody>
      </p:sp>
      <p:sp>
        <p:nvSpPr>
          <p:cNvPr id="4" name="Text 2"/>
          <p:cNvSpPr txBox="1"/>
          <p:nvPr/>
        </p:nvSpPr>
        <p:spPr>
          <a:xfrm>
            <a:off x="640080" y="434340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5" name="Text 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07 / 23</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Text 12"/>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Text 13"/>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Text 14"/>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Text 15"/>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Text 16"/>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Text 17"/>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Text 18"/>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Text 19"/>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Shape 10"/>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Text 11"/>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Shape 12"/>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Text 13"/>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Shape 14"/>
          <p:cNvSpPr/>
          <p:nvPr/>
        </p:nvSpPr>
        <p:spPr>
          <a:xfrm>
            <a:off x="7223760" y="2478024"/>
            <a:ext cx="256032" cy="0"/>
          </a:xfrm>
          <a:prstGeom prst="line">
            <a:avLst/>
          </a:prstGeom>
          <a:noFill/>
          <a:ln w="15875">
            <a:solidFill>
              <a:srgbClr val="98A2B3"/>
            </a:solidFill>
            <a:prstDash val="solid"/>
            <a:tailEnd type="triangle"/>
          </a:ln>
        </p:spPr>
      </p:sp>
      <p:sp>
        <p:nvSpPr>
          <p:cNvPr id="18" name="Shape 15"/>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Text 16"/>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Shape 17"/>
          <p:cNvSpPr/>
          <p:nvPr/>
        </p:nvSpPr>
        <p:spPr>
          <a:xfrm>
            <a:off x="8531352" y="2478024"/>
            <a:ext cx="256032" cy="0"/>
          </a:xfrm>
          <a:prstGeom prst="line">
            <a:avLst/>
          </a:prstGeom>
          <a:noFill/>
          <a:ln w="15875">
            <a:solidFill>
              <a:srgbClr val="98A2B3"/>
            </a:solidFill>
            <a:prstDash val="solid"/>
            <a:tailEnd type="triangle"/>
          </a:ln>
        </p:spPr>
      </p:sp>
      <p:sp>
        <p:nvSpPr>
          <p:cNvPr id="21" name="Shape 18"/>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Text 19"/>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Shape 20"/>
          <p:cNvSpPr/>
          <p:nvPr/>
        </p:nvSpPr>
        <p:spPr>
          <a:xfrm>
            <a:off x="9838944" y="2478024"/>
            <a:ext cx="256032" cy="0"/>
          </a:xfrm>
          <a:prstGeom prst="line">
            <a:avLst/>
          </a:prstGeom>
          <a:noFill/>
          <a:ln w="15875">
            <a:solidFill>
              <a:srgbClr val="98A2B3"/>
            </a:solidFill>
            <a:prstDash val="solid"/>
            <a:tailEnd type="triangle"/>
          </a:ln>
        </p:spPr>
      </p:sp>
      <p:sp>
        <p:nvSpPr>
          <p:cNvPr id="24" name="Shape 21"/>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Text 22"/>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Shape 23"/>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Text 24"/>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Text 25"/>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Shape 26"/>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Text 27"/>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Shape 28"/>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Text 29"/>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Shape 30"/>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Text 31"/>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Shape 32"/>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Text 33"/>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Shape 34"/>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Text 35"/>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Shape 12"/>
          <p:cNvSpPr/>
          <p:nvPr/>
        </p:nvSpPr>
        <p:spPr>
          <a:xfrm>
            <a:off x="8599932" y="2686050"/>
            <a:ext cx="539496" cy="0"/>
          </a:xfrm>
          <a:prstGeom prst="line">
            <a:avLst/>
          </a:prstGeom>
          <a:noFill/>
          <a:ln w="15875">
            <a:solidFill>
              <a:srgbClr val="98A2B3"/>
            </a:solidFill>
            <a:prstDash val="solid"/>
            <a:tailEnd type="triangle"/>
          </a:ln>
        </p:spPr>
      </p:sp>
      <p:sp>
        <p:nvSpPr>
          <p:cNvPr id="16" name="Shape 13"/>
          <p:cNvSpPr/>
          <p:nvPr/>
        </p:nvSpPr>
        <p:spPr>
          <a:xfrm>
            <a:off x="10263378" y="3000756"/>
            <a:ext cx="0" cy="809244"/>
          </a:xfrm>
          <a:prstGeom prst="line">
            <a:avLst/>
          </a:prstGeom>
          <a:noFill/>
          <a:ln w="15875">
            <a:solidFill>
              <a:srgbClr val="98A2B3"/>
            </a:solidFill>
            <a:prstDash val="solid"/>
            <a:tailEnd type="triangle"/>
          </a:ln>
        </p:spPr>
      </p:sp>
      <p:sp>
        <p:nvSpPr>
          <p:cNvPr id="17" name="Shape 14"/>
          <p:cNvSpPr/>
          <p:nvPr/>
        </p:nvSpPr>
        <p:spPr>
          <a:xfrm flipH="1">
            <a:off x="8599932" y="4124706"/>
            <a:ext cx="539496" cy="0"/>
          </a:xfrm>
          <a:prstGeom prst="line">
            <a:avLst/>
          </a:prstGeom>
          <a:noFill/>
          <a:ln w="15875">
            <a:solidFill>
              <a:srgbClr val="98A2B3"/>
            </a:solidFill>
            <a:prstDash val="solid"/>
            <a:tailEnd type="triangle"/>
          </a:ln>
        </p:spPr>
      </p:sp>
      <p:sp>
        <p:nvSpPr>
          <p:cNvPr id="18" name="Shape 15"/>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Shape 16"/>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Shape 18"/>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Text 19"/>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Shape 20"/>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Shape 22"/>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Shape 24"/>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Text 25"/>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Shape 12"/>
          <p:cNvSpPr/>
          <p:nvPr/>
        </p:nvSpPr>
        <p:spPr>
          <a:xfrm flipH="1">
            <a:off x="7520940" y="2641092"/>
            <a:ext cx="1348740" cy="719328"/>
          </a:xfrm>
          <a:prstGeom prst="line">
            <a:avLst/>
          </a:prstGeom>
          <a:noFill/>
          <a:ln w="15875">
            <a:solidFill>
              <a:srgbClr val="98A2B3"/>
            </a:solidFill>
            <a:prstDash val="solid"/>
            <a:tailEnd type="triangle"/>
          </a:ln>
        </p:spPr>
      </p:sp>
      <p:sp>
        <p:nvSpPr>
          <p:cNvPr id="16" name="Shape 13"/>
          <p:cNvSpPr/>
          <p:nvPr/>
        </p:nvSpPr>
        <p:spPr>
          <a:xfrm>
            <a:off x="8869680" y="2641092"/>
            <a:ext cx="1348740" cy="719328"/>
          </a:xfrm>
          <a:prstGeom prst="line">
            <a:avLst/>
          </a:prstGeom>
          <a:noFill/>
          <a:ln w="15875">
            <a:solidFill>
              <a:srgbClr val="98A2B3"/>
            </a:solidFill>
            <a:prstDash val="solid"/>
            <a:tailEnd type="triangle"/>
          </a:ln>
        </p:spPr>
      </p:sp>
      <p:sp>
        <p:nvSpPr>
          <p:cNvPr id="17" name="Shape 14"/>
          <p:cNvSpPr/>
          <p:nvPr/>
        </p:nvSpPr>
        <p:spPr>
          <a:xfrm>
            <a:off x="8689848" y="3899916"/>
            <a:ext cx="359664" cy="0"/>
          </a:xfrm>
          <a:prstGeom prst="line">
            <a:avLst/>
          </a:prstGeom>
          <a:noFill/>
          <a:ln w="15875">
            <a:solidFill>
              <a:srgbClr val="98A2B3"/>
            </a:solidFill>
            <a:prstDash val="dash"/>
            <a:tailEnd type="triangle"/>
          </a:ln>
        </p:spPr>
      </p:sp>
      <p:sp>
        <p:nvSpPr>
          <p:cNvPr id="18" name="Shape 15"/>
          <p:cNvSpPr/>
          <p:nvPr/>
        </p:nvSpPr>
        <p:spPr>
          <a:xfrm>
            <a:off x="7520940" y="4439412"/>
            <a:ext cx="1348740" cy="629412"/>
          </a:xfrm>
          <a:prstGeom prst="line">
            <a:avLst/>
          </a:prstGeom>
          <a:noFill/>
          <a:ln w="15875">
            <a:solidFill>
              <a:srgbClr val="98A2B3"/>
            </a:solidFill>
            <a:prstDash val="dash"/>
            <a:tailEnd type="triangle"/>
          </a:ln>
        </p:spPr>
      </p:sp>
      <p:sp>
        <p:nvSpPr>
          <p:cNvPr id="19" name="Shape 16"/>
          <p:cNvSpPr/>
          <p:nvPr/>
        </p:nvSpPr>
        <p:spPr>
          <a:xfrm flipH="1">
            <a:off x="8869680" y="4439412"/>
            <a:ext cx="1348740" cy="629412"/>
          </a:xfrm>
          <a:prstGeom prst="line">
            <a:avLst/>
          </a:prstGeom>
          <a:noFill/>
          <a:ln w="15875">
            <a:solidFill>
              <a:srgbClr val="98A2B3"/>
            </a:solidFill>
            <a:prstDash val="dash"/>
            <a:tailEnd type="triangle"/>
          </a:ln>
        </p:spPr>
      </p:sp>
      <p:sp>
        <p:nvSpPr>
          <p:cNvPr id="20" name="Shape 17"/>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Text 18"/>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Shape 19"/>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Text 20"/>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Shape 21"/>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Text 22"/>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Shape 23"/>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Text 24"/>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02 · 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Shape 14"/>
          <p:cNvSpPr/>
          <p:nvPr/>
        </p:nvSpPr>
        <p:spPr>
          <a:xfrm>
            <a:off x="8330184" y="2578151"/>
            <a:ext cx="899160" cy="0"/>
          </a:xfrm>
          <a:prstGeom prst="line">
            <a:avLst/>
          </a:prstGeom>
          <a:noFill/>
          <a:ln w="15875">
            <a:solidFill>
              <a:srgbClr val="98A2B3"/>
            </a:solidFill>
            <a:prstDash val="solid"/>
            <a:tailEnd type="triangle"/>
          </a:ln>
        </p:spPr>
      </p:sp>
      <p:sp>
        <p:nvSpPr>
          <p:cNvPr id="18" name="Shape 15"/>
          <p:cNvSpPr/>
          <p:nvPr/>
        </p:nvSpPr>
        <p:spPr>
          <a:xfrm flipH="1">
            <a:off x="7520940" y="2874874"/>
            <a:ext cx="2787396" cy="935126"/>
          </a:xfrm>
          <a:prstGeom prst="line">
            <a:avLst/>
          </a:prstGeom>
          <a:noFill/>
          <a:ln w="15875">
            <a:solidFill>
              <a:srgbClr val="98A2B3"/>
            </a:solidFill>
            <a:prstDash val="solid"/>
            <a:tailEnd type="triangle"/>
          </a:ln>
        </p:spPr>
      </p:sp>
      <p:sp>
        <p:nvSpPr>
          <p:cNvPr id="19" name="Shape 16"/>
          <p:cNvSpPr/>
          <p:nvPr/>
        </p:nvSpPr>
        <p:spPr>
          <a:xfrm flipH="1">
            <a:off x="10218420" y="2874874"/>
            <a:ext cx="89916" cy="935126"/>
          </a:xfrm>
          <a:prstGeom prst="line">
            <a:avLst/>
          </a:prstGeom>
          <a:noFill/>
          <a:ln w="15875">
            <a:solidFill>
              <a:srgbClr val="98A2B3"/>
            </a:solidFill>
            <a:prstDash val="solid"/>
            <a:tailEnd type="triangle"/>
          </a:ln>
        </p:spPr>
      </p:sp>
      <p:sp>
        <p:nvSpPr>
          <p:cNvPr id="20" name="Shape 17"/>
          <p:cNvSpPr/>
          <p:nvPr/>
        </p:nvSpPr>
        <p:spPr>
          <a:xfrm flipV="1">
            <a:off x="8869680" y="2874874"/>
            <a:ext cx="1438656" cy="2193950"/>
          </a:xfrm>
          <a:prstGeom prst="line">
            <a:avLst/>
          </a:prstGeom>
          <a:noFill/>
          <a:ln w="15875">
            <a:solidFill>
              <a:srgbClr val="98A2B3"/>
            </a:solidFill>
            <a:prstDash val="dash"/>
            <a:tailEnd type="triangle"/>
          </a:ln>
        </p:spPr>
      </p:sp>
      <p:sp>
        <p:nvSpPr>
          <p:cNvPr id="21" name="Shape 18"/>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Text 19"/>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Shape 20"/>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Text 21"/>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Shape 22"/>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Text 23"/>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Shape 24"/>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Text 25"/>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Shape 26"/>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Text 27"/>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914400"/>
            <a:ext cx="5486400" cy="2377440"/>
          </a:xfrm>
          <a:prstGeom prst="rect">
            <a:avLst/>
          </a:prstGeom>
          <a:noFill/>
          <a:ln/>
        </p:spPr>
        <p:txBody>
          <a:bodyPr wrap="square" lIns="0" tIns="0" rIns="0" bIns="0" rtlCol="0" anchor="ctr"/>
          <a:lstStyle/>
          <a:p>
            <a:pPr indent="0" marL="0">
              <a:buNone/>
            </a:pPr>
            <a:r>
              <a:rPr lang="en-US" sz="15000" b="1" dirty="0">
                <a:solidFill>
                  <a:srgbClr val="FFFFFF"/>
                </a:solidFill>
                <a:latin typeface="Century Schoolbook" pitchFamily="34" charset="0"/>
                <a:ea typeface="Century Schoolbook" pitchFamily="34" charset="-122"/>
                <a:cs typeface="Century Schoolbook" pitchFamily="34" charset="-120"/>
              </a:rPr>
              <a:t>03</a:t>
            </a:r>
            <a:endParaRPr lang="en-US" sz="15000" dirty="0"/>
          </a:p>
        </p:txBody>
      </p:sp>
      <p:sp>
        <p:nvSpPr>
          <p:cNvPr id="3" name="Text 1"/>
          <p:cNvSpPr txBox="1"/>
          <p:nvPr/>
        </p:nvSpPr>
        <p:spPr>
          <a:xfrm>
            <a:off x="640080" y="338328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Century Schoolbook" pitchFamily="34" charset="0"/>
                <a:ea typeface="Century Schoolbook" pitchFamily="34" charset="-122"/>
                <a:cs typeface="Century Schoolbook" pitchFamily="34" charset="-120"/>
              </a:rPr>
              <a:t>Functions &amp; builds</a:t>
            </a:r>
            <a:endParaRPr lang="en-US" sz="4800" dirty="0"/>
          </a:p>
        </p:txBody>
      </p:sp>
      <p:sp>
        <p:nvSpPr>
          <p:cNvPr id="4" name="Text 2"/>
          <p:cNvSpPr txBox="1"/>
          <p:nvPr/>
        </p:nvSpPr>
        <p:spPr>
          <a:xfrm>
            <a:off x="640080" y="434340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5" name="Text 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14 / 23</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03 · 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Shape 12"/>
          <p:cNvSpPr/>
          <p:nvPr/>
        </p:nvSpPr>
        <p:spPr>
          <a:xfrm>
            <a:off x="7880604" y="2551176"/>
            <a:ext cx="1888236" cy="0"/>
          </a:xfrm>
          <a:prstGeom prst="line">
            <a:avLst/>
          </a:prstGeom>
          <a:noFill/>
          <a:ln w="15875">
            <a:solidFill>
              <a:srgbClr val="98A2B3"/>
            </a:solidFill>
            <a:prstDash val="solid"/>
            <a:tailEnd type="triangle"/>
          </a:ln>
        </p:spPr>
      </p:sp>
      <p:sp>
        <p:nvSpPr>
          <p:cNvPr id="16" name="Shape 13"/>
          <p:cNvSpPr/>
          <p:nvPr/>
        </p:nvSpPr>
        <p:spPr>
          <a:xfrm>
            <a:off x="7880604" y="3989832"/>
            <a:ext cx="224790" cy="0"/>
          </a:xfrm>
          <a:prstGeom prst="line">
            <a:avLst/>
          </a:prstGeom>
          <a:noFill/>
          <a:ln w="15875">
            <a:solidFill>
              <a:srgbClr val="98A2B3"/>
            </a:solidFill>
            <a:prstDash val="solid"/>
            <a:tailEnd type="triangle"/>
          </a:ln>
        </p:spPr>
      </p:sp>
      <p:sp>
        <p:nvSpPr>
          <p:cNvPr id="17" name="Shape 14"/>
          <p:cNvSpPr/>
          <p:nvPr/>
        </p:nvSpPr>
        <p:spPr>
          <a:xfrm>
            <a:off x="9633966" y="3989832"/>
            <a:ext cx="134874" cy="0"/>
          </a:xfrm>
          <a:prstGeom prst="line">
            <a:avLst/>
          </a:prstGeom>
          <a:noFill/>
          <a:ln w="15875">
            <a:solidFill>
              <a:srgbClr val="98A2B3"/>
            </a:solidFill>
            <a:prstDash val="solid"/>
            <a:tailEnd type="triangle"/>
          </a:ln>
        </p:spPr>
      </p:sp>
      <p:sp>
        <p:nvSpPr>
          <p:cNvPr id="18" name="Shape 15"/>
          <p:cNvSpPr/>
          <p:nvPr/>
        </p:nvSpPr>
        <p:spPr>
          <a:xfrm flipV="1">
            <a:off x="8869680" y="4259580"/>
            <a:ext cx="0" cy="719328"/>
          </a:xfrm>
          <a:prstGeom prst="line">
            <a:avLst/>
          </a:prstGeom>
          <a:noFill/>
          <a:ln w="15875">
            <a:solidFill>
              <a:srgbClr val="98A2B3"/>
            </a:solidFill>
            <a:prstDash val="dash"/>
            <a:tailEnd type="triangle"/>
          </a:ln>
        </p:spPr>
      </p:sp>
      <p:sp>
        <p:nvSpPr>
          <p:cNvPr id="19" name="Shape 16"/>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Text 17"/>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Shape 18"/>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Shape 20"/>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Text 21"/>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Shape 22"/>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Shape 24"/>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Text 25"/>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Shape 26"/>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Text 27"/>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03 · 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Shape 14"/>
          <p:cNvSpPr/>
          <p:nvPr/>
        </p:nvSpPr>
        <p:spPr>
          <a:xfrm>
            <a:off x="7880604" y="2461260"/>
            <a:ext cx="539496" cy="899160"/>
          </a:xfrm>
          <a:prstGeom prst="line">
            <a:avLst/>
          </a:prstGeom>
          <a:noFill/>
          <a:ln w="15875">
            <a:solidFill>
              <a:srgbClr val="98A2B3"/>
            </a:solidFill>
            <a:prstDash val="solid"/>
            <a:tailEnd type="triangle"/>
          </a:ln>
        </p:spPr>
      </p:sp>
      <p:sp>
        <p:nvSpPr>
          <p:cNvPr id="18" name="Shape 15"/>
          <p:cNvSpPr/>
          <p:nvPr/>
        </p:nvSpPr>
        <p:spPr>
          <a:xfrm>
            <a:off x="7880604" y="3360420"/>
            <a:ext cx="539496" cy="0"/>
          </a:xfrm>
          <a:prstGeom prst="line">
            <a:avLst/>
          </a:prstGeom>
          <a:noFill/>
          <a:ln w="15875">
            <a:solidFill>
              <a:srgbClr val="98A2B3"/>
            </a:solidFill>
            <a:prstDash val="solid"/>
            <a:tailEnd type="triangle"/>
          </a:ln>
        </p:spPr>
      </p:sp>
      <p:sp>
        <p:nvSpPr>
          <p:cNvPr id="19" name="Shape 16"/>
          <p:cNvSpPr/>
          <p:nvPr/>
        </p:nvSpPr>
        <p:spPr>
          <a:xfrm flipV="1">
            <a:off x="7880604" y="3360420"/>
            <a:ext cx="539496" cy="899160"/>
          </a:xfrm>
          <a:prstGeom prst="line">
            <a:avLst/>
          </a:prstGeom>
          <a:noFill/>
          <a:ln w="15875">
            <a:solidFill>
              <a:srgbClr val="98A2B3"/>
            </a:solidFill>
            <a:prstDash val="solid"/>
            <a:tailEnd type="triangle"/>
          </a:ln>
        </p:spPr>
      </p:sp>
      <p:sp>
        <p:nvSpPr>
          <p:cNvPr id="20" name="Shape 17"/>
          <p:cNvSpPr/>
          <p:nvPr/>
        </p:nvSpPr>
        <p:spPr>
          <a:xfrm>
            <a:off x="9274302" y="3630168"/>
            <a:ext cx="0" cy="1078992"/>
          </a:xfrm>
          <a:prstGeom prst="line">
            <a:avLst/>
          </a:prstGeom>
          <a:noFill/>
          <a:ln w="15875">
            <a:solidFill>
              <a:srgbClr val="98A2B3"/>
            </a:solidFill>
            <a:prstDash val="solid"/>
            <a:tailEnd type="triangle"/>
          </a:ln>
        </p:spPr>
      </p:sp>
      <p:sp>
        <p:nvSpPr>
          <p:cNvPr id="21" name="Shape 18"/>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Shape 20"/>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Text 21"/>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Shape 22"/>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Shape 24"/>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Text 25"/>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Shape 26"/>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Text 27"/>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Shape 28"/>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Text 29"/>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03 · 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Shape 12"/>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Text 13"/>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Text 14"/>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Text 15"/>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Shape 16"/>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Text 17"/>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Text 18"/>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Text 19"/>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Shape 20"/>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Text 21"/>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Text 22"/>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Text 23"/>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Shape 24"/>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Text 25"/>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Text 26"/>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Text 27"/>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Shape 28"/>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Text 29"/>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Text 30"/>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Text 31"/>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Shape 32"/>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Text 33"/>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Text 34"/>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Text 35"/>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Shape 36"/>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Text 37"/>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Text 38"/>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Text 39"/>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03 · 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Shape 12"/>
          <p:cNvSpPr/>
          <p:nvPr/>
        </p:nvSpPr>
        <p:spPr>
          <a:xfrm>
            <a:off x="7790688" y="2865882"/>
            <a:ext cx="359664" cy="0"/>
          </a:xfrm>
          <a:prstGeom prst="line">
            <a:avLst/>
          </a:prstGeom>
          <a:noFill/>
          <a:ln w="15875">
            <a:solidFill>
              <a:srgbClr val="98A2B3"/>
            </a:solidFill>
            <a:prstDash val="solid"/>
            <a:tailEnd type="triangle"/>
          </a:ln>
        </p:spPr>
      </p:sp>
      <p:sp>
        <p:nvSpPr>
          <p:cNvPr id="16" name="Shape 13"/>
          <p:cNvSpPr/>
          <p:nvPr/>
        </p:nvSpPr>
        <p:spPr>
          <a:xfrm>
            <a:off x="9589008" y="2865882"/>
            <a:ext cx="359664" cy="0"/>
          </a:xfrm>
          <a:prstGeom prst="line">
            <a:avLst/>
          </a:prstGeom>
          <a:noFill/>
          <a:ln w="15875">
            <a:solidFill>
              <a:srgbClr val="98A2B3"/>
            </a:solidFill>
            <a:prstDash val="solid"/>
            <a:tailEnd type="triangle"/>
          </a:ln>
        </p:spPr>
      </p:sp>
      <p:sp>
        <p:nvSpPr>
          <p:cNvPr id="17" name="Shape 14"/>
          <p:cNvSpPr/>
          <p:nvPr/>
        </p:nvSpPr>
        <p:spPr>
          <a:xfrm>
            <a:off x="10668000" y="3180588"/>
            <a:ext cx="0" cy="989076"/>
          </a:xfrm>
          <a:prstGeom prst="line">
            <a:avLst/>
          </a:prstGeom>
          <a:noFill/>
          <a:ln w="15875">
            <a:solidFill>
              <a:srgbClr val="98A2B3"/>
            </a:solidFill>
            <a:prstDash val="solid"/>
            <a:tailEnd type="triangle"/>
          </a:ln>
        </p:spPr>
      </p:sp>
      <p:sp>
        <p:nvSpPr>
          <p:cNvPr id="18" name="Shape 15"/>
          <p:cNvSpPr/>
          <p:nvPr/>
        </p:nvSpPr>
        <p:spPr>
          <a:xfrm flipV="1">
            <a:off x="7071360" y="3180588"/>
            <a:ext cx="0" cy="989076"/>
          </a:xfrm>
          <a:prstGeom prst="line">
            <a:avLst/>
          </a:prstGeom>
          <a:noFill/>
          <a:ln w="15875">
            <a:solidFill>
              <a:srgbClr val="98A2B3"/>
            </a:solidFill>
            <a:prstDash val="dash"/>
            <a:tailEnd type="triangle"/>
          </a:ln>
        </p:spPr>
      </p:sp>
      <p:sp>
        <p:nvSpPr>
          <p:cNvPr id="19" name="Shape 16"/>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Shape 18"/>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Text 19"/>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Shape 20"/>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Shape 22"/>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Shape 24"/>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Text 25"/>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914400"/>
            <a:ext cx="5486400" cy="2377440"/>
          </a:xfrm>
          <a:prstGeom prst="rect">
            <a:avLst/>
          </a:prstGeom>
          <a:noFill/>
          <a:ln/>
        </p:spPr>
        <p:txBody>
          <a:bodyPr wrap="square" lIns="0" tIns="0" rIns="0" bIns="0" rtlCol="0" anchor="ctr"/>
          <a:lstStyle/>
          <a:p>
            <a:pPr indent="0" marL="0">
              <a:buNone/>
            </a:pPr>
            <a:r>
              <a:rPr lang="en-US" sz="15000" b="1" dirty="0">
                <a:solidFill>
                  <a:srgbClr val="FFFFFF"/>
                </a:solidFill>
                <a:latin typeface="Century Schoolbook" pitchFamily="34" charset="0"/>
                <a:ea typeface="Century Schoolbook" pitchFamily="34" charset="-122"/>
                <a:cs typeface="Century Schoolbook" pitchFamily="34" charset="-120"/>
              </a:rPr>
              <a:t>04</a:t>
            </a:r>
            <a:endParaRPr lang="en-US" sz="15000" dirty="0"/>
          </a:p>
        </p:txBody>
      </p:sp>
      <p:sp>
        <p:nvSpPr>
          <p:cNvPr id="3" name="Text 1"/>
          <p:cNvSpPr txBox="1"/>
          <p:nvPr/>
        </p:nvSpPr>
        <p:spPr>
          <a:xfrm>
            <a:off x="640080" y="338328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4800" dirty="0"/>
          </a:p>
        </p:txBody>
      </p:sp>
      <p:sp>
        <p:nvSpPr>
          <p:cNvPr id="4" name="Text 2"/>
          <p:cNvSpPr txBox="1"/>
          <p:nvPr/>
        </p:nvSpPr>
        <p:spPr>
          <a:xfrm>
            <a:off x="640080" y="434340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5" name="Text 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19 / 23</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04 · 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Shape 14"/>
          <p:cNvSpPr/>
          <p:nvPr/>
        </p:nvSpPr>
        <p:spPr>
          <a:xfrm>
            <a:off x="7700772" y="2865882"/>
            <a:ext cx="494538" cy="0"/>
          </a:xfrm>
          <a:prstGeom prst="line">
            <a:avLst/>
          </a:prstGeom>
          <a:noFill/>
          <a:ln w="15875">
            <a:solidFill>
              <a:srgbClr val="98A2B3"/>
            </a:solidFill>
            <a:prstDash val="solid"/>
            <a:tailEnd type="triangle"/>
          </a:ln>
        </p:spPr>
      </p:sp>
      <p:sp>
        <p:nvSpPr>
          <p:cNvPr id="18" name="Shape 15"/>
          <p:cNvSpPr/>
          <p:nvPr/>
        </p:nvSpPr>
        <p:spPr>
          <a:xfrm>
            <a:off x="9544050" y="2865882"/>
            <a:ext cx="494538" cy="0"/>
          </a:xfrm>
          <a:prstGeom prst="line">
            <a:avLst/>
          </a:prstGeom>
          <a:noFill/>
          <a:ln w="15875">
            <a:solidFill>
              <a:srgbClr val="98A2B3"/>
            </a:solidFill>
            <a:prstDash val="solid"/>
            <a:tailEnd type="triangle"/>
          </a:ln>
        </p:spPr>
      </p:sp>
      <p:sp>
        <p:nvSpPr>
          <p:cNvPr id="19" name="Shape 16"/>
          <p:cNvSpPr/>
          <p:nvPr/>
        </p:nvSpPr>
        <p:spPr>
          <a:xfrm>
            <a:off x="8869680" y="3180588"/>
            <a:ext cx="0" cy="899160"/>
          </a:xfrm>
          <a:prstGeom prst="line">
            <a:avLst/>
          </a:prstGeom>
          <a:noFill/>
          <a:ln w="15875">
            <a:solidFill>
              <a:srgbClr val="98A2B3"/>
            </a:solidFill>
            <a:prstDash val="dash"/>
            <a:tailEnd type="triangle"/>
          </a:ln>
        </p:spPr>
      </p:sp>
      <p:sp>
        <p:nvSpPr>
          <p:cNvPr id="20" name="Shape 17"/>
          <p:cNvSpPr/>
          <p:nvPr/>
        </p:nvSpPr>
        <p:spPr>
          <a:xfrm flipV="1">
            <a:off x="7700772" y="2865882"/>
            <a:ext cx="2337816" cy="1528572"/>
          </a:xfrm>
          <a:prstGeom prst="line">
            <a:avLst/>
          </a:prstGeom>
          <a:noFill/>
          <a:ln w="15875">
            <a:solidFill>
              <a:srgbClr val="98A2B3"/>
            </a:solidFill>
            <a:prstDash val="dash"/>
            <a:tailEnd type="triangle"/>
          </a:ln>
        </p:spPr>
      </p:sp>
      <p:sp>
        <p:nvSpPr>
          <p:cNvPr id="21" name="Shape 18"/>
          <p:cNvSpPr/>
          <p:nvPr/>
        </p:nvSpPr>
        <p:spPr>
          <a:xfrm>
            <a:off x="7026402" y="3180588"/>
            <a:ext cx="0" cy="899160"/>
          </a:xfrm>
          <a:prstGeom prst="line">
            <a:avLst/>
          </a:prstGeom>
          <a:noFill/>
          <a:ln w="15875">
            <a:solidFill>
              <a:srgbClr val="98A2B3"/>
            </a:solidFill>
            <a:prstDash val="dash"/>
            <a:tailEnd type="triangle"/>
          </a:ln>
        </p:spPr>
      </p:sp>
      <p:sp>
        <p:nvSpPr>
          <p:cNvPr id="22" name="Shape 19"/>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Text 20"/>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Shape 21"/>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Text 22"/>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Shape 23"/>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Text 24"/>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Shape 25"/>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Text 26"/>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Shape 27"/>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Text 28"/>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04 · 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Shape 10"/>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Text 11"/>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Shape 12"/>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Text 13"/>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Text 14"/>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Shape 15"/>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Text 16"/>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Shape 17"/>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Text 18"/>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Shape 19"/>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Text 20"/>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Text 21"/>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Shape 22"/>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Text 23"/>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Shape 24"/>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Text 25"/>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Shape 26"/>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Text 27"/>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Shape 28"/>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Text 29"/>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Shape 30"/>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Text 31"/>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Shape 32"/>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Text 33"/>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Shape 34"/>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Text 35"/>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CHAPTER 04 · 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Shape 12"/>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Text 13"/>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Text 14"/>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Shape 15"/>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Text 16"/>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Text 17"/>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Shape 18"/>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Text 19"/>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Text 20"/>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par>
                    <p:cTn id="57" fill="hold">
                      <p:stCondLst>
                        <p:cond delay="indefinite"/>
                      </p:stCondLst>
                      <p:childTnLst>
                        <p:par>
                          <p:cTn id="58"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childTnLst>
                    </p:cTn>
                  </p:par>
                  <p:par>
                    <p:cTn id="65" fill="hold">
                      <p:stCondLst>
                        <p:cond delay="indefinite"/>
                      </p:stCondLst>
                      <p:childTnLst>
                        <p:par>
                          <p:cTn id="66"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400"/>
                                        <p:tgtEl>
                                          <p:spTgt spid="1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400"/>
                                        <p:tgtEl>
                                          <p:spTgt spid="20"/>
                                        </p:tgtEl>
                                      </p:cBhvr>
                                    </p:animEffect>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400"/>
                                        <p:tgtEl>
                                          <p:spTgt spid="2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400"/>
                                        <p:tgtEl>
                                          <p:spTgt spid="22"/>
                                        </p:tgtEl>
                                      </p:cBhvr>
                                    </p:animEffect>
                                  </p:childTnLst>
                                </p:cTn>
                              </p:par>
                            </p:childTnLst>
                          </p:cTn>
                        </p:par>
                      </p:childTnLst>
                    </p:cTn>
                  </p:par>
                  <p:par>
                    <p:cTn id="81" fill="hold">
                      <p:stCondLst>
                        <p:cond delay="indefinite"/>
                      </p:stCondLst>
                      <p:childTnLst>
                        <p:par>
                          <p:cTn id="82"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400"/>
                                        <p:tgtEl>
                                          <p:spTgt spid="2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400"/>
                                        <p:tgtEl>
                                          <p:spTgt spid="24"/>
                                        </p:tgtEl>
                                      </p:cBhvr>
                                    </p:animEffect>
                                  </p:childTnLst>
                                </p:cTn>
                              </p:par>
                            </p:childTnLst>
                          </p:cTn>
                        </p:par>
                      </p:childTnLst>
                    </p:cTn>
                  </p:par>
                  <p:par>
                    <p:cTn id="86" fill="hold">
                      <p:stCondLst>
                        <p:cond delay="indefinite"/>
                      </p:stCondLst>
                      <p:childTnLst>
                        <p:par>
                          <p:cTn id="87"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25"/>
                                        </p:tgtEl>
                                        <p:attrNameLst>
                                          <p:attrName>style.visibility</p:attrName>
                                        </p:attrNameLst>
                                      </p:cBhvr>
                                      <p:to>
                                        <p:strVal val="visible"/>
                                      </p:to>
                                    </p:set>
                                    <p:animEffect transition="in" filter="fade">
                                      <p:cBhvr>
                                        <p:cTn id="8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2026-09-04T13:50:01Z</dcterms:created>
  <dcterms:modified xsi:type="dcterms:W3CDTF">2026-09-04T13:50:01Z</dcterms:modified>
</cp:coreProperties>
</file>